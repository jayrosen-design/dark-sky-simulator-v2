
<file path=[Content_Types].xml><?xml version="1.0" encoding="utf-8"?>
<Types xmlns="http://schemas.openxmlformats.org/package/2006/content-types">
  <Default Extension="jpeg" ContentType="image/jpeg"/>
  <Default Extension="jpg" ContentType="image/jpeg"/>
  <Default Extension="mp4" ContentType="video/mp4"/>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charts/chart1.xml" ContentType="application/vnd.openxmlformats-officedocument.drawingml.chart+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charts/chart2.xml" ContentType="application/vnd.openxmlformats-officedocument.drawingml.chart+xml"/>
  <Override PartName="/ppt/notesSlides/notesSlide20.xml" ContentType="application/vnd.openxmlformats-officedocument.presentationml.notesSlide+xml"/>
  <Override PartName="/ppt/charts/chart3.xml" ContentType="application/vnd.openxmlformats-officedocument.drawingml.chart+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charts/chart4.xml" ContentType="application/vnd.openxmlformats-officedocument.drawingml.chart+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1"/>
        <c:ser>
          <c:idx val="0"/>
          <c:order val="0"/>
          <c:tx>
            <c:strRef>
              <c:f>Sheet1!$B$1</c:f>
              <c:strCache>
                <c:ptCount val="1"/>
                <c:pt idx="0">
                  <c:v>Airglow background</c:v>
                </c:pt>
              </c:strCache>
            </c:strRef>
          </c:tx>
          <c:spPr>
            <a:solidFill>
              <a:srgbClr val="F6B44B"/>
            </a:solidFill>
            <a:ln>
              <a:noFill/>
            </a:ln>
          </c:spPr>
          <c:invertIfNegative val="0"/>
          <c:dLbls>
            <c:numFmt formatCode="0.00" sourceLinked="0"/>
            <c:spPr>
              <a:noFill/>
              <a:ln>
                <a:noFill/>
              </a:ln>
              <a:effectLst/>
            </c:spPr>
            <c:txPr>
              <a:bodyPr/>
              <a:lstStyle/>
              <a:p>
                <a:pPr>
                  <a:defRPr sz="1200">
                    <a:solidFill>
                      <a:srgbClr val="D9D2BD"/>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Sheet1!$A$2:$A$14</c:f>
              <c:strCache>
                <c:ptCount val="13"/>
                <c:pt idx="0">
                  <c:v>2012</c:v>
                </c:pt>
                <c:pt idx="1">
                  <c:v>2013</c:v>
                </c:pt>
                <c:pt idx="2">
                  <c:v>2014</c:v>
                </c:pt>
                <c:pt idx="3">
                  <c:v>2015</c:v>
                </c:pt>
                <c:pt idx="4">
                  <c:v>2016</c:v>
                </c:pt>
                <c:pt idx="5">
                  <c:v>2017</c:v>
                </c:pt>
                <c:pt idx="6">
                  <c:v>2018</c:v>
                </c:pt>
                <c:pt idx="7">
                  <c:v>2019</c:v>
                </c:pt>
                <c:pt idx="8">
                  <c:v>2020</c:v>
                </c:pt>
                <c:pt idx="9">
                  <c:v>2021</c:v>
                </c:pt>
                <c:pt idx="10">
                  <c:v>2022</c:v>
                </c:pt>
                <c:pt idx="11">
                  <c:v>2023</c:v>
                </c:pt>
                <c:pt idx="12">
                  <c:v>2024</c:v>
                </c:pt>
              </c:strCache>
            </c:strRef>
          </c:cat>
          <c:val>
            <c:numRef>
              <c:f>Sheet1!$B$2:$B$14</c:f>
              <c:numCache>
                <c:formatCode>General</c:formatCode>
                <c:ptCount val="13"/>
                <c:pt idx="0">
                  <c:v>0.26100000000000001</c:v>
                </c:pt>
                <c:pt idx="1">
                  <c:v>0.192</c:v>
                </c:pt>
                <c:pt idx="2">
                  <c:v>0.254</c:v>
                </c:pt>
                <c:pt idx="3">
                  <c:v>0.22</c:v>
                </c:pt>
                <c:pt idx="4">
                  <c:v>0.17100000000000001</c:v>
                </c:pt>
                <c:pt idx="5">
                  <c:v>0.151</c:v>
                </c:pt>
                <c:pt idx="6">
                  <c:v>0.158</c:v>
                </c:pt>
                <c:pt idx="7">
                  <c:v>0.125</c:v>
                </c:pt>
                <c:pt idx="8">
                  <c:v>0.1</c:v>
                </c:pt>
                <c:pt idx="9">
                  <c:v>0.13</c:v>
                </c:pt>
                <c:pt idx="10">
                  <c:v>0.26200000000000001</c:v>
                </c:pt>
                <c:pt idx="11">
                  <c:v>0.33100000000000002</c:v>
                </c:pt>
                <c:pt idx="12">
                  <c:v>0.26700000000000002</c:v>
                </c:pt>
              </c:numCache>
            </c:numRef>
          </c:val>
          <c:extLst>
            <c:ext xmlns:c16="http://schemas.microsoft.com/office/drawing/2014/chart" uri="{C3380CC4-5D6E-409C-BE32-E72D297353CC}">
              <c16:uniqueId val="{00000000-6EE8-414C-A7A2-13CF6F03E44D}"/>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2A3A60"/>
            </a:solidFill>
          </a:ln>
        </c:spPr>
        <c:txPr>
          <a:bodyPr/>
          <a:lstStyle/>
          <a:p>
            <a:pPr>
              <a:defRPr sz="1200">
                <a:solidFill>
                  <a:srgbClr val="D9D2BD"/>
                </a:solidFill>
              </a:defRPr>
            </a:pPr>
            <a:endParaRPr lang="en-US"/>
          </a:p>
        </c:txPr>
        <c:crossAx val="-2113994440"/>
        <c:crosses val="autoZero"/>
        <c:auto val="1"/>
        <c:lblAlgn val="ctr"/>
        <c:lblOffset val="100"/>
        <c:noMultiLvlLbl val="0"/>
      </c:catAx>
      <c:valAx>
        <c:axId val="-2113994440"/>
        <c:scaling>
          <c:orientation val="minMax"/>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200">
          <a:solidFill>
            <a:srgbClr val="D9D2BD"/>
          </a:solidFill>
          <a:latin typeface="Aptos"/>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1"/>
        <c:ser>
          <c:idx val="0"/>
          <c:order val="0"/>
          <c:tx>
            <c:strRef>
              <c:f>Sheet1!$B$1</c:f>
              <c:strCache>
                <c:ptCount val="1"/>
                <c:pt idx="0">
                  <c:v>Detection rate</c:v>
                </c:pt>
              </c:strCache>
            </c:strRef>
          </c:tx>
          <c:spPr>
            <a:solidFill>
              <a:srgbClr val="F6B44B"/>
            </a:solidFill>
            <a:ln>
              <a:noFill/>
            </a:ln>
          </c:spPr>
          <c:invertIfNegative val="0"/>
          <c:dLbls>
            <c:numFmt formatCode="0.0#%" sourceLinked="0"/>
            <c:spPr>
              <a:noFill/>
              <a:ln>
                <a:noFill/>
              </a:ln>
              <a:effectLst/>
            </c:spPr>
            <c:txPr>
              <a:bodyPr/>
              <a:lstStyle/>
              <a:p>
                <a:pPr>
                  <a:defRPr sz="1400">
                    <a:solidFill>
                      <a:srgbClr val="D9D2BD"/>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No step
(false alarm)</c:v>
                </c:pt>
                <c:pt idx="1">
                  <c:v>−30% step
(LED retrofit)</c:v>
                </c:pt>
                <c:pt idx="2">
                  <c:v>+50% step</c:v>
                </c:pt>
              </c:strCache>
            </c:strRef>
          </c:cat>
          <c:val>
            <c:numRef>
              <c:f>Sheet1!$B$2:$B$4</c:f>
              <c:numCache>
                <c:formatCode>General</c:formatCode>
                <c:ptCount val="3"/>
                <c:pt idx="0">
                  <c:v>5.0000000000000001E-4</c:v>
                </c:pt>
                <c:pt idx="1">
                  <c:v>5.8000000000000003E-2</c:v>
                </c:pt>
                <c:pt idx="2">
                  <c:v>9.8000000000000004E-2</c:v>
                </c:pt>
              </c:numCache>
            </c:numRef>
          </c:val>
          <c:extLst>
            <c:ext xmlns:c16="http://schemas.microsoft.com/office/drawing/2014/chart" uri="{C3380CC4-5D6E-409C-BE32-E72D297353CC}">
              <c16:uniqueId val="{00000000-D6D5-4096-9FC1-631A6A2ABAFB}"/>
            </c:ext>
          </c:extLst>
        </c:ser>
        <c:dLbls>
          <c:dLblPos val="outEnd"/>
          <c:showLegendKey val="0"/>
          <c:showVal val="1"/>
          <c:showCatName val="0"/>
          <c:showSerName val="0"/>
          <c:showPercent val="0"/>
          <c:showBubbleSize val="0"/>
        </c:dLbls>
        <c:gapWidth val="7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2A3A60"/>
            </a:solidFill>
          </a:ln>
        </c:spPr>
        <c:txPr>
          <a:bodyPr/>
          <a:lstStyle/>
          <a:p>
            <a:pPr>
              <a:defRPr sz="1400">
                <a:solidFill>
                  <a:srgbClr val="D9D2BD"/>
                </a:solidFill>
              </a:defRPr>
            </a:pPr>
            <a:endParaRPr lang="en-US"/>
          </a:p>
        </c:txPr>
        <c:crossAx val="-2113994440"/>
        <c:crosses val="autoZero"/>
        <c:auto val="1"/>
        <c:lblAlgn val="ctr"/>
        <c:lblOffset val="100"/>
        <c:noMultiLvlLbl val="0"/>
      </c:catAx>
      <c:valAx>
        <c:axId val="-2113994440"/>
        <c:scaling>
          <c:orientation val="minMax"/>
          <c:max val="0.12"/>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400">
          <a:solidFill>
            <a:srgbClr val="D9D2BD"/>
          </a:solidFill>
          <a:latin typeface="Aptos"/>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scatterChart>
        <c:scatterStyle val="lineMarker"/>
        <c:varyColors val="0"/>
        <c:ser>
          <c:idx val="0"/>
          <c:order val="0"/>
          <c:tx>
            <c:strRef>
              <c:f>Sheet1!$B$1</c:f>
              <c:strCache>
                <c:ptCount val="1"/>
                <c:pt idx="0">
                  <c:v>Tenths of cells</c:v>
                </c:pt>
              </c:strCache>
            </c:strRef>
          </c:tx>
          <c:spPr>
            <a:ln w="47625">
              <a:noFill/>
            </a:ln>
          </c:spPr>
          <c:marker>
            <c:symbol val="circle"/>
            <c:size val="11"/>
            <c:spPr>
              <a:solidFill>
                <a:srgbClr val="F6B44B"/>
              </a:solidFill>
              <a:ln>
                <a:solidFill>
                  <a:srgbClr val="F6B44B"/>
                </a:solidFill>
              </a:ln>
            </c:spPr>
          </c:marker>
          <c:xVal>
            <c:numRef>
              <c:f>Sheet1!$A$2:$A$11</c:f>
              <c:numCache>
                <c:formatCode>General</c:formatCode>
                <c:ptCount val="10"/>
                <c:pt idx="0">
                  <c:v>-3.24</c:v>
                </c:pt>
                <c:pt idx="1">
                  <c:v>-2.0499999999999998</c:v>
                </c:pt>
                <c:pt idx="2">
                  <c:v>-1.55</c:v>
                </c:pt>
                <c:pt idx="3">
                  <c:v>-1.1200000000000001</c:v>
                </c:pt>
                <c:pt idx="4">
                  <c:v>-0.69</c:v>
                </c:pt>
                <c:pt idx="5">
                  <c:v>-0.2</c:v>
                </c:pt>
                <c:pt idx="6">
                  <c:v>0.34</c:v>
                </c:pt>
                <c:pt idx="7">
                  <c:v>0.98</c:v>
                </c:pt>
                <c:pt idx="8">
                  <c:v>1.8</c:v>
                </c:pt>
                <c:pt idx="9">
                  <c:v>3.93</c:v>
                </c:pt>
              </c:numCache>
            </c:numRef>
          </c:xVal>
          <c:yVal>
            <c:numRef>
              <c:f>Sheet1!$B$2:$B$11</c:f>
              <c:numCache>
                <c:formatCode>General</c:formatCode>
                <c:ptCount val="10"/>
                <c:pt idx="0">
                  <c:v>-0.05</c:v>
                </c:pt>
                <c:pt idx="1">
                  <c:v>1.05</c:v>
                </c:pt>
                <c:pt idx="2">
                  <c:v>1.78</c:v>
                </c:pt>
                <c:pt idx="3">
                  <c:v>2.4500000000000002</c:v>
                </c:pt>
                <c:pt idx="4">
                  <c:v>2.95</c:v>
                </c:pt>
                <c:pt idx="5">
                  <c:v>3.48</c:v>
                </c:pt>
                <c:pt idx="6">
                  <c:v>4.1100000000000003</c:v>
                </c:pt>
                <c:pt idx="7">
                  <c:v>4.96</c:v>
                </c:pt>
                <c:pt idx="8">
                  <c:v>5.69</c:v>
                </c:pt>
                <c:pt idx="9">
                  <c:v>8.35</c:v>
                </c:pt>
              </c:numCache>
            </c:numRef>
          </c:yVal>
          <c:smooth val="0"/>
          <c:extLst>
            <c:ext xmlns:c16="http://schemas.microsoft.com/office/drawing/2014/chart" uri="{C3380CC4-5D6E-409C-BE32-E72D297353CC}">
              <c16:uniqueId val="{00000000-4EF8-47F1-95A8-046F3362CE13}"/>
            </c:ext>
          </c:extLst>
        </c:ser>
        <c:ser>
          <c:idx val="1"/>
          <c:order val="1"/>
          <c:tx>
            <c:strRef>
              <c:f>Sheet1!$B$13</c:f>
              <c:strCache>
                <c:ptCount val="1"/>
                <c:pt idx="0">
                  <c:v>Perfect forecast</c:v>
                </c:pt>
              </c:strCache>
            </c:strRef>
          </c:tx>
          <c:spPr>
            <a:ln w="22225">
              <a:solidFill>
                <a:srgbClr val="A79F88"/>
              </a:solidFill>
              <a:prstDash val="dash"/>
            </a:ln>
          </c:spPr>
          <c:marker>
            <c:symbol val="none"/>
          </c:marker>
          <c:xVal>
            <c:numRef>
              <c:f>Sheet1!$A$14:$A$15</c:f>
              <c:numCache>
                <c:formatCode>General</c:formatCode>
                <c:ptCount val="2"/>
                <c:pt idx="0">
                  <c:v>-4</c:v>
                </c:pt>
                <c:pt idx="1">
                  <c:v>9</c:v>
                </c:pt>
              </c:numCache>
            </c:numRef>
          </c:xVal>
          <c:yVal>
            <c:numRef>
              <c:f>Sheet1!$B$14:$B$15</c:f>
              <c:numCache>
                <c:formatCode>General</c:formatCode>
                <c:ptCount val="2"/>
                <c:pt idx="0">
                  <c:v>-4</c:v>
                </c:pt>
                <c:pt idx="1">
                  <c:v>9</c:v>
                </c:pt>
              </c:numCache>
            </c:numRef>
          </c:yVal>
          <c:smooth val="0"/>
          <c:extLst>
            <c:ext xmlns:c16="http://schemas.microsoft.com/office/drawing/2014/chart" uri="{C3380CC4-5D6E-409C-BE32-E72D297353CC}">
              <c16:uniqueId val="{00000001-4EF8-47F1-95A8-046F3362CE13}"/>
            </c:ext>
          </c:extLst>
        </c:ser>
        <c:dLbls>
          <c:showLegendKey val="0"/>
          <c:showVal val="0"/>
          <c:showCatName val="0"/>
          <c:showSerName val="0"/>
          <c:showPercent val="0"/>
          <c:showBubbleSize val="0"/>
        </c:dLbls>
        <c:axId val="-2128940872"/>
        <c:axId val="-2129643912"/>
      </c:scatterChart>
      <c:valAx>
        <c:axId val="-2128940872"/>
        <c:scaling>
          <c:orientation val="minMax"/>
          <c:max val="5"/>
          <c:min val="-4"/>
        </c:scaling>
        <c:delete val="0"/>
        <c:axPos val="b"/>
        <c:majorGridlines>
          <c:spPr>
            <a:ln>
              <a:solidFill>
                <a:srgbClr val="1A2642"/>
              </a:solidFill>
            </a:ln>
          </c:spPr>
        </c:majorGridlines>
        <c:title>
          <c:tx>
            <c:rich>
              <a:bodyPr/>
              <a:lstStyle/>
              <a:p>
                <a:r>
                  <a:rPr sz="1300" b="0">
                    <a:solidFill>
                      <a:srgbClr val="D9D2BD"/>
                    </a:solidFill>
                    <a:latin typeface="Aptos"/>
                  </a:rPr>
                  <a:t>predicted, % per year</a:t>
                </a:r>
              </a:p>
            </c:rich>
          </c:tx>
          <c:overlay val="0"/>
        </c:title>
        <c:numFmt formatCode="General" sourceLinked="1"/>
        <c:majorTickMark val="out"/>
        <c:minorTickMark val="none"/>
        <c:tickLblPos val="low"/>
        <c:spPr>
          <a:ln>
            <a:solidFill>
              <a:srgbClr val="2A3A60"/>
            </a:solidFill>
          </a:ln>
        </c:spPr>
        <c:txPr>
          <a:bodyPr/>
          <a:lstStyle/>
          <a:p>
            <a:pPr>
              <a:defRPr sz="1300">
                <a:solidFill>
                  <a:srgbClr val="D9D2BD"/>
                </a:solidFill>
              </a:defRPr>
            </a:pPr>
            <a:endParaRPr lang="en-US"/>
          </a:p>
        </c:txPr>
        <c:crossAx val="-2129643912"/>
        <c:crosses val="autoZero"/>
        <c:crossBetween val="midCat"/>
      </c:valAx>
      <c:valAx>
        <c:axId val="-2129643912"/>
        <c:scaling>
          <c:orientation val="minMax"/>
          <c:max val="9"/>
          <c:min val="-4"/>
        </c:scaling>
        <c:delete val="0"/>
        <c:axPos val="l"/>
        <c:majorGridlines>
          <c:spPr>
            <a:ln>
              <a:solidFill>
                <a:srgbClr val="1A2642"/>
              </a:solidFill>
            </a:ln>
          </c:spPr>
        </c:majorGridlines>
        <c:title>
          <c:tx>
            <c:rich>
              <a:bodyPr/>
              <a:lstStyle/>
              <a:p>
                <a:r>
                  <a:rPr sz="1300" b="0">
                    <a:solidFill>
                      <a:srgbClr val="D9D2BD"/>
                    </a:solidFill>
                    <a:latin typeface="Aptos"/>
                  </a:rPr>
                  <a:t>observed, % per year</a:t>
                </a:r>
              </a:p>
            </c:rich>
          </c:tx>
          <c:overlay val="0"/>
        </c:title>
        <c:numFmt formatCode="General" sourceLinked="1"/>
        <c:majorTickMark val="out"/>
        <c:minorTickMark val="none"/>
        <c:tickLblPos val="low"/>
        <c:spPr>
          <a:ln>
            <a:solidFill>
              <a:srgbClr val="2A3A60"/>
            </a:solidFill>
          </a:ln>
        </c:spPr>
        <c:txPr>
          <a:bodyPr/>
          <a:lstStyle/>
          <a:p>
            <a:pPr>
              <a:defRPr sz="1300">
                <a:solidFill>
                  <a:srgbClr val="D9D2BD"/>
                </a:solidFill>
              </a:defRPr>
            </a:pPr>
            <a:endParaRPr lang="en-US"/>
          </a:p>
        </c:txPr>
        <c:crossAx val="-2128940872"/>
        <c:crosses val="autoZero"/>
        <c:crossBetween val="midCat"/>
      </c:valAx>
    </c:plotArea>
    <c:legend>
      <c:legendPos val="t"/>
      <c:overlay val="0"/>
      <c:txPr>
        <a:bodyPr/>
        <a:lstStyle/>
        <a:p>
          <a:pPr>
            <a:defRPr sz="1300">
              <a:solidFill>
                <a:srgbClr val="D9D2BD"/>
              </a:solidFill>
            </a:defRPr>
          </a:pPr>
          <a:endParaRPr lang="en-US"/>
        </a:p>
      </c:txPr>
    </c:legend>
    <c:plotVisOnly val="1"/>
    <c:dispBlanksAs val="gap"/>
    <c:showDLblsOverMax val="0"/>
  </c:chart>
  <c:txPr>
    <a:bodyPr/>
    <a:lstStyle/>
    <a:p>
      <a:pPr>
        <a:defRPr sz="1300">
          <a:solidFill>
            <a:srgbClr val="D9D2BD"/>
          </a:solidFill>
          <a:latin typeface="Aptos"/>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pt idx="0">
                  <c:v>Importance</c:v>
                </c:pt>
              </c:strCache>
            </c:strRef>
          </c:tx>
          <c:spPr>
            <a:solidFill>
              <a:srgbClr val="F6B44B"/>
            </a:solidFill>
            <a:ln>
              <a:noFill/>
            </a:ln>
          </c:spPr>
          <c:invertIfNegative val="0"/>
          <c:dLbls>
            <c:numFmt formatCode="0%" sourceLinked="0"/>
            <c:spPr>
              <a:noFill/>
              <a:ln>
                <a:noFill/>
              </a:ln>
              <a:effectLst/>
            </c:spPr>
            <c:txPr>
              <a:bodyPr/>
              <a:lstStyle/>
              <a:p>
                <a:pPr>
                  <a:defRPr sz="1400">
                    <a:solidFill>
                      <a:srgbClr val="D9D2BD"/>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Distance to urban cores</c:v>
                </c:pt>
                <c:pt idx="1">
                  <c:v>Housing density</c:v>
                </c:pt>
                <c:pt idx="2">
                  <c:v>Elevation</c:v>
                </c:pt>
                <c:pt idx="3">
                  <c:v>Current brightness</c:v>
                </c:pt>
                <c:pt idx="4">
                  <c:v>Distance to major roads</c:v>
                </c:pt>
                <c:pt idx="5">
                  <c:v>Conservation land</c:v>
                </c:pt>
              </c:strCache>
            </c:strRef>
          </c:cat>
          <c:val>
            <c:numRef>
              <c:f>Sheet1!$B$2:$B$7</c:f>
              <c:numCache>
                <c:formatCode>General</c:formatCode>
                <c:ptCount val="6"/>
                <c:pt idx="0">
                  <c:v>0.309</c:v>
                </c:pt>
                <c:pt idx="1">
                  <c:v>0.223</c:v>
                </c:pt>
                <c:pt idx="2">
                  <c:v>0.20499999999999999</c:v>
                </c:pt>
                <c:pt idx="3">
                  <c:v>0.186</c:v>
                </c:pt>
                <c:pt idx="4">
                  <c:v>6.5000000000000002E-2</c:v>
                </c:pt>
                <c:pt idx="5">
                  <c:v>1.2E-2</c:v>
                </c:pt>
              </c:numCache>
            </c:numRef>
          </c:val>
          <c:extLst>
            <c:ext xmlns:c16="http://schemas.microsoft.com/office/drawing/2014/chart" uri="{C3380CC4-5D6E-409C-BE32-E72D297353CC}">
              <c16:uniqueId val="{00000000-71C2-4FDE-9F9B-9766A380BAA7}"/>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out"/>
        <c:minorTickMark val="none"/>
        <c:tickLblPos val="nextTo"/>
        <c:spPr>
          <a:ln>
            <a:solidFill>
              <a:srgbClr val="2A3A60"/>
            </a:solidFill>
          </a:ln>
        </c:spPr>
        <c:txPr>
          <a:bodyPr/>
          <a:lstStyle/>
          <a:p>
            <a:pPr>
              <a:defRPr sz="1400">
                <a:solidFill>
                  <a:srgbClr val="D9D2BD"/>
                </a:solidFill>
              </a:defRPr>
            </a:pPr>
            <a:endParaRPr lang="en-US"/>
          </a:p>
        </c:txPr>
        <c:crossAx val="-2113994440"/>
        <c:crosses val="autoZero"/>
        <c:auto val="1"/>
        <c:lblAlgn val="ctr"/>
        <c:lblOffset val="100"/>
        <c:noMultiLvlLbl val="0"/>
      </c:catAx>
      <c:valAx>
        <c:axId val="-2113994440"/>
        <c:scaling>
          <c:orientation val="minMax"/>
          <c:max val="0.38"/>
          <c:min val="0"/>
        </c:scaling>
        <c:delete val="1"/>
        <c:axPos val="t"/>
        <c:numFmt formatCode="General" sourceLinked="1"/>
        <c:majorTickMark val="out"/>
        <c:minorTickMark val="none"/>
        <c:tickLblPos val="none"/>
        <c:crossAx val="-2068027336"/>
        <c:crosses val="autoZero"/>
        <c:crossBetween val="between"/>
      </c:valAx>
    </c:plotArea>
    <c:plotVisOnly val="1"/>
    <c:dispBlanksAs val="gap"/>
    <c:showDLblsOverMax val="1"/>
  </c:chart>
  <c:txPr>
    <a:bodyPr/>
    <a:lstStyle/>
    <a:p>
      <a:pPr>
        <a:defRPr sz="1400">
          <a:solidFill>
            <a:srgbClr val="D9D2BD"/>
          </a:solidFill>
          <a:latin typeface="Aptos"/>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67351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[0:00–0:26]</a:t>
            </a:r>
          </a:p>
          <a:p>
            <a:r>
              <a:t>Good afternoon. I'm Jay Rosen.</a:t>
            </a:r>
          </a:p>
          <a:p>
            <a:r>
              <a:t>This is the Milky Way over Paynes Prairie, fifteen minutes from campus, and the yellow glow on the horizon is light pollution from our cities.</a:t>
            </a:r>
          </a:p>
          <a:p>
            <a:r>
              <a:t>My talk is about restoring that view: how AI-assisted satellite analysis and interactive simulation can help counties plan their lighting, and how we're scaling that across North Central Florida.</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[0:26–1:31]</a:t>
            </a:r>
          </a:p>
          <a:p>
            <a:r>
              <a:t>A little about me: this talk is where my two careers meet.</a:t>
            </a:r>
          </a:p>
          <a:p>
            <a:r>
              <a:t>I'm a UF College of the Arts alumnus. My Undergraduate Scholar research was a phenomenological study of Light and Space art, including lighting technology for immersive light installations, which I studied abroad in Europe. I've worked with light art for fifteen years.</a:t>
            </a:r>
          </a:p>
          <a:p>
            <a:r>
              <a:t>Before UF, I was founder and CEO of Space Age Mining Corporation, a high-performance computing startup. Now I'm a research software engineer in the College of Education.</a:t>
            </a:r>
          </a:p>
          <a:p>
            <a:r>
              <a:t>Since 2020, astrophotography has been my newest light art: capturing light itself from the cosmos, much of it full-spectrum, like this self-portrait.</a:t>
            </a:r>
          </a:p>
          <a:p>
            <a:r>
              <a:t>I've twice won the NASA Space Apps Challenge at the Kennedy Space Center event, with a nomination for the global awards, and this year I'm one of the judges. Outside UF, I serve on the Alachua Astronomy Club board and on City of Gainesville and Alachua County boards.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[1:31–2:07]</a:t>
            </a:r>
          </a:p>
          <a:p>
            <a:r>
              <a:t>Artificial light at night is an expanding problem. Skyglow is light scattered by air and haze, and it travels tens of kilometers.</a:t>
            </a:r>
          </a:p>
          <a:p>
            <a:r>
              <a:t>On the left, from Paynes Prairie, Gainesville's dome takes over half the sky; on the right, Stephen C. Foster State Park in Georgia, a Bortle 2 dark-sky park.</a:t>
            </a:r>
          </a:p>
          <a:p>
            <a:r>
              <a:t>It affects wildlife, energy use and UF's observatories. And it's preventable: shield, aim, warmer colors, less brightness, dimming late at night. What communities lack is a way to test those choices first.</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[2:07–2:48]</a:t>
            </a:r>
          </a:p>
          <a:p>
            <a:r>
              <a:t>A quick backstory. In September 2025 I gave a public comment at Alachua County's Environmental Protection Advisory Committee, then built the first simulator in about a month, focused on what light pollution fixes would mean for budgets and the night sky. I debuted it at UF's Astraeus Space Research Day.</a:t>
            </a:r>
          </a:p>
          <a:p>
            <a:r>
              <a:t>In January the committee voted unanimously to work toward dark-sky policy.</a:t>
            </a:r>
          </a:p>
          <a:p>
            <a:r>
              <a:t>Now we're expanding into Levy County, home to Rosemary Hill and the Chiefland Astronomy Village, and Dr. Elizabeth Lada, chair of UF Astronomy, asked whether the platform could help site a future UF observatory.</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[2:48–4:10]</a:t>
            </a:r>
          </a:p>
          <a:p>
            <a:r>
              <a:t>In February 2026, our dark-sky recommendations entered Alachua County's Comprehensive Plan amendment process as revisions to Policy 5.3.7. On September 22, the County Commission unanimously adopted the broader amendment package, which included the proposed dark-sky policies. The amendments are now undergoing final state review, with implementation through county lighting regulations still ahead.</a:t>
            </a:r>
          </a:p>
          <a:p>
            <a:r>
              <a:t>Policy 5.3.7 now reads:</a:t>
            </a:r>
          </a:p>
          <a:p>
            <a:r>
              <a:t>The land development regulations shall provide for lighting standards which ensure that adverse impacts of outdoor lighting are minimized in order to conserve energy, avoid harmful effects on wildlife, and protect the night sky, while balancing the need for public safety.</a:t>
            </a:r>
          </a:p>
          <a:p>
            <a:r>
              <a:t>The land development regulations shall be based on the following general principles, as advocated by organizations such as Dark Sky International and the Illuminating Engineering Society of North America:</a:t>
            </a:r>
          </a:p>
          <a:p>
            <a:r>
              <a:t>One. Direct light so it falls only where it is needed, in order to minimize offsite lighting impacts and reduce glare, light trespass, and light pollution.</a:t>
            </a:r>
          </a:p>
          <a:p>
            <a:r>
              <a:t>Two. Use lighting only where and when it is needed and at the lowest level necessary to ensure light is not overused or impacting areas where it is not intended.</a:t>
            </a:r>
          </a:p>
          <a:p>
            <a:r>
              <a:t>Three. Use warmer-color lights where possible.</a:t>
            </a:r>
          </a:p>
          <a:p>
            <a:r>
              <a:t>Four. Maximize energy and cost efficiency.</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[4:10–4:39]</a:t>
            </a:r>
          </a:p>
          <a:p>
            <a:r>
              <a:t>Version 1, on the left, was built to persuade, and it worked. Then people asked the right question: how do you know?</a:t>
            </a:r>
          </a:p>
          <a:p>
            <a:r>
              <a:t>Version 2 is my answer. The sky comes from atmospheric physics, the lights from public data, and AI is used where data can teach us something. Every number is labeled a planning projection, and it runs on a phone with no server.</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[4:39–5:07]</a:t>
            </a:r>
          </a:p>
          <a:p>
            <a:r>
              <a:t>Here's version 2. It covers Alachua, Levy and six neighboring counties, with roughly 817,000 modeled light sources: streetlights, homes and businesses, and sports fields.</a:t>
            </a:r>
          </a:p>
          <a:p>
            <a:r>
              <a:t>The colors are the modeled sky brightness overhead: yellow is an urban sky, black is close to natural.</a:t>
            </a:r>
          </a:p>
          <a:p>
            <a:r>
              <a:t>You choose shielding, color limits, dimming or curfews, and compare the projected sky, Bortle class, energy, cost, savings and payback.</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[5:07–5:30]</a:t>
            </a:r>
          </a:p>
          <a:p>
            <a:r>
              <a:t>What makes it fast: everything heavy runs once, offline. Atmospheric scattering, placing every fixture, processing the satellite record, training the models.</a:t>
            </a:r>
          </a:p>
          <a:p>
            <a:r>
              <a:t>Because skyglow adds up, the browser only needs a weighted sum of precomputed layers, about 55 milliseconds per scenario. The sky itself is a published physics model, not a neural network.</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[5:30–6:04]</a:t>
            </a:r>
          </a:p>
          <a:p>
            <a:r>
              <a:t>One click applies a Groveland-style ordinance; Groveland is Florida's first dark-sky city. Full shielding, a 3000-kelvin cap, and dimming to half from 10 p.m.</a:t>
            </a:r>
          </a:p>
          <a:p>
            <a:r>
              <a:t>Blue is where the sky gets darker, and it crosses county lines: skyglow is regional.</a:t>
            </a:r>
          </a:p>
          <a:p>
            <a:r>
              <a:t>If every light, public and private, complies, Paynes Prairie goes from 20.98 to 21.62, the level DarkSky uses for parks, and downtown moves one Bortle class, 7 to 6. Public lights alone get about half of that.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[6:04–6:47]</a:t>
            </a:r>
          </a:p>
          <a:p>
            <a:r>
              <a:t>So what does each government pay, and save? The best-value package is right-sizing public streetlights: fully shielded 3000-kelvin LEDs at 30 percent lower output, with no smart controllers, which is why it pays back faster than the full ordinance.</a:t>
            </a:r>
          </a:p>
          <a:p>
            <a:r>
              <a:t>Alachua County, all public streetlights: 15.3 million dollars, saving about 2.6 million a year in energy and maintenance, paid back in about 6 years.</a:t>
            </a:r>
          </a:p>
          <a:p>
            <a:r>
              <a:t>Within that county total, the City of Gainesville's GRU streetlights: 7.2 million, 1.45 million a year, also 5 years; state roads under a million. Levy County: 1.9 million; Chiefland: 171 thousand, paid back in about 8 years.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[6:47–7:08]</a:t>
            </a:r>
          </a:p>
          <a:p>
            <a:r>
              <a:t>You don't have to change a whole county. Overlay zones apply stricter rules in rings around the observatories: an amber, motion-only core and a warm-white buffer.</a:t>
            </a:r>
          </a:p>
          <a:p>
            <a:r>
              <a:t>Protecting both sites costs under a million dollars in public retrofits. That's a trade-off a commission can actually vote on.</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[7:08–7:41]</a:t>
            </a:r>
          </a:p>
          <a:p>
            <a:r>
              <a:t>Numbers like 20.98 and 21.62 don't mean much, so the simulator draws the sky: Paynes Prairie looking southeast in late May as the Milky Way rises, like my title photo.</a:t>
            </a:r>
          </a:p>
          <a:p>
            <a:r>
              <a:t>Today, on the left: Bortle 4, stars to about magnitude 6.1. With the ordinance, on the right: still Bortle 4, but the horizon glow fades, stars reach 6.4, and the Milky Way is clearer.</a:t>
            </a:r>
          </a:p>
          <a:p>
            <a:r>
              <a:t>It's an illustration from the computed sky brightness, not a photograph.</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[7:41–7:59]</a:t>
            </a:r>
          </a:p>
          <a:p>
            <a:r>
              <a:t>Build mode turns policy into hardware: 17 DarkSky-compliant fixture types with real installed costs. Equip one and the sky, the budget and the install markers update.</a:t>
            </a:r>
          </a:p>
          <a:p>
            <a:r>
              <a:t>The 3D view puts every modeled light at street level, here downtown Gainesville.</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[7:59–8:27]</a:t>
            </a:r>
          </a:p>
          <a:p>
            <a:r>
              <a:t>Now the AI, and I want to be precise about where it is.</a:t>
            </a:r>
          </a:p>
          <a:p>
            <a:r>
              <a:t>Two methods read 13 years of satellite images of Florida at night: a statistical step test, calibrated by simulation rather than trained, that finds where lighting changed suddenly, and LightGBM, a trained machine-learning forecast of where light will grow.</a:t>
            </a:r>
          </a:p>
          <a:p>
            <a:r>
              <a:t>Everything else is physics or explicit rules you can inspect.</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[8:27–8:49]</a:t>
            </a:r>
          </a:p>
          <a:p>
            <a:r>
              <a:t>The data is NASA's Black Marble product from the VIIRS instrument: a nightly image of Earth's lights at about 500 meters.</a:t>
            </a:r>
          </a:p>
          <a:p>
            <a:r>
              <a:t>We keep only cloud-free nights and take one median per year for every cell, 2012 to 2024, through Google Earth Engine's free tier, in about twelve minutes.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[8:49–9:19]</a:t>
            </a:r>
          </a:p>
          <a:p>
            <a:r>
              <a:t>Lesson one: the most important AI work was checking the data.</a:t>
            </a:r>
          </a:p>
          <a:p>
            <a:r>
              <a:t>Our first pull came back ten times too dark: a scale factor applied twice.</a:t>
            </a:r>
          </a:p>
          <a:p>
            <a:r>
              <a:t>Then forests and wetlands seemed to brighten 70 to 120 percent. They didn't. That's airglow, light from the upper atmosphere that rises with solar activity. A model trained on that would have learned the Sun, not development, so we subtract it every year first.</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[9:19–9:50]</a:t>
            </a:r>
          </a:p>
          <a:p>
            <a:r>
              <a:t>Version 1's AI-assisted comparison of NOAA imagery estimated about 19 percent brightening.</a:t>
            </a:r>
          </a:p>
          <a:p>
            <a:r>
              <a:t>Re-measured in calibrated radiance from 2013 to 2024, the region around the county rose about 20 percent in NOAA's product and 13 in NASA's: broadly consistent, with the size depending on the product. Inside the county it's 3 to 6 percent, Gainesville about 5.</a:t>
            </a:r>
          </a:p>
          <a:p>
            <a:r>
              <a:t>Growth concentrates along I-75 and toward Ocala, which is why a regional platform matters.</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[9:50–10:24]</a:t>
            </a:r>
          </a:p>
          <a:p>
            <a:r>
              <a:t>We test every lit cell for a sudden step, with a false alarm one time in a thousand, set by simulation. Of 28,986 lit cells, 1,493 are flagged as candidates, where chance alone would give about 29.</a:t>
            </a:r>
          </a:p>
          <a:p>
            <a:r>
              <a:t>The top event is at I-75 and Archer Road, a jump in 2016. That's Celebration Pointe; Bass Pro Shops opened there in November 2016. Nobody told the model where to look.</a:t>
            </a:r>
          </a:p>
          <a:p>
            <a:r>
              <a:t>It knows that light changed, not what was built.</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[10:24–10:46]</a:t>
            </a:r>
          </a:p>
          <a:p>
            <a:r>
              <a:t>And what it can't do. Year-to-year noise is about 10 percent, so it finds large new lighting but misses most LED retrofits, which are 20 to 40 percent drops. The satellite also barely sees the blue in white LEDs.</a:t>
            </a:r>
          </a:p>
          <a:p>
            <a:r>
              <a:t>Seeing retrofits needs monthly data or utility work orders.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[10:46–11:11]</a:t>
            </a:r>
          </a:p>
          <a:p>
            <a:r>
              <a:t>The second model, LightGBM, forecasts where light will grow from six open inputs. On years it never saw, it ties "no change" on the amount: lit areas fell 4 percent, then rose 21, a reversal nothing earlier predicted.</a:t>
            </a:r>
          </a:p>
          <a:p>
            <a:r>
              <a:t>It ranks cells modestly well, a correlation of 0.35: useful for ranking sites, not for predicting one site's brightness.</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[11:11–11:37]</a:t>
            </a:r>
          </a:p>
          <a:p>
            <a:r>
              <a:t>How do we keep it honest? The forecast is scored only on unseen years, and a test fails if they leak into training. The detector's false-alarm rate is checked on simulated noise. The web page re-runs the test for any cell you click. And the sky model is compared with 53 citizen meter readings it never saw.</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[11:37–12:21]</a:t>
            </a:r>
          </a:p>
          <a:p>
            <a:r>
              <a:t>Here's the application Dr. Lada asked about, a preliminary screening, not a site study. Every square kilometer of a wider, 11-county area is scored: dark today and in 2034, clear air, land, access, and drive time from campus.</a:t>
            </a:r>
          </a:p>
          <a:p>
            <a:r>
              <a:t>We rule out water and wetland, the coast, storm-surge ground, places projected to flood by 2080, FEMA's floodplain, and anything over about ninety minutes away.</a:t>
            </a:r>
          </a:p>
          <a:p>
            <a:r>
              <a:t>The shortlist: three Levy County sites between Chiefland and Bronson, 45 minutes to an hour from campus, land about six to eight hundred thousand dollars for 80 acres, roughly 1.6 to 3.8 million with a telescope and building.</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[12:21–12:39]</a:t>
            </a:r>
          </a:p>
          <a:p>
            <a:r>
              <a:t>Finally, it has to reach decision-makers. The Brief tab generates a PDF for commissioners that opens with: "These outputs are planning projections, not observed outcomes." Every figure links back to its scenario, and a defensibility panel lists what's still missing.</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[12:39–13:01]</a:t>
            </a:r>
          </a:p>
          <a:p>
            <a:r>
              <a:t>Scaling up means turning projection into evidence: sky-quality meters and a low-cost sensor network, real utility inventories, a computer-vision fixture detector, and monthly satellite data.</a:t>
            </a:r>
          </a:p>
          <a:p>
            <a:r>
              <a:t>The county package is reusable, and Levy County is next. If you work on sensors, computer vision, remote sensing or policy, let's talk.</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[13:01–13:46]</a:t>
            </a:r>
          </a:p>
          <a:p>
            <a:r>
              <a:t>Here's my ask. Alachua County has now written dark-sky lighting into its Comprehensive Plan, and UF, which plans its own campus in coordination with the county, can lead alongside it.</a:t>
            </a:r>
          </a:p>
          <a:p>
            <a:r>
              <a:t>Upgrading UF's 4,100 pole lights would cost about a million dollars and save about two hundred thousand a year: paid back in about five years. It would protect Rosemary Hill and help choose a site for the next observatory.</a:t>
            </a:r>
          </a:p>
          <a:p>
            <a:r>
              <a:t>And about six thousand dollars in hardware buys fifty sky-brightness sensors to check the model against real readings.</a:t>
            </a:r>
          </a:p>
          <a:p>
            <a:r>
              <a:t>So far this has been independent and unfunded. I'd like it to become a UF project.</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[13:46–14:01]</a:t>
            </a:r>
          </a:p>
          <a:p>
            <a:r>
              <a:t>The simulator is live: scan the code to try it on your phone; the other code is the GitHub repository with the models and tests.</a:t>
            </a:r>
          </a:p>
          <a:p>
            <a:r>
              <a:t>Thank you. I'm happy to take questions.</a:t>
            </a:r>
          </a:p>
          <a:p>
            <a:r>
              <a:t>[The 70-second supercut loops on this slide during questions. Prepared answers are on the hidden backup slides.]</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References for the talk and the poster (the poster numbers them in order of citation). Hidden so the closing slide stays up during questions.</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moved out of the talk for time; un-hide to show it.]</a:t>
            </a:r>
          </a:p>
          <a:p>
            <a:r>
              <a:t>To find where lighting changed, we test every lit cell with two explanations of its 13 yearly values: a steady trend, or a trend with a sudden step. On the left, a cell in Chiefland: a slow decline, no step. On the right, a cell that jumped in 2016.</a:t>
            </a:r>
          </a:p>
          <a:p>
            <a:r>
              <a:t>An F-test measures how much the step helps, at the best of eight possible years. Picking the best year inflates the statistic, so the cutoff can't come from a textbook table.</a:t>
            </a:r>
          </a:p>
          <a:p>
            <a:r>
              <a:t>Our first detector flagged two-thirds of all lit cells. In simulation it flagged 2,000 out of 2,000 cells that had nothing but a steady trend. A detector that flags everything tells you nothing.</a:t>
            </a:r>
          </a:p>
          <a:p>
            <a:r>
              <a:t>So the cutoff now comes from simulating 200,000 cells of pure noise: F of at least 36.3, a false alarm one time in a thousand. The region's shared movement comes out first, so a cell is flagged for what happened there, and a step must be at least 20 percent.</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moved out of the talk for time; un-hide to show it.]</a:t>
            </a:r>
          </a:p>
          <a:p>
            <a:r>
              <a:t>The second model forecasts growth. LightGBM, gradient-boosted decision trees, learns how fast each one-kilometer cell brightened over six years from what the cell looked like at the start, using six open inputs: distance to urban cores and major roads, housing density, elevation, conservation land, and current brightness.</a:t>
            </a:r>
          </a:p>
          <a:p>
            <a:r>
              <a:t>It leans most on distance to urban cores, then housing density, elevation and current brightness.</a:t>
            </a:r>
          </a:p>
          <a:p>
            <a:r>
              <a:t>Why not deep learning? About 30,000 cells, six tabular features, one number per cell. Boosted trees fit that well, train in seconds on a laptop with no GPU, and tell you what they rely on.</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for questions about the change detector. Hidden in the slide show; un-hide if needed.</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for questions about the forecast. Hidden in the slide show.</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for questions about the physics. Hidden in the slide show.</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From docs/demo_script.md, 'Questions you may get' and 'Do not claim'. Hidden in the slide show.</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2.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xml"/><Relationship Id="rId1" Type="http://schemas.openxmlformats.org/officeDocument/2006/relationships/slideLayout" Target="../slideLayouts/slideLayout7.xml"/><Relationship Id="rId5" Type="http://schemas.openxmlformats.org/officeDocument/2006/relationships/image" Target="../media/image2.png"/><Relationship Id="rId4" Type="http://schemas.openxmlformats.org/officeDocument/2006/relationships/image" Target="../media/image5.jpg"/></Relationships>
</file>

<file path=ppt/slides/_rels/slide4.xml.rels><?xml version="1.0" encoding="UTF-8" standalone="yes"?>
<Relationships xmlns="http://schemas.openxmlformats.org/package/2006/relationships"><Relationship Id="rId3" Type="http://schemas.openxmlformats.org/officeDocument/2006/relationships/image" Target="../media/image6.jpg"/><Relationship Id="rId7"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9.jpg"/><Relationship Id="rId5" Type="http://schemas.openxmlformats.org/officeDocument/2006/relationships/image" Target="../media/image8.jpg"/><Relationship Id="rId4" Type="http://schemas.openxmlformats.org/officeDocument/2006/relationships/image" Target="../media/image7.jpg"/></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notesSlide" Target="../notesSlides/notesSlide6.xml"/><Relationship Id="rId1" Type="http://schemas.openxmlformats.org/officeDocument/2006/relationships/slideLayout" Target="../slideLayouts/slideLayout7.xml"/><Relationship Id="rId5" Type="http://schemas.openxmlformats.org/officeDocument/2006/relationships/image" Target="../media/image2.png"/><Relationship Id="rId4" Type="http://schemas.openxmlformats.org/officeDocument/2006/relationships/image" Target="../media/image12.jpg"/></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2.png"/><Relationship Id="rId5" Type="http://schemas.openxmlformats.org/officeDocument/2006/relationships/image" Target="../media/image13.jp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2.mp4"/><Relationship Id="rId1" Type="http://schemas.microsoft.com/office/2007/relationships/media" Target="../media/media2.mp4"/><Relationship Id="rId6" Type="http://schemas.openxmlformats.org/officeDocument/2006/relationships/image" Target="../media/image2.png"/><Relationship Id="rId5" Type="http://schemas.openxmlformats.org/officeDocument/2006/relationships/image" Target="../media/image15.jp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3.mp4"/><Relationship Id="rId1" Type="http://schemas.microsoft.com/office/2007/relationships/media" Target="../media/media3.mp4"/><Relationship Id="rId6" Type="http://schemas.openxmlformats.org/officeDocument/2006/relationships/image" Target="../media/image2.png"/><Relationship Id="rId5" Type="http://schemas.openxmlformats.org/officeDocument/2006/relationships/image" Target="../media/image16.jp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8" Type="http://schemas.openxmlformats.org/officeDocument/2006/relationships/image" Target="../media/image18.jpg"/><Relationship Id="rId3" Type="http://schemas.microsoft.com/office/2007/relationships/media" Target="../media/media5.mp4"/><Relationship Id="rId7" Type="http://schemas.openxmlformats.org/officeDocument/2006/relationships/image" Target="../media/image17.jpg"/><Relationship Id="rId2" Type="http://schemas.openxmlformats.org/officeDocument/2006/relationships/video" Target="../media/media4.mp4"/><Relationship Id="rId1" Type="http://schemas.microsoft.com/office/2007/relationships/media" Target="../media/media4.mp4"/><Relationship Id="rId6" Type="http://schemas.openxmlformats.org/officeDocument/2006/relationships/notesSlide" Target="../notesSlides/notesSlide12.xml"/><Relationship Id="rId5" Type="http://schemas.openxmlformats.org/officeDocument/2006/relationships/slideLayout" Target="../slideLayouts/slideLayout7.xml"/><Relationship Id="rId4" Type="http://schemas.openxmlformats.org/officeDocument/2006/relationships/video" Target="../media/media5.mp4"/><Relationship Id="rId9" Type="http://schemas.openxmlformats.org/officeDocument/2006/relationships/image" Target="../media/image2.png"/></Relationships>
</file>

<file path=ppt/slides/_rels/slide13.xml.rels><?xml version="1.0" encoding="UTF-8" standalone="yes"?>
<Relationships xmlns="http://schemas.openxmlformats.org/package/2006/relationships"><Relationship Id="rId8" Type="http://schemas.openxmlformats.org/officeDocument/2006/relationships/image" Target="../media/image20.jpg"/><Relationship Id="rId3" Type="http://schemas.microsoft.com/office/2007/relationships/media" Target="../media/media7.mp4"/><Relationship Id="rId7" Type="http://schemas.openxmlformats.org/officeDocument/2006/relationships/image" Target="../media/image19.jpg"/><Relationship Id="rId2" Type="http://schemas.openxmlformats.org/officeDocument/2006/relationships/video" Target="../media/media6.mp4"/><Relationship Id="rId1" Type="http://schemas.microsoft.com/office/2007/relationships/media" Target="../media/media6.mp4"/><Relationship Id="rId6" Type="http://schemas.openxmlformats.org/officeDocument/2006/relationships/notesSlide" Target="../notesSlides/notesSlide13.xml"/><Relationship Id="rId5" Type="http://schemas.openxmlformats.org/officeDocument/2006/relationships/slideLayout" Target="../slideLayouts/slideLayout7.xml"/><Relationship Id="rId4" Type="http://schemas.openxmlformats.org/officeDocument/2006/relationships/video" Target="../media/media7.mp4"/><Relationship Id="rId9" Type="http://schemas.openxmlformats.org/officeDocument/2006/relationships/image" Target="../media/image2.png"/></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8.mp4"/><Relationship Id="rId1" Type="http://schemas.microsoft.com/office/2007/relationships/media" Target="../media/media8.mp4"/><Relationship Id="rId6" Type="http://schemas.openxmlformats.org/officeDocument/2006/relationships/image" Target="../media/image2.png"/><Relationship Id="rId5" Type="http://schemas.openxmlformats.org/officeDocument/2006/relationships/image" Target="../media/image21.jp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6.xml"/><Relationship Id="rId1" Type="http://schemas.openxmlformats.org/officeDocument/2006/relationships/slideLayout" Target="../slideLayouts/slideLayout7.xml"/><Relationship Id="rId5" Type="http://schemas.openxmlformats.org/officeDocument/2006/relationships/image" Target="../media/image2.png"/><Relationship Id="rId4" Type="http://schemas.openxmlformats.org/officeDocument/2006/relationships/image" Target="../media/image22.png"/></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9.mp4"/><Relationship Id="rId1" Type="http://schemas.microsoft.com/office/2007/relationships/media" Target="../media/media9.mp4"/><Relationship Id="rId6" Type="http://schemas.openxmlformats.org/officeDocument/2006/relationships/image" Target="../media/image2.png"/><Relationship Id="rId5" Type="http://schemas.openxmlformats.org/officeDocument/2006/relationships/image" Target="../media/image23.jp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10.mp4"/><Relationship Id="rId1" Type="http://schemas.microsoft.com/office/2007/relationships/media" Target="../media/media10.mp4"/><Relationship Id="rId6" Type="http://schemas.openxmlformats.org/officeDocument/2006/relationships/image" Target="../media/image2.png"/><Relationship Id="rId5" Type="http://schemas.openxmlformats.org/officeDocument/2006/relationships/image" Target="../media/image24.jp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9.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20.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20.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21.xml.rels><?xml version="1.0" encoding="UTF-8" standalone="yes"?>
<Relationships xmlns="http://schemas.openxmlformats.org/package/2006/relationships"><Relationship Id="rId3" Type="http://schemas.openxmlformats.org/officeDocument/2006/relationships/image" Target="../media/image25.jpg"/><Relationship Id="rId2" Type="http://schemas.openxmlformats.org/officeDocument/2006/relationships/notesSlide" Target="../notesSlides/notesSlide21.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22.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2.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23.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11.mp4"/><Relationship Id="rId1" Type="http://schemas.microsoft.com/office/2007/relationships/media" Target="../media/media11.mp4"/><Relationship Id="rId6" Type="http://schemas.openxmlformats.org/officeDocument/2006/relationships/image" Target="../media/image2.png"/><Relationship Id="rId5" Type="http://schemas.openxmlformats.org/officeDocument/2006/relationships/image" Target="../media/image27.jp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12.mp4"/><Relationship Id="rId1" Type="http://schemas.microsoft.com/office/2007/relationships/media" Target="../media/media12.mp4"/><Relationship Id="rId6" Type="http://schemas.openxmlformats.org/officeDocument/2006/relationships/image" Target="../media/image2.png"/><Relationship Id="rId5" Type="http://schemas.openxmlformats.org/officeDocument/2006/relationships/image" Target="../media/image28.jp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3" Type="http://schemas.openxmlformats.org/officeDocument/2006/relationships/image" Target="../media/image29.jpg"/><Relationship Id="rId2" Type="http://schemas.openxmlformats.org/officeDocument/2006/relationships/notesSlide" Target="../notesSlides/notesSlide25.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26.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slideLayout" Target="../slideLayouts/slideLayout7.xml"/><Relationship Id="rId7" Type="http://schemas.openxmlformats.org/officeDocument/2006/relationships/image" Target="../media/image32.png"/><Relationship Id="rId2" Type="http://schemas.openxmlformats.org/officeDocument/2006/relationships/video" Target="../media/media13.mp4"/><Relationship Id="rId1" Type="http://schemas.microsoft.com/office/2007/relationships/media" Target="../media/media13.mp4"/><Relationship Id="rId6" Type="http://schemas.openxmlformats.org/officeDocument/2006/relationships/image" Target="../media/image31.png"/><Relationship Id="rId5" Type="http://schemas.openxmlformats.org/officeDocument/2006/relationships/image" Target="../media/image30.jp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33.jpg"/><Relationship Id="rId7" Type="http://schemas.openxmlformats.org/officeDocument/2006/relationships/image" Target="../media/image2.png"/><Relationship Id="rId2" Type="http://schemas.openxmlformats.org/officeDocument/2006/relationships/notesSlide" Target="../notesSlides/notesSlide28.xml"/><Relationship Id="rId1" Type="http://schemas.openxmlformats.org/officeDocument/2006/relationships/slideLayout" Target="../slideLayouts/slideLayout7.xml"/><Relationship Id="rId6" Type="http://schemas.openxmlformats.org/officeDocument/2006/relationships/image" Target="../media/image36.png"/><Relationship Id="rId5" Type="http://schemas.openxmlformats.org/officeDocument/2006/relationships/image" Target="../media/image35.png"/><Relationship Id="rId4" Type="http://schemas.openxmlformats.org/officeDocument/2006/relationships/image" Target="../media/image34.jpg"/></Relationships>
</file>

<file path=ppt/slides/_rels/slide29.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9.xml"/><Relationship Id="rId1" Type="http://schemas.openxmlformats.org/officeDocument/2006/relationships/slideLayout" Target="../slideLayouts/slideLayout7.xml"/><Relationship Id="rId5" Type="http://schemas.openxmlformats.org/officeDocument/2006/relationships/image" Target="../media/image2.png"/><Relationship Id="rId4" Type="http://schemas.openxmlformats.org/officeDocument/2006/relationships/chart" Target="../charts/chart4.xml"/></Relationships>
</file>

<file path=ppt/slides/_rels/slide30.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0.xml"/><Relationship Id="rId1" Type="http://schemas.openxmlformats.org/officeDocument/2006/relationships/slideLayout" Target="../slideLayouts/slideLayout7.xml"/><Relationship Id="rId6" Type="http://schemas.openxmlformats.org/officeDocument/2006/relationships/image" Target="../media/image2.png"/><Relationship Id="rId5" Type="http://schemas.openxmlformats.org/officeDocument/2006/relationships/image" Target="../media/image36.png"/><Relationship Id="rId4" Type="http://schemas.openxmlformats.org/officeDocument/2006/relationships/image" Target="../media/image35.png"/></Relationships>
</file>

<file path=ppt/slides/_rels/slide31.xml.rels><?xml version="1.0" encoding="UTF-8" standalone="yes"?>
<Relationships xmlns="http://schemas.openxmlformats.org/package/2006/relationships"><Relationship Id="rId3" Type="http://schemas.openxmlformats.org/officeDocument/2006/relationships/image" Target="../media/image37.png"/><Relationship Id="rId7" Type="http://schemas.openxmlformats.org/officeDocument/2006/relationships/image" Target="../media/image2.png"/><Relationship Id="rId2" Type="http://schemas.openxmlformats.org/officeDocument/2006/relationships/notesSlide" Target="../notesSlides/notesSlide31.xml"/><Relationship Id="rId1" Type="http://schemas.openxmlformats.org/officeDocument/2006/relationships/slideLayout" Target="../slideLayouts/slideLayout7.xml"/><Relationship Id="rId6" Type="http://schemas.openxmlformats.org/officeDocument/2006/relationships/image" Target="../media/image41.png"/><Relationship Id="rId5" Type="http://schemas.openxmlformats.org/officeDocument/2006/relationships/image" Target="../media/image40.png"/><Relationship Id="rId4" Type="http://schemas.openxmlformats.org/officeDocument/2006/relationships/image" Target="../media/image39.png"/></Relationships>
</file>

<file path=ppt/slides/_rels/slide32.xml.rels><?xml version="1.0" encoding="UTF-8" standalone="yes"?>
<Relationships xmlns="http://schemas.openxmlformats.org/package/2006/relationships"><Relationship Id="rId3" Type="http://schemas.openxmlformats.org/officeDocument/2006/relationships/image" Target="../media/image42.png"/><Relationship Id="rId7" Type="http://schemas.openxmlformats.org/officeDocument/2006/relationships/image" Target="../media/image2.png"/><Relationship Id="rId2" Type="http://schemas.openxmlformats.org/officeDocument/2006/relationships/notesSlide" Target="../notesSlides/notesSlide32.xml"/><Relationship Id="rId1" Type="http://schemas.openxmlformats.org/officeDocument/2006/relationships/slideLayout" Target="../slideLayouts/slideLayout7.xml"/><Relationship Id="rId6" Type="http://schemas.openxmlformats.org/officeDocument/2006/relationships/image" Target="../media/image14.png"/><Relationship Id="rId5" Type="http://schemas.openxmlformats.org/officeDocument/2006/relationships/image" Target="../media/image44.png"/><Relationship Id="rId4" Type="http://schemas.openxmlformats.org/officeDocument/2006/relationships/image" Target="../media/image43.png"/></Relationships>
</file>

<file path=ppt/slides/_rels/slide3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pic>
        <p:nvPicPr>
          <p:cNvPr id="2" name="Picture 1" descr="photo_prairie_milkyway_rising.jpg"/>
          <p:cNvPicPr>
            <a:picLocks noChangeAspect="1"/>
          </p:cNvPicPr>
          <p:nvPr/>
        </p:nvPicPr>
        <p:blipFill>
          <a:blip r:embed="rId3"/>
          <a:srcRect l="1" r="1"/>
          <a:stretch>
            <a:fillRect/>
          </a:stretch>
        </p:blipFill>
        <p:spPr>
          <a:xfrm>
            <a:off x="0" y="0"/>
            <a:ext cx="12191695" cy="6858000"/>
          </a:xfrm>
          <a:prstGeom prst="rect">
            <a:avLst/>
          </a:prstGeom>
        </p:spPr>
      </p:pic>
      <p:sp>
        <p:nvSpPr>
          <p:cNvPr id="3" name="TextBox 2"/>
          <p:cNvSpPr txBox="1"/>
          <p:nvPr/>
        </p:nvSpPr>
        <p:spPr>
          <a:xfrm>
            <a:off x="685800" y="502920"/>
            <a:ext cx="7315200" cy="32004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400" b="1" i="0">
                <a:solidFill>
                  <a:srgbClr val="F6B44B"/>
                </a:solidFill>
                <a:latin typeface="Aptos"/>
              </a:rPr>
              <a:t>UF AI DAYS  ·  OCT. 27, 2026</a:t>
            </a:r>
          </a:p>
        </p:txBody>
      </p:sp>
      <p:sp>
        <p:nvSpPr>
          <p:cNvPr id="4" name="TextBox 3"/>
          <p:cNvSpPr txBox="1"/>
          <p:nvPr/>
        </p:nvSpPr>
        <p:spPr>
          <a:xfrm>
            <a:off x="685800" y="795528"/>
            <a:ext cx="73152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0" i="0">
                <a:solidFill>
                  <a:srgbClr val="D9D2BD"/>
                </a:solidFill>
                <a:latin typeface="Aptos"/>
              </a:rPr>
              <a:t>AI Research, Teaching, and Learning Day</a:t>
            </a:r>
          </a:p>
        </p:txBody>
      </p:sp>
      <p:sp>
        <p:nvSpPr>
          <p:cNvPr id="5" name="TextBox 4"/>
          <p:cNvSpPr txBox="1"/>
          <p:nvPr/>
        </p:nvSpPr>
        <p:spPr>
          <a:xfrm>
            <a:off x="685800" y="1143000"/>
            <a:ext cx="10058400" cy="82296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4400" b="1" i="0">
                <a:solidFill>
                  <a:srgbClr val="F5F1E6"/>
                </a:solidFill>
                <a:latin typeface="Aptos Display"/>
              </a:rPr>
              <a:t>Restoring the Milky Way</a:t>
            </a:r>
          </a:p>
        </p:txBody>
      </p:sp>
      <p:sp>
        <p:nvSpPr>
          <p:cNvPr id="6" name="TextBox 5"/>
          <p:cNvSpPr txBox="1"/>
          <p:nvPr/>
        </p:nvSpPr>
        <p:spPr>
          <a:xfrm>
            <a:off x="685800" y="1901952"/>
            <a:ext cx="10515600" cy="4572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2200" b="0" i="0">
                <a:solidFill>
                  <a:srgbClr val="D9D2BD"/>
                </a:solidFill>
                <a:latin typeface="Aptos Display"/>
              </a:rPr>
              <a:t>Scaling AI-assisted light pollution planning across North Central Florida</a:t>
            </a:r>
          </a:p>
        </p:txBody>
      </p:sp>
      <p:sp>
        <p:nvSpPr>
          <p:cNvPr id="7" name="TextBox 6"/>
          <p:cNvSpPr txBox="1"/>
          <p:nvPr/>
        </p:nvSpPr>
        <p:spPr>
          <a:xfrm>
            <a:off x="685800" y="5943600"/>
            <a:ext cx="7680960" cy="548640"/>
          </a:xfrm>
          <a:prstGeom prst="rect">
            <a:avLst/>
          </a:prstGeom>
          <a:noFill/>
        </p:spPr>
        <p:txBody>
          <a:bodyPr wrap="square" lIns="0" tIns="0" rIns="0" bIns="0" anchor="t">
            <a:noAutofit/>
          </a:bodyPr>
          <a:lstStyle/>
          <a:p>
            <a:pPr marL="0" indent="0" algn="l">
              <a:lnSpc>
                <a:spcPct val="110000"/>
              </a:lnSpc>
              <a:spcBef>
                <a:spcPts val="0"/>
              </a:spcBef>
              <a:spcAft>
                <a:spcPts val="0"/>
              </a:spcAft>
              <a:buNone/>
            </a:pPr>
            <a:r>
              <a:rPr sz="1300" b="1" i="0">
                <a:solidFill>
                  <a:srgbClr val="F5F1E6"/>
                </a:solidFill>
                <a:latin typeface="Aptos"/>
              </a:rPr>
              <a:t>Jay Rosen</a:t>
            </a:r>
            <a:r>
              <a:rPr sz="1300" b="0" i="0">
                <a:solidFill>
                  <a:srgbClr val="F5F1E6"/>
                </a:solidFill>
                <a:latin typeface="Aptos"/>
              </a:rPr>
              <a:t>  ·  jayrosen@ufl.edu</a:t>
            </a:r>
          </a:p>
          <a:p>
            <a:pPr marL="0" indent="0" algn="l">
              <a:lnSpc>
                <a:spcPct val="110000"/>
              </a:lnSpc>
              <a:spcBef>
                <a:spcPts val="0"/>
              </a:spcBef>
              <a:spcAft>
                <a:spcPts val="0"/>
              </a:spcAft>
              <a:buNone/>
            </a:pPr>
            <a:r>
              <a:rPr sz="1300" b="0" i="0">
                <a:solidFill>
                  <a:srgbClr val="F5F1E6"/>
                </a:solidFill>
                <a:latin typeface="Aptos"/>
              </a:rPr>
              <a:t>Research Software Engineer III, University of Florida College of Education</a:t>
            </a:r>
          </a:p>
        </p:txBody>
      </p:sp>
      <p:sp>
        <p:nvSpPr>
          <p:cNvPr id="8" name="TextBox 7"/>
          <p:cNvSpPr txBox="1"/>
          <p:nvPr/>
        </p:nvSpPr>
        <p:spPr>
          <a:xfrm>
            <a:off x="685800" y="6510528"/>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950" b="0" i="0">
                <a:solidFill>
                  <a:srgbClr val="D9D2BD"/>
                </a:solidFill>
                <a:latin typeface="Aptos"/>
              </a:rPr>
              <a:t>Photo: Milky Way and urban skyglow over Paynes Prairie, 2022. Jay Rosen</a:t>
            </a:r>
          </a:p>
        </p:txBody>
      </p:sp>
      <p:pic>
        <p:nvPicPr>
          <p:cNvPr id="9" name="Picture 8" descr="ai_days_logo_sticker.png"/>
          <p:cNvPicPr>
            <a:picLocks noChangeAspect="1"/>
          </p:cNvPicPr>
          <p:nvPr/>
        </p:nvPicPr>
        <p:blipFill>
          <a:blip r:embed="rId4"/>
          <a:stretch>
            <a:fillRect/>
          </a:stretch>
        </p:blipFill>
        <p:spPr>
          <a:xfrm>
            <a:off x="10408615" y="201168"/>
            <a:ext cx="1371600" cy="798271"/>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INTRODUCTION</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About me: from light art to light pollution</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Jay Rosen  ·  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2</a:t>
            </a:r>
          </a:p>
        </p:txBody>
      </p:sp>
      <p:sp>
        <p:nvSpPr>
          <p:cNvPr id="6" name="TextBox 5"/>
          <p:cNvSpPr txBox="1"/>
          <p:nvPr/>
        </p:nvSpPr>
        <p:spPr>
          <a:xfrm>
            <a:off x="548640" y="1463040"/>
            <a:ext cx="7208215" cy="475488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600" b="1" i="0">
                <a:solidFill>
                  <a:srgbClr val="F6B44B"/>
                </a:solidFill>
                <a:latin typeface="Aptos"/>
              </a:rPr>
              <a:t>Light art, 15 years</a:t>
            </a:r>
            <a:r>
              <a:rPr sz="1600" b="0" i="0">
                <a:solidFill>
                  <a:srgbClr val="D9D2BD"/>
                </a:solidFill>
                <a:latin typeface="Aptos"/>
              </a:rPr>
              <a:t>: light, mirrors, and increasingly technological media</a:t>
            </a:r>
          </a:p>
          <a:p>
            <a:pPr marL="256032" indent="-256032">
              <a:lnSpc>
                <a:spcPct val="100000"/>
              </a:lnSpc>
              <a:spcBef>
                <a:spcPts val="1400"/>
              </a:spcBef>
              <a:spcAft>
                <a:spcPts val="0"/>
              </a:spcAft>
              <a:buClr>
                <a:srgbClr val="F6B44B"/>
              </a:buClr>
              <a:buSzPct val="100000"/>
              <a:buFont typeface="Arial"/>
              <a:buChar char="•"/>
            </a:pPr>
            <a:r>
              <a:rPr sz="1600" b="1" i="0">
                <a:solidFill>
                  <a:srgbClr val="F6B44B"/>
                </a:solidFill>
                <a:latin typeface="Aptos"/>
              </a:rPr>
              <a:t>Before UF</a:t>
            </a:r>
            <a:r>
              <a:rPr sz="1600" b="0" i="0">
                <a:solidFill>
                  <a:srgbClr val="D9D2BD"/>
                </a:solidFill>
                <a:latin typeface="Aptos"/>
              </a:rPr>
              <a:t>: founder and CEO, Space Age Mining Corp. (HPC)</a:t>
            </a:r>
          </a:p>
          <a:p>
            <a:pPr marL="256032" indent="-256032">
              <a:lnSpc>
                <a:spcPct val="100000"/>
              </a:lnSpc>
              <a:spcBef>
                <a:spcPts val="1400"/>
              </a:spcBef>
              <a:spcAft>
                <a:spcPts val="0"/>
              </a:spcAft>
              <a:buClr>
                <a:srgbClr val="F6B44B"/>
              </a:buClr>
              <a:buSzPct val="100000"/>
              <a:buFont typeface="Arial"/>
              <a:buChar char="•"/>
            </a:pPr>
            <a:r>
              <a:rPr sz="1600" b="1" i="0">
                <a:solidFill>
                  <a:srgbClr val="F6B44B"/>
                </a:solidFill>
                <a:latin typeface="Aptos"/>
              </a:rPr>
              <a:t>At UF</a:t>
            </a:r>
            <a:r>
              <a:rPr sz="1600" b="0" i="0">
                <a:solidFill>
                  <a:srgbClr val="D9D2BD"/>
                </a:solidFill>
                <a:latin typeface="Aptos"/>
              </a:rPr>
              <a:t>: Research Software Engineer III, College of Education</a:t>
            </a:r>
          </a:p>
          <a:p>
            <a:pPr marL="256032" indent="-256032">
              <a:lnSpc>
                <a:spcPct val="100000"/>
              </a:lnSpc>
              <a:spcBef>
                <a:spcPts val="1400"/>
              </a:spcBef>
              <a:spcAft>
                <a:spcPts val="0"/>
              </a:spcAft>
              <a:buClr>
                <a:srgbClr val="F6B44B"/>
              </a:buClr>
              <a:buSzPct val="100000"/>
              <a:buFont typeface="Arial"/>
              <a:buChar char="•"/>
            </a:pPr>
            <a:r>
              <a:rPr sz="1600" b="1" i="0">
                <a:solidFill>
                  <a:srgbClr val="F6B44B"/>
                </a:solidFill>
                <a:latin typeface="Aptos"/>
              </a:rPr>
              <a:t>Astrophotography since 2020</a:t>
            </a:r>
            <a:r>
              <a:rPr sz="1600" b="0" i="0">
                <a:solidFill>
                  <a:srgbClr val="D9D2BD"/>
                </a:solidFill>
                <a:latin typeface="Aptos"/>
              </a:rPr>
              <a:t>: photos on state park websites</a:t>
            </a:r>
          </a:p>
          <a:p>
            <a:pPr marL="256032" indent="-256032">
              <a:lnSpc>
                <a:spcPct val="100000"/>
              </a:lnSpc>
              <a:spcBef>
                <a:spcPts val="1400"/>
              </a:spcBef>
              <a:spcAft>
                <a:spcPts val="0"/>
              </a:spcAft>
              <a:buClr>
                <a:srgbClr val="F6B44B"/>
              </a:buClr>
              <a:buSzPct val="100000"/>
              <a:buFont typeface="Arial"/>
              <a:buChar char="•"/>
            </a:pPr>
            <a:r>
              <a:rPr sz="1600" b="1" i="0">
                <a:solidFill>
                  <a:srgbClr val="F6B44B"/>
                </a:solidFill>
                <a:latin typeface="Aptos"/>
              </a:rPr>
              <a:t>NASA Space Apps</a:t>
            </a:r>
            <a:r>
              <a:rPr sz="1600" b="0" i="0">
                <a:solidFill>
                  <a:srgbClr val="D9D2BD"/>
                </a:solidFill>
                <a:latin typeface="Aptos"/>
              </a:rPr>
              <a:t>: 2× Kennedy Space Center winner, global nominee, judge</a:t>
            </a:r>
          </a:p>
          <a:p>
            <a:pPr marL="256032" indent="-256032">
              <a:lnSpc>
                <a:spcPct val="100000"/>
              </a:lnSpc>
              <a:spcBef>
                <a:spcPts val="1400"/>
              </a:spcBef>
              <a:spcAft>
                <a:spcPts val="0"/>
              </a:spcAft>
              <a:buClr>
                <a:srgbClr val="F6B44B"/>
              </a:buClr>
              <a:buSzPct val="100000"/>
              <a:buFont typeface="Arial"/>
              <a:buChar char="•"/>
            </a:pPr>
            <a:r>
              <a:rPr sz="1600" b="1" i="0">
                <a:solidFill>
                  <a:srgbClr val="F6B44B"/>
                </a:solidFill>
                <a:latin typeface="Aptos"/>
              </a:rPr>
              <a:t>Outside UF</a:t>
            </a:r>
            <a:r>
              <a:rPr sz="1600" b="0" i="0">
                <a:solidFill>
                  <a:srgbClr val="D9D2BD"/>
                </a:solidFill>
                <a:latin typeface="Aptos"/>
              </a:rPr>
              <a:t>: Board of Directors, Alachua Astronomy Club</a:t>
            </a:r>
          </a:p>
          <a:p>
            <a:pPr marL="256032" indent="-256032">
              <a:lnSpc>
                <a:spcPct val="100000"/>
              </a:lnSpc>
              <a:spcBef>
                <a:spcPts val="1400"/>
              </a:spcBef>
              <a:spcAft>
                <a:spcPts val="0"/>
              </a:spcAft>
              <a:buClr>
                <a:srgbClr val="F6B44B"/>
              </a:buClr>
              <a:buSzPct val="100000"/>
              <a:buFont typeface="Arial"/>
              <a:buChar char="•"/>
            </a:pPr>
            <a:r>
              <a:rPr sz="1600" b="0" i="0">
                <a:solidFill>
                  <a:srgbClr val="D9D2BD"/>
                </a:solidFill>
                <a:latin typeface="Aptos"/>
              </a:rPr>
              <a:t>Civic service on </a:t>
            </a:r>
            <a:r>
              <a:rPr sz="1600" b="1" i="0">
                <a:solidFill>
                  <a:srgbClr val="F6B44B"/>
                </a:solidFill>
                <a:latin typeface="Aptos"/>
              </a:rPr>
              <a:t>City of Gainesville</a:t>
            </a:r>
            <a:r>
              <a:rPr sz="1600" b="0" i="0">
                <a:solidFill>
                  <a:srgbClr val="D9D2BD"/>
                </a:solidFill>
                <a:latin typeface="Aptos"/>
              </a:rPr>
              <a:t> and </a:t>
            </a:r>
            <a:r>
              <a:rPr sz="1600" b="1" i="0">
                <a:solidFill>
                  <a:srgbClr val="F6B44B"/>
                </a:solidFill>
                <a:latin typeface="Aptos"/>
              </a:rPr>
              <a:t>Alachua County</a:t>
            </a:r>
            <a:r>
              <a:rPr sz="1600" b="0" i="0">
                <a:solidFill>
                  <a:srgbClr val="D9D2BD"/>
                </a:solidFill>
                <a:latin typeface="Aptos"/>
              </a:rPr>
              <a:t> boards</a:t>
            </a:r>
          </a:p>
        </p:txBody>
      </p:sp>
      <p:pic>
        <p:nvPicPr>
          <p:cNvPr id="7" name="Picture 6" descr="photo_jay_telescope_portrait.jpg"/>
          <p:cNvPicPr>
            <a:picLocks noChangeAspect="1"/>
          </p:cNvPicPr>
          <p:nvPr/>
        </p:nvPicPr>
        <p:blipFill>
          <a:blip r:embed="rId3"/>
          <a:stretch>
            <a:fillRect/>
          </a:stretch>
        </p:blipFill>
        <p:spPr>
          <a:xfrm>
            <a:off x="8259775" y="1508760"/>
            <a:ext cx="3383280" cy="4257028"/>
          </a:xfrm>
          <a:prstGeom prst="roundRect">
            <a:avLst>
              <a:gd name="adj" fmla="val 1500"/>
            </a:avLst>
          </a:prstGeom>
          <a:ln w="9525">
            <a:solidFill>
              <a:srgbClr val="2A3A60"/>
            </a:solidFill>
          </a:ln>
        </p:spPr>
      </p:pic>
      <p:sp>
        <p:nvSpPr>
          <p:cNvPr id="8" name="TextBox 7"/>
          <p:cNvSpPr txBox="1"/>
          <p:nvPr/>
        </p:nvSpPr>
        <p:spPr>
          <a:xfrm>
            <a:off x="8259775" y="5820652"/>
            <a:ext cx="338328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0" i="0">
                <a:solidFill>
                  <a:srgbClr val="A79F88"/>
                </a:solidFill>
                <a:latin typeface="Aptos"/>
              </a:rPr>
              <a:t>Full-spectrum self-portrait at the Chiefland Astronomy Village, April 2024. Photo: Jay Rosen</a:t>
            </a:r>
          </a:p>
        </p:txBody>
      </p:sp>
      <p:pic>
        <p:nvPicPr>
          <p:cNvPr id="9" name="Picture 8" descr="ai_days_logo_sticker.png"/>
          <p:cNvPicPr>
            <a:picLocks noChangeAspect="1"/>
          </p:cNvPicPr>
          <p:nvPr/>
        </p:nvPicPr>
        <p:blipFill>
          <a:blip r:embed="rId4"/>
          <a:stretch>
            <a:fillRect/>
          </a:stretch>
        </p:blipFill>
        <p:spPr>
          <a:xfrm>
            <a:off x="10408615" y="201168"/>
            <a:ext cx="1371600" cy="798271"/>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THE PROBLEM</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Skyglow travels: one city's lights wash out a whole region</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Jay Rosen  ·  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3</a:t>
            </a:r>
          </a:p>
        </p:txBody>
      </p:sp>
      <p:pic>
        <p:nvPicPr>
          <p:cNvPr id="6" name="Picture 5" descr="photo_gnv_skyglow.jpg"/>
          <p:cNvPicPr>
            <a:picLocks noChangeAspect="1"/>
          </p:cNvPicPr>
          <p:nvPr/>
        </p:nvPicPr>
        <p:blipFill>
          <a:blip r:embed="rId3"/>
          <a:srcRect l="47" r="47"/>
          <a:stretch>
            <a:fillRect/>
          </a:stretch>
        </p:blipFill>
        <p:spPr>
          <a:xfrm>
            <a:off x="548640" y="1371600"/>
            <a:ext cx="5440680" cy="3063240"/>
          </a:xfrm>
          <a:prstGeom prst="roundRect">
            <a:avLst>
              <a:gd name="adj" fmla="val 1500"/>
            </a:avLst>
          </a:prstGeom>
          <a:ln w="9525">
            <a:solidFill>
              <a:srgbClr val="2A3A60"/>
            </a:solidFill>
          </a:ln>
        </p:spPr>
      </p:pic>
      <p:sp>
        <p:nvSpPr>
          <p:cNvPr id="7" name="TextBox 6"/>
          <p:cNvSpPr txBox="1"/>
          <p:nvPr/>
        </p:nvSpPr>
        <p:spPr>
          <a:xfrm>
            <a:off x="548640" y="4480559"/>
            <a:ext cx="544068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1" i="0">
                <a:solidFill>
                  <a:srgbClr val="A79F88"/>
                </a:solidFill>
                <a:latin typeface="Aptos"/>
              </a:rPr>
              <a:t>Paynes Prairie  ·  Bortle 4, Gainesville dome.</a:t>
            </a:r>
            <a:r>
              <a:rPr sz="1100" b="0" i="0">
                <a:solidFill>
                  <a:srgbClr val="A79F88"/>
                </a:solidFill>
                <a:latin typeface="Aptos"/>
              </a:rPr>
              <a:t> Gainesville's skyglow and Comet NEOWISE from Paynes Prairie, July 2020. Photo: Jay Rosen</a:t>
            </a:r>
          </a:p>
        </p:txBody>
      </p:sp>
      <p:pic>
        <p:nvPicPr>
          <p:cNvPr id="8" name="Picture 7" descr="photo_scfoster.jpg"/>
          <p:cNvPicPr>
            <a:picLocks noChangeAspect="1"/>
          </p:cNvPicPr>
          <p:nvPr/>
        </p:nvPicPr>
        <p:blipFill>
          <a:blip r:embed="rId4"/>
          <a:srcRect l="47" r="47"/>
          <a:stretch>
            <a:fillRect/>
          </a:stretch>
        </p:blipFill>
        <p:spPr>
          <a:xfrm>
            <a:off x="6199632" y="1371600"/>
            <a:ext cx="5440680" cy="3063240"/>
          </a:xfrm>
          <a:prstGeom prst="roundRect">
            <a:avLst>
              <a:gd name="adj" fmla="val 1500"/>
            </a:avLst>
          </a:prstGeom>
          <a:ln w="9525">
            <a:solidFill>
              <a:srgbClr val="2A3A60"/>
            </a:solidFill>
          </a:ln>
        </p:spPr>
      </p:pic>
      <p:sp>
        <p:nvSpPr>
          <p:cNvPr id="9" name="TextBox 8"/>
          <p:cNvSpPr txBox="1"/>
          <p:nvPr/>
        </p:nvSpPr>
        <p:spPr>
          <a:xfrm>
            <a:off x="6199632" y="4480559"/>
            <a:ext cx="544068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1" i="0">
                <a:solidFill>
                  <a:srgbClr val="A79F88"/>
                </a:solidFill>
                <a:latin typeface="Aptos"/>
              </a:rPr>
              <a:t>Stephen C. Foster State Park, GA  ·  Bortle 2.</a:t>
            </a:r>
            <a:r>
              <a:rPr sz="1100" b="0" i="0">
                <a:solidFill>
                  <a:srgbClr val="A79F88"/>
                </a:solidFill>
                <a:latin typeface="Aptos"/>
              </a:rPr>
              <a:t> International Dark Sky Park, October 2020. Photo: Jay Rosen</a:t>
            </a:r>
          </a:p>
        </p:txBody>
      </p:sp>
      <p:sp>
        <p:nvSpPr>
          <p:cNvPr id="10" name="TextBox 9"/>
          <p:cNvSpPr txBox="1"/>
          <p:nvPr/>
        </p:nvSpPr>
        <p:spPr>
          <a:xfrm>
            <a:off x="548640" y="4983480"/>
            <a:ext cx="5440680" cy="141732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800" b="0" i="0">
                <a:solidFill>
                  <a:srgbClr val="D9D2BD"/>
                </a:solidFill>
                <a:latin typeface="Aptos"/>
              </a:rPr>
              <a:t>Light scattered by air and haze brightens the sky </a:t>
            </a:r>
            <a:r>
              <a:rPr sz="1800" b="1" i="0">
                <a:solidFill>
                  <a:srgbClr val="F6B44B"/>
                </a:solidFill>
                <a:latin typeface="Aptos"/>
              </a:rPr>
              <a:t>tens of km</a:t>
            </a:r>
            <a:r>
              <a:rPr sz="1800" b="0" i="0">
                <a:solidFill>
                  <a:srgbClr val="D9D2BD"/>
                </a:solidFill>
                <a:latin typeface="Aptos"/>
              </a:rPr>
              <a:t> away</a:t>
            </a:r>
          </a:p>
          <a:p>
            <a:pPr marL="256032" indent="-256032">
              <a:lnSpc>
                <a:spcPct val="100000"/>
              </a:lnSpc>
              <a:spcBef>
                <a:spcPts val="600"/>
              </a:spcBef>
              <a:spcAft>
                <a:spcPts val="0"/>
              </a:spcAft>
              <a:buClr>
                <a:srgbClr val="F6B44B"/>
              </a:buClr>
              <a:buSzPct val="100000"/>
              <a:buFont typeface="Arial"/>
              <a:buChar char="•"/>
            </a:pPr>
            <a:r>
              <a:rPr sz="1800" b="0" i="0">
                <a:solidFill>
                  <a:srgbClr val="D9D2BD"/>
                </a:solidFill>
                <a:latin typeface="Aptos"/>
              </a:rPr>
              <a:t>Harms wildlife, sleep and health, and wastes energy</a:t>
            </a:r>
          </a:p>
        </p:txBody>
      </p:sp>
      <p:sp>
        <p:nvSpPr>
          <p:cNvPr id="11" name="TextBox 10"/>
          <p:cNvSpPr txBox="1"/>
          <p:nvPr/>
        </p:nvSpPr>
        <p:spPr>
          <a:xfrm>
            <a:off x="6199632" y="4983480"/>
            <a:ext cx="5440680" cy="141732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800" b="0" i="0">
                <a:solidFill>
                  <a:srgbClr val="D9D2BD"/>
                </a:solidFill>
                <a:latin typeface="Aptos"/>
              </a:rPr>
              <a:t>Threatens UF's dark sites: </a:t>
            </a:r>
            <a:r>
              <a:rPr sz="1800" b="1" i="0">
                <a:solidFill>
                  <a:srgbClr val="F6B44B"/>
                </a:solidFill>
                <a:latin typeface="Aptos"/>
              </a:rPr>
              <a:t>Rosemary Hill Observatory</a:t>
            </a:r>
            <a:r>
              <a:rPr sz="1800" b="0" i="0">
                <a:solidFill>
                  <a:srgbClr val="D9D2BD"/>
                </a:solidFill>
                <a:latin typeface="Aptos"/>
              </a:rPr>
              <a:t> and </a:t>
            </a:r>
            <a:r>
              <a:rPr sz="1800" b="1" i="0">
                <a:solidFill>
                  <a:srgbClr val="F6B44B"/>
                </a:solidFill>
                <a:latin typeface="Aptos"/>
              </a:rPr>
              <a:t>Chiefland Astronomy Village</a:t>
            </a:r>
          </a:p>
          <a:p>
            <a:pPr marL="256032" indent="-256032">
              <a:lnSpc>
                <a:spcPct val="100000"/>
              </a:lnSpc>
              <a:spcBef>
                <a:spcPts val="600"/>
              </a:spcBef>
              <a:spcAft>
                <a:spcPts val="0"/>
              </a:spcAft>
              <a:buClr>
                <a:srgbClr val="F6B44B"/>
              </a:buClr>
              <a:buSzPct val="100000"/>
              <a:buFont typeface="Arial"/>
              <a:buChar char="•"/>
            </a:pPr>
            <a:r>
              <a:rPr sz="1800" b="1" i="0">
                <a:solidFill>
                  <a:srgbClr val="F6B44B"/>
                </a:solidFill>
                <a:latin typeface="Aptos"/>
              </a:rPr>
              <a:t>Preventable</a:t>
            </a:r>
            <a:r>
              <a:rPr sz="1800" b="0" i="0">
                <a:solidFill>
                  <a:srgbClr val="D9D2BD"/>
                </a:solidFill>
                <a:latin typeface="Aptos"/>
              </a:rPr>
              <a:t>: shield, aim, warmer color, less brightness, dim late at night</a:t>
            </a:r>
          </a:p>
        </p:txBody>
      </p:sp>
      <p:pic>
        <p:nvPicPr>
          <p:cNvPr id="12" name="Picture 11" descr="ai_days_logo_sticker.png"/>
          <p:cNvPicPr>
            <a:picLocks noChangeAspect="1"/>
          </p:cNvPicPr>
          <p:nvPr/>
        </p:nvPicPr>
        <p:blipFill>
          <a:blip r:embed="rId5"/>
          <a:stretch>
            <a:fillRect/>
          </a:stretch>
        </p:blipFill>
        <p:spPr>
          <a:xfrm>
            <a:off x="10408615" y="201168"/>
            <a:ext cx="1371600" cy="798271"/>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BACKSTORY</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From astrophotography to county policy</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Jay Rosen  ·  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4</a:t>
            </a:r>
          </a:p>
        </p:txBody>
      </p:sp>
      <p:sp>
        <p:nvSpPr>
          <p:cNvPr id="6" name="TextBox 5"/>
          <p:cNvSpPr txBox="1"/>
          <p:nvPr/>
        </p:nvSpPr>
        <p:spPr>
          <a:xfrm>
            <a:off x="548640" y="1463040"/>
            <a:ext cx="4937760" cy="484632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600" b="1" i="0">
                <a:solidFill>
                  <a:srgbClr val="F6B44B"/>
                </a:solidFill>
                <a:latin typeface="Aptos"/>
              </a:rPr>
              <a:t>2020–25</a:t>
            </a:r>
            <a:r>
              <a:rPr sz="1600" b="0" i="0">
                <a:solidFill>
                  <a:srgbClr val="D9D2BD"/>
                </a:solidFill>
                <a:latin typeface="Aptos"/>
              </a:rPr>
              <a:t>  Photographing the night sky under Gainesville's light dome</a:t>
            </a:r>
          </a:p>
          <a:p>
            <a:pPr marL="256032" indent="-256032">
              <a:lnSpc>
                <a:spcPct val="100000"/>
              </a:lnSpc>
              <a:spcBef>
                <a:spcPts val="700"/>
              </a:spcBef>
              <a:spcAft>
                <a:spcPts val="0"/>
              </a:spcAft>
              <a:buClr>
                <a:srgbClr val="F6B44B"/>
              </a:buClr>
              <a:buSzPct val="100000"/>
              <a:buFont typeface="Arial"/>
              <a:buChar char="•"/>
            </a:pPr>
            <a:r>
              <a:rPr sz="1600" b="1" i="0">
                <a:solidFill>
                  <a:srgbClr val="F6B44B"/>
                </a:solidFill>
                <a:latin typeface="Aptos"/>
              </a:rPr>
              <a:t>Sep 2025</a:t>
            </a:r>
            <a:r>
              <a:rPr sz="1600" b="0" i="0">
                <a:solidFill>
                  <a:srgbClr val="D9D2BD"/>
                </a:solidFill>
                <a:latin typeface="Aptos"/>
              </a:rPr>
              <a:t>  Public comment at Alachua County's advisory committee (EPAC)</a:t>
            </a:r>
          </a:p>
          <a:p>
            <a:pPr marL="256032" indent="-256032">
              <a:lnSpc>
                <a:spcPct val="100000"/>
              </a:lnSpc>
              <a:spcBef>
                <a:spcPts val="700"/>
              </a:spcBef>
              <a:spcAft>
                <a:spcPts val="0"/>
              </a:spcAft>
              <a:buClr>
                <a:srgbClr val="F6B44B"/>
              </a:buClr>
              <a:buSzPct val="100000"/>
              <a:buFont typeface="Arial"/>
              <a:buChar char="•"/>
            </a:pPr>
            <a:r>
              <a:rPr sz="1600" b="1" i="0">
                <a:solidFill>
                  <a:srgbClr val="F6B44B"/>
                </a:solidFill>
                <a:latin typeface="Aptos"/>
              </a:rPr>
              <a:t>Oct 2025</a:t>
            </a:r>
            <a:r>
              <a:rPr sz="1600" b="0" i="0">
                <a:solidFill>
                  <a:srgbClr val="D9D2BD"/>
                </a:solidFill>
                <a:latin typeface="Aptos"/>
              </a:rPr>
              <a:t>  v1 simulator, built in a month: mitigations' economic and night-sky impact; debuted at UF Astraeus Space Research Day</a:t>
            </a:r>
          </a:p>
          <a:p>
            <a:pPr marL="256032" indent="-256032">
              <a:lnSpc>
                <a:spcPct val="100000"/>
              </a:lnSpc>
              <a:spcBef>
                <a:spcPts val="700"/>
              </a:spcBef>
              <a:spcAft>
                <a:spcPts val="0"/>
              </a:spcAft>
              <a:buClr>
                <a:srgbClr val="F6B44B"/>
              </a:buClr>
              <a:buSzPct val="100000"/>
              <a:buFont typeface="Arial"/>
              <a:buChar char="•"/>
            </a:pPr>
            <a:r>
              <a:rPr sz="1600" b="1" i="0">
                <a:solidFill>
                  <a:srgbClr val="F6B44B"/>
                </a:solidFill>
                <a:latin typeface="Aptos"/>
              </a:rPr>
              <a:t>Jan 2026</a:t>
            </a:r>
            <a:r>
              <a:rPr sz="1600" b="0" i="0">
                <a:solidFill>
                  <a:srgbClr val="D9D2BD"/>
                </a:solidFill>
                <a:latin typeface="Aptos"/>
              </a:rPr>
              <a:t>  EPAC votes unanimously to work toward dark-sky policy</a:t>
            </a:r>
          </a:p>
          <a:p>
            <a:pPr marL="256032" indent="-256032">
              <a:lnSpc>
                <a:spcPct val="100000"/>
              </a:lnSpc>
              <a:spcBef>
                <a:spcPts val="700"/>
              </a:spcBef>
              <a:spcAft>
                <a:spcPts val="0"/>
              </a:spcAft>
              <a:buClr>
                <a:srgbClr val="F6B44B"/>
              </a:buClr>
              <a:buSzPct val="100000"/>
              <a:buFont typeface="Arial"/>
              <a:buChar char="•"/>
            </a:pPr>
            <a:r>
              <a:rPr sz="1600" b="1" i="0">
                <a:solidFill>
                  <a:srgbClr val="F6B44B"/>
                </a:solidFill>
                <a:latin typeface="Aptos"/>
              </a:rPr>
              <a:t>Feb–May 2026</a:t>
            </a:r>
            <a:r>
              <a:rPr sz="1600" b="0" i="0">
                <a:solidFill>
                  <a:srgbClr val="D9D2BD"/>
                </a:solidFill>
                <a:latin typeface="Aptos"/>
              </a:rPr>
              <a:t>  Policy 5.3.7 amendment heard and sent to the state</a:t>
            </a:r>
          </a:p>
          <a:p>
            <a:pPr marL="256032" indent="-256032">
              <a:lnSpc>
                <a:spcPct val="100000"/>
              </a:lnSpc>
              <a:spcBef>
                <a:spcPts val="700"/>
              </a:spcBef>
              <a:spcAft>
                <a:spcPts val="0"/>
              </a:spcAft>
              <a:buClr>
                <a:srgbClr val="F6B44B"/>
              </a:buClr>
              <a:buSzPct val="100000"/>
              <a:buFont typeface="Arial"/>
              <a:buChar char="•"/>
            </a:pPr>
            <a:r>
              <a:rPr sz="1600" b="1" i="0">
                <a:solidFill>
                  <a:srgbClr val="F6B44B"/>
                </a:solidFill>
                <a:latin typeface="Aptos"/>
              </a:rPr>
              <a:t>Sep 22, 2026</a:t>
            </a:r>
            <a:r>
              <a:rPr sz="1600" b="0" i="0">
                <a:solidFill>
                  <a:srgbClr val="D9D2BD"/>
                </a:solidFill>
                <a:latin typeface="Aptos"/>
              </a:rPr>
              <a:t>  County Commission </a:t>
            </a:r>
            <a:r>
              <a:rPr sz="1600" b="1" i="0">
                <a:solidFill>
                  <a:srgbClr val="F6B44B"/>
                </a:solidFill>
                <a:latin typeface="Aptos"/>
              </a:rPr>
              <a:t>adopts</a:t>
            </a:r>
            <a:r>
              <a:rPr sz="1600" b="0" i="0">
                <a:solidFill>
                  <a:srgbClr val="D9D2BD"/>
                </a:solidFill>
                <a:latin typeface="Aptos"/>
              </a:rPr>
              <a:t> it, unanimously</a:t>
            </a:r>
          </a:p>
          <a:p>
            <a:pPr marL="256032" indent="-256032">
              <a:lnSpc>
                <a:spcPct val="100000"/>
              </a:lnSpc>
              <a:spcBef>
                <a:spcPts val="700"/>
              </a:spcBef>
              <a:spcAft>
                <a:spcPts val="0"/>
              </a:spcAft>
              <a:buClr>
                <a:srgbClr val="F6B44B"/>
              </a:buClr>
              <a:buSzPct val="100000"/>
              <a:buFont typeface="Arial"/>
              <a:buChar char="•"/>
            </a:pPr>
            <a:r>
              <a:rPr sz="1600" b="1" i="0">
                <a:solidFill>
                  <a:srgbClr val="F6B44B"/>
                </a:solidFill>
                <a:latin typeface="Aptos"/>
              </a:rPr>
              <a:t>2026</a:t>
            </a:r>
            <a:r>
              <a:rPr sz="1600" b="0" i="0">
                <a:solidFill>
                  <a:srgbClr val="D9D2BD"/>
                </a:solidFill>
                <a:latin typeface="Aptos"/>
              </a:rPr>
              <a:t>  Expanding into </a:t>
            </a:r>
            <a:r>
              <a:rPr sz="1600" b="1" i="0">
                <a:solidFill>
                  <a:srgbClr val="F6B44B"/>
                </a:solidFill>
                <a:latin typeface="Aptos"/>
              </a:rPr>
              <a:t>Levy County</a:t>
            </a:r>
            <a:r>
              <a:rPr sz="1600" b="0" i="0">
                <a:solidFill>
                  <a:srgbClr val="D9D2BD"/>
                </a:solidFill>
                <a:latin typeface="Aptos"/>
              </a:rPr>
              <a:t>, home to Rosemary Hill and the Chiefland Astronomy Village</a:t>
            </a:r>
          </a:p>
          <a:p>
            <a:pPr marL="256032" indent="-256032">
              <a:lnSpc>
                <a:spcPct val="100000"/>
              </a:lnSpc>
              <a:spcBef>
                <a:spcPts val="700"/>
              </a:spcBef>
              <a:spcAft>
                <a:spcPts val="0"/>
              </a:spcAft>
              <a:buClr>
                <a:srgbClr val="F6B44B"/>
              </a:buClr>
              <a:buSzPct val="100000"/>
              <a:buFont typeface="Arial"/>
              <a:buChar char="•"/>
            </a:pPr>
            <a:r>
              <a:rPr sz="1600" b="1" i="0">
                <a:solidFill>
                  <a:srgbClr val="F6B44B"/>
                </a:solidFill>
                <a:latin typeface="Aptos"/>
              </a:rPr>
              <a:t>Next</a:t>
            </a:r>
            <a:r>
              <a:rPr sz="1600" b="0" i="0">
                <a:solidFill>
                  <a:srgbClr val="D9D2BD"/>
                </a:solidFill>
                <a:latin typeface="Aptos"/>
              </a:rPr>
              <a:t>  UF Astronomy (Dr. Elizabeth Lada) asks where a future observatory should go</a:t>
            </a:r>
          </a:p>
        </p:txBody>
      </p:sp>
      <p:pic>
        <p:nvPicPr>
          <p:cNvPr id="7" name="Picture 6" descr="v1_poster.jpg"/>
          <p:cNvPicPr>
            <a:picLocks noChangeAspect="1"/>
          </p:cNvPicPr>
          <p:nvPr/>
        </p:nvPicPr>
        <p:blipFill>
          <a:blip r:embed="rId3"/>
          <a:stretch>
            <a:fillRect/>
          </a:stretch>
        </p:blipFill>
        <p:spPr>
          <a:xfrm>
            <a:off x="5809187" y="1463040"/>
            <a:ext cx="3560665" cy="2679192"/>
          </a:xfrm>
          <a:prstGeom prst="roundRect">
            <a:avLst>
              <a:gd name="adj" fmla="val 1000"/>
            </a:avLst>
          </a:prstGeom>
          <a:ln w="9525">
            <a:solidFill>
              <a:srgbClr val="2A3A60"/>
            </a:solidFill>
          </a:ln>
        </p:spPr>
      </p:pic>
      <p:pic>
        <p:nvPicPr>
          <p:cNvPr id="8" name="Picture 7" descr="news_ufarts.jpg"/>
          <p:cNvPicPr>
            <a:picLocks noChangeAspect="1"/>
          </p:cNvPicPr>
          <p:nvPr/>
        </p:nvPicPr>
        <p:blipFill>
          <a:blip r:embed="rId4"/>
          <a:stretch>
            <a:fillRect/>
          </a:stretch>
        </p:blipFill>
        <p:spPr>
          <a:xfrm>
            <a:off x="9509873" y="1463040"/>
            <a:ext cx="2130324" cy="2459736"/>
          </a:xfrm>
          <a:prstGeom prst="roundRect">
            <a:avLst>
              <a:gd name="adj" fmla="val 1000"/>
            </a:avLst>
          </a:prstGeom>
          <a:ln w="9525">
            <a:solidFill>
              <a:srgbClr val="2A3A60"/>
            </a:solidFill>
          </a:ln>
        </p:spPr>
      </p:pic>
      <p:pic>
        <p:nvPicPr>
          <p:cNvPr id="9" name="Picture 8" descr="policy_537.jpg"/>
          <p:cNvPicPr>
            <a:picLocks noChangeAspect="1"/>
          </p:cNvPicPr>
          <p:nvPr/>
        </p:nvPicPr>
        <p:blipFill>
          <a:blip r:embed="rId5"/>
          <a:srcRect t="34255" b="18255"/>
          <a:stretch>
            <a:fillRect/>
          </a:stretch>
        </p:blipFill>
        <p:spPr>
          <a:xfrm>
            <a:off x="5806440" y="4389120"/>
            <a:ext cx="3566160" cy="1920240"/>
          </a:xfrm>
          <a:prstGeom prst="roundRect">
            <a:avLst>
              <a:gd name="adj" fmla="val 1000"/>
            </a:avLst>
          </a:prstGeom>
          <a:ln w="9525">
            <a:solidFill>
              <a:srgbClr val="2A3A60"/>
            </a:solidFill>
          </a:ln>
        </p:spPr>
      </p:pic>
      <p:pic>
        <p:nvPicPr>
          <p:cNvPr id="10" name="Picture 9" descr="news_invadingsea.jpg"/>
          <p:cNvPicPr>
            <a:picLocks noChangeAspect="1"/>
          </p:cNvPicPr>
          <p:nvPr/>
        </p:nvPicPr>
        <p:blipFill>
          <a:blip r:embed="rId6"/>
          <a:stretch>
            <a:fillRect/>
          </a:stretch>
        </p:blipFill>
        <p:spPr>
          <a:xfrm>
            <a:off x="9563573" y="4160520"/>
            <a:ext cx="2022924" cy="2148840"/>
          </a:xfrm>
          <a:prstGeom prst="roundRect">
            <a:avLst>
              <a:gd name="adj" fmla="val 1000"/>
            </a:avLst>
          </a:prstGeom>
          <a:ln w="9525">
            <a:solidFill>
              <a:srgbClr val="2A3A60"/>
            </a:solidFill>
          </a:ln>
        </p:spPr>
      </p:pic>
      <p:sp>
        <p:nvSpPr>
          <p:cNvPr id="11" name="TextBox 10"/>
          <p:cNvSpPr txBox="1"/>
          <p:nvPr/>
        </p:nvSpPr>
        <p:spPr>
          <a:xfrm>
            <a:off x="9509760" y="3941063"/>
            <a:ext cx="2130552"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900" b="0" i="0">
                <a:solidFill>
                  <a:srgbClr val="A79F88"/>
                </a:solidFill>
                <a:latin typeface="Aptos"/>
              </a:rPr>
              <a:t>UF College of the Arts, Mar 2026</a:t>
            </a:r>
          </a:p>
        </p:txBody>
      </p:sp>
      <p:sp>
        <p:nvSpPr>
          <p:cNvPr id="12" name="TextBox 11"/>
          <p:cNvSpPr txBox="1"/>
          <p:nvPr/>
        </p:nvSpPr>
        <p:spPr>
          <a:xfrm>
            <a:off x="9509760" y="6327648"/>
            <a:ext cx="2130552"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900" b="0" i="0">
                <a:solidFill>
                  <a:srgbClr val="A79F88"/>
                </a:solidFill>
                <a:latin typeface="Aptos"/>
              </a:rPr>
              <a:t>The Invading Sea, Jan 2026</a:t>
            </a:r>
          </a:p>
        </p:txBody>
      </p:sp>
      <p:sp>
        <p:nvSpPr>
          <p:cNvPr id="13" name="TextBox 12"/>
          <p:cNvSpPr txBox="1"/>
          <p:nvPr/>
        </p:nvSpPr>
        <p:spPr>
          <a:xfrm>
            <a:off x="5806440" y="4160520"/>
            <a:ext cx="356616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900" b="0" i="0">
                <a:solidFill>
                  <a:srgbClr val="A79F88"/>
                </a:solidFill>
                <a:latin typeface="Aptos"/>
              </a:rPr>
              <a:t>v1 poster, UF Astraeus Space Research Day, Oct 2025</a:t>
            </a:r>
          </a:p>
        </p:txBody>
      </p:sp>
      <p:sp>
        <p:nvSpPr>
          <p:cNvPr id="14" name="TextBox 13"/>
          <p:cNvSpPr txBox="1"/>
          <p:nvPr/>
        </p:nvSpPr>
        <p:spPr>
          <a:xfrm>
            <a:off x="5806440" y="6327648"/>
            <a:ext cx="356616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900" b="0" i="0">
                <a:solidFill>
                  <a:srgbClr val="A79F88"/>
                </a:solidFill>
                <a:latin typeface="Aptos"/>
              </a:rPr>
              <a:t>Policy 5.3.7 language, Feb 2026</a:t>
            </a:r>
          </a:p>
        </p:txBody>
      </p:sp>
      <p:pic>
        <p:nvPicPr>
          <p:cNvPr id="15" name="Picture 14" descr="ai_days_logo_sticker.png"/>
          <p:cNvPicPr>
            <a:picLocks noChangeAspect="1"/>
          </p:cNvPicPr>
          <p:nvPr/>
        </p:nvPicPr>
        <p:blipFill>
          <a:blip r:embed="rId7"/>
          <a:stretch>
            <a:fillRect/>
          </a:stretch>
        </p:blipFill>
        <p:spPr>
          <a:xfrm>
            <a:off x="10408615" y="201168"/>
            <a:ext cx="1371600" cy="798271"/>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BACKSTORY</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September 2026: dark-sky principles adopted</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Jay Rosen  ·  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5</a:t>
            </a:r>
          </a:p>
        </p:txBody>
      </p:sp>
      <p:sp>
        <p:nvSpPr>
          <p:cNvPr id="6" name="TextBox 5"/>
          <p:cNvSpPr txBox="1"/>
          <p:nvPr/>
        </p:nvSpPr>
        <p:spPr>
          <a:xfrm>
            <a:off x="548640" y="1463040"/>
            <a:ext cx="4282135" cy="475488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600" b="0" i="0">
                <a:solidFill>
                  <a:srgbClr val="D9D2BD"/>
                </a:solidFill>
                <a:latin typeface="Aptos"/>
              </a:rPr>
              <a:t>Alachua County's Comprehensive Plan update, </a:t>
            </a:r>
            <a:r>
              <a:rPr sz="1600" b="1" i="0">
                <a:solidFill>
                  <a:srgbClr val="F6B44B"/>
                </a:solidFill>
                <a:latin typeface="Aptos"/>
              </a:rPr>
              <a:t>Policy 5.3.7</a:t>
            </a:r>
            <a:r>
              <a:rPr sz="1600" b="0" i="0">
                <a:solidFill>
                  <a:srgbClr val="D9D2BD"/>
                </a:solidFill>
                <a:latin typeface="Aptos"/>
              </a:rPr>
              <a:t> (Conservation and Open Space Element)</a:t>
            </a:r>
          </a:p>
          <a:p>
            <a:pPr marL="256032" indent="-256032">
              <a:lnSpc>
                <a:spcPct val="100000"/>
              </a:lnSpc>
              <a:spcBef>
                <a:spcPts val="900"/>
              </a:spcBef>
              <a:spcAft>
                <a:spcPts val="0"/>
              </a:spcAft>
              <a:buClr>
                <a:srgbClr val="F6B44B"/>
              </a:buClr>
              <a:buSzPct val="100000"/>
              <a:buFont typeface="Arial"/>
              <a:buChar char="•"/>
            </a:pPr>
            <a:r>
              <a:rPr sz="1600" b="0" i="0">
                <a:solidFill>
                  <a:srgbClr val="D9D2BD"/>
                </a:solidFill>
                <a:latin typeface="Aptos"/>
              </a:rPr>
              <a:t>Lighting standards must </a:t>
            </a:r>
            <a:r>
              <a:rPr sz="1600" b="1" i="0">
                <a:solidFill>
                  <a:srgbClr val="F6B44B"/>
                </a:solidFill>
                <a:latin typeface="Aptos"/>
              </a:rPr>
              <a:t>conserve energy, avoid harm to wildlife and protect the night sky</a:t>
            </a:r>
            <a:r>
              <a:rPr sz="1600" b="0" i="0">
                <a:solidFill>
                  <a:srgbClr val="D9D2BD"/>
                </a:solidFill>
                <a:latin typeface="Aptos"/>
              </a:rPr>
              <a:t>, balanced with public safety</a:t>
            </a:r>
          </a:p>
          <a:p>
            <a:pPr marL="256032" indent="-256032">
              <a:lnSpc>
                <a:spcPct val="100000"/>
              </a:lnSpc>
              <a:spcBef>
                <a:spcPts val="900"/>
              </a:spcBef>
              <a:spcAft>
                <a:spcPts val="0"/>
              </a:spcAft>
              <a:buClr>
                <a:srgbClr val="F6B44B"/>
              </a:buClr>
              <a:buSzPct val="100000"/>
              <a:buFont typeface="Arial"/>
              <a:buChar char="•"/>
            </a:pPr>
            <a:r>
              <a:rPr sz="1600" b="0" i="0">
                <a:solidFill>
                  <a:srgbClr val="D9D2BD"/>
                </a:solidFill>
                <a:latin typeface="Aptos"/>
              </a:rPr>
              <a:t>Based on principles from </a:t>
            </a:r>
            <a:r>
              <a:rPr sz="1600" b="1" i="0">
                <a:solidFill>
                  <a:srgbClr val="F6B44B"/>
                </a:solidFill>
                <a:latin typeface="Aptos"/>
              </a:rPr>
              <a:t>Dark Sky International</a:t>
            </a:r>
            <a:r>
              <a:rPr sz="1600" b="0" i="0">
                <a:solidFill>
                  <a:srgbClr val="D9D2BD"/>
                </a:solidFill>
                <a:latin typeface="Aptos"/>
              </a:rPr>
              <a:t> and the </a:t>
            </a:r>
            <a:r>
              <a:rPr sz="1600" b="1" i="0">
                <a:solidFill>
                  <a:srgbClr val="F6B44B"/>
                </a:solidFill>
                <a:latin typeface="Aptos"/>
              </a:rPr>
              <a:t>Illuminating Engineering Society</a:t>
            </a:r>
          </a:p>
          <a:p>
            <a:pPr marL="256032" indent="-256032">
              <a:lnSpc>
                <a:spcPct val="100000"/>
              </a:lnSpc>
              <a:spcBef>
                <a:spcPts val="900"/>
              </a:spcBef>
              <a:spcAft>
                <a:spcPts val="0"/>
              </a:spcAft>
              <a:buClr>
                <a:srgbClr val="F6B44B"/>
              </a:buClr>
              <a:buSzPct val="100000"/>
              <a:buFont typeface="Arial"/>
              <a:buChar char="•"/>
            </a:pPr>
            <a:r>
              <a:rPr sz="1600" b="0" i="0">
                <a:solidFill>
                  <a:srgbClr val="D9D2BD"/>
                </a:solidFill>
                <a:latin typeface="Aptos"/>
              </a:rPr>
              <a:t>Light only where and when needed, at the lowest level; </a:t>
            </a:r>
            <a:r>
              <a:rPr sz="1600" b="1" i="0">
                <a:solidFill>
                  <a:srgbClr val="F6B44B"/>
                </a:solidFill>
                <a:latin typeface="Aptos"/>
              </a:rPr>
              <a:t>warmer colors</a:t>
            </a:r>
            <a:r>
              <a:rPr sz="1600" b="0" i="0">
                <a:solidFill>
                  <a:srgbClr val="D9D2BD"/>
                </a:solidFill>
                <a:latin typeface="Aptos"/>
              </a:rPr>
              <a:t>; energy and cost efficiency</a:t>
            </a:r>
          </a:p>
          <a:p>
            <a:pPr marL="256032" indent="-256032">
              <a:lnSpc>
                <a:spcPct val="100000"/>
              </a:lnSpc>
              <a:spcBef>
                <a:spcPts val="900"/>
              </a:spcBef>
              <a:spcAft>
                <a:spcPts val="0"/>
              </a:spcAft>
              <a:buClr>
                <a:srgbClr val="F6B44B"/>
              </a:buClr>
              <a:buSzPct val="100000"/>
              <a:buFont typeface="Arial"/>
              <a:buChar char="•"/>
            </a:pPr>
            <a:r>
              <a:rPr sz="1600" b="0" i="0">
                <a:solidFill>
                  <a:srgbClr val="D9D2BD"/>
                </a:solidFill>
                <a:latin typeface="Aptos"/>
              </a:rPr>
              <a:t>Each one is a control in the simulator: shielding, dimming, the 3000 K cap, costs</a:t>
            </a:r>
          </a:p>
          <a:p>
            <a:pPr marL="256032" indent="-256032">
              <a:lnSpc>
                <a:spcPct val="100000"/>
              </a:lnSpc>
              <a:spcBef>
                <a:spcPts val="900"/>
              </a:spcBef>
              <a:spcAft>
                <a:spcPts val="0"/>
              </a:spcAft>
              <a:buClr>
                <a:srgbClr val="F6B44B"/>
              </a:buClr>
              <a:buSzPct val="100000"/>
              <a:buFont typeface="Arial"/>
              <a:buChar char="•"/>
            </a:pPr>
            <a:r>
              <a:rPr sz="1600" b="0" i="0">
                <a:solidFill>
                  <a:srgbClr val="D9D2BD"/>
                </a:solidFill>
                <a:latin typeface="Aptos"/>
              </a:rPr>
              <a:t>Next: the land development code; in effect once the state finds it in compliance</a:t>
            </a:r>
          </a:p>
        </p:txBody>
      </p:sp>
      <p:pic>
        <p:nvPicPr>
          <p:cNvPr id="7" name="Picture 6" descr="policy_537_adopted.png"/>
          <p:cNvPicPr>
            <a:picLocks noChangeAspect="1"/>
          </p:cNvPicPr>
          <p:nvPr/>
        </p:nvPicPr>
        <p:blipFill>
          <a:blip r:embed="rId3"/>
          <a:stretch>
            <a:fillRect/>
          </a:stretch>
        </p:blipFill>
        <p:spPr>
          <a:xfrm>
            <a:off x="5333695" y="1508760"/>
            <a:ext cx="6309360" cy="3555208"/>
          </a:xfrm>
          <a:prstGeom prst="roundRect">
            <a:avLst>
              <a:gd name="adj" fmla="val 1500"/>
            </a:avLst>
          </a:prstGeom>
          <a:ln w="9525">
            <a:solidFill>
              <a:srgbClr val="2A3A60"/>
            </a:solidFill>
          </a:ln>
        </p:spPr>
      </p:pic>
      <p:sp>
        <p:nvSpPr>
          <p:cNvPr id="8" name="TextBox 7"/>
          <p:cNvSpPr txBox="1"/>
          <p:nvPr/>
        </p:nvSpPr>
        <p:spPr>
          <a:xfrm>
            <a:off x="5333695" y="5118832"/>
            <a:ext cx="630936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0" i="0">
                <a:solidFill>
                  <a:srgbClr val="A79F88"/>
                </a:solidFill>
                <a:latin typeface="Aptos"/>
              </a:rPr>
              <a:t>Policy 5.3.7 as adopted: underlined text added, struck text removed. Alachua County ordinance amending the Comprehensive Plan (Evaluation &amp; Appraisal amendments), September 2026, p. 162.</a:t>
            </a:r>
          </a:p>
        </p:txBody>
      </p:sp>
      <p:pic>
        <p:nvPicPr>
          <p:cNvPr id="9" name="Picture 8" descr="ai_days_logo_sticker.png"/>
          <p:cNvPicPr>
            <a:picLocks noChangeAspect="1"/>
          </p:cNvPicPr>
          <p:nvPr/>
        </p:nvPicPr>
        <p:blipFill>
          <a:blip r:embed="rId4"/>
          <a:stretch>
            <a:fillRect/>
          </a:stretch>
        </p:blipFill>
        <p:spPr>
          <a:xfrm>
            <a:off x="10408615" y="201168"/>
            <a:ext cx="1371600" cy="798271"/>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WHY A VERSION 2</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v1 told a story. v2 has to answer “How do you know?”</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Jay Rosen  ·  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6</a:t>
            </a:r>
          </a:p>
        </p:txBody>
      </p:sp>
      <p:pic>
        <p:nvPicPr>
          <p:cNvPr id="6" name="Picture 5" descr="v1_app.jpg"/>
          <p:cNvPicPr>
            <a:picLocks noChangeAspect="1"/>
          </p:cNvPicPr>
          <p:nvPr/>
        </p:nvPicPr>
        <p:blipFill>
          <a:blip r:embed="rId3"/>
          <a:srcRect l="7117" r="7117" b="5000"/>
          <a:stretch>
            <a:fillRect/>
          </a:stretch>
        </p:blipFill>
        <p:spPr>
          <a:xfrm>
            <a:off x="548640" y="1371600"/>
            <a:ext cx="5440680" cy="3063240"/>
          </a:xfrm>
          <a:prstGeom prst="roundRect">
            <a:avLst>
              <a:gd name="adj" fmla="val 1500"/>
            </a:avLst>
          </a:prstGeom>
          <a:ln w="9525">
            <a:solidFill>
              <a:srgbClr val="2A3A60"/>
            </a:solidFill>
          </a:ln>
        </p:spPr>
      </p:pic>
      <p:sp>
        <p:nvSpPr>
          <p:cNvPr id="7" name="TextBox 6"/>
          <p:cNvSpPr txBox="1"/>
          <p:nvPr/>
        </p:nvSpPr>
        <p:spPr>
          <a:xfrm>
            <a:off x="548640" y="4480559"/>
            <a:ext cx="544068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1" i="0">
                <a:solidFill>
                  <a:srgbClr val="A79F88"/>
                </a:solidFill>
                <a:latin typeface="Aptos"/>
              </a:rPr>
              <a:t>v1  ·  2025</a:t>
            </a:r>
          </a:p>
        </p:txBody>
      </p:sp>
      <p:pic>
        <p:nvPicPr>
          <p:cNvPr id="8" name="Picture 7" descr="overview.jpg"/>
          <p:cNvPicPr>
            <a:picLocks noChangeAspect="1"/>
          </p:cNvPicPr>
          <p:nvPr/>
        </p:nvPicPr>
        <p:blipFill>
          <a:blip r:embed="rId4"/>
          <a:srcRect l="26" r="26"/>
          <a:stretch>
            <a:fillRect/>
          </a:stretch>
        </p:blipFill>
        <p:spPr>
          <a:xfrm>
            <a:off x="6199632" y="1371600"/>
            <a:ext cx="5440680" cy="3063240"/>
          </a:xfrm>
          <a:prstGeom prst="roundRect">
            <a:avLst>
              <a:gd name="adj" fmla="val 1500"/>
            </a:avLst>
          </a:prstGeom>
          <a:ln w="9525">
            <a:solidFill>
              <a:srgbClr val="2A3A60"/>
            </a:solidFill>
          </a:ln>
        </p:spPr>
      </p:pic>
      <p:sp>
        <p:nvSpPr>
          <p:cNvPr id="9" name="TextBox 8"/>
          <p:cNvSpPr txBox="1"/>
          <p:nvPr/>
        </p:nvSpPr>
        <p:spPr>
          <a:xfrm>
            <a:off x="6199632" y="4480559"/>
            <a:ext cx="544068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1" i="0">
                <a:solidFill>
                  <a:srgbClr val="A79F88"/>
                </a:solidFill>
                <a:latin typeface="Aptos"/>
              </a:rPr>
              <a:t>v2  ·  2026</a:t>
            </a:r>
          </a:p>
        </p:txBody>
      </p:sp>
      <p:sp>
        <p:nvSpPr>
          <p:cNvPr id="10" name="TextBox 9"/>
          <p:cNvSpPr txBox="1"/>
          <p:nvPr/>
        </p:nvSpPr>
        <p:spPr>
          <a:xfrm>
            <a:off x="548640" y="4846320"/>
            <a:ext cx="5440680" cy="155448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800" b="0" i="0">
                <a:solidFill>
                  <a:srgbClr val="D9D2BD"/>
                </a:solidFill>
                <a:latin typeface="Aptos"/>
              </a:rPr>
              <a:t>Hand-tuned multipliers, built in a month</a:t>
            </a:r>
          </a:p>
          <a:p>
            <a:pPr marL="256032" indent="-256032">
              <a:lnSpc>
                <a:spcPct val="100000"/>
              </a:lnSpc>
              <a:spcBef>
                <a:spcPts val="600"/>
              </a:spcBef>
              <a:spcAft>
                <a:spcPts val="0"/>
              </a:spcAft>
              <a:buClr>
                <a:srgbClr val="F6B44B"/>
              </a:buClr>
              <a:buSzPct val="100000"/>
              <a:buFont typeface="Arial"/>
              <a:buChar char="•"/>
            </a:pPr>
            <a:r>
              <a:rPr sz="1800" b="0" i="0">
                <a:solidFill>
                  <a:srgbClr val="D9D2BD"/>
                </a:solidFill>
                <a:latin typeface="Aptos"/>
              </a:rPr>
              <a:t>Persuasive headline numbers (“$1.9M a year saved”) that nobody could audit</a:t>
            </a:r>
          </a:p>
        </p:txBody>
      </p:sp>
      <p:sp>
        <p:nvSpPr>
          <p:cNvPr id="11" name="TextBox 10"/>
          <p:cNvSpPr txBox="1"/>
          <p:nvPr/>
        </p:nvSpPr>
        <p:spPr>
          <a:xfrm>
            <a:off x="6199632" y="4846320"/>
            <a:ext cx="5440680" cy="155448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800" b="0" i="0">
                <a:solidFill>
                  <a:srgbClr val="D9D2BD"/>
                </a:solidFill>
                <a:latin typeface="Aptos"/>
              </a:rPr>
              <a:t>Physics for the sky, public data for the lights, </a:t>
            </a:r>
            <a:r>
              <a:rPr sz="1800" b="1" i="0">
                <a:solidFill>
                  <a:srgbClr val="F6B44B"/>
                </a:solidFill>
                <a:latin typeface="Aptos"/>
              </a:rPr>
              <a:t>AI only where data can teach</a:t>
            </a:r>
          </a:p>
          <a:p>
            <a:pPr marL="256032" indent="-256032">
              <a:lnSpc>
                <a:spcPct val="100000"/>
              </a:lnSpc>
              <a:spcBef>
                <a:spcPts val="600"/>
              </a:spcBef>
              <a:spcAft>
                <a:spcPts val="0"/>
              </a:spcAft>
              <a:buClr>
                <a:srgbClr val="F6B44B"/>
              </a:buClr>
              <a:buSzPct val="100000"/>
              <a:buFont typeface="Arial"/>
              <a:buChar char="•"/>
            </a:pPr>
            <a:r>
              <a:rPr sz="1800" b="0" i="0">
                <a:solidFill>
                  <a:srgbClr val="D9D2BD"/>
                </a:solidFill>
                <a:latin typeface="Aptos"/>
              </a:rPr>
              <a:t>Every number labeled a planning projection; runs on a phone, no server</a:t>
            </a:r>
          </a:p>
        </p:txBody>
      </p:sp>
      <p:pic>
        <p:nvPicPr>
          <p:cNvPr id="12" name="Picture 11" descr="ai_days_logo_sticker.png"/>
          <p:cNvPicPr>
            <a:picLocks noChangeAspect="1"/>
          </p:cNvPicPr>
          <p:nvPr/>
        </p:nvPicPr>
        <p:blipFill>
          <a:blip r:embed="rId5"/>
          <a:stretch>
            <a:fillRect/>
          </a:stretch>
        </p:blipFill>
        <p:spPr>
          <a:xfrm>
            <a:off x="10408615" y="201168"/>
            <a:ext cx="1371600" cy="798271"/>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THE SIMULATOR</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v2 at a glance</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Jay Rosen  ·  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7</a:t>
            </a:r>
          </a:p>
        </p:txBody>
      </p:sp>
      <p:sp>
        <p:nvSpPr>
          <p:cNvPr id="6" name="TextBox 5"/>
          <p:cNvSpPr txBox="1"/>
          <p:nvPr/>
        </p:nvSpPr>
        <p:spPr>
          <a:xfrm>
            <a:off x="548640" y="1463040"/>
            <a:ext cx="3687775" cy="475488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900" b="1" i="0">
                <a:solidFill>
                  <a:srgbClr val="F6B44B"/>
                </a:solidFill>
                <a:latin typeface="Aptos"/>
              </a:rPr>
              <a:t>8 counties</a:t>
            </a:r>
            <a:r>
              <a:rPr sz="1900" b="0" i="0">
                <a:solidFill>
                  <a:srgbClr val="D9D2BD"/>
                </a:solidFill>
                <a:latin typeface="Aptos"/>
              </a:rPr>
              <a:t>: Alachua, Levy and six neighbors, ~0.4 km cells</a:t>
            </a:r>
          </a:p>
          <a:p>
            <a:pPr marL="256032" indent="-256032">
              <a:lnSpc>
                <a:spcPct val="100000"/>
              </a:lnSpc>
              <a:spcBef>
                <a:spcPts val="1200"/>
              </a:spcBef>
              <a:spcAft>
                <a:spcPts val="0"/>
              </a:spcAft>
              <a:buClr>
                <a:srgbClr val="F6B44B"/>
              </a:buClr>
              <a:buSzPct val="100000"/>
              <a:buFont typeface="Arial"/>
              <a:buChar char="•"/>
            </a:pPr>
            <a:r>
              <a:rPr sz="1900" b="1" i="0">
                <a:solidFill>
                  <a:srgbClr val="F6B44B"/>
                </a:solidFill>
                <a:latin typeface="Aptos"/>
              </a:rPr>
              <a:t>~817,000</a:t>
            </a:r>
            <a:r>
              <a:rPr sz="1900" b="0" i="0">
                <a:solidFill>
                  <a:srgbClr val="D9D2BD"/>
                </a:solidFill>
                <a:latin typeface="Aptos"/>
              </a:rPr>
              <a:t> modeled light sources: streetlights, homes and businesses, sports fields</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Map: modeled zenith sky brightness (mag/arcsec²); yellow = urban, black = near natural</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Seven tabs: Scenario · Sites · Costs · Observatory · Stargaze · </a:t>
            </a:r>
            <a:r>
              <a:rPr sz="1900" b="1" i="0">
                <a:solidFill>
                  <a:srgbClr val="F6B44B"/>
                </a:solidFill>
                <a:latin typeface="Aptos"/>
              </a:rPr>
              <a:t>AI</a:t>
            </a:r>
            <a:r>
              <a:rPr sz="1900" b="0" i="0">
                <a:solidFill>
                  <a:srgbClr val="D9D2BD"/>
                </a:solidFill>
                <a:latin typeface="Aptos"/>
              </a:rPr>
              <a:t> · Brief</a:t>
            </a:r>
          </a:p>
        </p:txBody>
      </p:sp>
      <p:pic>
        <p:nvPicPr>
          <p:cNvPr id="7" name="07_overview.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4739335" y="1508760"/>
            <a:ext cx="6903720" cy="3883342"/>
          </a:xfrm>
          <a:prstGeom prst="rect">
            <a:avLst/>
          </a:prstGeom>
        </p:spPr>
      </p:pic>
      <p:sp>
        <p:nvSpPr>
          <p:cNvPr id="8" name="TextBox 7"/>
          <p:cNvSpPr txBox="1"/>
          <p:nvPr/>
        </p:nvSpPr>
        <p:spPr>
          <a:xfrm>
            <a:off x="4739335" y="5446966"/>
            <a:ext cx="690372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0" i="0">
                <a:solidFill>
                  <a:srgbClr val="A79F88"/>
                </a:solidFill>
                <a:latin typeface="Aptos"/>
              </a:rPr>
              <a:t>Scenario tab with today's modeled sky. Amber badge on every screen: “Uncalibrated planning projection”.</a:t>
            </a:r>
          </a:p>
        </p:txBody>
      </p:sp>
      <p:pic>
        <p:nvPicPr>
          <p:cNvPr id="9" name="Picture 8" descr="ai_days_logo_sticker.png"/>
          <p:cNvPicPr>
            <a:picLocks noChangeAspect="1"/>
          </p:cNvPicPr>
          <p:nvPr/>
        </p:nvPicPr>
        <p:blipFill>
          <a:blip r:embed="rId6"/>
          <a:stretch>
            <a:fillRect/>
          </a:stretch>
        </p:blipFill>
        <p:spPr>
          <a:xfrm>
            <a:off x="10408615" y="201168"/>
            <a:ext cx="1371600" cy="79827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repeatCount="indefinite" fill="remove" display="0">
                  <p:stCondLst>
                    <p:cond delay="indefinite"/>
                  </p:stCondLst>
                </p:cTn>
                <p:tgtEl>
                  <p:spTgt spid="7"/>
                </p:tgtEl>
              </p:cMediaNode>
            </p:video>
            <p:seq concurrent="1" nextAc="seek">
              <p:cTn id="8" restart="whenNotActive" fill="hold" evtFilter="cancelBubble" nodeType="interactiveSeq">
                <p:stCondLst>
                  <p:cond evt="onClick" delay="0">
                    <p:tgtEl>
                      <p:spTgt spid="7"/>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7"/>
                                        </p:tgtEl>
                                      </p:cBhvr>
                                    </p:cmd>
                                  </p:childTnLst>
                                </p:cTn>
                              </p:par>
                            </p:childTnLst>
                          </p:cTn>
                        </p:par>
                      </p:childTnLst>
                    </p:cTn>
                  </p:par>
                </p:childTnLst>
              </p:cTn>
              <p:nextCondLst>
                <p:cond evt="onClick" delay="0">
                  <p:tgtEl>
                    <p:spTgt spid="7"/>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HOW IT WORKS</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Heavy work offline, instant scenarios in the browser</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Jay Rosen  ·  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8</a:t>
            </a:r>
          </a:p>
        </p:txBody>
      </p:sp>
      <p:sp>
        <p:nvSpPr>
          <p:cNvPr id="6" name="Rectangle 5"/>
          <p:cNvSpPr/>
          <p:nvPr/>
        </p:nvSpPr>
        <p:spPr>
          <a:xfrm>
            <a:off x="548640" y="1508760"/>
            <a:ext cx="2487168" cy="502920"/>
          </a:xfrm>
          <a:prstGeom prst="roundRect">
            <a:avLst>
              <a:gd name="adj" fmla="val 12000"/>
            </a:avLst>
          </a:prstGeom>
          <a:solidFill>
            <a:srgbClr val="D9D2BD"/>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marL="0" indent="0" algn="ctr">
              <a:lnSpc>
                <a:spcPct val="100000"/>
              </a:lnSpc>
              <a:spcBef>
                <a:spcPts val="0"/>
              </a:spcBef>
              <a:spcAft>
                <a:spcPts val="0"/>
              </a:spcAft>
              <a:buNone/>
            </a:pPr>
            <a:r>
              <a:rPr sz="1400" b="1" i="0">
                <a:solidFill>
                  <a:srgbClr val="05070D"/>
                </a:solidFill>
                <a:latin typeface="Aptos"/>
              </a:rPr>
              <a:t>Public data</a:t>
            </a:r>
          </a:p>
        </p:txBody>
      </p:sp>
      <p:sp>
        <p:nvSpPr>
          <p:cNvPr id="7" name="Rectangle 6"/>
          <p:cNvSpPr/>
          <p:nvPr/>
        </p:nvSpPr>
        <p:spPr>
          <a:xfrm>
            <a:off x="548640" y="2103120"/>
            <a:ext cx="2487168" cy="2240280"/>
          </a:xfrm>
          <a:prstGeom prst="roundRect">
            <a:avLst>
              <a:gd name="adj" fmla="val 5000"/>
            </a:avLst>
          </a:prstGeom>
          <a:solidFill>
            <a:srgbClr val="111A2E"/>
          </a:solidFill>
          <a:ln w="12700">
            <a:solidFill>
              <a:srgbClr val="2A3A60"/>
            </a:solid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marL="0" indent="0" algn="ctr">
              <a:lnSpc>
                <a:spcPct val="110000"/>
              </a:lnSpc>
              <a:spcBef>
                <a:spcPts val="0"/>
              </a:spcBef>
              <a:spcAft>
                <a:spcPts val="0"/>
              </a:spcAft>
              <a:buNone/>
            </a:pPr>
            <a:r>
              <a:rPr sz="1500" b="0" i="0">
                <a:solidFill>
                  <a:srgbClr val="F5F1E6"/>
                </a:solidFill>
                <a:latin typeface="Aptos"/>
              </a:rPr>
              <a:t>NASA VIIRS night lights</a:t>
            </a:r>
          </a:p>
          <a:p>
            <a:pPr marL="0" indent="0" algn="ctr">
              <a:lnSpc>
                <a:spcPct val="110000"/>
              </a:lnSpc>
              <a:spcBef>
                <a:spcPts val="0"/>
              </a:spcBef>
              <a:spcAft>
                <a:spcPts val="0"/>
              </a:spcAft>
              <a:buNone/>
            </a:pPr>
            <a:r>
              <a:rPr sz="1500" b="0" i="0">
                <a:solidFill>
                  <a:srgbClr val="F5F1E6"/>
                </a:solidFill>
                <a:latin typeface="Aptos"/>
              </a:rPr>
              <a:t>(Google Earth Engine)</a:t>
            </a:r>
          </a:p>
          <a:p>
            <a:pPr marL="0" indent="0" algn="ctr">
              <a:lnSpc>
                <a:spcPct val="110000"/>
              </a:lnSpc>
              <a:spcBef>
                <a:spcPts val="0"/>
              </a:spcBef>
              <a:spcAft>
                <a:spcPts val="0"/>
              </a:spcAft>
              <a:buNone/>
            </a:pPr>
            <a:r>
              <a:rPr sz="1500" b="0" i="0">
                <a:solidFill>
                  <a:srgbClr val="F5F1E6"/>
                </a:solidFill>
                <a:latin typeface="Aptos"/>
              </a:rPr>
              <a:t>Census · OpenStreetMap</a:t>
            </a:r>
          </a:p>
          <a:p>
            <a:pPr marL="0" indent="0" algn="ctr">
              <a:lnSpc>
                <a:spcPct val="110000"/>
              </a:lnSpc>
              <a:spcBef>
                <a:spcPts val="0"/>
              </a:spcBef>
              <a:spcAft>
                <a:spcPts val="0"/>
              </a:spcAft>
              <a:buNone/>
            </a:pPr>
            <a:r>
              <a:rPr sz="1500" b="0" i="0">
                <a:solidFill>
                  <a:srgbClr val="F5F1E6"/>
                </a:solidFill>
                <a:latin typeface="Aptos"/>
              </a:rPr>
              <a:t>streetlight inventories</a:t>
            </a:r>
          </a:p>
          <a:p>
            <a:pPr marL="0" indent="0" algn="ctr">
              <a:lnSpc>
                <a:spcPct val="110000"/>
              </a:lnSpc>
              <a:spcBef>
                <a:spcPts val="0"/>
              </a:spcBef>
              <a:spcAft>
                <a:spcPts val="0"/>
              </a:spcAft>
              <a:buNone/>
            </a:pPr>
            <a:r>
              <a:rPr sz="1500" b="0" i="0">
                <a:solidFill>
                  <a:srgbClr val="F5F1E6"/>
                </a:solidFill>
                <a:latin typeface="Aptos"/>
              </a:rPr>
              <a:t>parcels · elevation</a:t>
            </a:r>
          </a:p>
          <a:p>
            <a:pPr marL="0" indent="0" algn="ctr">
              <a:lnSpc>
                <a:spcPct val="110000"/>
              </a:lnSpc>
              <a:spcBef>
                <a:spcPts val="0"/>
              </a:spcBef>
              <a:spcAft>
                <a:spcPts val="0"/>
              </a:spcAft>
              <a:buNone/>
            </a:pPr>
            <a:r>
              <a:rPr sz="1500" b="0" i="0">
                <a:solidFill>
                  <a:srgbClr val="F5F1E6"/>
                </a:solidFill>
                <a:latin typeface="Aptos"/>
              </a:rPr>
              <a:t>Globe at Night meters</a:t>
            </a:r>
          </a:p>
        </p:txBody>
      </p:sp>
      <p:cxnSp>
        <p:nvCxnSpPr>
          <p:cNvPr id="8" name="Connector 7"/>
          <p:cNvCxnSpPr/>
          <p:nvPr/>
        </p:nvCxnSpPr>
        <p:spPr>
          <a:xfrm>
            <a:off x="3072384" y="3200400"/>
            <a:ext cx="310896" cy="0"/>
          </a:xfrm>
          <a:prstGeom prst="line">
            <a:avLst/>
          </a:prstGeom>
          <a:ln w="31750">
            <a:solidFill>
              <a:srgbClr val="F6B44B"/>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3419856" y="1508760"/>
            <a:ext cx="2487168" cy="502920"/>
          </a:xfrm>
          <a:prstGeom prst="roundRect">
            <a:avLst>
              <a:gd name="adj" fmla="val 12000"/>
            </a:avLst>
          </a:prstGeom>
          <a:solidFill>
            <a:srgbClr val="F6B44B"/>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marL="0" indent="0" algn="ctr">
              <a:lnSpc>
                <a:spcPct val="100000"/>
              </a:lnSpc>
              <a:spcBef>
                <a:spcPts val="0"/>
              </a:spcBef>
              <a:spcAft>
                <a:spcPts val="0"/>
              </a:spcAft>
              <a:buNone/>
            </a:pPr>
            <a:r>
              <a:rPr sz="1400" b="1" i="0">
                <a:solidFill>
                  <a:srgbClr val="05070D"/>
                </a:solidFill>
                <a:latin typeface="Aptos"/>
              </a:rPr>
              <a:t>Offline pipeline · Python</a:t>
            </a:r>
          </a:p>
        </p:txBody>
      </p:sp>
      <p:sp>
        <p:nvSpPr>
          <p:cNvPr id="10" name="Rectangle 9"/>
          <p:cNvSpPr/>
          <p:nvPr/>
        </p:nvSpPr>
        <p:spPr>
          <a:xfrm>
            <a:off x="3419856" y="2103120"/>
            <a:ext cx="2487168" cy="2240280"/>
          </a:xfrm>
          <a:prstGeom prst="roundRect">
            <a:avLst>
              <a:gd name="adj" fmla="val 5000"/>
            </a:avLst>
          </a:prstGeom>
          <a:solidFill>
            <a:srgbClr val="1A2642"/>
          </a:solidFill>
          <a:ln w="12700">
            <a:solidFill>
              <a:srgbClr val="2A3A60"/>
            </a:solid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marL="0" indent="0" algn="ctr">
              <a:lnSpc>
                <a:spcPct val="110000"/>
              </a:lnSpc>
              <a:spcBef>
                <a:spcPts val="0"/>
              </a:spcBef>
              <a:spcAft>
                <a:spcPts val="0"/>
              </a:spcAft>
              <a:buNone/>
            </a:pPr>
            <a:r>
              <a:rPr sz="1500" b="0" i="0">
                <a:solidFill>
                  <a:srgbClr val="F5F1E6"/>
                </a:solidFill>
                <a:latin typeface="Aptos"/>
              </a:rPr>
              <a:t>Atmospheric scattering</a:t>
            </a:r>
          </a:p>
          <a:p>
            <a:pPr marL="0" indent="0" algn="ctr">
              <a:lnSpc>
                <a:spcPct val="110000"/>
              </a:lnSpc>
              <a:spcBef>
                <a:spcPts val="0"/>
              </a:spcBef>
              <a:spcAft>
                <a:spcPts val="0"/>
              </a:spcAft>
              <a:buNone/>
            </a:pPr>
            <a:r>
              <a:rPr sz="1500" b="0" i="0">
                <a:solidFill>
                  <a:srgbClr val="F5F1E6"/>
                </a:solidFill>
                <a:latin typeface="Aptos"/>
              </a:rPr>
              <a:t>kernels (Garstang)</a:t>
            </a:r>
          </a:p>
          <a:p>
            <a:pPr marL="0" indent="0" algn="ctr">
              <a:lnSpc>
                <a:spcPct val="110000"/>
              </a:lnSpc>
              <a:spcBef>
                <a:spcPts val="0"/>
              </a:spcBef>
              <a:spcAft>
                <a:spcPts val="0"/>
              </a:spcAft>
              <a:buNone/>
            </a:pPr>
            <a:r>
              <a:rPr sz="1500" b="0" i="0">
                <a:solidFill>
                  <a:srgbClr val="F5F1E6"/>
                </a:solidFill>
                <a:latin typeface="Aptos"/>
              </a:rPr>
              <a:t>place every fixture</a:t>
            </a:r>
          </a:p>
          <a:p>
            <a:pPr marL="0" indent="0" algn="ctr">
              <a:lnSpc>
                <a:spcPct val="110000"/>
              </a:lnSpc>
              <a:spcBef>
                <a:spcPts val="0"/>
              </a:spcBef>
              <a:spcAft>
                <a:spcPts val="0"/>
              </a:spcAft>
              <a:buNone/>
            </a:pPr>
            <a:r>
              <a:rPr sz="1500" b="0" i="0">
                <a:solidFill>
                  <a:srgbClr val="F5F1E6"/>
                </a:solidFill>
                <a:latin typeface="Aptos"/>
              </a:rPr>
              <a:t>AI: change detector</a:t>
            </a:r>
          </a:p>
          <a:p>
            <a:pPr marL="0" indent="0" algn="ctr">
              <a:lnSpc>
                <a:spcPct val="110000"/>
              </a:lnSpc>
              <a:spcBef>
                <a:spcPts val="0"/>
              </a:spcBef>
              <a:spcAft>
                <a:spcPts val="0"/>
              </a:spcAft>
              <a:buNone/>
            </a:pPr>
            <a:r>
              <a:rPr sz="1500" b="0" i="0">
                <a:solidFill>
                  <a:srgbClr val="F5F1E6"/>
                </a:solidFill>
                <a:latin typeface="Aptos"/>
              </a:rPr>
              <a:t>+ LightGBM forecast</a:t>
            </a:r>
          </a:p>
        </p:txBody>
      </p:sp>
      <p:cxnSp>
        <p:nvCxnSpPr>
          <p:cNvPr id="11" name="Connector 10"/>
          <p:cNvCxnSpPr/>
          <p:nvPr/>
        </p:nvCxnSpPr>
        <p:spPr>
          <a:xfrm>
            <a:off x="5943600" y="3200400"/>
            <a:ext cx="310896" cy="0"/>
          </a:xfrm>
          <a:prstGeom prst="line">
            <a:avLst/>
          </a:prstGeom>
          <a:ln w="31750">
            <a:solidFill>
              <a:srgbClr val="F6B44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6291072" y="1508760"/>
            <a:ext cx="2487168" cy="502920"/>
          </a:xfrm>
          <a:prstGeom prst="roundRect">
            <a:avLst>
              <a:gd name="adj" fmla="val 12000"/>
            </a:avLst>
          </a:prstGeom>
          <a:solidFill>
            <a:srgbClr val="D9D2BD"/>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marL="0" indent="0" algn="ctr">
              <a:lnSpc>
                <a:spcPct val="100000"/>
              </a:lnSpc>
              <a:spcBef>
                <a:spcPts val="0"/>
              </a:spcBef>
              <a:spcAft>
                <a:spcPts val="0"/>
              </a:spcAft>
              <a:buNone/>
            </a:pPr>
            <a:r>
              <a:rPr sz="1400" b="1" i="0">
                <a:solidFill>
                  <a:srgbClr val="05070D"/>
                </a:solidFill>
                <a:latin typeface="Aptos"/>
              </a:rPr>
              <a:t>Static data package</a:t>
            </a:r>
          </a:p>
        </p:txBody>
      </p:sp>
      <p:sp>
        <p:nvSpPr>
          <p:cNvPr id="13" name="Rectangle 12"/>
          <p:cNvSpPr/>
          <p:nvPr/>
        </p:nvSpPr>
        <p:spPr>
          <a:xfrm>
            <a:off x="6291072" y="2103120"/>
            <a:ext cx="2487168" cy="2240280"/>
          </a:xfrm>
          <a:prstGeom prst="roundRect">
            <a:avLst>
              <a:gd name="adj" fmla="val 5000"/>
            </a:avLst>
          </a:prstGeom>
          <a:solidFill>
            <a:srgbClr val="111A2E"/>
          </a:solidFill>
          <a:ln w="12700">
            <a:solidFill>
              <a:srgbClr val="2A3A60"/>
            </a:solid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marL="0" indent="0" algn="ctr">
              <a:lnSpc>
                <a:spcPct val="110000"/>
              </a:lnSpc>
              <a:spcBef>
                <a:spcPts val="0"/>
              </a:spcBef>
              <a:spcAft>
                <a:spcPts val="0"/>
              </a:spcAft>
              <a:buNone/>
            </a:pPr>
            <a:r>
              <a:rPr sz="1500" b="0" i="0">
                <a:solidFill>
                  <a:srgbClr val="F5F1E6"/>
                </a:solidFill>
                <a:latin typeface="Aptos"/>
              </a:rPr>
              <a:t>16-bit grids + JSON</a:t>
            </a:r>
          </a:p>
          <a:p>
            <a:pPr marL="0" indent="0" algn="ctr">
              <a:lnSpc>
                <a:spcPct val="110000"/>
              </a:lnSpc>
              <a:spcBef>
                <a:spcPts val="0"/>
              </a:spcBef>
              <a:spcAft>
                <a:spcPts val="0"/>
              </a:spcAft>
              <a:buNone/>
            </a:pPr>
            <a:r>
              <a:rPr sz="1500" b="0" i="0">
                <a:solidFill>
                  <a:srgbClr val="F5F1E6"/>
                </a:solidFill>
                <a:latin typeface="Aptos"/>
              </a:rPr>
              <a:t>one layer per</a:t>
            </a:r>
          </a:p>
          <a:p>
            <a:pPr marL="0" indent="0" algn="ctr">
              <a:lnSpc>
                <a:spcPct val="110000"/>
              </a:lnSpc>
              <a:spcBef>
                <a:spcPts val="0"/>
              </a:spcBef>
              <a:spcAft>
                <a:spcPts val="0"/>
              </a:spcAft>
              <a:buNone/>
            </a:pPr>
            <a:r>
              <a:rPr sz="1500" b="0" i="0">
                <a:solidFill>
                  <a:srgbClr val="F5F1E6"/>
                </a:solidFill>
                <a:latin typeface="Aptos"/>
              </a:rPr>
              <a:t>fixture group × county</a:t>
            </a:r>
          </a:p>
          <a:p>
            <a:pPr marL="0" indent="0" algn="ctr">
              <a:lnSpc>
                <a:spcPct val="110000"/>
              </a:lnSpc>
              <a:spcBef>
                <a:spcPts val="0"/>
              </a:spcBef>
              <a:spcAft>
                <a:spcPts val="0"/>
              </a:spcAft>
              <a:buNone/>
            </a:pPr>
            <a:r>
              <a:rPr sz="1500" b="0" i="0">
                <a:solidFill>
                  <a:srgbClr val="F5F1E6"/>
                </a:solidFill>
                <a:latin typeface="Aptos"/>
              </a:rPr>
              <a:t>(basis layers)</a:t>
            </a:r>
          </a:p>
        </p:txBody>
      </p:sp>
      <p:cxnSp>
        <p:nvCxnSpPr>
          <p:cNvPr id="14" name="Connector 13"/>
          <p:cNvCxnSpPr/>
          <p:nvPr/>
        </p:nvCxnSpPr>
        <p:spPr>
          <a:xfrm>
            <a:off x="8814815" y="3200400"/>
            <a:ext cx="310897" cy="0"/>
          </a:xfrm>
          <a:prstGeom prst="line">
            <a:avLst/>
          </a:prstGeom>
          <a:ln w="31750">
            <a:solidFill>
              <a:srgbClr val="F6B44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9162288" y="1508760"/>
            <a:ext cx="2487168" cy="502920"/>
          </a:xfrm>
          <a:prstGeom prst="roundRect">
            <a:avLst>
              <a:gd name="adj" fmla="val 12000"/>
            </a:avLst>
          </a:prstGeom>
          <a:solidFill>
            <a:srgbClr val="F6B44B"/>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marL="0" indent="0" algn="ctr">
              <a:lnSpc>
                <a:spcPct val="100000"/>
              </a:lnSpc>
              <a:spcBef>
                <a:spcPts val="0"/>
              </a:spcBef>
              <a:spcAft>
                <a:spcPts val="0"/>
              </a:spcAft>
              <a:buNone/>
            </a:pPr>
            <a:r>
              <a:rPr sz="1400" b="1" i="0">
                <a:solidFill>
                  <a:srgbClr val="05070D"/>
                </a:solidFill>
                <a:latin typeface="Aptos"/>
              </a:rPr>
              <a:t>Browser · React + MapLibre</a:t>
            </a:r>
          </a:p>
        </p:txBody>
      </p:sp>
      <p:sp>
        <p:nvSpPr>
          <p:cNvPr id="16" name="Rectangle 15"/>
          <p:cNvSpPr/>
          <p:nvPr/>
        </p:nvSpPr>
        <p:spPr>
          <a:xfrm>
            <a:off x="9162288" y="2103120"/>
            <a:ext cx="2487168" cy="2240280"/>
          </a:xfrm>
          <a:prstGeom prst="roundRect">
            <a:avLst>
              <a:gd name="adj" fmla="val 5000"/>
            </a:avLst>
          </a:prstGeom>
          <a:solidFill>
            <a:srgbClr val="1A2642"/>
          </a:solidFill>
          <a:ln w="12700">
            <a:solidFill>
              <a:srgbClr val="2A3A60"/>
            </a:solid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marL="0" indent="0" algn="ctr">
              <a:lnSpc>
                <a:spcPct val="110000"/>
              </a:lnSpc>
              <a:spcBef>
                <a:spcPts val="0"/>
              </a:spcBef>
              <a:spcAft>
                <a:spcPts val="0"/>
              </a:spcAft>
              <a:buNone/>
            </a:pPr>
            <a:r>
              <a:rPr sz="1500" b="0" i="0">
                <a:solidFill>
                  <a:srgbClr val="F5F1E6"/>
                </a:solidFill>
                <a:latin typeface="Aptos"/>
              </a:rPr>
              <a:t>sky = weighted sum</a:t>
            </a:r>
          </a:p>
          <a:p>
            <a:pPr marL="0" indent="0" algn="ctr">
              <a:lnSpc>
                <a:spcPct val="110000"/>
              </a:lnSpc>
              <a:spcBef>
                <a:spcPts val="0"/>
              </a:spcBef>
              <a:spcAft>
                <a:spcPts val="0"/>
              </a:spcAft>
              <a:buNone/>
            </a:pPr>
            <a:r>
              <a:rPr sz="1500" b="0" i="0">
                <a:solidFill>
                  <a:srgbClr val="F5F1E6"/>
                </a:solidFill>
                <a:latin typeface="Aptos"/>
              </a:rPr>
              <a:t>of basis layers</a:t>
            </a:r>
          </a:p>
          <a:p>
            <a:pPr marL="0" indent="0" algn="ctr">
              <a:lnSpc>
                <a:spcPct val="110000"/>
              </a:lnSpc>
              <a:spcBef>
                <a:spcPts val="0"/>
              </a:spcBef>
              <a:spcAft>
                <a:spcPts val="0"/>
              </a:spcAft>
              <a:buNone/>
            </a:pPr>
            <a:r>
              <a:rPr sz="1500" b="0" i="0">
                <a:solidFill>
                  <a:srgbClr val="F5F1E6"/>
                </a:solidFill>
                <a:latin typeface="Aptos"/>
              </a:rPr>
              <a:t>~55 ms per scenario</a:t>
            </a:r>
          </a:p>
          <a:p>
            <a:pPr marL="0" indent="0" algn="ctr">
              <a:lnSpc>
                <a:spcPct val="110000"/>
              </a:lnSpc>
              <a:spcBef>
                <a:spcPts val="0"/>
              </a:spcBef>
              <a:spcAft>
                <a:spcPts val="0"/>
              </a:spcAft>
              <a:buNone/>
            </a:pPr>
            <a:r>
              <a:rPr sz="1500" b="0" i="0">
                <a:solidFill>
                  <a:srgbClr val="F5F1E6"/>
                </a:solidFill>
                <a:latin typeface="Aptos"/>
              </a:rPr>
              <a:t>map · 3D · charts · PDF</a:t>
            </a:r>
          </a:p>
        </p:txBody>
      </p:sp>
      <p:pic>
        <p:nvPicPr>
          <p:cNvPr id="17" name="Picture 16" descr="skysum_light.png"/>
          <p:cNvPicPr>
            <a:picLocks noChangeAspect="1"/>
          </p:cNvPicPr>
          <p:nvPr/>
        </p:nvPicPr>
        <p:blipFill>
          <a:blip r:embed="rId3"/>
          <a:stretch>
            <a:fillRect/>
          </a:stretch>
        </p:blipFill>
        <p:spPr>
          <a:xfrm>
            <a:off x="548640" y="4572000"/>
            <a:ext cx="6472009" cy="566928"/>
          </a:xfrm>
          <a:prstGeom prst="rect">
            <a:avLst/>
          </a:prstGeom>
        </p:spPr>
      </p:pic>
      <p:sp>
        <p:nvSpPr>
          <p:cNvPr id="18" name="TextBox 17"/>
          <p:cNvSpPr txBox="1"/>
          <p:nvPr/>
        </p:nvSpPr>
        <p:spPr>
          <a:xfrm>
            <a:off x="548640" y="5303520"/>
            <a:ext cx="11064240" cy="109728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700" b="0" i="0">
                <a:solidFill>
                  <a:srgbClr val="D9D2BD"/>
                </a:solidFill>
                <a:latin typeface="Aptos"/>
              </a:rPr>
              <a:t>Skyglow adds linearly, so any ordinance is a re-weighting of precomputed layers: a phone can explore it instantly</a:t>
            </a:r>
          </a:p>
          <a:p>
            <a:pPr marL="256032" indent="-256032">
              <a:lnSpc>
                <a:spcPct val="100000"/>
              </a:lnSpc>
              <a:spcBef>
                <a:spcPts val="400"/>
              </a:spcBef>
              <a:spcAft>
                <a:spcPts val="0"/>
              </a:spcAft>
              <a:buClr>
                <a:srgbClr val="F6B44B"/>
              </a:buClr>
              <a:buSzPct val="100000"/>
              <a:buFont typeface="Arial"/>
              <a:buChar char="•"/>
            </a:pPr>
            <a:r>
              <a:rPr sz="1700" b="0" i="0">
                <a:solidFill>
                  <a:srgbClr val="D9D2BD"/>
                </a:solidFill>
                <a:latin typeface="Aptos"/>
              </a:rPr>
              <a:t>The sky is a published single-scattering model (Garstang 1986), </a:t>
            </a:r>
            <a:r>
              <a:rPr sz="1700" b="1" i="0">
                <a:solidFill>
                  <a:srgbClr val="F6B44B"/>
                </a:solidFill>
                <a:latin typeface="Aptos"/>
              </a:rPr>
              <a:t>not</a:t>
            </a:r>
            <a:r>
              <a:rPr sz="1700" b="0" i="0">
                <a:solidFill>
                  <a:srgbClr val="D9D2BD"/>
                </a:solidFill>
                <a:latin typeface="Aptos"/>
              </a:rPr>
              <a:t> a neural network</a:t>
            </a:r>
          </a:p>
        </p:txBody>
      </p:sp>
      <p:pic>
        <p:nvPicPr>
          <p:cNvPr id="19" name="Picture 18" descr="ai_days_logo_sticker.png"/>
          <p:cNvPicPr>
            <a:picLocks noChangeAspect="1"/>
          </p:cNvPicPr>
          <p:nvPr/>
        </p:nvPicPr>
        <p:blipFill>
          <a:blip r:embed="rId4"/>
          <a:stretch>
            <a:fillRect/>
          </a:stretch>
        </p:blipFill>
        <p:spPr>
          <a:xfrm>
            <a:off x="10408615" y="201168"/>
            <a:ext cx="1371600" cy="798271"/>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SCENARIO</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One click: a Groveland-style ordinance</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Jay Rosen  ·  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9</a:t>
            </a:r>
          </a:p>
        </p:txBody>
      </p:sp>
      <p:sp>
        <p:nvSpPr>
          <p:cNvPr id="6" name="TextBox 5"/>
          <p:cNvSpPr txBox="1"/>
          <p:nvPr/>
        </p:nvSpPr>
        <p:spPr>
          <a:xfrm>
            <a:off x="548640" y="1463040"/>
            <a:ext cx="3687775" cy="475488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900" b="0" i="0">
                <a:solidFill>
                  <a:srgbClr val="D9D2BD"/>
                </a:solidFill>
                <a:latin typeface="Aptos"/>
              </a:rPr>
              <a:t>Groveland: Florida's first dark-sky city</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Full shielding (U0), </a:t>
            </a:r>
            <a:r>
              <a:rPr sz="1900" b="1" i="0">
                <a:solidFill>
                  <a:srgbClr val="F6B44B"/>
                </a:solidFill>
                <a:latin typeface="Aptos"/>
              </a:rPr>
              <a:t>3000 K</a:t>
            </a:r>
            <a:r>
              <a:rPr sz="1900" b="0" i="0">
                <a:solidFill>
                  <a:srgbClr val="D9D2BD"/>
                </a:solidFill>
                <a:latin typeface="Aptos"/>
              </a:rPr>
              <a:t> cap, dim to 50% from 22:00 to 06:30</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Paynes Prairie: </a:t>
            </a:r>
            <a:r>
              <a:rPr sz="1900" b="1" i="0">
                <a:solidFill>
                  <a:srgbClr val="F6B44B"/>
                </a:solidFill>
                <a:latin typeface="Aptos"/>
              </a:rPr>
              <a:t>20.98 → 21.62</a:t>
            </a:r>
            <a:r>
              <a:rPr sz="1900" b="0" i="0">
                <a:solidFill>
                  <a:srgbClr val="D9D2BD"/>
                </a:solidFill>
                <a:latin typeface="Aptos"/>
              </a:rPr>
              <a:t> mag/arcsec² if every light complies; </a:t>
            </a:r>
            <a:r>
              <a:rPr sz="1900" b="1" i="0">
                <a:solidFill>
                  <a:srgbClr val="F6B44B"/>
                </a:solidFill>
                <a:latin typeface="Aptos"/>
              </a:rPr>
              <a:t>21.30</a:t>
            </a:r>
            <a:r>
              <a:rPr sz="1900" b="0" i="0">
                <a:solidFill>
                  <a:srgbClr val="D9D2BD"/>
                </a:solidFill>
                <a:latin typeface="Aptos"/>
              </a:rPr>
              <a:t> with public lights alone</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Blue = darker sky, and it crosses county lines</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Public cost: </a:t>
            </a:r>
            <a:r>
              <a:rPr sz="1900" b="1" i="0">
                <a:solidFill>
                  <a:srgbClr val="F6B44B"/>
                </a:solidFill>
                <a:latin typeface="Aptos"/>
              </a:rPr>
              <a:t>$26.6M</a:t>
            </a:r>
            <a:r>
              <a:rPr sz="1900" b="0" i="0">
                <a:solidFill>
                  <a:srgbClr val="D9D2BD"/>
                </a:solidFill>
                <a:latin typeface="Aptos"/>
              </a:rPr>
              <a:t>, $1.43M/yr saved, 18.6-yr payback</a:t>
            </a:r>
          </a:p>
        </p:txBody>
      </p:sp>
      <p:pic>
        <p:nvPicPr>
          <p:cNvPr id="7" name="09_ordinance.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4739335" y="1508760"/>
            <a:ext cx="6903720" cy="3883342"/>
          </a:xfrm>
          <a:prstGeom prst="rect">
            <a:avLst/>
          </a:prstGeom>
        </p:spPr>
      </p:pic>
      <p:sp>
        <p:nvSpPr>
          <p:cNvPr id="8" name="TextBox 7"/>
          <p:cNvSpPr txBox="1"/>
          <p:nvPr/>
        </p:nvSpPr>
        <p:spPr>
          <a:xfrm>
            <a:off x="4739335" y="5446966"/>
            <a:ext cx="690372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0" i="0">
                <a:solidFill>
                  <a:srgbClr val="A79F88"/>
                </a:solidFill>
                <a:latin typeface="Aptos"/>
              </a:rPr>
              <a:t>Change layer: where the sky gets darker (blue) under the ordinance; Budget card at top right.</a:t>
            </a:r>
          </a:p>
        </p:txBody>
      </p:sp>
      <p:pic>
        <p:nvPicPr>
          <p:cNvPr id="9" name="Picture 8" descr="ai_days_logo_sticker.png"/>
          <p:cNvPicPr>
            <a:picLocks noChangeAspect="1"/>
          </p:cNvPicPr>
          <p:nvPr/>
        </p:nvPicPr>
        <p:blipFill>
          <a:blip r:embed="rId6"/>
          <a:stretch>
            <a:fillRect/>
          </a:stretch>
        </p:blipFill>
        <p:spPr>
          <a:xfrm>
            <a:off x="10408615" y="201168"/>
            <a:ext cx="1371600" cy="79827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repeatCount="indefinite" fill="remove" display="0">
                  <p:stCondLst>
                    <p:cond delay="indefinite"/>
                  </p:stCondLst>
                </p:cTn>
                <p:tgtEl>
                  <p:spTgt spid="7"/>
                </p:tgtEl>
              </p:cMediaNode>
            </p:video>
            <p:seq concurrent="1" nextAc="seek">
              <p:cTn id="8" restart="whenNotActive" fill="hold" evtFilter="cancelBubble" nodeType="interactiveSeq">
                <p:stCondLst>
                  <p:cond evt="onClick" delay="0">
                    <p:tgtEl>
                      <p:spTgt spid="7"/>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7"/>
                                        </p:tgtEl>
                                      </p:cBhvr>
                                    </p:cmd>
                                  </p:childTnLst>
                                </p:cTn>
                              </p:par>
                            </p:childTnLst>
                          </p:cTn>
                        </p:par>
                      </p:childTnLst>
                    </p:cTn>
                  </p:par>
                </p:childTnLst>
              </p:cTn>
              <p:nextCondLst>
                <p:cond evt="onClick" delay="0">
                  <p:tgtEl>
                    <p:spTgt spid="7"/>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SCENARIO  ·  COSTS</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What each government pays, and saves</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Jay Rosen  ·  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10</a:t>
            </a:r>
          </a:p>
        </p:txBody>
      </p:sp>
      <p:sp>
        <p:nvSpPr>
          <p:cNvPr id="6" name="TextBox 5"/>
          <p:cNvSpPr txBox="1"/>
          <p:nvPr/>
        </p:nvSpPr>
        <p:spPr>
          <a:xfrm>
            <a:off x="548640" y="1280160"/>
            <a:ext cx="11064240" cy="4572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600" b="0" i="0">
                <a:solidFill>
                  <a:srgbClr val="D9D2BD"/>
                </a:solidFill>
                <a:latin typeface="Aptos"/>
              </a:rPr>
              <a:t>Right-sized public streetlights: </a:t>
            </a:r>
            <a:r>
              <a:rPr sz="1600" b="1" i="0">
                <a:solidFill>
                  <a:srgbClr val="F6B44B"/>
                </a:solidFill>
                <a:latin typeface="Aptos"/>
              </a:rPr>
              <a:t>fully shielded 3000 K LEDs at 30% lower output</a:t>
            </a:r>
            <a:r>
              <a:rPr sz="1600" b="0" i="0">
                <a:solidFill>
                  <a:srgbClr val="D9D2BD"/>
                </a:solidFill>
                <a:latin typeface="Aptos"/>
              </a:rPr>
              <a:t>, no smart controllers. Savings = energy + avoided maintenance, at each utility's rates.</a:t>
            </a:r>
          </a:p>
        </p:txBody>
      </p:sp>
      <p:sp>
        <p:nvSpPr>
          <p:cNvPr id="7" name="Rectangle 6"/>
          <p:cNvSpPr/>
          <p:nvPr/>
        </p:nvSpPr>
        <p:spPr>
          <a:xfrm>
            <a:off x="548640" y="1783080"/>
            <a:ext cx="5440680" cy="1325880"/>
          </a:xfrm>
          <a:prstGeom prst="roundRect">
            <a:avLst>
              <a:gd name="adj" fmla="val 6000"/>
            </a:avLst>
          </a:prstGeom>
          <a:solidFill>
            <a:srgbClr val="111A2E"/>
          </a:solidFill>
          <a:ln w="12700">
            <a:solidFill>
              <a:srgbClr val="2A3A6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731520" y="1874519"/>
            <a:ext cx="5120640" cy="36576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700" b="1" i="0">
                <a:solidFill>
                  <a:srgbClr val="F5F1E6"/>
                </a:solidFill>
                <a:latin typeface="Aptos Display"/>
              </a:rPr>
              <a:t>Alachua County</a:t>
            </a:r>
          </a:p>
        </p:txBody>
      </p:sp>
      <p:sp>
        <p:nvSpPr>
          <p:cNvPr id="9" name="TextBox 8"/>
          <p:cNvSpPr txBox="1"/>
          <p:nvPr/>
        </p:nvSpPr>
        <p:spPr>
          <a:xfrm>
            <a:off x="731520" y="1892807"/>
            <a:ext cx="5074920" cy="36576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100" b="0" i="0">
                <a:solidFill>
                  <a:srgbClr val="A79F88"/>
                </a:solidFill>
                <a:latin typeface="Aptos"/>
              </a:rPr>
              <a:t>all public streetlights (43,517)</a:t>
            </a:r>
          </a:p>
        </p:txBody>
      </p:sp>
      <p:sp>
        <p:nvSpPr>
          <p:cNvPr id="10" name="TextBox 9"/>
          <p:cNvSpPr txBox="1"/>
          <p:nvPr/>
        </p:nvSpPr>
        <p:spPr>
          <a:xfrm>
            <a:off x="640080" y="225856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$15.3M</a:t>
            </a:r>
          </a:p>
        </p:txBody>
      </p:sp>
      <p:sp>
        <p:nvSpPr>
          <p:cNvPr id="11" name="TextBox 10"/>
          <p:cNvSpPr txBox="1"/>
          <p:nvPr/>
        </p:nvSpPr>
        <p:spPr>
          <a:xfrm>
            <a:off x="640080" y="272491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one-time cost</a:t>
            </a:r>
          </a:p>
        </p:txBody>
      </p:sp>
      <p:sp>
        <p:nvSpPr>
          <p:cNvPr id="12" name="TextBox 11"/>
          <p:cNvSpPr txBox="1"/>
          <p:nvPr/>
        </p:nvSpPr>
        <p:spPr>
          <a:xfrm>
            <a:off x="1965960" y="225856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$2.55M</a:t>
            </a:r>
          </a:p>
        </p:txBody>
      </p:sp>
      <p:sp>
        <p:nvSpPr>
          <p:cNvPr id="13" name="TextBox 12"/>
          <p:cNvSpPr txBox="1"/>
          <p:nvPr/>
        </p:nvSpPr>
        <p:spPr>
          <a:xfrm>
            <a:off x="1965960" y="272491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saved / year</a:t>
            </a:r>
          </a:p>
        </p:txBody>
      </p:sp>
      <p:sp>
        <p:nvSpPr>
          <p:cNvPr id="14" name="TextBox 13"/>
          <p:cNvSpPr txBox="1"/>
          <p:nvPr/>
        </p:nvSpPr>
        <p:spPr>
          <a:xfrm>
            <a:off x="3291839" y="225856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6.0 yr</a:t>
            </a:r>
          </a:p>
        </p:txBody>
      </p:sp>
      <p:sp>
        <p:nvSpPr>
          <p:cNvPr id="15" name="TextBox 14"/>
          <p:cNvSpPr txBox="1"/>
          <p:nvPr/>
        </p:nvSpPr>
        <p:spPr>
          <a:xfrm>
            <a:off x="3291839" y="272491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payback</a:t>
            </a:r>
          </a:p>
        </p:txBody>
      </p:sp>
      <p:sp>
        <p:nvSpPr>
          <p:cNvPr id="16" name="TextBox 15"/>
          <p:cNvSpPr txBox="1"/>
          <p:nvPr/>
        </p:nvSpPr>
        <p:spPr>
          <a:xfrm>
            <a:off x="4617720" y="225856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7CD992"/>
                </a:solidFill>
                <a:latin typeface="Aptos Display"/>
              </a:rPr>
              <a:t>+$23.0M</a:t>
            </a:r>
          </a:p>
        </p:txBody>
      </p:sp>
      <p:sp>
        <p:nvSpPr>
          <p:cNvPr id="17" name="TextBox 16"/>
          <p:cNvSpPr txBox="1"/>
          <p:nvPr/>
        </p:nvSpPr>
        <p:spPr>
          <a:xfrm>
            <a:off x="4617720" y="272491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after 15 years</a:t>
            </a:r>
          </a:p>
        </p:txBody>
      </p:sp>
      <p:sp>
        <p:nvSpPr>
          <p:cNvPr id="18" name="Rectangle 17"/>
          <p:cNvSpPr/>
          <p:nvPr/>
        </p:nvSpPr>
        <p:spPr>
          <a:xfrm>
            <a:off x="6199631" y="1783080"/>
            <a:ext cx="5440680" cy="1325880"/>
          </a:xfrm>
          <a:prstGeom prst="roundRect">
            <a:avLst>
              <a:gd name="adj" fmla="val 6000"/>
            </a:avLst>
          </a:prstGeom>
          <a:solidFill>
            <a:srgbClr val="1A2642"/>
          </a:solidFill>
          <a:ln w="25400">
            <a:solidFill>
              <a:srgbClr val="F6B44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6382512" y="1874519"/>
            <a:ext cx="5120640" cy="36576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700" b="1" i="0">
                <a:solidFill>
                  <a:srgbClr val="F5F1E6"/>
                </a:solidFill>
                <a:latin typeface="Aptos Display"/>
              </a:rPr>
              <a:t>University of Florida*</a:t>
            </a:r>
          </a:p>
        </p:txBody>
      </p:sp>
      <p:sp>
        <p:nvSpPr>
          <p:cNvPr id="20" name="TextBox 19"/>
          <p:cNvSpPr txBox="1"/>
          <p:nvPr/>
        </p:nvSpPr>
        <p:spPr>
          <a:xfrm>
            <a:off x="6382512" y="1892807"/>
            <a:ext cx="5074920" cy="36576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100" b="0" i="0">
                <a:solidFill>
                  <a:srgbClr val="A79F88"/>
                </a:solidFill>
                <a:latin typeface="Aptos"/>
              </a:rPr>
              <a:t>4,100 campus pole lights</a:t>
            </a:r>
          </a:p>
        </p:txBody>
      </p:sp>
      <p:sp>
        <p:nvSpPr>
          <p:cNvPr id="21" name="TextBox 20"/>
          <p:cNvSpPr txBox="1"/>
          <p:nvPr/>
        </p:nvSpPr>
        <p:spPr>
          <a:xfrm>
            <a:off x="6291071" y="225856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$984K</a:t>
            </a:r>
          </a:p>
        </p:txBody>
      </p:sp>
      <p:sp>
        <p:nvSpPr>
          <p:cNvPr id="22" name="TextBox 21"/>
          <p:cNvSpPr txBox="1"/>
          <p:nvPr/>
        </p:nvSpPr>
        <p:spPr>
          <a:xfrm>
            <a:off x="6291071" y="272491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one-time cost</a:t>
            </a:r>
          </a:p>
        </p:txBody>
      </p:sp>
      <p:sp>
        <p:nvSpPr>
          <p:cNvPr id="23" name="TextBox 22"/>
          <p:cNvSpPr txBox="1"/>
          <p:nvPr/>
        </p:nvSpPr>
        <p:spPr>
          <a:xfrm>
            <a:off x="7616951" y="225856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$198K</a:t>
            </a:r>
          </a:p>
        </p:txBody>
      </p:sp>
      <p:sp>
        <p:nvSpPr>
          <p:cNvPr id="24" name="TextBox 23"/>
          <p:cNvSpPr txBox="1"/>
          <p:nvPr/>
        </p:nvSpPr>
        <p:spPr>
          <a:xfrm>
            <a:off x="7616951" y="272491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saved / year</a:t>
            </a:r>
          </a:p>
        </p:txBody>
      </p:sp>
      <p:sp>
        <p:nvSpPr>
          <p:cNvPr id="25" name="TextBox 24"/>
          <p:cNvSpPr txBox="1"/>
          <p:nvPr/>
        </p:nvSpPr>
        <p:spPr>
          <a:xfrm>
            <a:off x="8942832" y="225856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5.0 yr</a:t>
            </a:r>
          </a:p>
        </p:txBody>
      </p:sp>
      <p:sp>
        <p:nvSpPr>
          <p:cNvPr id="26" name="TextBox 25"/>
          <p:cNvSpPr txBox="1"/>
          <p:nvPr/>
        </p:nvSpPr>
        <p:spPr>
          <a:xfrm>
            <a:off x="8942832" y="272491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payback</a:t>
            </a:r>
          </a:p>
        </p:txBody>
      </p:sp>
      <p:sp>
        <p:nvSpPr>
          <p:cNvPr id="27" name="TextBox 26"/>
          <p:cNvSpPr txBox="1"/>
          <p:nvPr/>
        </p:nvSpPr>
        <p:spPr>
          <a:xfrm>
            <a:off x="10268711" y="225856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7CD992"/>
                </a:solidFill>
                <a:latin typeface="Aptos Display"/>
              </a:rPr>
              <a:t>+$2.0M</a:t>
            </a:r>
          </a:p>
        </p:txBody>
      </p:sp>
      <p:sp>
        <p:nvSpPr>
          <p:cNvPr id="28" name="TextBox 27"/>
          <p:cNvSpPr txBox="1"/>
          <p:nvPr/>
        </p:nvSpPr>
        <p:spPr>
          <a:xfrm>
            <a:off x="10268711" y="272491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after 15 years</a:t>
            </a:r>
          </a:p>
        </p:txBody>
      </p:sp>
      <p:sp>
        <p:nvSpPr>
          <p:cNvPr id="29" name="Rectangle 28"/>
          <p:cNvSpPr/>
          <p:nvPr/>
        </p:nvSpPr>
        <p:spPr>
          <a:xfrm>
            <a:off x="548640" y="3246120"/>
            <a:ext cx="5440680" cy="1325880"/>
          </a:xfrm>
          <a:prstGeom prst="roundRect">
            <a:avLst>
              <a:gd name="adj" fmla="val 6000"/>
            </a:avLst>
          </a:prstGeom>
          <a:solidFill>
            <a:srgbClr val="111A2E"/>
          </a:solidFill>
          <a:ln w="12700">
            <a:solidFill>
              <a:srgbClr val="2A3A6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TextBox 29"/>
          <p:cNvSpPr txBox="1"/>
          <p:nvPr/>
        </p:nvSpPr>
        <p:spPr>
          <a:xfrm>
            <a:off x="731520" y="3337560"/>
            <a:ext cx="5120640" cy="36576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700" b="1" i="0">
                <a:solidFill>
                  <a:srgbClr val="F5F1E6"/>
                </a:solidFill>
                <a:latin typeface="Aptos Display"/>
              </a:rPr>
              <a:t>City of Gainesville</a:t>
            </a:r>
          </a:p>
        </p:txBody>
      </p:sp>
      <p:sp>
        <p:nvSpPr>
          <p:cNvPr id="31" name="TextBox 30"/>
          <p:cNvSpPr txBox="1"/>
          <p:nvPr/>
        </p:nvSpPr>
        <p:spPr>
          <a:xfrm>
            <a:off x="731520" y="3355848"/>
            <a:ext cx="5074920" cy="36576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100" b="0" i="0">
                <a:solidFill>
                  <a:srgbClr val="A79F88"/>
                </a:solidFill>
                <a:latin typeface="Aptos"/>
              </a:rPr>
              <a:t>GRU streetlights (30,000)</a:t>
            </a:r>
          </a:p>
        </p:txBody>
      </p:sp>
      <p:sp>
        <p:nvSpPr>
          <p:cNvPr id="32" name="TextBox 31"/>
          <p:cNvSpPr txBox="1"/>
          <p:nvPr/>
        </p:nvSpPr>
        <p:spPr>
          <a:xfrm>
            <a:off x="640080" y="372160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$7.20M</a:t>
            </a:r>
          </a:p>
        </p:txBody>
      </p:sp>
      <p:sp>
        <p:nvSpPr>
          <p:cNvPr id="33" name="TextBox 32"/>
          <p:cNvSpPr txBox="1"/>
          <p:nvPr/>
        </p:nvSpPr>
        <p:spPr>
          <a:xfrm>
            <a:off x="640080" y="418795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one-time cost</a:t>
            </a:r>
          </a:p>
        </p:txBody>
      </p:sp>
      <p:sp>
        <p:nvSpPr>
          <p:cNvPr id="34" name="TextBox 33"/>
          <p:cNvSpPr txBox="1"/>
          <p:nvPr/>
        </p:nvSpPr>
        <p:spPr>
          <a:xfrm>
            <a:off x="1965960" y="372160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$1.45M</a:t>
            </a:r>
          </a:p>
        </p:txBody>
      </p:sp>
      <p:sp>
        <p:nvSpPr>
          <p:cNvPr id="35" name="TextBox 34"/>
          <p:cNvSpPr txBox="1"/>
          <p:nvPr/>
        </p:nvSpPr>
        <p:spPr>
          <a:xfrm>
            <a:off x="1965960" y="418795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saved / year</a:t>
            </a:r>
          </a:p>
        </p:txBody>
      </p:sp>
      <p:sp>
        <p:nvSpPr>
          <p:cNvPr id="36" name="TextBox 35"/>
          <p:cNvSpPr txBox="1"/>
          <p:nvPr/>
        </p:nvSpPr>
        <p:spPr>
          <a:xfrm>
            <a:off x="3291839" y="372160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5.0 yr</a:t>
            </a:r>
          </a:p>
        </p:txBody>
      </p:sp>
      <p:sp>
        <p:nvSpPr>
          <p:cNvPr id="37" name="TextBox 36"/>
          <p:cNvSpPr txBox="1"/>
          <p:nvPr/>
        </p:nvSpPr>
        <p:spPr>
          <a:xfrm>
            <a:off x="3291839" y="418795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payback</a:t>
            </a:r>
          </a:p>
        </p:txBody>
      </p:sp>
      <p:sp>
        <p:nvSpPr>
          <p:cNvPr id="38" name="TextBox 37"/>
          <p:cNvSpPr txBox="1"/>
          <p:nvPr/>
        </p:nvSpPr>
        <p:spPr>
          <a:xfrm>
            <a:off x="4617720" y="372160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7CD992"/>
                </a:solidFill>
                <a:latin typeface="Aptos Display"/>
              </a:rPr>
              <a:t>+$14.6M</a:t>
            </a:r>
          </a:p>
        </p:txBody>
      </p:sp>
      <p:sp>
        <p:nvSpPr>
          <p:cNvPr id="39" name="TextBox 38"/>
          <p:cNvSpPr txBox="1"/>
          <p:nvPr/>
        </p:nvSpPr>
        <p:spPr>
          <a:xfrm>
            <a:off x="4617720" y="418795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after 15 years</a:t>
            </a:r>
          </a:p>
        </p:txBody>
      </p:sp>
      <p:sp>
        <p:nvSpPr>
          <p:cNvPr id="40" name="Rectangle 39"/>
          <p:cNvSpPr/>
          <p:nvPr/>
        </p:nvSpPr>
        <p:spPr>
          <a:xfrm>
            <a:off x="6199631" y="3246120"/>
            <a:ext cx="5440680" cy="1325880"/>
          </a:xfrm>
          <a:prstGeom prst="roundRect">
            <a:avLst>
              <a:gd name="adj" fmla="val 6000"/>
            </a:avLst>
          </a:prstGeom>
          <a:solidFill>
            <a:srgbClr val="111A2E"/>
          </a:solidFill>
          <a:ln w="12700">
            <a:solidFill>
              <a:srgbClr val="2A3A6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TextBox 40"/>
          <p:cNvSpPr txBox="1"/>
          <p:nvPr/>
        </p:nvSpPr>
        <p:spPr>
          <a:xfrm>
            <a:off x="6382512" y="3337560"/>
            <a:ext cx="5120640" cy="36576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700" b="1" i="0">
                <a:solidFill>
                  <a:srgbClr val="F5F1E6"/>
                </a:solidFill>
                <a:latin typeface="Aptos Display"/>
              </a:rPr>
              <a:t>State roads (FDOT), Alachua</a:t>
            </a:r>
          </a:p>
        </p:txBody>
      </p:sp>
      <p:sp>
        <p:nvSpPr>
          <p:cNvPr id="42" name="TextBox 41"/>
          <p:cNvSpPr txBox="1"/>
          <p:nvPr/>
        </p:nvSpPr>
        <p:spPr>
          <a:xfrm>
            <a:off x="6382512" y="3355848"/>
            <a:ext cx="5074920" cy="36576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100" b="0" i="0">
                <a:solidFill>
                  <a:srgbClr val="A79F88"/>
                </a:solidFill>
                <a:latin typeface="Aptos"/>
              </a:rPr>
              <a:t>1,500 state-road lights</a:t>
            </a:r>
          </a:p>
        </p:txBody>
      </p:sp>
      <p:sp>
        <p:nvSpPr>
          <p:cNvPr id="43" name="TextBox 42"/>
          <p:cNvSpPr txBox="1"/>
          <p:nvPr/>
        </p:nvSpPr>
        <p:spPr>
          <a:xfrm>
            <a:off x="6291071" y="372160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$900K</a:t>
            </a:r>
          </a:p>
        </p:txBody>
      </p:sp>
      <p:sp>
        <p:nvSpPr>
          <p:cNvPr id="44" name="TextBox 43"/>
          <p:cNvSpPr txBox="1"/>
          <p:nvPr/>
        </p:nvSpPr>
        <p:spPr>
          <a:xfrm>
            <a:off x="6291071" y="418795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one-time cost</a:t>
            </a:r>
          </a:p>
        </p:txBody>
      </p:sp>
      <p:sp>
        <p:nvSpPr>
          <p:cNvPr id="45" name="TextBox 44"/>
          <p:cNvSpPr txBox="1"/>
          <p:nvPr/>
        </p:nvSpPr>
        <p:spPr>
          <a:xfrm>
            <a:off x="7616951" y="372160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$113K</a:t>
            </a:r>
          </a:p>
        </p:txBody>
      </p:sp>
      <p:sp>
        <p:nvSpPr>
          <p:cNvPr id="46" name="TextBox 45"/>
          <p:cNvSpPr txBox="1"/>
          <p:nvPr/>
        </p:nvSpPr>
        <p:spPr>
          <a:xfrm>
            <a:off x="7616951" y="418795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saved / year</a:t>
            </a:r>
          </a:p>
        </p:txBody>
      </p:sp>
      <p:sp>
        <p:nvSpPr>
          <p:cNvPr id="47" name="TextBox 46"/>
          <p:cNvSpPr txBox="1"/>
          <p:nvPr/>
        </p:nvSpPr>
        <p:spPr>
          <a:xfrm>
            <a:off x="8942832" y="372160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8.0 yr</a:t>
            </a:r>
          </a:p>
        </p:txBody>
      </p:sp>
      <p:sp>
        <p:nvSpPr>
          <p:cNvPr id="48" name="TextBox 47"/>
          <p:cNvSpPr txBox="1"/>
          <p:nvPr/>
        </p:nvSpPr>
        <p:spPr>
          <a:xfrm>
            <a:off x="8942832" y="418795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payback</a:t>
            </a:r>
          </a:p>
        </p:txBody>
      </p:sp>
      <p:sp>
        <p:nvSpPr>
          <p:cNvPr id="49" name="TextBox 48"/>
          <p:cNvSpPr txBox="1"/>
          <p:nvPr/>
        </p:nvSpPr>
        <p:spPr>
          <a:xfrm>
            <a:off x="10268711" y="372160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7CD992"/>
                </a:solidFill>
                <a:latin typeface="Aptos Display"/>
              </a:rPr>
              <a:t>+$795K</a:t>
            </a:r>
          </a:p>
        </p:txBody>
      </p:sp>
      <p:sp>
        <p:nvSpPr>
          <p:cNvPr id="50" name="TextBox 49"/>
          <p:cNvSpPr txBox="1"/>
          <p:nvPr/>
        </p:nvSpPr>
        <p:spPr>
          <a:xfrm>
            <a:off x="10268711" y="418795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after 15 years</a:t>
            </a:r>
          </a:p>
        </p:txBody>
      </p:sp>
      <p:sp>
        <p:nvSpPr>
          <p:cNvPr id="51" name="Rectangle 50"/>
          <p:cNvSpPr/>
          <p:nvPr/>
        </p:nvSpPr>
        <p:spPr>
          <a:xfrm>
            <a:off x="548640" y="4709160"/>
            <a:ext cx="5440680" cy="1325880"/>
          </a:xfrm>
          <a:prstGeom prst="roundRect">
            <a:avLst>
              <a:gd name="adj" fmla="val 6000"/>
            </a:avLst>
          </a:prstGeom>
          <a:solidFill>
            <a:srgbClr val="111A2E"/>
          </a:solidFill>
          <a:ln w="12700">
            <a:solidFill>
              <a:srgbClr val="2A3A6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2" name="TextBox 51"/>
          <p:cNvSpPr txBox="1"/>
          <p:nvPr/>
        </p:nvSpPr>
        <p:spPr>
          <a:xfrm>
            <a:off x="731520" y="4800600"/>
            <a:ext cx="5120640" cy="36576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700" b="1" i="0">
                <a:solidFill>
                  <a:srgbClr val="F5F1E6"/>
                </a:solidFill>
                <a:latin typeface="Aptos Display"/>
              </a:rPr>
              <a:t>Levy County</a:t>
            </a:r>
          </a:p>
        </p:txBody>
      </p:sp>
      <p:sp>
        <p:nvSpPr>
          <p:cNvPr id="53" name="TextBox 52"/>
          <p:cNvSpPr txBox="1"/>
          <p:nvPr/>
        </p:nvSpPr>
        <p:spPr>
          <a:xfrm>
            <a:off x="731520" y="4818888"/>
            <a:ext cx="5074920" cy="36576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100" b="0" i="0">
                <a:solidFill>
                  <a:srgbClr val="A79F88"/>
                </a:solidFill>
                <a:latin typeface="Aptos"/>
              </a:rPr>
              <a:t>all public streetlights (3,135)</a:t>
            </a:r>
          </a:p>
        </p:txBody>
      </p:sp>
      <p:sp>
        <p:nvSpPr>
          <p:cNvPr id="54" name="TextBox 53"/>
          <p:cNvSpPr txBox="1"/>
          <p:nvPr/>
        </p:nvSpPr>
        <p:spPr>
          <a:xfrm>
            <a:off x="640080" y="518464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$1.88M</a:t>
            </a:r>
          </a:p>
        </p:txBody>
      </p:sp>
      <p:sp>
        <p:nvSpPr>
          <p:cNvPr id="55" name="TextBox 54"/>
          <p:cNvSpPr txBox="1"/>
          <p:nvPr/>
        </p:nvSpPr>
        <p:spPr>
          <a:xfrm>
            <a:off x="640080" y="565099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one-time cost</a:t>
            </a:r>
          </a:p>
        </p:txBody>
      </p:sp>
      <p:sp>
        <p:nvSpPr>
          <p:cNvPr id="56" name="TextBox 55"/>
          <p:cNvSpPr txBox="1"/>
          <p:nvPr/>
        </p:nvSpPr>
        <p:spPr>
          <a:xfrm>
            <a:off x="1965960" y="518464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$228K</a:t>
            </a:r>
          </a:p>
        </p:txBody>
      </p:sp>
      <p:sp>
        <p:nvSpPr>
          <p:cNvPr id="57" name="TextBox 56"/>
          <p:cNvSpPr txBox="1"/>
          <p:nvPr/>
        </p:nvSpPr>
        <p:spPr>
          <a:xfrm>
            <a:off x="1965960" y="565099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saved / year</a:t>
            </a:r>
          </a:p>
        </p:txBody>
      </p:sp>
      <p:sp>
        <p:nvSpPr>
          <p:cNvPr id="58" name="TextBox 57"/>
          <p:cNvSpPr txBox="1"/>
          <p:nvPr/>
        </p:nvSpPr>
        <p:spPr>
          <a:xfrm>
            <a:off x="3291839" y="518464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8.3 yr</a:t>
            </a:r>
          </a:p>
        </p:txBody>
      </p:sp>
      <p:sp>
        <p:nvSpPr>
          <p:cNvPr id="59" name="TextBox 58"/>
          <p:cNvSpPr txBox="1"/>
          <p:nvPr/>
        </p:nvSpPr>
        <p:spPr>
          <a:xfrm>
            <a:off x="3291839" y="565099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payback</a:t>
            </a:r>
          </a:p>
        </p:txBody>
      </p:sp>
      <p:sp>
        <p:nvSpPr>
          <p:cNvPr id="60" name="TextBox 59"/>
          <p:cNvSpPr txBox="1"/>
          <p:nvPr/>
        </p:nvSpPr>
        <p:spPr>
          <a:xfrm>
            <a:off x="4617720" y="518464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7CD992"/>
                </a:solidFill>
                <a:latin typeface="Aptos Display"/>
              </a:rPr>
              <a:t>+$1.54M</a:t>
            </a:r>
          </a:p>
        </p:txBody>
      </p:sp>
      <p:sp>
        <p:nvSpPr>
          <p:cNvPr id="61" name="TextBox 60"/>
          <p:cNvSpPr txBox="1"/>
          <p:nvPr/>
        </p:nvSpPr>
        <p:spPr>
          <a:xfrm>
            <a:off x="4617720" y="565099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after 15 years</a:t>
            </a:r>
          </a:p>
        </p:txBody>
      </p:sp>
      <p:sp>
        <p:nvSpPr>
          <p:cNvPr id="62" name="Rectangle 61"/>
          <p:cNvSpPr/>
          <p:nvPr/>
        </p:nvSpPr>
        <p:spPr>
          <a:xfrm>
            <a:off x="6199631" y="4709160"/>
            <a:ext cx="5440680" cy="1325880"/>
          </a:xfrm>
          <a:prstGeom prst="roundRect">
            <a:avLst>
              <a:gd name="adj" fmla="val 6000"/>
            </a:avLst>
          </a:prstGeom>
          <a:solidFill>
            <a:srgbClr val="111A2E"/>
          </a:solidFill>
          <a:ln w="12700">
            <a:solidFill>
              <a:srgbClr val="2A3A6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Box 62"/>
          <p:cNvSpPr txBox="1"/>
          <p:nvPr/>
        </p:nvSpPr>
        <p:spPr>
          <a:xfrm>
            <a:off x="6382512" y="4800600"/>
            <a:ext cx="5120640" cy="36576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700" b="1" i="0">
                <a:solidFill>
                  <a:srgbClr val="F5F1E6"/>
                </a:solidFill>
                <a:latin typeface="Aptos Display"/>
              </a:rPr>
              <a:t>City of Chiefland</a:t>
            </a:r>
          </a:p>
        </p:txBody>
      </p:sp>
      <p:sp>
        <p:nvSpPr>
          <p:cNvPr id="64" name="TextBox 63"/>
          <p:cNvSpPr txBox="1"/>
          <p:nvPr/>
        </p:nvSpPr>
        <p:spPr>
          <a:xfrm>
            <a:off x="6382512" y="4818888"/>
            <a:ext cx="5074920" cy="36576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100" b="0" i="0">
                <a:solidFill>
                  <a:srgbClr val="A79F88"/>
                </a:solidFill>
                <a:latin typeface="Aptos"/>
              </a:rPr>
              <a:t>285 city streetlights</a:t>
            </a:r>
          </a:p>
        </p:txBody>
      </p:sp>
      <p:sp>
        <p:nvSpPr>
          <p:cNvPr id="65" name="TextBox 64"/>
          <p:cNvSpPr txBox="1"/>
          <p:nvPr/>
        </p:nvSpPr>
        <p:spPr>
          <a:xfrm>
            <a:off x="6291071" y="518464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$171K</a:t>
            </a:r>
          </a:p>
        </p:txBody>
      </p:sp>
      <p:sp>
        <p:nvSpPr>
          <p:cNvPr id="66" name="TextBox 65"/>
          <p:cNvSpPr txBox="1"/>
          <p:nvPr/>
        </p:nvSpPr>
        <p:spPr>
          <a:xfrm>
            <a:off x="6291071" y="565099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one-time cost</a:t>
            </a:r>
          </a:p>
        </p:txBody>
      </p:sp>
      <p:sp>
        <p:nvSpPr>
          <p:cNvPr id="67" name="TextBox 66"/>
          <p:cNvSpPr txBox="1"/>
          <p:nvPr/>
        </p:nvSpPr>
        <p:spPr>
          <a:xfrm>
            <a:off x="7616951" y="518464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$21.5K</a:t>
            </a:r>
          </a:p>
        </p:txBody>
      </p:sp>
      <p:sp>
        <p:nvSpPr>
          <p:cNvPr id="68" name="TextBox 67"/>
          <p:cNvSpPr txBox="1"/>
          <p:nvPr/>
        </p:nvSpPr>
        <p:spPr>
          <a:xfrm>
            <a:off x="7616951" y="565099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saved / year</a:t>
            </a:r>
          </a:p>
        </p:txBody>
      </p:sp>
      <p:sp>
        <p:nvSpPr>
          <p:cNvPr id="69" name="TextBox 68"/>
          <p:cNvSpPr txBox="1"/>
          <p:nvPr/>
        </p:nvSpPr>
        <p:spPr>
          <a:xfrm>
            <a:off x="8942832" y="518464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8.0 yr</a:t>
            </a:r>
          </a:p>
        </p:txBody>
      </p:sp>
      <p:sp>
        <p:nvSpPr>
          <p:cNvPr id="70" name="TextBox 69"/>
          <p:cNvSpPr txBox="1"/>
          <p:nvPr/>
        </p:nvSpPr>
        <p:spPr>
          <a:xfrm>
            <a:off x="8942832" y="565099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payback</a:t>
            </a:r>
          </a:p>
        </p:txBody>
      </p:sp>
      <p:sp>
        <p:nvSpPr>
          <p:cNvPr id="71" name="TextBox 70"/>
          <p:cNvSpPr txBox="1"/>
          <p:nvPr/>
        </p:nvSpPr>
        <p:spPr>
          <a:xfrm>
            <a:off x="10268711" y="518464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7CD992"/>
                </a:solidFill>
                <a:latin typeface="Aptos Display"/>
              </a:rPr>
              <a:t>+$152K</a:t>
            </a:r>
          </a:p>
        </p:txBody>
      </p:sp>
      <p:sp>
        <p:nvSpPr>
          <p:cNvPr id="72" name="TextBox 71"/>
          <p:cNvSpPr txBox="1"/>
          <p:nvPr/>
        </p:nvSpPr>
        <p:spPr>
          <a:xfrm>
            <a:off x="10268711" y="565099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after 15 years</a:t>
            </a:r>
          </a:p>
        </p:txBody>
      </p:sp>
      <p:sp>
        <p:nvSpPr>
          <p:cNvPr id="73" name="TextBox 72"/>
          <p:cNvSpPr txBox="1"/>
          <p:nvPr/>
        </p:nvSpPr>
        <p:spPr>
          <a:xfrm>
            <a:off x="548640" y="6144768"/>
            <a:ext cx="1106424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0" i="0">
                <a:solidFill>
                  <a:srgbClr val="A79F88"/>
                </a:solidFill>
                <a:latin typeface="Aptos"/>
              </a:rPr>
              <a:t>*UF: 4,100 campus pole lights, about 60% already LED (UF News, 2023), run through the simulator's cost engine at GRU rates. Gainesville and FDOT are within Alachua's total.</a:t>
            </a:r>
          </a:p>
        </p:txBody>
      </p:sp>
      <p:pic>
        <p:nvPicPr>
          <p:cNvPr id="74" name="Picture 73" descr="ai_days_logo_sticker.png"/>
          <p:cNvPicPr>
            <a:picLocks noChangeAspect="1"/>
          </p:cNvPicPr>
          <p:nvPr/>
        </p:nvPicPr>
        <p:blipFill>
          <a:blip r:embed="rId3"/>
          <a:stretch>
            <a:fillRect/>
          </a:stretch>
        </p:blipFill>
        <p:spPr>
          <a:xfrm>
            <a:off x="10408615" y="201168"/>
            <a:ext cx="1371600" cy="798271"/>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SCENARIO</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Or protect just the observatories</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Jay Rosen  ·  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11</a:t>
            </a:r>
          </a:p>
        </p:txBody>
      </p:sp>
      <p:sp>
        <p:nvSpPr>
          <p:cNvPr id="6" name="TextBox 5"/>
          <p:cNvSpPr txBox="1"/>
          <p:nvPr/>
        </p:nvSpPr>
        <p:spPr>
          <a:xfrm>
            <a:off x="548640" y="1463040"/>
            <a:ext cx="3687775" cy="475488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900" b="0" i="0">
                <a:solidFill>
                  <a:srgbClr val="D9D2BD"/>
                </a:solidFill>
                <a:latin typeface="Aptos"/>
              </a:rPr>
              <a:t>Overlay zones: stricter rules in rings around </a:t>
            </a:r>
            <a:r>
              <a:rPr sz="1900" b="1" i="0">
                <a:solidFill>
                  <a:srgbClr val="F6B44B"/>
                </a:solidFill>
                <a:latin typeface="Aptos"/>
              </a:rPr>
              <a:t>Rosemary Hill</a:t>
            </a:r>
            <a:r>
              <a:rPr sz="1900" b="0" i="0">
                <a:solidFill>
                  <a:srgbClr val="D9D2BD"/>
                </a:solidFill>
                <a:latin typeface="Aptos"/>
              </a:rPr>
              <a:t> and </a:t>
            </a:r>
            <a:r>
              <a:rPr sz="1900" b="1" i="0">
                <a:solidFill>
                  <a:srgbClr val="F6B44B"/>
                </a:solidFill>
                <a:latin typeface="Aptos"/>
              </a:rPr>
              <a:t>Chiefland Astronomy Village</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LZ0 core: shielded, amber, motion-only</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LZ1 buffer: shielded, ≤ 2700 K</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Flagstaff-style preset: about </a:t>
            </a:r>
            <a:r>
              <a:rPr sz="1900" b="1" i="0">
                <a:solidFill>
                  <a:srgbClr val="F6B44B"/>
                </a:solidFill>
                <a:latin typeface="Aptos"/>
              </a:rPr>
              <a:t>$0.79M</a:t>
            </a:r>
            <a:r>
              <a:rPr sz="1900" b="0" i="0">
                <a:solidFill>
                  <a:srgbClr val="D9D2BD"/>
                </a:solidFill>
                <a:latin typeface="Aptos"/>
              </a:rPr>
              <a:t> in public retrofits</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A trade-off a commission can actually vote on</a:t>
            </a:r>
          </a:p>
        </p:txBody>
      </p:sp>
      <p:pic>
        <p:nvPicPr>
          <p:cNvPr id="7" name="11_overlays.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4739335" y="1508760"/>
            <a:ext cx="6903720" cy="3883342"/>
          </a:xfrm>
          <a:prstGeom prst="rect">
            <a:avLst/>
          </a:prstGeom>
        </p:spPr>
      </p:pic>
      <p:sp>
        <p:nvSpPr>
          <p:cNvPr id="8" name="TextBox 7"/>
          <p:cNvSpPr txBox="1"/>
          <p:nvPr/>
        </p:nvSpPr>
        <p:spPr>
          <a:xfrm>
            <a:off x="4739335" y="5446966"/>
            <a:ext cx="690372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0" i="0">
                <a:solidFill>
                  <a:srgbClr val="A79F88"/>
                </a:solidFill>
                <a:latin typeface="Aptos"/>
              </a:rPr>
              <a:t>Flagstaff LZ1 overlay preset (3-mile core, 5-mile buffer) on the Change layer.</a:t>
            </a:r>
          </a:p>
        </p:txBody>
      </p:sp>
      <p:pic>
        <p:nvPicPr>
          <p:cNvPr id="9" name="Picture 8" descr="ai_days_logo_sticker.png"/>
          <p:cNvPicPr>
            <a:picLocks noChangeAspect="1"/>
          </p:cNvPicPr>
          <p:nvPr/>
        </p:nvPicPr>
        <p:blipFill>
          <a:blip r:embed="rId6"/>
          <a:stretch>
            <a:fillRect/>
          </a:stretch>
        </p:blipFill>
        <p:spPr>
          <a:xfrm>
            <a:off x="10408615" y="201168"/>
            <a:ext cx="1371600" cy="79827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repeatCount="indefinite" fill="remove" display="0">
                  <p:stCondLst>
                    <p:cond delay="indefinite"/>
                  </p:stCondLst>
                </p:cTn>
                <p:tgtEl>
                  <p:spTgt spid="7"/>
                </p:tgtEl>
              </p:cMediaNode>
            </p:video>
            <p:seq concurrent="1" nextAc="seek">
              <p:cTn id="8" restart="whenNotActive" fill="hold" evtFilter="cancelBubble" nodeType="interactiveSeq">
                <p:stCondLst>
                  <p:cond evt="onClick" delay="0">
                    <p:tgtEl>
                      <p:spTgt spid="7"/>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7"/>
                                        </p:tgtEl>
                                      </p:cBhvr>
                                    </p:cmd>
                                  </p:childTnLst>
                                </p:cTn>
                              </p:par>
                            </p:childTnLst>
                          </p:cTn>
                        </p:par>
                      </p:childTnLst>
                    </p:cTn>
                  </p:par>
                </p:childTnLst>
              </p:cTn>
              <p:nextCondLst>
                <p:cond evt="onClick" delay="0">
                  <p:tgtEl>
                    <p:spTgt spid="7"/>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SEE IT</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Paynes Prairie, today and with the ordinance</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Jay Rosen  ·  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12</a:t>
            </a:r>
          </a:p>
        </p:txBody>
      </p:sp>
      <p:pic>
        <p:nvPicPr>
          <p:cNvPr id="6" name="12_allsky_pp_today.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548640" y="1377279"/>
            <a:ext cx="5440680" cy="3051881"/>
          </a:xfrm>
          <a:prstGeom prst="rect">
            <a:avLst/>
          </a:prstGeom>
        </p:spPr>
      </p:pic>
      <p:sp>
        <p:nvSpPr>
          <p:cNvPr id="7" name="TextBox 6"/>
          <p:cNvSpPr txBox="1"/>
          <p:nvPr/>
        </p:nvSpPr>
        <p:spPr>
          <a:xfrm>
            <a:off x="548640" y="4474880"/>
            <a:ext cx="544068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1" i="0">
                <a:solidFill>
                  <a:srgbClr val="A79F88"/>
                </a:solidFill>
                <a:latin typeface="Aptos"/>
              </a:rPr>
              <a:t>Today</a:t>
            </a:r>
          </a:p>
        </p:txBody>
      </p:sp>
      <p:pic>
        <p:nvPicPr>
          <p:cNvPr id="8" name="12_allsky_pp_groveland.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8"/>
          <a:stretch>
            <a:fillRect/>
          </a:stretch>
        </p:blipFill>
        <p:spPr>
          <a:xfrm>
            <a:off x="6199632" y="1377279"/>
            <a:ext cx="5440680" cy="3051881"/>
          </a:xfrm>
          <a:prstGeom prst="rect">
            <a:avLst/>
          </a:prstGeom>
        </p:spPr>
      </p:pic>
      <p:sp>
        <p:nvSpPr>
          <p:cNvPr id="9" name="TextBox 8"/>
          <p:cNvSpPr txBox="1"/>
          <p:nvPr/>
        </p:nvSpPr>
        <p:spPr>
          <a:xfrm>
            <a:off x="6199632" y="4474880"/>
            <a:ext cx="544068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1" i="0">
                <a:solidFill>
                  <a:srgbClr val="A79F88"/>
                </a:solidFill>
                <a:latin typeface="Aptos"/>
              </a:rPr>
              <a:t>With a Groveland-style ordinance</a:t>
            </a:r>
            <a:r>
              <a:rPr sz="1100" b="0" i="0">
                <a:solidFill>
                  <a:srgbClr val="A79F88"/>
                </a:solidFill>
                <a:latin typeface="Aptos"/>
              </a:rPr>
              <a:t> (every light, public and private, complies)</a:t>
            </a:r>
          </a:p>
        </p:txBody>
      </p:sp>
      <p:sp>
        <p:nvSpPr>
          <p:cNvPr id="10" name="TextBox 9"/>
          <p:cNvSpPr txBox="1"/>
          <p:nvPr/>
        </p:nvSpPr>
        <p:spPr>
          <a:xfrm>
            <a:off x="548640" y="4754880"/>
            <a:ext cx="1106424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0" i="0">
                <a:solidFill>
                  <a:srgbClr val="A79F88"/>
                </a:solidFill>
                <a:latin typeface="Aptos"/>
              </a:rPr>
              <a:t>All-sky view from Paynes Prairie Overlook, looking southeast as the Milky Way rises: May 28, 2022, from 1:30 AM, no Moon. Illustrative, not a photograph.</a:t>
            </a:r>
          </a:p>
        </p:txBody>
      </p:sp>
      <p:sp>
        <p:nvSpPr>
          <p:cNvPr id="11" name="TextBox 10"/>
          <p:cNvSpPr txBox="1"/>
          <p:nvPr/>
        </p:nvSpPr>
        <p:spPr>
          <a:xfrm>
            <a:off x="548640" y="5166360"/>
            <a:ext cx="5440680" cy="123444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800" b="1" i="0">
                <a:solidFill>
                  <a:srgbClr val="F6B44B"/>
                </a:solidFill>
                <a:latin typeface="Aptos"/>
              </a:rPr>
              <a:t>20.98</a:t>
            </a:r>
            <a:r>
              <a:rPr sz="1800" b="0" i="0">
                <a:solidFill>
                  <a:srgbClr val="D9D2BD"/>
                </a:solidFill>
                <a:latin typeface="Aptos"/>
              </a:rPr>
              <a:t> mag/arcsec² · Bortle 4</a:t>
            </a:r>
          </a:p>
          <a:p>
            <a:pPr marL="256032" indent="-256032">
              <a:lnSpc>
                <a:spcPct val="100000"/>
              </a:lnSpc>
              <a:spcBef>
                <a:spcPts val="400"/>
              </a:spcBef>
              <a:spcAft>
                <a:spcPts val="0"/>
              </a:spcAft>
              <a:buClr>
                <a:srgbClr val="F6B44B"/>
              </a:buClr>
              <a:buSzPct val="100000"/>
              <a:buFont typeface="Arial"/>
              <a:buChar char="•"/>
            </a:pPr>
            <a:r>
              <a:rPr sz="1800" b="0" i="0">
                <a:solidFill>
                  <a:srgbClr val="D9D2BD"/>
                </a:solidFill>
                <a:latin typeface="Aptos"/>
              </a:rPr>
              <a:t>Faintest naked-eye stars ≈ magnitude 6.1</a:t>
            </a:r>
          </a:p>
        </p:txBody>
      </p:sp>
      <p:sp>
        <p:nvSpPr>
          <p:cNvPr id="12" name="TextBox 11"/>
          <p:cNvSpPr txBox="1"/>
          <p:nvPr/>
        </p:nvSpPr>
        <p:spPr>
          <a:xfrm>
            <a:off x="6199632" y="5166360"/>
            <a:ext cx="5440680" cy="123444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800" b="1" i="0">
                <a:solidFill>
                  <a:srgbClr val="F6B44B"/>
                </a:solidFill>
                <a:latin typeface="Aptos"/>
              </a:rPr>
              <a:t>21.62</a:t>
            </a:r>
            <a:r>
              <a:rPr sz="1800" b="0" i="0">
                <a:solidFill>
                  <a:srgbClr val="D9D2BD"/>
                </a:solidFill>
                <a:latin typeface="Aptos"/>
              </a:rPr>
              <a:t> mag/arcsec² (+0.64) · still Bortle 4</a:t>
            </a:r>
          </a:p>
          <a:p>
            <a:pPr marL="256032" indent="-256032">
              <a:lnSpc>
                <a:spcPct val="100000"/>
              </a:lnSpc>
              <a:spcBef>
                <a:spcPts val="400"/>
              </a:spcBef>
              <a:spcAft>
                <a:spcPts val="0"/>
              </a:spcAft>
              <a:buClr>
                <a:srgbClr val="F6B44B"/>
              </a:buClr>
              <a:buSzPct val="100000"/>
              <a:buFont typeface="Arial"/>
              <a:buChar char="•"/>
            </a:pPr>
            <a:r>
              <a:rPr sz="1800" b="0" i="0">
                <a:solidFill>
                  <a:srgbClr val="D9D2BD"/>
                </a:solidFill>
                <a:latin typeface="Aptos"/>
              </a:rPr>
              <a:t>Faintest stars ≈ 6.4: a clearer Milky Way</a:t>
            </a:r>
          </a:p>
        </p:txBody>
      </p:sp>
      <p:pic>
        <p:nvPicPr>
          <p:cNvPr id="13" name="Picture 12" descr="ai_days_logo_sticker.png"/>
          <p:cNvPicPr>
            <a:picLocks noChangeAspect="1"/>
          </p:cNvPicPr>
          <p:nvPr/>
        </p:nvPicPr>
        <p:blipFill>
          <a:blip r:embed="rId9"/>
          <a:stretch>
            <a:fillRect/>
          </a:stretch>
        </p:blipFill>
        <p:spPr>
          <a:xfrm>
            <a:off x="10408615" y="201168"/>
            <a:ext cx="1371600" cy="79827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6"/>
                                        </p:tgtEl>
                                      </p:cBhvr>
                                    </p:cmd>
                                  </p:childTnLst>
                                </p:cTn>
                              </p:par>
                              <p:par>
                                <p:cTn id="7" presetID="1" presetClass="mediacall" presetSubtype="0" fill="hold" nodeType="withEffect">
                                  <p:stCondLst>
                                    <p:cond delay="0"/>
                                  </p:stCondLst>
                                  <p:childTnLst>
                                    <p:cmd type="call" cmd="playFrom(0.0)">
                                      <p:cBhvr>
                                        <p:cTn id="8" dur="1"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9" repeatCount="indefinite" fill="remove" display="0">
                  <p:stCondLst>
                    <p:cond delay="indefinite"/>
                  </p:stCondLst>
                </p:cTn>
                <p:tgtEl>
                  <p:spTgt spid="6"/>
                </p:tgtEl>
              </p:cMediaNode>
            </p:video>
            <p:seq concurrent="1" nextAc="seek">
              <p:cTn id="10" restart="whenNotActive" fill="hold" evtFilter="cancelBubble" nodeType="interactiveSeq">
                <p:stCondLst>
                  <p:cond evt="onClick" delay="0">
                    <p:tgtEl>
                      <p:spTgt spid="6"/>
                    </p:tgtEl>
                  </p:cond>
                </p:stCondLst>
                <p:endSync evt="end" delay="0">
                  <p:rtn val="all"/>
                </p:endSync>
                <p:childTnLst>
                  <p:par>
                    <p:cTn id="11" fill="hold">
                      <p:stCondLst>
                        <p:cond delay="0"/>
                      </p:stCondLst>
                      <p:childTnLst>
                        <p:par>
                          <p:cTn id="12" fill="hold">
                            <p:stCondLst>
                              <p:cond delay="0"/>
                            </p:stCondLst>
                            <p:childTnLst>
                              <p:par>
                                <p:cTn id="13" presetID="2" presetClass="mediacall" presetSubtype="0" fill="hold" nodeType="clickEffect">
                                  <p:stCondLst>
                                    <p:cond delay="0"/>
                                  </p:stCondLst>
                                  <p:childTnLst>
                                    <p:cmd type="call" cmd="togglePause">
                                      <p:cBhvr>
                                        <p:cTn id="14" dur="1" fill="hold"/>
                                        <p:tgtEl>
                                          <p:spTgt spid="6"/>
                                        </p:tgtEl>
                                      </p:cBhvr>
                                    </p:cmd>
                                  </p:childTnLst>
                                </p:cTn>
                              </p:par>
                            </p:childTnLst>
                          </p:cTn>
                        </p:par>
                      </p:childTnLst>
                    </p:cTn>
                  </p:par>
                </p:childTnLst>
              </p:cTn>
              <p:nextCondLst>
                <p:cond evt="onClick" delay="0">
                  <p:tgtEl>
                    <p:spTgt spid="6"/>
                  </p:tgtEl>
                </p:cond>
              </p:nextCondLst>
            </p:seq>
            <p:video>
              <p:cMediaNode vol="80000">
                <p:cTn id="15" repeatCount="indefinite" fill="remove" display="0">
                  <p:stCondLst>
                    <p:cond delay="indefinite"/>
                  </p:stCondLst>
                </p:cTn>
                <p:tgtEl>
                  <p:spTgt spid="8"/>
                </p:tgtEl>
              </p:cMediaNode>
            </p:video>
            <p:seq concurrent="1" nextAc="seek">
              <p:cTn id="16" restart="whenNotActive" fill="hold" evtFilter="cancelBubble" nodeType="interactiveSeq">
                <p:stCondLst>
                  <p:cond evt="onClick" delay="0">
                    <p:tgtEl>
                      <p:spTgt spid="8"/>
                    </p:tgtEl>
                  </p:cond>
                </p:stCondLst>
                <p:endSync evt="end" delay="0">
                  <p:rtn val="all"/>
                </p:endSync>
                <p:childTnLst>
                  <p:par>
                    <p:cTn id="17" fill="hold">
                      <p:stCondLst>
                        <p:cond delay="0"/>
                      </p:stCondLst>
                      <p:childTnLst>
                        <p:par>
                          <p:cTn id="18" fill="hold">
                            <p:stCondLst>
                              <p:cond delay="0"/>
                            </p:stCondLst>
                            <p:childTnLst>
                              <p:par>
                                <p:cTn id="19" presetID="2" presetClass="mediacall" presetSubtype="0" fill="hold" nodeType="clickEffect">
                                  <p:stCondLst>
                                    <p:cond delay="0"/>
                                  </p:stCondLst>
                                  <p:childTnLst>
                                    <p:cmd type="call" cmd="togglePause">
                                      <p:cBhvr>
                                        <p:cTn id="20" dur="1" fill="hold"/>
                                        <p:tgtEl>
                                          <p:spTgt spid="8"/>
                                        </p:tgtEl>
                                      </p:cBhvr>
                                    </p:cmd>
                                  </p:childTnLst>
                                </p:cTn>
                              </p:par>
                            </p:childTnLst>
                          </p:cTn>
                        </p:par>
                      </p:childTnLst>
                    </p:cTn>
                  </p:par>
                </p:childTnLst>
              </p:cTn>
              <p:nextCondLst>
                <p:cond evt="onClick" delay="0">
                  <p:tgtEl>
                    <p:spTgt spid="8"/>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SCENARIO</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Build mode and 3D streets</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Jay Rosen  ·  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13</a:t>
            </a:r>
          </a:p>
        </p:txBody>
      </p:sp>
      <p:pic>
        <p:nvPicPr>
          <p:cNvPr id="6" name="13_build.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548640" y="1373028"/>
            <a:ext cx="5440680" cy="3060382"/>
          </a:xfrm>
          <a:prstGeom prst="rect">
            <a:avLst/>
          </a:prstGeom>
        </p:spPr>
      </p:pic>
      <p:sp>
        <p:nvSpPr>
          <p:cNvPr id="7" name="TextBox 6"/>
          <p:cNvSpPr txBox="1"/>
          <p:nvPr/>
        </p:nvSpPr>
        <p:spPr>
          <a:xfrm>
            <a:off x="548640" y="4479131"/>
            <a:ext cx="544068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1" i="0">
                <a:solidFill>
                  <a:srgbClr val="A79F88"/>
                </a:solidFill>
                <a:latin typeface="Aptos"/>
              </a:rPr>
              <a:t>Build mode</a:t>
            </a:r>
          </a:p>
        </p:txBody>
      </p:sp>
      <p:pic>
        <p:nvPicPr>
          <p:cNvPr id="8" name="13_3d.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8"/>
          <a:stretch>
            <a:fillRect/>
          </a:stretch>
        </p:blipFill>
        <p:spPr>
          <a:xfrm>
            <a:off x="6199632" y="1373028"/>
            <a:ext cx="5440680" cy="3060382"/>
          </a:xfrm>
          <a:prstGeom prst="rect">
            <a:avLst/>
          </a:prstGeom>
        </p:spPr>
      </p:pic>
      <p:sp>
        <p:nvSpPr>
          <p:cNvPr id="9" name="TextBox 8"/>
          <p:cNvSpPr txBox="1"/>
          <p:nvPr/>
        </p:nvSpPr>
        <p:spPr>
          <a:xfrm>
            <a:off x="6199632" y="4479131"/>
            <a:ext cx="544068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1" i="0">
                <a:solidFill>
                  <a:srgbClr val="A79F88"/>
                </a:solidFill>
                <a:latin typeface="Aptos"/>
              </a:rPr>
              <a:t>3D: downtown Gainesville</a:t>
            </a:r>
          </a:p>
        </p:txBody>
      </p:sp>
      <p:sp>
        <p:nvSpPr>
          <p:cNvPr id="10" name="TextBox 9"/>
          <p:cNvSpPr txBox="1"/>
          <p:nvPr/>
        </p:nvSpPr>
        <p:spPr>
          <a:xfrm>
            <a:off x="548640" y="4846320"/>
            <a:ext cx="5440680" cy="155448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800" b="0" i="0">
                <a:solidFill>
                  <a:srgbClr val="D9D2BD"/>
                </a:solidFill>
                <a:latin typeface="Aptos"/>
              </a:rPr>
              <a:t>Catalog of </a:t>
            </a:r>
            <a:r>
              <a:rPr sz="1800" b="1" i="0">
                <a:solidFill>
                  <a:srgbClr val="F6B44B"/>
                </a:solidFill>
                <a:latin typeface="Aptos"/>
              </a:rPr>
              <a:t>17 DarkSky-compliant fixture types</a:t>
            </a:r>
            <a:r>
              <a:rPr sz="1800" b="0" i="0">
                <a:solidFill>
                  <a:srgbClr val="D9D2BD"/>
                </a:solidFill>
                <a:latin typeface="Aptos"/>
              </a:rPr>
              <a:t>: spectrum, uplight rating, watts, installed cost</a:t>
            </a:r>
          </a:p>
          <a:p>
            <a:pPr marL="256032" indent="-256032">
              <a:lnSpc>
                <a:spcPct val="100000"/>
              </a:lnSpc>
              <a:spcBef>
                <a:spcPts val="600"/>
              </a:spcBef>
              <a:spcAft>
                <a:spcPts val="0"/>
              </a:spcAft>
              <a:buClr>
                <a:srgbClr val="F6B44B"/>
              </a:buClr>
              <a:buSzPct val="100000"/>
              <a:buFont typeface="Arial"/>
              <a:buChar char="•"/>
            </a:pPr>
            <a:r>
              <a:rPr sz="1800" b="0" i="0">
                <a:solidFill>
                  <a:srgbClr val="D9D2BD"/>
                </a:solidFill>
                <a:latin typeface="Aptos"/>
              </a:rPr>
              <a:t>Equip one: sky, budget, brief and install markers update</a:t>
            </a:r>
          </a:p>
        </p:txBody>
      </p:sp>
      <p:sp>
        <p:nvSpPr>
          <p:cNvPr id="11" name="TextBox 10"/>
          <p:cNvSpPr txBox="1"/>
          <p:nvPr/>
        </p:nvSpPr>
        <p:spPr>
          <a:xfrm>
            <a:off x="6199632" y="4846320"/>
            <a:ext cx="5440680" cy="155448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800" b="0" i="0">
                <a:solidFill>
                  <a:srgbClr val="D9D2BD"/>
                </a:solidFill>
                <a:latin typeface="Aptos"/>
              </a:rPr>
              <a:t>Terrain, buildings and every modeled light at street level</a:t>
            </a:r>
          </a:p>
          <a:p>
            <a:pPr marL="256032" indent="-256032">
              <a:lnSpc>
                <a:spcPct val="100000"/>
              </a:lnSpc>
              <a:spcBef>
                <a:spcPts val="600"/>
              </a:spcBef>
              <a:spcAft>
                <a:spcPts val="0"/>
              </a:spcAft>
              <a:buClr>
                <a:srgbClr val="F6B44B"/>
              </a:buClr>
              <a:buSzPct val="100000"/>
              <a:buFont typeface="Arial"/>
              <a:buChar char="•"/>
            </a:pPr>
            <a:r>
              <a:rPr sz="1800" b="0" i="0">
                <a:solidFill>
                  <a:srgbClr val="D9D2BD"/>
                </a:solidFill>
                <a:latin typeface="Aptos"/>
              </a:rPr>
              <a:t>Mapped streetlights where they stand; modeled ones along the roads of their cell</a:t>
            </a:r>
          </a:p>
        </p:txBody>
      </p:sp>
      <p:pic>
        <p:nvPicPr>
          <p:cNvPr id="12" name="Picture 11" descr="ai_days_logo_sticker.png"/>
          <p:cNvPicPr>
            <a:picLocks noChangeAspect="1"/>
          </p:cNvPicPr>
          <p:nvPr/>
        </p:nvPicPr>
        <p:blipFill>
          <a:blip r:embed="rId9"/>
          <a:stretch>
            <a:fillRect/>
          </a:stretch>
        </p:blipFill>
        <p:spPr>
          <a:xfrm>
            <a:off x="10408615" y="201168"/>
            <a:ext cx="1371600" cy="79827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6"/>
                                        </p:tgtEl>
                                      </p:cBhvr>
                                    </p:cmd>
                                  </p:childTnLst>
                                </p:cTn>
                              </p:par>
                              <p:par>
                                <p:cTn id="7" presetID="1" presetClass="mediacall" presetSubtype="0" fill="hold" nodeType="withEffect">
                                  <p:stCondLst>
                                    <p:cond delay="0"/>
                                  </p:stCondLst>
                                  <p:childTnLst>
                                    <p:cmd type="call" cmd="playFrom(0.0)">
                                      <p:cBhvr>
                                        <p:cTn id="8" dur="1"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9" repeatCount="indefinite" fill="remove" display="0">
                  <p:stCondLst>
                    <p:cond delay="indefinite"/>
                  </p:stCondLst>
                </p:cTn>
                <p:tgtEl>
                  <p:spTgt spid="6"/>
                </p:tgtEl>
              </p:cMediaNode>
            </p:video>
            <p:seq concurrent="1" nextAc="seek">
              <p:cTn id="10" restart="whenNotActive" fill="hold" evtFilter="cancelBubble" nodeType="interactiveSeq">
                <p:stCondLst>
                  <p:cond evt="onClick" delay="0">
                    <p:tgtEl>
                      <p:spTgt spid="6"/>
                    </p:tgtEl>
                  </p:cond>
                </p:stCondLst>
                <p:endSync evt="end" delay="0">
                  <p:rtn val="all"/>
                </p:endSync>
                <p:childTnLst>
                  <p:par>
                    <p:cTn id="11" fill="hold">
                      <p:stCondLst>
                        <p:cond delay="0"/>
                      </p:stCondLst>
                      <p:childTnLst>
                        <p:par>
                          <p:cTn id="12" fill="hold">
                            <p:stCondLst>
                              <p:cond delay="0"/>
                            </p:stCondLst>
                            <p:childTnLst>
                              <p:par>
                                <p:cTn id="13" presetID="2" presetClass="mediacall" presetSubtype="0" fill="hold" nodeType="clickEffect">
                                  <p:stCondLst>
                                    <p:cond delay="0"/>
                                  </p:stCondLst>
                                  <p:childTnLst>
                                    <p:cmd type="call" cmd="togglePause">
                                      <p:cBhvr>
                                        <p:cTn id="14" dur="1" fill="hold"/>
                                        <p:tgtEl>
                                          <p:spTgt spid="6"/>
                                        </p:tgtEl>
                                      </p:cBhvr>
                                    </p:cmd>
                                  </p:childTnLst>
                                </p:cTn>
                              </p:par>
                            </p:childTnLst>
                          </p:cTn>
                        </p:par>
                      </p:childTnLst>
                    </p:cTn>
                  </p:par>
                </p:childTnLst>
              </p:cTn>
              <p:nextCondLst>
                <p:cond evt="onClick" delay="0">
                  <p:tgtEl>
                    <p:spTgt spid="6"/>
                  </p:tgtEl>
                </p:cond>
              </p:nextCondLst>
            </p:seq>
            <p:video>
              <p:cMediaNode vol="80000">
                <p:cTn id="15" repeatCount="indefinite" fill="remove" display="0">
                  <p:stCondLst>
                    <p:cond delay="indefinite"/>
                  </p:stCondLst>
                </p:cTn>
                <p:tgtEl>
                  <p:spTgt spid="8"/>
                </p:tgtEl>
              </p:cMediaNode>
            </p:video>
            <p:seq concurrent="1" nextAc="seek">
              <p:cTn id="16" restart="whenNotActive" fill="hold" evtFilter="cancelBubble" nodeType="interactiveSeq">
                <p:stCondLst>
                  <p:cond evt="onClick" delay="0">
                    <p:tgtEl>
                      <p:spTgt spid="8"/>
                    </p:tgtEl>
                  </p:cond>
                </p:stCondLst>
                <p:endSync evt="end" delay="0">
                  <p:rtn val="all"/>
                </p:endSync>
                <p:childTnLst>
                  <p:par>
                    <p:cTn id="17" fill="hold">
                      <p:stCondLst>
                        <p:cond delay="0"/>
                      </p:stCondLst>
                      <p:childTnLst>
                        <p:par>
                          <p:cTn id="18" fill="hold">
                            <p:stCondLst>
                              <p:cond delay="0"/>
                            </p:stCondLst>
                            <p:childTnLst>
                              <p:par>
                                <p:cTn id="19" presetID="2" presetClass="mediacall" presetSubtype="0" fill="hold" nodeType="clickEffect">
                                  <p:stCondLst>
                                    <p:cond delay="0"/>
                                  </p:stCondLst>
                                  <p:childTnLst>
                                    <p:cmd type="call" cmd="togglePause">
                                      <p:cBhvr>
                                        <p:cTn id="20" dur="1" fill="hold"/>
                                        <p:tgtEl>
                                          <p:spTgt spid="8"/>
                                        </p:tgtEl>
                                      </p:cBhvr>
                                    </p:cmd>
                                  </p:childTnLst>
                                </p:cTn>
                              </p:par>
                            </p:childTnLst>
                          </p:cTn>
                        </p:par>
                      </p:childTnLst>
                    </p:cTn>
                  </p:par>
                </p:childTnLst>
              </p:cTn>
              <p:nextCondLst>
                <p:cond evt="onClick" delay="0">
                  <p:tgtEl>
                    <p:spTgt spid="8"/>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THE AI  ·  1</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Where AI is used, and where it isn't</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Jay Rosen  ·  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14</a:t>
            </a:r>
          </a:p>
        </p:txBody>
      </p:sp>
      <p:sp>
        <p:nvSpPr>
          <p:cNvPr id="6" name="Rectangle 5"/>
          <p:cNvSpPr/>
          <p:nvPr/>
        </p:nvSpPr>
        <p:spPr>
          <a:xfrm>
            <a:off x="548640" y="1508760"/>
            <a:ext cx="2468880" cy="1965960"/>
          </a:xfrm>
          <a:prstGeom prst="roundRect">
            <a:avLst>
              <a:gd name="adj" fmla="val 6000"/>
            </a:avLst>
          </a:prstGeom>
          <a:solidFill>
            <a:srgbClr val="111A2E"/>
          </a:solidFill>
          <a:ln w="12700">
            <a:solidFill>
              <a:srgbClr val="2A3A60"/>
            </a:solid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marL="0" indent="0" algn="ctr">
              <a:lnSpc>
                <a:spcPct val="110000"/>
              </a:lnSpc>
              <a:spcBef>
                <a:spcPts val="0"/>
              </a:spcBef>
              <a:spcAft>
                <a:spcPts val="0"/>
              </a:spcAft>
              <a:buNone/>
            </a:pPr>
            <a:r>
              <a:rPr sz="1600" b="1" i="0">
                <a:solidFill>
                  <a:srgbClr val="F6B44B"/>
                </a:solidFill>
                <a:latin typeface="Aptos"/>
              </a:rPr>
              <a:t>1 · Data</a:t>
            </a:r>
          </a:p>
          <a:p>
            <a:pPr marL="0" indent="0" algn="ctr">
              <a:lnSpc>
                <a:spcPct val="110000"/>
              </a:lnSpc>
              <a:spcBef>
                <a:spcPts val="0"/>
              </a:spcBef>
              <a:spcAft>
                <a:spcPts val="0"/>
              </a:spcAft>
              <a:buNone/>
            </a:pPr>
            <a:r>
              <a:rPr sz="1600" b="0" i="0">
                <a:solidFill>
                  <a:srgbClr val="F5F1E6"/>
                </a:solidFill>
                <a:latin typeface="Aptos"/>
              </a:rPr>
              <a:t>NASA Black Marble</a:t>
            </a:r>
          </a:p>
          <a:p>
            <a:pPr marL="0" indent="0" algn="ctr">
              <a:lnSpc>
                <a:spcPct val="110000"/>
              </a:lnSpc>
              <a:spcBef>
                <a:spcPts val="0"/>
              </a:spcBef>
              <a:spcAft>
                <a:spcPts val="0"/>
              </a:spcAft>
              <a:buNone/>
            </a:pPr>
            <a:r>
              <a:rPr sz="1600" b="0" i="0">
                <a:solidFill>
                  <a:srgbClr val="F5F1E6"/>
                </a:solidFill>
                <a:latin typeface="Aptos"/>
              </a:rPr>
              <a:t>13 years, 2012–2024</a:t>
            </a:r>
          </a:p>
        </p:txBody>
      </p:sp>
      <p:cxnSp>
        <p:nvCxnSpPr>
          <p:cNvPr id="7" name="Connector 6"/>
          <p:cNvCxnSpPr/>
          <p:nvPr/>
        </p:nvCxnSpPr>
        <p:spPr>
          <a:xfrm>
            <a:off x="3054096" y="2487168"/>
            <a:ext cx="320040" cy="0"/>
          </a:xfrm>
          <a:prstGeom prst="line">
            <a:avLst/>
          </a:prstGeom>
          <a:ln w="31750">
            <a:solidFill>
              <a:srgbClr val="F6B44B"/>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3410712" y="1508760"/>
            <a:ext cx="2468880" cy="1965960"/>
          </a:xfrm>
          <a:prstGeom prst="roundRect">
            <a:avLst>
              <a:gd name="adj" fmla="val 6000"/>
            </a:avLst>
          </a:prstGeom>
          <a:solidFill>
            <a:srgbClr val="111A2E"/>
          </a:solidFill>
          <a:ln w="12700">
            <a:solidFill>
              <a:srgbClr val="2A3A60"/>
            </a:solid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marL="0" indent="0" algn="ctr">
              <a:lnSpc>
                <a:spcPct val="110000"/>
              </a:lnSpc>
              <a:spcBef>
                <a:spcPts val="0"/>
              </a:spcBef>
              <a:spcAft>
                <a:spcPts val="0"/>
              </a:spcAft>
              <a:buNone/>
            </a:pPr>
            <a:r>
              <a:rPr sz="1600" b="1" i="0">
                <a:solidFill>
                  <a:srgbClr val="F6B44B"/>
                </a:solidFill>
                <a:latin typeface="Aptos"/>
              </a:rPr>
              <a:t>2 · Cleaning</a:t>
            </a:r>
          </a:p>
          <a:p>
            <a:pPr marL="0" indent="0" algn="ctr">
              <a:lnSpc>
                <a:spcPct val="110000"/>
              </a:lnSpc>
              <a:spcBef>
                <a:spcPts val="0"/>
              </a:spcBef>
              <a:spcAft>
                <a:spcPts val="0"/>
              </a:spcAft>
              <a:buNone/>
            </a:pPr>
            <a:r>
              <a:rPr sz="1600" b="0" i="0">
                <a:solidFill>
                  <a:srgbClr val="F5F1E6"/>
                </a:solidFill>
                <a:latin typeface="Aptos"/>
              </a:rPr>
              <a:t>remove the</a:t>
            </a:r>
          </a:p>
          <a:p>
            <a:pPr marL="0" indent="0" algn="ctr">
              <a:lnSpc>
                <a:spcPct val="110000"/>
              </a:lnSpc>
              <a:spcBef>
                <a:spcPts val="0"/>
              </a:spcBef>
              <a:spcAft>
                <a:spcPts val="0"/>
              </a:spcAft>
              <a:buNone/>
            </a:pPr>
            <a:r>
              <a:rPr sz="1600" b="0" i="0">
                <a:solidFill>
                  <a:srgbClr val="F5F1E6"/>
                </a:solidFill>
                <a:latin typeface="Aptos"/>
              </a:rPr>
              <a:t>solar-cycle airglow</a:t>
            </a:r>
          </a:p>
        </p:txBody>
      </p:sp>
      <p:cxnSp>
        <p:nvCxnSpPr>
          <p:cNvPr id="9" name="Connector 8"/>
          <p:cNvCxnSpPr/>
          <p:nvPr/>
        </p:nvCxnSpPr>
        <p:spPr>
          <a:xfrm>
            <a:off x="5916168" y="2487168"/>
            <a:ext cx="320040" cy="0"/>
          </a:xfrm>
          <a:prstGeom prst="line">
            <a:avLst/>
          </a:prstGeom>
          <a:ln w="31750">
            <a:solidFill>
              <a:srgbClr val="F6B44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6272784" y="1508760"/>
            <a:ext cx="2468880" cy="1965960"/>
          </a:xfrm>
          <a:prstGeom prst="roundRect">
            <a:avLst>
              <a:gd name="adj" fmla="val 6000"/>
            </a:avLst>
          </a:prstGeom>
          <a:solidFill>
            <a:srgbClr val="111A2E"/>
          </a:solidFill>
          <a:ln w="25400">
            <a:solidFill>
              <a:srgbClr val="F6B44B"/>
            </a:solid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marL="0" indent="0" algn="ctr">
              <a:lnSpc>
                <a:spcPct val="110000"/>
              </a:lnSpc>
              <a:spcBef>
                <a:spcPts val="0"/>
              </a:spcBef>
              <a:spcAft>
                <a:spcPts val="0"/>
              </a:spcAft>
              <a:buNone/>
            </a:pPr>
            <a:r>
              <a:rPr sz="1600" b="1" i="0">
                <a:solidFill>
                  <a:srgbClr val="F6B44B"/>
                </a:solidFill>
                <a:latin typeface="Aptos"/>
              </a:rPr>
              <a:t>3 · Statistics</a:t>
            </a:r>
          </a:p>
          <a:p>
            <a:pPr marL="0" indent="0" algn="ctr">
              <a:lnSpc>
                <a:spcPct val="110000"/>
              </a:lnSpc>
              <a:spcBef>
                <a:spcPts val="0"/>
              </a:spcBef>
              <a:spcAft>
                <a:spcPts val="0"/>
              </a:spcAft>
              <a:buNone/>
            </a:pPr>
            <a:r>
              <a:rPr sz="1600" b="0" i="0">
                <a:solidFill>
                  <a:srgbClr val="F5F1E6"/>
                </a:solidFill>
                <a:latin typeface="Aptos"/>
              </a:rPr>
              <a:t>step test on every</a:t>
            </a:r>
          </a:p>
          <a:p>
            <a:pPr marL="0" indent="0" algn="ctr">
              <a:lnSpc>
                <a:spcPct val="110000"/>
              </a:lnSpc>
              <a:spcBef>
                <a:spcPts val="0"/>
              </a:spcBef>
              <a:spcAft>
                <a:spcPts val="0"/>
              </a:spcAft>
              <a:buNone/>
            </a:pPr>
            <a:r>
              <a:rPr sz="1600" b="0" i="0">
                <a:solidFill>
                  <a:srgbClr val="F5F1E6"/>
                </a:solidFill>
                <a:latin typeface="Aptos"/>
              </a:rPr>
              <a:t>lit cell → change events</a:t>
            </a:r>
          </a:p>
        </p:txBody>
      </p:sp>
      <p:cxnSp>
        <p:nvCxnSpPr>
          <p:cNvPr id="11" name="Connector 10"/>
          <p:cNvCxnSpPr/>
          <p:nvPr/>
        </p:nvCxnSpPr>
        <p:spPr>
          <a:xfrm>
            <a:off x="8778240" y="2487168"/>
            <a:ext cx="320040" cy="0"/>
          </a:xfrm>
          <a:prstGeom prst="line">
            <a:avLst/>
          </a:prstGeom>
          <a:ln w="31750">
            <a:solidFill>
              <a:srgbClr val="F6B44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9134856" y="1508760"/>
            <a:ext cx="2468880" cy="1965960"/>
          </a:xfrm>
          <a:prstGeom prst="roundRect">
            <a:avLst>
              <a:gd name="adj" fmla="val 6000"/>
            </a:avLst>
          </a:prstGeom>
          <a:solidFill>
            <a:srgbClr val="111A2E"/>
          </a:solidFill>
          <a:ln w="25400">
            <a:solidFill>
              <a:srgbClr val="F6B44B"/>
            </a:solid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marL="0" indent="0" algn="ctr">
              <a:lnSpc>
                <a:spcPct val="110000"/>
              </a:lnSpc>
              <a:spcBef>
                <a:spcPts val="0"/>
              </a:spcBef>
              <a:spcAft>
                <a:spcPts val="0"/>
              </a:spcAft>
              <a:buNone/>
            </a:pPr>
            <a:r>
              <a:rPr sz="1600" b="1" i="0">
                <a:solidFill>
                  <a:srgbClr val="F6B44B"/>
                </a:solidFill>
                <a:latin typeface="Aptos"/>
              </a:rPr>
              <a:t>4 · Machine learning</a:t>
            </a:r>
          </a:p>
          <a:p>
            <a:pPr marL="0" indent="0" algn="ctr">
              <a:lnSpc>
                <a:spcPct val="110000"/>
              </a:lnSpc>
              <a:spcBef>
                <a:spcPts val="0"/>
              </a:spcBef>
              <a:spcAft>
                <a:spcPts val="0"/>
              </a:spcAft>
              <a:buNone/>
            </a:pPr>
            <a:r>
              <a:rPr sz="1600" b="0" i="0">
                <a:solidFill>
                  <a:srgbClr val="F5F1E6"/>
                </a:solidFill>
                <a:latin typeface="Aptos"/>
              </a:rPr>
              <a:t>LightGBM forecast</a:t>
            </a:r>
          </a:p>
          <a:p>
            <a:pPr marL="0" indent="0" algn="ctr">
              <a:lnSpc>
                <a:spcPct val="110000"/>
              </a:lnSpc>
              <a:spcBef>
                <a:spcPts val="0"/>
              </a:spcBef>
              <a:spcAft>
                <a:spcPts val="0"/>
              </a:spcAft>
              <a:buNone/>
            </a:pPr>
            <a:r>
              <a:rPr sz="1600" b="0" i="0">
                <a:solidFill>
                  <a:srgbClr val="F5F1E6"/>
                </a:solidFill>
                <a:latin typeface="Aptos"/>
              </a:rPr>
              <a:t>of where light grows</a:t>
            </a:r>
          </a:p>
        </p:txBody>
      </p:sp>
      <p:sp>
        <p:nvSpPr>
          <p:cNvPr id="13" name="Rectangle 12"/>
          <p:cNvSpPr/>
          <p:nvPr/>
        </p:nvSpPr>
        <p:spPr>
          <a:xfrm>
            <a:off x="6400800" y="3703320"/>
            <a:ext cx="5239512" cy="685800"/>
          </a:xfrm>
          <a:prstGeom prst="roundRect">
            <a:avLst>
              <a:gd name="adj" fmla="val 10000"/>
            </a:avLst>
          </a:prstGeom>
          <a:solidFill>
            <a:srgbClr val="1A2642"/>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marL="0" indent="0" algn="ctr">
              <a:lnSpc>
                <a:spcPct val="100000"/>
              </a:lnSpc>
              <a:spcBef>
                <a:spcPts val="0"/>
              </a:spcBef>
              <a:spcAft>
                <a:spcPts val="0"/>
              </a:spcAft>
              <a:buNone/>
            </a:pPr>
            <a:r>
              <a:rPr sz="1500" b="0" i="0">
                <a:solidFill>
                  <a:srgbClr val="F5F1E6"/>
                </a:solidFill>
                <a:latin typeface="Aptos"/>
              </a:rPr>
              <a:t>→ 2034 sky and observatory site ranking</a:t>
            </a:r>
          </a:p>
        </p:txBody>
      </p:sp>
      <p:sp>
        <p:nvSpPr>
          <p:cNvPr id="14" name="Rectangle 13"/>
          <p:cNvSpPr/>
          <p:nvPr/>
        </p:nvSpPr>
        <p:spPr>
          <a:xfrm>
            <a:off x="3520440" y="3703320"/>
            <a:ext cx="2651760" cy="685800"/>
          </a:xfrm>
          <a:prstGeom prst="roundRect">
            <a:avLst>
              <a:gd name="adj" fmla="val 10000"/>
            </a:avLst>
          </a:prstGeom>
          <a:solidFill>
            <a:srgbClr val="1A2642"/>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marL="0" indent="0" algn="ctr">
              <a:lnSpc>
                <a:spcPct val="100000"/>
              </a:lnSpc>
              <a:spcBef>
                <a:spcPts val="0"/>
              </a:spcBef>
              <a:spcAft>
                <a:spcPts val="0"/>
              </a:spcAft>
              <a:buNone/>
            </a:pPr>
            <a:r>
              <a:rPr sz="1500" b="0" i="0">
                <a:solidFill>
                  <a:srgbClr val="F5F1E6"/>
                </a:solidFill>
                <a:latin typeface="Aptos"/>
              </a:rPr>
              <a:t>→ change-events map</a:t>
            </a:r>
          </a:p>
        </p:txBody>
      </p:sp>
      <p:sp>
        <p:nvSpPr>
          <p:cNvPr id="15" name="Rectangle 14"/>
          <p:cNvSpPr/>
          <p:nvPr/>
        </p:nvSpPr>
        <p:spPr>
          <a:xfrm>
            <a:off x="548640" y="4617720"/>
            <a:ext cx="11091672" cy="1691640"/>
          </a:xfrm>
          <a:prstGeom prst="roundRect">
            <a:avLst>
              <a:gd name="adj" fmla="val 4000"/>
            </a:avLst>
          </a:prstGeom>
          <a:solidFill>
            <a:srgbClr val="0A0F1C"/>
          </a:solidFill>
          <a:ln w="12700">
            <a:solidFill>
              <a:srgbClr val="2A3A6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777240" y="4709160"/>
            <a:ext cx="10058400" cy="32004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300" b="1" i="0">
                <a:solidFill>
                  <a:srgbClr val="F6B44B"/>
                </a:solidFill>
                <a:latin typeface="Aptos"/>
              </a:rPr>
              <a:t>NOT AI: physics and explicit rules you can inspect</a:t>
            </a:r>
          </a:p>
        </p:txBody>
      </p:sp>
      <p:sp>
        <p:nvSpPr>
          <p:cNvPr id="17" name="TextBox 16"/>
          <p:cNvSpPr txBox="1"/>
          <p:nvPr/>
        </p:nvSpPr>
        <p:spPr>
          <a:xfrm>
            <a:off x="777240" y="5074920"/>
            <a:ext cx="5212080" cy="128016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700" b="1" i="0">
                <a:solidFill>
                  <a:srgbClr val="F6B44B"/>
                </a:solidFill>
                <a:latin typeface="Aptos"/>
              </a:rPr>
              <a:t>Sky brightness</a:t>
            </a:r>
            <a:r>
              <a:rPr sz="1700" b="0" i="0">
                <a:solidFill>
                  <a:srgbClr val="D9D2BD"/>
                </a:solidFill>
                <a:latin typeface="Aptos"/>
              </a:rPr>
              <a:t>: atmospheric scattering physics</a:t>
            </a:r>
          </a:p>
          <a:p>
            <a:pPr marL="256032" indent="-256032">
              <a:lnSpc>
                <a:spcPct val="100000"/>
              </a:lnSpc>
              <a:spcBef>
                <a:spcPts val="400"/>
              </a:spcBef>
              <a:spcAft>
                <a:spcPts val="0"/>
              </a:spcAft>
              <a:buClr>
                <a:srgbClr val="F6B44B"/>
              </a:buClr>
              <a:buSzPct val="100000"/>
              <a:buFont typeface="Arial"/>
              <a:buChar char="•"/>
            </a:pPr>
            <a:r>
              <a:rPr sz="1700" b="1" i="0">
                <a:solidFill>
                  <a:srgbClr val="F6B44B"/>
                </a:solidFill>
                <a:latin typeface="Aptos"/>
              </a:rPr>
              <a:t>Scenario effects</a:t>
            </a:r>
            <a:r>
              <a:rPr sz="1700" b="0" i="0">
                <a:solidFill>
                  <a:srgbClr val="D9D2BD"/>
                </a:solidFill>
                <a:latin typeface="Aptos"/>
              </a:rPr>
              <a:t>: published fixture rules</a:t>
            </a:r>
          </a:p>
        </p:txBody>
      </p:sp>
      <p:sp>
        <p:nvSpPr>
          <p:cNvPr id="18" name="TextBox 17"/>
          <p:cNvSpPr txBox="1"/>
          <p:nvPr/>
        </p:nvSpPr>
        <p:spPr>
          <a:xfrm>
            <a:off x="6309360" y="5074920"/>
            <a:ext cx="5212080" cy="128016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700" b="1" i="0">
                <a:solidFill>
                  <a:srgbClr val="F6B44B"/>
                </a:solidFill>
                <a:latin typeface="Aptos"/>
              </a:rPr>
              <a:t>Site ranking</a:t>
            </a:r>
            <a:r>
              <a:rPr sz="1700" b="0" i="0">
                <a:solidFill>
                  <a:srgbClr val="D9D2BD"/>
                </a:solidFill>
                <a:latin typeface="Aptos"/>
              </a:rPr>
              <a:t>: weighted sum, weights you set</a:t>
            </a:r>
          </a:p>
          <a:p>
            <a:pPr marL="256032" indent="-256032">
              <a:lnSpc>
                <a:spcPct val="100000"/>
              </a:lnSpc>
              <a:spcBef>
                <a:spcPts val="400"/>
              </a:spcBef>
              <a:spcAft>
                <a:spcPts val="0"/>
              </a:spcAft>
              <a:buClr>
                <a:srgbClr val="F6B44B"/>
              </a:buClr>
              <a:buSzPct val="100000"/>
              <a:buFont typeface="Arial"/>
              <a:buChar char="•"/>
            </a:pPr>
            <a:r>
              <a:rPr sz="1700" b="1" i="0">
                <a:solidFill>
                  <a:srgbClr val="F6B44B"/>
                </a:solidFill>
                <a:latin typeface="Aptos"/>
              </a:rPr>
              <a:t>Costs</a:t>
            </a:r>
            <a:r>
              <a:rPr sz="1700" b="0" i="0">
                <a:solidFill>
                  <a:srgbClr val="D9D2BD"/>
                </a:solidFill>
                <a:latin typeface="Aptos"/>
              </a:rPr>
              <a:t>: unit prices × fixture counts</a:t>
            </a:r>
          </a:p>
        </p:txBody>
      </p:sp>
      <p:pic>
        <p:nvPicPr>
          <p:cNvPr id="19" name="Picture 18" descr="ai_days_logo_sticker.png"/>
          <p:cNvPicPr>
            <a:picLocks noChangeAspect="1"/>
          </p:cNvPicPr>
          <p:nvPr/>
        </p:nvPicPr>
        <p:blipFill>
          <a:blip r:embed="rId3"/>
          <a:stretch>
            <a:fillRect/>
          </a:stretch>
        </p:blipFill>
        <p:spPr>
          <a:xfrm>
            <a:off x="10408615" y="201168"/>
            <a:ext cx="1371600" cy="798271"/>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THE AI  ·  2</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The data: 13 years of NASA night lights</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Jay Rosen  ·  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15</a:t>
            </a:r>
          </a:p>
        </p:txBody>
      </p:sp>
      <p:sp>
        <p:nvSpPr>
          <p:cNvPr id="6" name="TextBox 5"/>
          <p:cNvSpPr txBox="1"/>
          <p:nvPr/>
        </p:nvSpPr>
        <p:spPr>
          <a:xfrm>
            <a:off x="548640" y="1463040"/>
            <a:ext cx="3687775" cy="475488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900" b="0" i="0">
                <a:solidFill>
                  <a:srgbClr val="D9D2BD"/>
                </a:solidFill>
                <a:latin typeface="Aptos"/>
              </a:rPr>
              <a:t>NASA Black Marble (</a:t>
            </a:r>
            <a:r>
              <a:rPr sz="1900" b="1" i="0">
                <a:solidFill>
                  <a:srgbClr val="F6B44B"/>
                </a:solidFill>
                <a:latin typeface="Aptos"/>
              </a:rPr>
              <a:t>VIIRS VNP46A2</a:t>
            </a:r>
            <a:r>
              <a:rPr sz="1900" b="0" i="0">
                <a:solidFill>
                  <a:srgbClr val="D9D2BD"/>
                </a:solidFill>
                <a:latin typeface="Aptos"/>
              </a:rPr>
              <a:t>): nightly, moonlight- and angle-corrected, ~500 m</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Keep cloud-free, high-quality nights; </a:t>
            </a:r>
            <a:r>
              <a:rPr sz="1900" b="1" i="0">
                <a:solidFill>
                  <a:srgbClr val="F6B44B"/>
                </a:solidFill>
                <a:latin typeface="Aptos"/>
              </a:rPr>
              <a:t>one median per year</a:t>
            </a:r>
            <a:r>
              <a:rPr sz="1900" b="0" i="0">
                <a:solidFill>
                  <a:srgbClr val="D9D2BD"/>
                </a:solidFill>
                <a:latin typeface="Aptos"/>
              </a:rPr>
              <a:t> per cell, 2012–2024</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Pulled through </a:t>
            </a:r>
            <a:r>
              <a:rPr sz="1900" b="1" i="0">
                <a:solidFill>
                  <a:srgbClr val="F6B44B"/>
                </a:solidFill>
                <a:latin typeface="Aptos"/>
              </a:rPr>
              <a:t>Google Earth Engine</a:t>
            </a:r>
            <a:r>
              <a:rPr sz="1900" b="0" i="0">
                <a:solidFill>
                  <a:srgbClr val="D9D2BD"/>
                </a:solidFill>
                <a:latin typeface="Aptos"/>
              </a:rPr>
              <a:t>'s free noncommercial tier in ~12 minutes</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The 2024 layer also tells the physics model where private lighting is</a:t>
            </a:r>
          </a:p>
        </p:txBody>
      </p:sp>
      <p:pic>
        <p:nvPicPr>
          <p:cNvPr id="7" name="15_viirs.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4739335" y="1508760"/>
            <a:ext cx="6903720" cy="3883342"/>
          </a:xfrm>
          <a:prstGeom prst="rect">
            <a:avLst/>
          </a:prstGeom>
        </p:spPr>
      </p:pic>
      <p:sp>
        <p:nvSpPr>
          <p:cNvPr id="8" name="TextBox 7"/>
          <p:cNvSpPr txBox="1"/>
          <p:nvPr/>
        </p:nvSpPr>
        <p:spPr>
          <a:xfrm>
            <a:off x="4739335" y="5446966"/>
            <a:ext cx="690372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0" i="0">
                <a:solidFill>
                  <a:srgbClr val="A79F88"/>
                </a:solidFill>
                <a:latin typeface="Aptos"/>
              </a:rPr>
              <a:t>VIIRS layer: yearly median radiance with the airglow background removed; the slider steps through 2012–2024.</a:t>
            </a:r>
          </a:p>
        </p:txBody>
      </p:sp>
      <p:pic>
        <p:nvPicPr>
          <p:cNvPr id="9" name="Picture 8" descr="ai_days_logo_sticker.png"/>
          <p:cNvPicPr>
            <a:picLocks noChangeAspect="1"/>
          </p:cNvPicPr>
          <p:nvPr/>
        </p:nvPicPr>
        <p:blipFill>
          <a:blip r:embed="rId6"/>
          <a:stretch>
            <a:fillRect/>
          </a:stretch>
        </p:blipFill>
        <p:spPr>
          <a:xfrm>
            <a:off x="10408615" y="201168"/>
            <a:ext cx="1371600" cy="79827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repeatCount="indefinite" fill="remove" display="0">
                  <p:stCondLst>
                    <p:cond delay="indefinite"/>
                  </p:stCondLst>
                </p:cTn>
                <p:tgtEl>
                  <p:spTgt spid="7"/>
                </p:tgtEl>
              </p:cMediaNode>
            </p:video>
            <p:seq concurrent="1" nextAc="seek">
              <p:cTn id="8" restart="whenNotActive" fill="hold" evtFilter="cancelBubble" nodeType="interactiveSeq">
                <p:stCondLst>
                  <p:cond evt="onClick" delay="0">
                    <p:tgtEl>
                      <p:spTgt spid="7"/>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7"/>
                                        </p:tgtEl>
                                      </p:cBhvr>
                                    </p:cmd>
                                  </p:childTnLst>
                                </p:cTn>
                              </p:par>
                            </p:childTnLst>
                          </p:cTn>
                        </p:par>
                      </p:childTnLst>
                    </p:cTn>
                  </p:par>
                </p:childTnLst>
              </p:cTn>
              <p:nextCondLst>
                <p:cond evt="onClick" delay="0">
                  <p:tgtEl>
                    <p:spTgt spid="7"/>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THE AI  ·  3</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Lesson 1: check the data before the model</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Jay Rosen  ·  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16</a:t>
            </a:r>
          </a:p>
        </p:txBody>
      </p:sp>
      <p:sp>
        <p:nvSpPr>
          <p:cNvPr id="6" name="TextBox 5"/>
          <p:cNvSpPr txBox="1"/>
          <p:nvPr/>
        </p:nvSpPr>
        <p:spPr>
          <a:xfrm>
            <a:off x="548640" y="1463040"/>
            <a:ext cx="4754880" cy="484632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900" b="0" i="0">
                <a:solidFill>
                  <a:srgbClr val="D9D2BD"/>
                </a:solidFill>
                <a:latin typeface="Aptos"/>
              </a:rPr>
              <a:t>First pull came back </a:t>
            </a:r>
            <a:r>
              <a:rPr sz="1900" b="1" i="0">
                <a:solidFill>
                  <a:srgbClr val="F6B44B"/>
                </a:solidFill>
                <a:latin typeface="Aptos"/>
              </a:rPr>
              <a:t>10× too dark</a:t>
            </a:r>
            <a:r>
              <a:rPr sz="1900" b="0" i="0">
                <a:solidFill>
                  <a:srgbClr val="D9D2BD"/>
                </a:solidFill>
                <a:latin typeface="Aptos"/>
              </a:rPr>
              <a:t>: a scale factor applied twice</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Then forests and wetlands “brightened” </a:t>
            </a:r>
            <a:r>
              <a:rPr sz="1900" b="1" i="0">
                <a:solidFill>
                  <a:srgbClr val="F6B44B"/>
                </a:solidFill>
                <a:latin typeface="Aptos"/>
              </a:rPr>
              <a:t>70–120%</a:t>
            </a:r>
            <a:r>
              <a:rPr sz="1900" b="0" i="0">
                <a:solidFill>
                  <a:srgbClr val="D9D2BD"/>
                </a:solidFill>
                <a:latin typeface="Aptos"/>
              </a:rPr>
              <a:t> from 2020 to 2023</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Cause: </a:t>
            </a:r>
            <a:r>
              <a:rPr sz="1900" b="1" i="0">
                <a:solidFill>
                  <a:srgbClr val="F6B44B"/>
                </a:solidFill>
                <a:latin typeface="Aptos"/>
              </a:rPr>
              <a:t>airglow</a:t>
            </a:r>
            <a:r>
              <a:rPr sz="1900" b="0" i="0">
                <a:solidFill>
                  <a:srgbClr val="D9D2BD"/>
                </a:solidFill>
                <a:latin typeface="Aptos"/>
              </a:rPr>
              <a:t>, upper-atmosphere light that follows the 11-year solar cycle</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Fix: subtract each year's background, the median of the darkest fifth of the region, before any model sees the data</a:t>
            </a:r>
          </a:p>
        </p:txBody>
      </p:sp>
      <p:sp>
        <p:nvSpPr>
          <p:cNvPr id="7" name="TextBox 6"/>
          <p:cNvSpPr txBox="1"/>
          <p:nvPr/>
        </p:nvSpPr>
        <p:spPr>
          <a:xfrm>
            <a:off x="5760720" y="1417320"/>
            <a:ext cx="5852160" cy="32004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400" b="1" i="0">
                <a:solidFill>
                  <a:srgbClr val="D9D2BD"/>
                </a:solidFill>
                <a:latin typeface="Aptos"/>
              </a:rPr>
              <a:t>Background glow over unlit land, nW cm⁻² sr⁻¹</a:t>
            </a:r>
          </a:p>
        </p:txBody>
      </p:sp>
      <p:graphicFrame>
        <p:nvGraphicFramePr>
          <p:cNvPr id="8" name="Chart 7"/>
          <p:cNvGraphicFramePr>
            <a:graphicFrameLocks noGrp="1"/>
          </p:cNvGraphicFramePr>
          <p:nvPr/>
        </p:nvGraphicFramePr>
        <p:xfrm>
          <a:off x="5669280" y="1691640"/>
          <a:ext cx="5989320" cy="3246120"/>
        </p:xfrm>
        <a:graphic>
          <a:graphicData uri="http://schemas.openxmlformats.org/drawingml/2006/chart">
            <c:chart xmlns:c="http://schemas.openxmlformats.org/drawingml/2006/chart" xmlns:r="http://schemas.openxmlformats.org/officeDocument/2006/relationships" r:id="rId3"/>
          </a:graphicData>
        </a:graphic>
      </p:graphicFrame>
      <p:sp>
        <p:nvSpPr>
          <p:cNvPr id="9" name="TextBox 8"/>
          <p:cNvSpPr txBox="1"/>
          <p:nvPr/>
        </p:nvSpPr>
        <p:spPr>
          <a:xfrm>
            <a:off x="5760720" y="4892040"/>
            <a:ext cx="585216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0" i="0">
                <a:solidFill>
                  <a:srgbClr val="A79F88"/>
                </a:solidFill>
                <a:latin typeface="Aptos"/>
              </a:rPr>
              <a:t>Solar minimum 2019–20: 0.10 · rising solar activity 2023: 0.33</a:t>
            </a:r>
          </a:p>
        </p:txBody>
      </p:sp>
      <p:pic>
        <p:nvPicPr>
          <p:cNvPr id="10" name="Picture 9" descr="airglow_light.png"/>
          <p:cNvPicPr>
            <a:picLocks noChangeAspect="1"/>
          </p:cNvPicPr>
          <p:nvPr/>
        </p:nvPicPr>
        <p:blipFill>
          <a:blip r:embed="rId4"/>
          <a:stretch>
            <a:fillRect/>
          </a:stretch>
        </p:blipFill>
        <p:spPr>
          <a:xfrm>
            <a:off x="5760720" y="5303520"/>
            <a:ext cx="5852160" cy="385151"/>
          </a:xfrm>
          <a:prstGeom prst="rect">
            <a:avLst/>
          </a:prstGeom>
        </p:spPr>
      </p:pic>
      <p:pic>
        <p:nvPicPr>
          <p:cNvPr id="11" name="Picture 10" descr="ai_days_logo_sticker.png"/>
          <p:cNvPicPr>
            <a:picLocks noChangeAspect="1"/>
          </p:cNvPicPr>
          <p:nvPr/>
        </p:nvPicPr>
        <p:blipFill>
          <a:blip r:embed="rId5"/>
          <a:stretch>
            <a:fillRect/>
          </a:stretch>
        </p:blipFill>
        <p:spPr>
          <a:xfrm>
            <a:off x="10408615" y="201168"/>
            <a:ext cx="1371600" cy="798271"/>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THE AI  ·  4</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Revisiting the 19% estimate with calibrated satellite data</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Jay Rosen  ·  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17</a:t>
            </a:r>
          </a:p>
        </p:txBody>
      </p:sp>
      <p:sp>
        <p:nvSpPr>
          <p:cNvPr id="6" name="TextBox 5"/>
          <p:cNvSpPr txBox="1"/>
          <p:nvPr/>
        </p:nvSpPr>
        <p:spPr>
          <a:xfrm>
            <a:off x="548640" y="1463040"/>
            <a:ext cx="4846320" cy="265176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700" b="0" i="0">
                <a:solidFill>
                  <a:srgbClr val="D9D2BD"/>
                </a:solidFill>
                <a:latin typeface="Aptos"/>
              </a:rPr>
              <a:t>AI analysis of NOAA night imagery, 2012 → 2024: </a:t>
            </a:r>
            <a:r>
              <a:rPr sz="1700" b="1" i="0">
                <a:solidFill>
                  <a:srgbClr val="F6B44B"/>
                </a:solidFill>
                <a:latin typeface="Aptos"/>
              </a:rPr>
              <a:t>≈19% brighter</a:t>
            </a:r>
            <a:r>
              <a:rPr sz="1700" b="0" i="0">
                <a:solidFill>
                  <a:srgbClr val="D9D2BD"/>
                </a:solidFill>
                <a:latin typeface="Aptos"/>
              </a:rPr>
              <a:t> (v1)</a:t>
            </a:r>
          </a:p>
          <a:p>
            <a:pPr marL="256032" indent="-256032">
              <a:lnSpc>
                <a:spcPct val="100000"/>
              </a:lnSpc>
              <a:spcBef>
                <a:spcPts val="900"/>
              </a:spcBef>
              <a:spcAft>
                <a:spcPts val="0"/>
              </a:spcAft>
              <a:buClr>
                <a:srgbClr val="F6B44B"/>
              </a:buClr>
              <a:buSzPct val="100000"/>
              <a:buFont typeface="Arial"/>
              <a:buChar char="•"/>
            </a:pPr>
            <a:r>
              <a:rPr sz="1700" b="0" i="0">
                <a:solidFill>
                  <a:srgbClr val="D9D2BD"/>
                </a:solidFill>
                <a:latin typeface="Aptos"/>
              </a:rPr>
              <a:t>Re-measured in calibrated radiance, 2013–24: the </a:t>
            </a:r>
            <a:r>
              <a:rPr sz="1700" b="1" i="0">
                <a:solidFill>
                  <a:srgbClr val="F6B44B"/>
                </a:solidFill>
                <a:latin typeface="Aptos"/>
              </a:rPr>
              <a:t>region around Alachua County rose ~20%</a:t>
            </a:r>
            <a:r>
              <a:rPr sz="1700" b="0" i="0">
                <a:solidFill>
                  <a:srgbClr val="D9D2BD"/>
                </a:solidFill>
                <a:latin typeface="Aptos"/>
              </a:rPr>
              <a:t> (NOAA) or </a:t>
            </a:r>
            <a:r>
              <a:rPr sz="1700" b="1" i="0">
                <a:solidFill>
                  <a:srgbClr val="F6B44B"/>
                </a:solidFill>
                <a:latin typeface="Aptos"/>
              </a:rPr>
              <a:t>~13%</a:t>
            </a:r>
            <a:r>
              <a:rPr sz="1700" b="0" i="0">
                <a:solidFill>
                  <a:srgbClr val="D9D2BD"/>
                </a:solidFill>
                <a:latin typeface="Aptos"/>
              </a:rPr>
              <a:t> (NASA)</a:t>
            </a:r>
          </a:p>
          <a:p>
            <a:pPr marL="256032" indent="-256032">
              <a:lnSpc>
                <a:spcPct val="100000"/>
              </a:lnSpc>
              <a:spcBef>
                <a:spcPts val="900"/>
              </a:spcBef>
              <a:spcAft>
                <a:spcPts val="0"/>
              </a:spcAft>
              <a:buClr>
                <a:srgbClr val="F6B44B"/>
              </a:buClr>
              <a:buSzPct val="100000"/>
              <a:buFont typeface="Arial"/>
              <a:buChar char="•"/>
            </a:pPr>
            <a:r>
              <a:rPr sz="1700" b="0" i="0">
                <a:solidFill>
                  <a:srgbClr val="D9D2BD"/>
                </a:solidFill>
                <a:latin typeface="Aptos"/>
              </a:rPr>
              <a:t>Inside the county line: </a:t>
            </a:r>
            <a:r>
              <a:rPr sz="1700" b="1" i="0">
                <a:solidFill>
                  <a:srgbClr val="F6B44B"/>
                </a:solidFill>
                <a:latin typeface="Aptos"/>
              </a:rPr>
              <a:t>3–6%</a:t>
            </a:r>
            <a:r>
              <a:rPr sz="1700" b="0" i="0">
                <a:solidFill>
                  <a:srgbClr val="D9D2BD"/>
                </a:solidFill>
                <a:latin typeface="Aptos"/>
              </a:rPr>
              <a:t>; around Gainesville ≈5%. Growth concentrates along I-75 and around Ocala</a:t>
            </a:r>
          </a:p>
        </p:txBody>
      </p:sp>
      <p:graphicFrame>
        <p:nvGraphicFramePr>
          <p:cNvPr id="7" name="Table 6"/>
          <p:cNvGraphicFramePr>
            <a:graphicFrameLocks noGrp="1"/>
          </p:cNvGraphicFramePr>
          <p:nvPr/>
        </p:nvGraphicFramePr>
        <p:xfrm>
          <a:off x="548640" y="4160520"/>
          <a:ext cx="4846320" cy="2057400"/>
        </p:xfrm>
        <a:graphic>
          <a:graphicData uri="http://schemas.openxmlformats.org/drawingml/2006/table">
            <a:tbl>
              <a:tblPr>
                <a:tableStyleId>{5940675A-B579-460E-94D1-54222C63F5DA}</a:tableStyleId>
              </a:tblPr>
              <a:tblGrid>
                <a:gridCol w="265176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tblGrid>
              <a:tr h="514350">
                <a:tc>
                  <a:txBody>
                    <a:bodyPr/>
                    <a:lstStyle/>
                    <a:p>
                      <a:pPr algn="l"/>
                      <a:r>
                        <a:rPr sz="1400" b="1" i="0">
                          <a:solidFill>
                            <a:srgbClr val="F6B44B"/>
                          </a:solidFill>
                          <a:latin typeface="Aptos"/>
                        </a:rPr>
                        <a:t>Calibrated radiance, 2013 → 2024</a:t>
                      </a:r>
                    </a:p>
                  </a:txBody>
                  <a:tcPr marL="73152" marR="73152" marT="27432" marB="27432" anchor="ctr">
                    <a:solidFill>
                      <a:srgbClr val="1A2642"/>
                    </a:solidFill>
                  </a:tcPr>
                </a:tc>
                <a:tc>
                  <a:txBody>
                    <a:bodyPr/>
                    <a:lstStyle/>
                    <a:p>
                      <a:pPr algn="r"/>
                      <a:r>
                        <a:rPr sz="1400" b="1" i="0">
                          <a:solidFill>
                            <a:srgbClr val="F6B44B"/>
                          </a:solidFill>
                          <a:latin typeface="Aptos"/>
                        </a:rPr>
                        <a:t>NOAA EOG</a:t>
                      </a:r>
                    </a:p>
                  </a:txBody>
                  <a:tcPr marL="73152" marR="73152" marT="27432" marB="27432" anchor="ctr">
                    <a:solidFill>
                      <a:srgbClr val="1A2642"/>
                    </a:solidFill>
                  </a:tcPr>
                </a:tc>
                <a:tc>
                  <a:txBody>
                    <a:bodyPr/>
                    <a:lstStyle/>
                    <a:p>
                      <a:pPr algn="r"/>
                      <a:r>
                        <a:rPr sz="1400" b="1" i="0">
                          <a:solidFill>
                            <a:srgbClr val="F6B44B"/>
                          </a:solidFill>
                          <a:latin typeface="Aptos"/>
                        </a:rPr>
                        <a:t>NASA BM</a:t>
                      </a:r>
                    </a:p>
                  </a:txBody>
                  <a:tcPr marL="73152" marR="73152" marT="27432" marB="27432" anchor="ctr">
                    <a:solidFill>
                      <a:srgbClr val="1A2642"/>
                    </a:solidFill>
                  </a:tcPr>
                </a:tc>
                <a:extLst>
                  <a:ext uri="{0D108BD9-81ED-4DB2-BD59-A6C34878D82A}">
                    <a16:rowId xmlns:a16="http://schemas.microsoft.com/office/drawing/2014/main" val="10000"/>
                  </a:ext>
                </a:extLst>
              </a:tr>
              <a:tr h="514350">
                <a:tc>
                  <a:txBody>
                    <a:bodyPr/>
                    <a:lstStyle/>
                    <a:p>
                      <a:pPr algn="l"/>
                      <a:r>
                        <a:rPr sz="1400" b="1" i="0">
                          <a:solidFill>
                            <a:srgbClr val="F6B44B"/>
                          </a:solidFill>
                          <a:latin typeface="Aptos"/>
                        </a:rPr>
                        <a:t>Region around the county</a:t>
                      </a:r>
                    </a:p>
                  </a:txBody>
                  <a:tcPr marL="73152" marR="73152" marT="27432" marB="27432" anchor="ctr">
                    <a:solidFill>
                      <a:srgbClr val="0A0F1C"/>
                    </a:solidFill>
                  </a:tcPr>
                </a:tc>
                <a:tc>
                  <a:txBody>
                    <a:bodyPr/>
                    <a:lstStyle/>
                    <a:p>
                      <a:pPr algn="r"/>
                      <a:r>
                        <a:rPr sz="1400" b="1" i="0">
                          <a:solidFill>
                            <a:srgbClr val="F6B44B"/>
                          </a:solidFill>
                          <a:latin typeface="Aptos"/>
                        </a:rPr>
                        <a:t>+20.5%</a:t>
                      </a:r>
                    </a:p>
                  </a:txBody>
                  <a:tcPr marL="73152" marR="73152" marT="27432" marB="27432" anchor="ctr">
                    <a:solidFill>
                      <a:srgbClr val="0A0F1C"/>
                    </a:solidFill>
                  </a:tcPr>
                </a:tc>
                <a:tc>
                  <a:txBody>
                    <a:bodyPr/>
                    <a:lstStyle/>
                    <a:p>
                      <a:pPr algn="r"/>
                      <a:r>
                        <a:rPr sz="1400" b="1" i="0">
                          <a:solidFill>
                            <a:srgbClr val="F6B44B"/>
                          </a:solidFill>
                          <a:latin typeface="Aptos"/>
                        </a:rPr>
                        <a:t>+12.8%</a:t>
                      </a:r>
                    </a:p>
                  </a:txBody>
                  <a:tcPr marL="73152" marR="73152" marT="27432" marB="27432" anchor="ctr">
                    <a:solidFill>
                      <a:srgbClr val="0A0F1C"/>
                    </a:solidFill>
                  </a:tcPr>
                </a:tc>
                <a:extLst>
                  <a:ext uri="{0D108BD9-81ED-4DB2-BD59-A6C34878D82A}">
                    <a16:rowId xmlns:a16="http://schemas.microsoft.com/office/drawing/2014/main" val="10001"/>
                  </a:ext>
                </a:extLst>
              </a:tr>
              <a:tr h="514350">
                <a:tc>
                  <a:txBody>
                    <a:bodyPr/>
                    <a:lstStyle/>
                    <a:p>
                      <a:pPr algn="l"/>
                      <a:r>
                        <a:rPr sz="1400" b="0" i="0">
                          <a:solidFill>
                            <a:srgbClr val="F5F1E6"/>
                          </a:solidFill>
                          <a:latin typeface="Aptos"/>
                        </a:rPr>
                        <a:t>Alachua County</a:t>
                      </a:r>
                    </a:p>
                  </a:txBody>
                  <a:tcPr marL="73152" marR="73152" marT="27432" marB="27432" anchor="ctr">
                    <a:solidFill>
                      <a:srgbClr val="0A0F1C"/>
                    </a:solidFill>
                  </a:tcPr>
                </a:tc>
                <a:tc>
                  <a:txBody>
                    <a:bodyPr/>
                    <a:lstStyle/>
                    <a:p>
                      <a:pPr algn="r"/>
                      <a:r>
                        <a:rPr sz="1400" b="0" i="0">
                          <a:solidFill>
                            <a:srgbClr val="F5F1E6"/>
                          </a:solidFill>
                          <a:latin typeface="Aptos"/>
                        </a:rPr>
                        <a:t>+6.1%</a:t>
                      </a:r>
                    </a:p>
                  </a:txBody>
                  <a:tcPr marL="73152" marR="73152" marT="27432" marB="27432" anchor="ctr">
                    <a:solidFill>
                      <a:srgbClr val="0A0F1C"/>
                    </a:solidFill>
                  </a:tcPr>
                </a:tc>
                <a:tc>
                  <a:txBody>
                    <a:bodyPr/>
                    <a:lstStyle/>
                    <a:p>
                      <a:pPr algn="r"/>
                      <a:r>
                        <a:rPr sz="1400" b="0" i="0">
                          <a:solidFill>
                            <a:srgbClr val="F5F1E6"/>
                          </a:solidFill>
                          <a:latin typeface="Aptos"/>
                        </a:rPr>
                        <a:t>+2.9%</a:t>
                      </a:r>
                    </a:p>
                  </a:txBody>
                  <a:tcPr marL="73152" marR="73152" marT="27432" marB="27432" anchor="ctr">
                    <a:solidFill>
                      <a:srgbClr val="0A0F1C"/>
                    </a:solidFill>
                  </a:tcPr>
                </a:tc>
                <a:extLst>
                  <a:ext uri="{0D108BD9-81ED-4DB2-BD59-A6C34878D82A}">
                    <a16:rowId xmlns:a16="http://schemas.microsoft.com/office/drawing/2014/main" val="10002"/>
                  </a:ext>
                </a:extLst>
              </a:tr>
              <a:tr h="514350">
                <a:tc>
                  <a:txBody>
                    <a:bodyPr/>
                    <a:lstStyle/>
                    <a:p>
                      <a:pPr algn="l"/>
                      <a:r>
                        <a:rPr sz="1400" b="0" i="0">
                          <a:solidFill>
                            <a:srgbClr val="F5F1E6"/>
                          </a:solidFill>
                          <a:latin typeface="Aptos"/>
                        </a:rPr>
                        <a:t>Gainesville</a:t>
                      </a:r>
                    </a:p>
                  </a:txBody>
                  <a:tcPr marL="73152" marR="73152" marT="27432" marB="27432" anchor="ctr">
                    <a:solidFill>
                      <a:srgbClr val="0A0F1C"/>
                    </a:solidFill>
                  </a:tcPr>
                </a:tc>
                <a:tc>
                  <a:txBody>
                    <a:bodyPr/>
                    <a:lstStyle/>
                    <a:p>
                      <a:pPr algn="r"/>
                      <a:r>
                        <a:rPr sz="1400" b="0" i="0">
                          <a:solidFill>
                            <a:srgbClr val="F5F1E6"/>
                          </a:solidFill>
                          <a:latin typeface="Aptos"/>
                        </a:rPr>
                        <a:t>+5.0%</a:t>
                      </a:r>
                    </a:p>
                  </a:txBody>
                  <a:tcPr marL="73152" marR="73152" marT="27432" marB="27432" anchor="ctr">
                    <a:solidFill>
                      <a:srgbClr val="0A0F1C"/>
                    </a:solidFill>
                  </a:tcPr>
                </a:tc>
                <a:tc>
                  <a:txBody>
                    <a:bodyPr/>
                    <a:lstStyle/>
                    <a:p>
                      <a:pPr algn="r"/>
                      <a:r>
                        <a:rPr sz="1400" b="0" i="0">
                          <a:solidFill>
                            <a:srgbClr val="F5F1E6"/>
                          </a:solidFill>
                          <a:latin typeface="Aptos"/>
                        </a:rPr>
                        <a:t>+4.8%</a:t>
                      </a:r>
                    </a:p>
                  </a:txBody>
                  <a:tcPr marL="73152" marR="73152" marT="27432" marB="27432" anchor="ctr">
                    <a:solidFill>
                      <a:srgbClr val="0A0F1C"/>
                    </a:solidFill>
                  </a:tcPr>
                </a:tc>
                <a:extLst>
                  <a:ext uri="{0D108BD9-81ED-4DB2-BD59-A6C34878D82A}">
                    <a16:rowId xmlns:a16="http://schemas.microsoft.com/office/drawing/2014/main" val="10003"/>
                  </a:ext>
                </a:extLst>
              </a:tr>
            </a:tbl>
          </a:graphicData>
        </a:graphic>
      </p:graphicFrame>
      <p:pic>
        <p:nvPicPr>
          <p:cNvPr id="8" name="17_trend.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5715000" y="2059686"/>
            <a:ext cx="5925312" cy="3332988"/>
          </a:xfrm>
          <a:prstGeom prst="rect">
            <a:avLst/>
          </a:prstGeom>
        </p:spPr>
      </p:pic>
      <p:sp>
        <p:nvSpPr>
          <p:cNvPr id="9" name="TextBox 8"/>
          <p:cNvSpPr txBox="1"/>
          <p:nvPr/>
        </p:nvSpPr>
        <p:spPr>
          <a:xfrm>
            <a:off x="5715000" y="5447538"/>
            <a:ext cx="5925312"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0" i="0">
                <a:solidFill>
                  <a:srgbClr val="A79F88"/>
                </a:solidFill>
                <a:latin typeface="Aptos"/>
              </a:rPr>
              <a:t>Trend 2012–24 layer: change from 2012–14 to 2022–24 for lit cells; growth along I-75 and around Ocala.</a:t>
            </a:r>
          </a:p>
        </p:txBody>
      </p:sp>
      <p:pic>
        <p:nvPicPr>
          <p:cNvPr id="10" name="Picture 9" descr="ai_days_logo_sticker.png"/>
          <p:cNvPicPr>
            <a:picLocks noChangeAspect="1"/>
          </p:cNvPicPr>
          <p:nvPr/>
        </p:nvPicPr>
        <p:blipFill>
          <a:blip r:embed="rId6"/>
          <a:stretch>
            <a:fillRect/>
          </a:stretch>
        </p:blipFill>
        <p:spPr>
          <a:xfrm>
            <a:off x="10408615" y="201168"/>
            <a:ext cx="1371600" cy="79827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repeatCount="indefinite" fill="remove" display="0">
                  <p:stCondLst>
                    <p:cond delay="indefinite"/>
                  </p:stCondLst>
                </p:cTn>
                <p:tgtEl>
                  <p:spTgt spid="8"/>
                </p:tgtEl>
              </p:cMediaNode>
            </p:video>
            <p:seq concurrent="1" nextAc="seek">
              <p:cTn id="8" restart="whenNotActive" fill="hold" evtFilter="cancelBubble" nodeType="interactiveSeq">
                <p:stCondLst>
                  <p:cond evt="onClick" delay="0">
                    <p:tgtEl>
                      <p:spTgt spid="8"/>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8"/>
                                        </p:tgtEl>
                                      </p:cBhvr>
                                    </p:cmd>
                                  </p:childTnLst>
                                </p:cTn>
                              </p:par>
                            </p:childTnLst>
                          </p:cTn>
                        </p:par>
                      </p:childTnLst>
                    </p:cTn>
                  </p:par>
                </p:childTnLst>
              </p:cTn>
              <p:nextCondLst>
                <p:cond evt="onClick" delay="0">
                  <p:tgtEl>
                    <p:spTgt spid="8"/>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THE AI  ·  5</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It found new development on its own</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Jay Rosen  ·  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18</a:t>
            </a:r>
          </a:p>
        </p:txBody>
      </p:sp>
      <p:sp>
        <p:nvSpPr>
          <p:cNvPr id="6" name="TextBox 5"/>
          <p:cNvSpPr txBox="1"/>
          <p:nvPr/>
        </p:nvSpPr>
        <p:spPr>
          <a:xfrm>
            <a:off x="548640" y="1463040"/>
            <a:ext cx="3870655" cy="475488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800" b="1" i="0">
                <a:solidFill>
                  <a:srgbClr val="F6B44B"/>
                </a:solidFill>
                <a:latin typeface="Aptos"/>
              </a:rPr>
              <a:t>28,986</a:t>
            </a:r>
            <a:r>
              <a:rPr sz="1800" b="0" i="0">
                <a:solidFill>
                  <a:srgbClr val="D9D2BD"/>
                </a:solidFill>
                <a:latin typeface="Aptos"/>
              </a:rPr>
              <a:t> lit cells tested for a sudden step · </a:t>
            </a:r>
            <a:r>
              <a:rPr sz="1800" b="1" i="0">
                <a:solidFill>
                  <a:srgbClr val="F6B44B"/>
                </a:solidFill>
                <a:latin typeface="Aptos"/>
              </a:rPr>
              <a:t>1,493</a:t>
            </a:r>
            <a:r>
              <a:rPr sz="1800" b="0" i="0">
                <a:solidFill>
                  <a:srgbClr val="D9D2BD"/>
                </a:solidFill>
                <a:latin typeface="Aptos"/>
              </a:rPr>
              <a:t> flagged as candidates · ≈ 29 expected by chance</a:t>
            </a:r>
          </a:p>
          <a:p>
            <a:pPr marL="256032" indent="-256032">
              <a:lnSpc>
                <a:spcPct val="100000"/>
              </a:lnSpc>
              <a:spcBef>
                <a:spcPts val="1200"/>
              </a:spcBef>
              <a:spcAft>
                <a:spcPts val="0"/>
              </a:spcAft>
              <a:buClr>
                <a:srgbClr val="F6B44B"/>
              </a:buClr>
              <a:buSzPct val="100000"/>
              <a:buFont typeface="Arial"/>
              <a:buChar char="•"/>
            </a:pPr>
            <a:r>
              <a:rPr sz="1800" b="0" i="0">
                <a:solidFill>
                  <a:srgbClr val="D9D2BD"/>
                </a:solidFill>
                <a:latin typeface="Aptos"/>
              </a:rPr>
              <a:t>#1 event, near I-75 and Archer Road: </a:t>
            </a:r>
            <a:r>
              <a:rPr sz="1800" b="1" i="0">
                <a:solidFill>
                  <a:srgbClr val="F6B44B"/>
                </a:solidFill>
                <a:latin typeface="Aptos"/>
              </a:rPr>
              <a:t>28 → 91 nW</a:t>
            </a:r>
            <a:r>
              <a:rPr sz="1800" b="0" i="0">
                <a:solidFill>
                  <a:srgbClr val="D9D2BD"/>
                </a:solidFill>
                <a:latin typeface="Aptos"/>
              </a:rPr>
              <a:t>, step in 2016 (F = 176.8)</a:t>
            </a:r>
          </a:p>
          <a:p>
            <a:pPr marL="256032" indent="-256032">
              <a:lnSpc>
                <a:spcPct val="100000"/>
              </a:lnSpc>
              <a:spcBef>
                <a:spcPts val="1200"/>
              </a:spcBef>
              <a:spcAft>
                <a:spcPts val="0"/>
              </a:spcAft>
              <a:buClr>
                <a:srgbClr val="F6B44B"/>
              </a:buClr>
              <a:buSzPct val="100000"/>
              <a:buFont typeface="Arial"/>
              <a:buChar char="•"/>
            </a:pPr>
            <a:r>
              <a:rPr sz="1800" b="0" i="0">
                <a:solidFill>
                  <a:srgbClr val="D9D2BD"/>
                </a:solidFill>
                <a:latin typeface="Aptos"/>
              </a:rPr>
              <a:t>That's </a:t>
            </a:r>
            <a:r>
              <a:rPr sz="1800" b="1" i="0">
                <a:solidFill>
                  <a:srgbClr val="F6B44B"/>
                </a:solidFill>
                <a:latin typeface="Aptos"/>
              </a:rPr>
              <a:t>Celebration Pointe</a:t>
            </a:r>
            <a:r>
              <a:rPr sz="1800" b="0" i="0">
                <a:solidFill>
                  <a:srgbClr val="D9D2BD"/>
                </a:solidFill>
                <a:latin typeface="Aptos"/>
              </a:rPr>
              <a:t>: Bass Pro Shops opened there in November 2016</a:t>
            </a:r>
          </a:p>
          <a:p>
            <a:pPr marL="256032" indent="-256032">
              <a:lnSpc>
                <a:spcPct val="100000"/>
              </a:lnSpc>
              <a:spcBef>
                <a:spcPts val="1200"/>
              </a:spcBef>
              <a:spcAft>
                <a:spcPts val="0"/>
              </a:spcAft>
              <a:buClr>
                <a:srgbClr val="F6B44B"/>
              </a:buClr>
              <a:buSzPct val="100000"/>
              <a:buFont typeface="Arial"/>
              <a:buChar char="•"/>
            </a:pPr>
            <a:r>
              <a:rPr sz="1800" b="0" i="0">
                <a:solidFill>
                  <a:srgbClr val="D9D2BD"/>
                </a:solidFill>
                <a:latin typeface="Aptos"/>
              </a:rPr>
              <a:t>#2: dark land west of Ocala lit up in 2021 (0.5 → 53.5 nW)</a:t>
            </a:r>
          </a:p>
          <a:p>
            <a:pPr marL="256032" indent="-256032">
              <a:lnSpc>
                <a:spcPct val="100000"/>
              </a:lnSpc>
              <a:spcBef>
                <a:spcPts val="1200"/>
              </a:spcBef>
              <a:spcAft>
                <a:spcPts val="0"/>
              </a:spcAft>
              <a:buClr>
                <a:srgbClr val="F6B44B"/>
              </a:buClr>
              <a:buSzPct val="100000"/>
              <a:buFont typeface="Arial"/>
              <a:buChar char="•"/>
            </a:pPr>
            <a:r>
              <a:rPr sz="1800" b="0" i="0">
                <a:solidFill>
                  <a:srgbClr val="D9D2BD"/>
                </a:solidFill>
                <a:latin typeface="Aptos"/>
              </a:rPr>
              <a:t>Nobody told the model where to look; it knows light changed, not what was built</a:t>
            </a:r>
          </a:p>
        </p:txBody>
      </p:sp>
      <p:pic>
        <p:nvPicPr>
          <p:cNvPr id="7" name="18_ai_event1.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4922215" y="1508760"/>
            <a:ext cx="6720840" cy="3780472"/>
          </a:xfrm>
          <a:prstGeom prst="rect">
            <a:avLst/>
          </a:prstGeom>
        </p:spPr>
      </p:pic>
      <p:sp>
        <p:nvSpPr>
          <p:cNvPr id="8" name="TextBox 7"/>
          <p:cNvSpPr txBox="1"/>
          <p:nvPr/>
        </p:nvSpPr>
        <p:spPr>
          <a:xfrm>
            <a:off x="4922215" y="5344096"/>
            <a:ext cx="672084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0" i="0">
                <a:solidFill>
                  <a:srgbClr val="A79F88"/>
                </a:solidFill>
                <a:latin typeface="Aptos"/>
              </a:rPr>
              <a:t>AI tab: clicking the top event flies the map to it and shows the cell's 13 years with the fitted step.</a:t>
            </a:r>
          </a:p>
        </p:txBody>
      </p:sp>
      <p:pic>
        <p:nvPicPr>
          <p:cNvPr id="9" name="Picture 8" descr="ai_days_logo_sticker.png"/>
          <p:cNvPicPr>
            <a:picLocks noChangeAspect="1"/>
          </p:cNvPicPr>
          <p:nvPr/>
        </p:nvPicPr>
        <p:blipFill>
          <a:blip r:embed="rId6"/>
          <a:stretch>
            <a:fillRect/>
          </a:stretch>
        </p:blipFill>
        <p:spPr>
          <a:xfrm>
            <a:off x="10408615" y="201168"/>
            <a:ext cx="1371600" cy="79827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repeatCount="indefinite" fill="remove" display="0">
                  <p:stCondLst>
                    <p:cond delay="indefinite"/>
                  </p:stCondLst>
                </p:cTn>
                <p:tgtEl>
                  <p:spTgt spid="7"/>
                </p:tgtEl>
              </p:cMediaNode>
            </p:video>
            <p:seq concurrent="1" nextAc="seek">
              <p:cTn id="8" restart="whenNotActive" fill="hold" evtFilter="cancelBubble" nodeType="interactiveSeq">
                <p:stCondLst>
                  <p:cond evt="onClick" delay="0">
                    <p:tgtEl>
                      <p:spTgt spid="7"/>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7"/>
                                        </p:tgtEl>
                                      </p:cBhvr>
                                    </p:cmd>
                                  </p:childTnLst>
                                </p:cTn>
                              </p:par>
                            </p:childTnLst>
                          </p:cTn>
                        </p:par>
                      </p:childTnLst>
                    </p:cTn>
                  </p:par>
                </p:childTnLst>
              </p:cTn>
              <p:nextCondLst>
                <p:cond evt="onClick" delay="0">
                  <p:tgtEl>
                    <p:spTgt spid="7"/>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THE AI  ·  6</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What the detector can't see</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Jay Rosen  ·  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19</a:t>
            </a:r>
          </a:p>
        </p:txBody>
      </p:sp>
      <p:sp>
        <p:nvSpPr>
          <p:cNvPr id="6" name="TextBox 5"/>
          <p:cNvSpPr txBox="1"/>
          <p:nvPr/>
        </p:nvSpPr>
        <p:spPr>
          <a:xfrm>
            <a:off x="548640" y="1463040"/>
            <a:ext cx="4892040" cy="484632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900" b="0" i="0">
                <a:solidFill>
                  <a:srgbClr val="D9D2BD"/>
                </a:solidFill>
                <a:latin typeface="Aptos"/>
              </a:rPr>
              <a:t>A lit cell's yearly values scatter </a:t>
            </a:r>
            <a:r>
              <a:rPr sz="1900" b="1" i="0">
                <a:solidFill>
                  <a:srgbClr val="F6B44B"/>
                </a:solidFill>
                <a:latin typeface="Aptos"/>
              </a:rPr>
              <a:t>≈ 10%</a:t>
            </a:r>
            <a:r>
              <a:rPr sz="1900" b="0" i="0">
                <a:solidFill>
                  <a:srgbClr val="D9D2BD"/>
                </a:solidFill>
                <a:latin typeface="Aptos"/>
              </a:rPr>
              <a:t> around its trend</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At that noise a +50% step is caught </a:t>
            </a:r>
            <a:r>
              <a:rPr sz="1900" b="1" i="0">
                <a:solidFill>
                  <a:srgbClr val="F6B44B"/>
                </a:solidFill>
                <a:latin typeface="Aptos"/>
              </a:rPr>
              <a:t>10%</a:t>
            </a:r>
            <a:r>
              <a:rPr sz="1900" b="0" i="0">
                <a:solidFill>
                  <a:srgbClr val="D9D2BD"/>
                </a:solidFill>
                <a:latin typeface="Aptos"/>
              </a:rPr>
              <a:t> of the time, a −30% step </a:t>
            </a:r>
            <a:r>
              <a:rPr sz="1900" b="1" i="0">
                <a:solidFill>
                  <a:srgbClr val="F6B44B"/>
                </a:solidFill>
                <a:latin typeface="Aptos"/>
              </a:rPr>
              <a:t>6%</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So it finds large new lighting and </a:t>
            </a:r>
            <a:r>
              <a:rPr sz="1900" b="1" i="0">
                <a:solidFill>
                  <a:srgbClr val="F6B44B"/>
                </a:solidFill>
                <a:latin typeface="Aptos"/>
              </a:rPr>
              <a:t>misses most LED retrofits</a:t>
            </a:r>
            <a:r>
              <a:rPr sz="1900" b="0" i="0">
                <a:solidFill>
                  <a:srgbClr val="D9D2BD"/>
                </a:solidFill>
                <a:latin typeface="Aptos"/>
              </a:rPr>
              <a:t> (20–40% drops)</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VIIRS is nearly blind below 500 nm: it misses most of a white LED's blue</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Next: monthly data and utility work orders</a:t>
            </a:r>
          </a:p>
        </p:txBody>
      </p:sp>
      <p:sp>
        <p:nvSpPr>
          <p:cNvPr id="7" name="TextBox 6"/>
          <p:cNvSpPr txBox="1"/>
          <p:nvPr/>
        </p:nvSpPr>
        <p:spPr>
          <a:xfrm>
            <a:off x="5852160" y="1417320"/>
            <a:ext cx="5760720" cy="32004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400" b="1" i="0">
                <a:solidFill>
                  <a:srgbClr val="D9D2BD"/>
                </a:solidFill>
                <a:latin typeface="Aptos"/>
              </a:rPr>
              <a:t>Chance a step is flagged, at the median noise (9.7%)</a:t>
            </a:r>
          </a:p>
        </p:txBody>
      </p:sp>
      <p:graphicFrame>
        <p:nvGraphicFramePr>
          <p:cNvPr id="8" name="Chart 7"/>
          <p:cNvGraphicFramePr>
            <a:graphicFrameLocks noGrp="1"/>
          </p:cNvGraphicFramePr>
          <p:nvPr/>
        </p:nvGraphicFramePr>
        <p:xfrm>
          <a:off x="5760720" y="1737360"/>
          <a:ext cx="5897880" cy="3931920"/>
        </p:xfrm>
        <a:graphic>
          <a:graphicData uri="http://schemas.openxmlformats.org/drawingml/2006/chart">
            <c:chart xmlns:c="http://schemas.openxmlformats.org/drawingml/2006/chart" xmlns:r="http://schemas.openxmlformats.org/officeDocument/2006/relationships" r:id="rId3"/>
          </a:graphicData>
        </a:graphic>
      </p:graphicFrame>
      <p:sp>
        <p:nvSpPr>
          <p:cNvPr id="9" name="TextBox 8"/>
          <p:cNvSpPr txBox="1"/>
          <p:nvPr/>
        </p:nvSpPr>
        <p:spPr>
          <a:xfrm>
            <a:off x="5852160" y="5760720"/>
            <a:ext cx="5760720" cy="5029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0" i="0">
                <a:solidFill>
                  <a:srgbClr val="A79F88"/>
                </a:solidFill>
                <a:latin typeface="Aptos"/>
              </a:rPr>
              <a:t>From 20,000 simulated series per case with a step in 2019. Large new development (+100% and more) is what it reliably finds.</a:t>
            </a:r>
          </a:p>
        </p:txBody>
      </p:sp>
      <p:pic>
        <p:nvPicPr>
          <p:cNvPr id="10" name="Picture 9" descr="ai_days_logo_sticker.png"/>
          <p:cNvPicPr>
            <a:picLocks noChangeAspect="1"/>
          </p:cNvPicPr>
          <p:nvPr/>
        </p:nvPicPr>
        <p:blipFill>
          <a:blip r:embed="rId4"/>
          <a:stretch>
            <a:fillRect/>
          </a:stretch>
        </p:blipFill>
        <p:spPr>
          <a:xfrm>
            <a:off x="10408615" y="201168"/>
            <a:ext cx="1371600" cy="798271"/>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THE AI  ·  7</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The back-test: did it beat “no change”?</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Jay Rosen  ·  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20</a:t>
            </a:r>
          </a:p>
        </p:txBody>
      </p:sp>
      <p:sp>
        <p:nvSpPr>
          <p:cNvPr id="6" name="TextBox 5"/>
          <p:cNvSpPr txBox="1"/>
          <p:nvPr/>
        </p:nvSpPr>
        <p:spPr>
          <a:xfrm>
            <a:off x="548640" y="1463040"/>
            <a:ext cx="4892040" cy="256032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800" b="0" i="0">
                <a:solidFill>
                  <a:srgbClr val="D9D2BD"/>
                </a:solidFill>
                <a:latin typeface="Aptos"/>
              </a:rPr>
              <a:t>Trained on 2012 → 2018, asked for </a:t>
            </a:r>
            <a:r>
              <a:rPr sz="1800" b="1" i="0">
                <a:solidFill>
                  <a:srgbClr val="F6B44B"/>
                </a:solidFill>
                <a:latin typeface="Aptos"/>
              </a:rPr>
              <a:t>2024</a:t>
            </a:r>
            <a:r>
              <a:rPr sz="1800" b="0" i="0">
                <a:solidFill>
                  <a:srgbClr val="D9D2BD"/>
                </a:solidFill>
                <a:latin typeface="Aptos"/>
              </a:rPr>
              <a:t>: years it never saw</a:t>
            </a:r>
          </a:p>
          <a:p>
            <a:pPr marL="256032" indent="-256032">
              <a:lnSpc>
                <a:spcPct val="100000"/>
              </a:lnSpc>
              <a:spcBef>
                <a:spcPts val="1000"/>
              </a:spcBef>
              <a:spcAft>
                <a:spcPts val="0"/>
              </a:spcAft>
              <a:buClr>
                <a:srgbClr val="F6B44B"/>
              </a:buClr>
              <a:buSzPct val="100000"/>
              <a:buFont typeface="Arial"/>
              <a:buChar char="•"/>
            </a:pPr>
            <a:r>
              <a:rPr sz="1800" b="0" i="0">
                <a:solidFill>
                  <a:srgbClr val="D9D2BD"/>
                </a:solidFill>
                <a:latin typeface="Aptos"/>
              </a:rPr>
              <a:t>Ties “no change” on brightness: lit areas fell </a:t>
            </a:r>
            <a:r>
              <a:rPr sz="1800" b="1" i="0">
                <a:solidFill>
                  <a:srgbClr val="F6B44B"/>
                </a:solidFill>
                <a:latin typeface="Aptos"/>
              </a:rPr>
              <a:t>3.7%</a:t>
            </a:r>
            <a:r>
              <a:rPr sz="1800" b="0" i="0">
                <a:solidFill>
                  <a:srgbClr val="D9D2BD"/>
                </a:solidFill>
                <a:latin typeface="Aptos"/>
              </a:rPr>
              <a:t> (2012–18), then rose </a:t>
            </a:r>
            <a:r>
              <a:rPr sz="1800" b="1" i="0">
                <a:solidFill>
                  <a:srgbClr val="F6B44B"/>
                </a:solidFill>
                <a:latin typeface="Aptos"/>
              </a:rPr>
              <a:t>20.6%</a:t>
            </a:r>
            <a:r>
              <a:rPr sz="1800" b="0" i="0">
                <a:solidFill>
                  <a:srgbClr val="D9D2BD"/>
                </a:solidFill>
                <a:latin typeface="Aptos"/>
              </a:rPr>
              <a:t> (2018–24)</a:t>
            </a:r>
          </a:p>
          <a:p>
            <a:pPr marL="256032" indent="-256032">
              <a:lnSpc>
                <a:spcPct val="100000"/>
              </a:lnSpc>
              <a:spcBef>
                <a:spcPts val="1000"/>
              </a:spcBef>
              <a:spcAft>
                <a:spcPts val="0"/>
              </a:spcAft>
              <a:buClr>
                <a:srgbClr val="F6B44B"/>
              </a:buClr>
              <a:buSzPct val="100000"/>
              <a:buFont typeface="Arial"/>
              <a:buChar char="•"/>
            </a:pPr>
            <a:r>
              <a:rPr sz="1800" b="0" i="0">
                <a:solidFill>
                  <a:srgbClr val="D9D2BD"/>
                </a:solidFill>
                <a:latin typeface="Aptos"/>
              </a:rPr>
              <a:t>It ranks cells modestly well: correlation </a:t>
            </a:r>
            <a:r>
              <a:rPr sz="1800" b="1" i="0">
                <a:solidFill>
                  <a:srgbClr val="F6B44B"/>
                </a:solidFill>
                <a:latin typeface="Aptos"/>
              </a:rPr>
              <a:t>0.35</a:t>
            </a:r>
            <a:r>
              <a:rPr sz="1800" b="0" i="0">
                <a:solidFill>
                  <a:srgbClr val="D9D2BD"/>
                </a:solidFill>
                <a:latin typeface="Aptos"/>
              </a:rPr>
              <a:t>; R² </a:t>
            </a:r>
            <a:r>
              <a:rPr sz="1800" b="1" i="0">
                <a:solidFill>
                  <a:srgbClr val="F6B44B"/>
                </a:solidFill>
                <a:latin typeface="Aptos"/>
              </a:rPr>
              <a:t>0.18</a:t>
            </a:r>
            <a:r>
              <a:rPr sz="1800" b="0" i="0">
                <a:solidFill>
                  <a:srgbClr val="D9D2BD"/>
                </a:solidFill>
                <a:latin typeface="Aptos"/>
              </a:rPr>
              <a:t> on held-out areas</a:t>
            </a:r>
          </a:p>
        </p:txBody>
      </p:sp>
      <p:graphicFrame>
        <p:nvGraphicFramePr>
          <p:cNvPr id="7" name="Table 6"/>
          <p:cNvGraphicFramePr>
            <a:graphicFrameLocks noGrp="1"/>
          </p:cNvGraphicFramePr>
          <p:nvPr/>
        </p:nvGraphicFramePr>
        <p:xfrm>
          <a:off x="548640" y="4206240"/>
          <a:ext cx="4892040" cy="1828800"/>
        </p:xfrm>
        <a:graphic>
          <a:graphicData uri="http://schemas.openxmlformats.org/drawingml/2006/table">
            <a:tbl>
              <a:tblPr>
                <a:tableStyleId>{5940675A-B579-460E-94D1-54222C63F5DA}</a:tableStyleId>
              </a:tblPr>
              <a:tblGrid>
                <a:gridCol w="260604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tblGrid>
              <a:tr h="457200">
                <a:tc>
                  <a:txBody>
                    <a:bodyPr/>
                    <a:lstStyle/>
                    <a:p>
                      <a:pPr algn="l"/>
                      <a:r>
                        <a:rPr sz="1400" b="1" i="0">
                          <a:solidFill>
                            <a:srgbClr val="F6B44B"/>
                          </a:solidFill>
                          <a:latin typeface="Aptos"/>
                        </a:rPr>
                        <a:t>Prediction of 2024</a:t>
                      </a:r>
                    </a:p>
                  </a:txBody>
                  <a:tcPr marL="73152" marR="73152" marT="27432" marB="27432" anchor="ctr">
                    <a:solidFill>
                      <a:srgbClr val="1A2642"/>
                    </a:solidFill>
                  </a:tcPr>
                </a:tc>
                <a:tc>
                  <a:txBody>
                    <a:bodyPr/>
                    <a:lstStyle/>
                    <a:p>
                      <a:pPr algn="r"/>
                      <a:r>
                        <a:rPr sz="1400" b="1" i="0">
                          <a:solidFill>
                            <a:srgbClr val="F6B44B"/>
                          </a:solidFill>
                          <a:latin typeface="Aptos"/>
                        </a:rPr>
                        <a:t>Median error</a:t>
                      </a:r>
                    </a:p>
                  </a:txBody>
                  <a:tcPr marL="73152" marR="73152" marT="27432" marB="27432" anchor="ctr">
                    <a:solidFill>
                      <a:srgbClr val="1A2642"/>
                    </a:solidFill>
                  </a:tcPr>
                </a:tc>
                <a:tc>
                  <a:txBody>
                    <a:bodyPr/>
                    <a:lstStyle/>
                    <a:p>
                      <a:pPr algn="r"/>
                      <a:r>
                        <a:rPr sz="1400" b="1" i="0">
                          <a:solidFill>
                            <a:srgbClr val="F6B44B"/>
                          </a:solidFill>
                          <a:latin typeface="Aptos"/>
                        </a:rPr>
                        <a:t>Log error</a:t>
                      </a:r>
                    </a:p>
                  </a:txBody>
                  <a:tcPr marL="73152" marR="73152" marT="27432" marB="27432" anchor="ctr">
                    <a:solidFill>
                      <a:srgbClr val="1A2642"/>
                    </a:solidFill>
                  </a:tcPr>
                </a:tc>
                <a:extLst>
                  <a:ext uri="{0D108BD9-81ED-4DB2-BD59-A6C34878D82A}">
                    <a16:rowId xmlns:a16="http://schemas.microsoft.com/office/drawing/2014/main" val="10000"/>
                  </a:ext>
                </a:extLst>
              </a:tr>
              <a:tr h="457200">
                <a:tc>
                  <a:txBody>
                    <a:bodyPr/>
                    <a:lstStyle/>
                    <a:p>
                      <a:pPr algn="l"/>
                      <a:r>
                        <a:rPr sz="1400" b="1" i="0">
                          <a:solidFill>
                            <a:srgbClr val="F6B44B"/>
                          </a:solidFill>
                          <a:latin typeface="Aptos"/>
                        </a:rPr>
                        <a:t>LightGBM</a:t>
                      </a:r>
                    </a:p>
                  </a:txBody>
                  <a:tcPr marL="73152" marR="73152" marT="27432" marB="27432" anchor="ctr">
                    <a:solidFill>
                      <a:srgbClr val="0A0F1C"/>
                    </a:solidFill>
                  </a:tcPr>
                </a:tc>
                <a:tc>
                  <a:txBody>
                    <a:bodyPr/>
                    <a:lstStyle/>
                    <a:p>
                      <a:pPr algn="r"/>
                      <a:r>
                        <a:rPr sz="1400" b="1" i="0">
                          <a:solidFill>
                            <a:srgbClr val="F6B44B"/>
                          </a:solidFill>
                          <a:latin typeface="Aptos"/>
                        </a:rPr>
                        <a:t>21.2%</a:t>
                      </a:r>
                    </a:p>
                  </a:txBody>
                  <a:tcPr marL="73152" marR="73152" marT="27432" marB="27432" anchor="ctr">
                    <a:solidFill>
                      <a:srgbClr val="0A0F1C"/>
                    </a:solidFill>
                  </a:tcPr>
                </a:tc>
                <a:tc>
                  <a:txBody>
                    <a:bodyPr/>
                    <a:lstStyle/>
                    <a:p>
                      <a:pPr algn="r"/>
                      <a:r>
                        <a:rPr sz="1400" b="1" i="0">
                          <a:solidFill>
                            <a:srgbClr val="F6B44B"/>
                          </a:solidFill>
                          <a:latin typeface="Aptos"/>
                        </a:rPr>
                        <a:t>0.449</a:t>
                      </a:r>
                    </a:p>
                  </a:txBody>
                  <a:tcPr marL="73152" marR="73152" marT="27432" marB="27432" anchor="ctr">
                    <a:solidFill>
                      <a:srgbClr val="0A0F1C"/>
                    </a:solidFill>
                  </a:tcPr>
                </a:tc>
                <a:extLst>
                  <a:ext uri="{0D108BD9-81ED-4DB2-BD59-A6C34878D82A}">
                    <a16:rowId xmlns:a16="http://schemas.microsoft.com/office/drawing/2014/main" val="10001"/>
                  </a:ext>
                </a:extLst>
              </a:tr>
              <a:tr h="457200">
                <a:tc>
                  <a:txBody>
                    <a:bodyPr/>
                    <a:lstStyle/>
                    <a:p>
                      <a:pPr algn="l"/>
                      <a:r>
                        <a:rPr sz="1400" b="0" i="0">
                          <a:solidFill>
                            <a:srgbClr val="F5F1E6"/>
                          </a:solidFill>
                          <a:latin typeface="Aptos"/>
                        </a:rPr>
                        <a:t>No change (2024 = 2018)</a:t>
                      </a:r>
                    </a:p>
                  </a:txBody>
                  <a:tcPr marL="73152" marR="73152" marT="27432" marB="27432" anchor="ctr">
                    <a:solidFill>
                      <a:srgbClr val="0A0F1C"/>
                    </a:solidFill>
                  </a:tcPr>
                </a:tc>
                <a:tc>
                  <a:txBody>
                    <a:bodyPr/>
                    <a:lstStyle/>
                    <a:p>
                      <a:pPr algn="r"/>
                      <a:r>
                        <a:rPr sz="1400" b="0" i="0">
                          <a:solidFill>
                            <a:srgbClr val="F5F1E6"/>
                          </a:solidFill>
                          <a:latin typeface="Aptos"/>
                        </a:rPr>
                        <a:t>21.2%</a:t>
                      </a:r>
                    </a:p>
                  </a:txBody>
                  <a:tcPr marL="73152" marR="73152" marT="27432" marB="27432" anchor="ctr">
                    <a:solidFill>
                      <a:srgbClr val="0A0F1C"/>
                    </a:solidFill>
                  </a:tcPr>
                </a:tc>
                <a:tc>
                  <a:txBody>
                    <a:bodyPr/>
                    <a:lstStyle/>
                    <a:p>
                      <a:pPr algn="r"/>
                      <a:r>
                        <a:rPr sz="1400" b="0" i="0">
                          <a:solidFill>
                            <a:srgbClr val="F5F1E6"/>
                          </a:solidFill>
                          <a:latin typeface="Aptos"/>
                        </a:rPr>
                        <a:t>0.467</a:t>
                      </a:r>
                    </a:p>
                  </a:txBody>
                  <a:tcPr marL="73152" marR="73152" marT="27432" marB="27432" anchor="ctr">
                    <a:solidFill>
                      <a:srgbClr val="0A0F1C"/>
                    </a:solidFill>
                  </a:tcPr>
                </a:tc>
                <a:extLst>
                  <a:ext uri="{0D108BD9-81ED-4DB2-BD59-A6C34878D82A}">
                    <a16:rowId xmlns:a16="http://schemas.microsoft.com/office/drawing/2014/main" val="10002"/>
                  </a:ext>
                </a:extLst>
              </a:tr>
              <a:tr h="457200">
                <a:tc>
                  <a:txBody>
                    <a:bodyPr/>
                    <a:lstStyle/>
                    <a:p>
                      <a:pPr algn="l"/>
                      <a:r>
                        <a:rPr sz="1400" b="0" i="0">
                          <a:solidFill>
                            <a:srgbClr val="F5F1E6"/>
                          </a:solidFill>
                          <a:latin typeface="Aptos"/>
                        </a:rPr>
                        <a:t>Each cell's own past trend</a:t>
                      </a:r>
                    </a:p>
                  </a:txBody>
                  <a:tcPr marL="73152" marR="73152" marT="27432" marB="27432" anchor="ctr">
                    <a:solidFill>
                      <a:srgbClr val="0A0F1C"/>
                    </a:solidFill>
                  </a:tcPr>
                </a:tc>
                <a:tc>
                  <a:txBody>
                    <a:bodyPr/>
                    <a:lstStyle/>
                    <a:p>
                      <a:pPr algn="r"/>
                      <a:r>
                        <a:rPr sz="1400" b="0" i="0">
                          <a:solidFill>
                            <a:srgbClr val="F5F1E6"/>
                          </a:solidFill>
                          <a:latin typeface="Aptos"/>
                        </a:rPr>
                        <a:t>25.4%</a:t>
                      </a:r>
                    </a:p>
                  </a:txBody>
                  <a:tcPr marL="73152" marR="73152" marT="27432" marB="27432" anchor="ctr">
                    <a:solidFill>
                      <a:srgbClr val="0A0F1C"/>
                    </a:solidFill>
                  </a:tcPr>
                </a:tc>
                <a:tc>
                  <a:txBody>
                    <a:bodyPr/>
                    <a:lstStyle/>
                    <a:p>
                      <a:pPr algn="r"/>
                      <a:r>
                        <a:rPr sz="1400" b="0" i="0">
                          <a:solidFill>
                            <a:srgbClr val="F5F1E6"/>
                          </a:solidFill>
                          <a:latin typeface="Aptos"/>
                        </a:rPr>
                        <a:t>–</a:t>
                      </a:r>
                    </a:p>
                  </a:txBody>
                  <a:tcPr marL="73152" marR="73152" marT="27432" marB="27432" anchor="ctr">
                    <a:solidFill>
                      <a:srgbClr val="0A0F1C"/>
                    </a:solidFill>
                  </a:tcPr>
                </a:tc>
                <a:extLst>
                  <a:ext uri="{0D108BD9-81ED-4DB2-BD59-A6C34878D82A}">
                    <a16:rowId xmlns:a16="http://schemas.microsoft.com/office/drawing/2014/main" val="10003"/>
                  </a:ext>
                </a:extLst>
              </a:tr>
            </a:tbl>
          </a:graphicData>
        </a:graphic>
      </p:graphicFrame>
      <p:sp>
        <p:nvSpPr>
          <p:cNvPr id="8" name="TextBox 7"/>
          <p:cNvSpPr txBox="1"/>
          <p:nvPr/>
        </p:nvSpPr>
        <p:spPr>
          <a:xfrm>
            <a:off x="5852160" y="1417320"/>
            <a:ext cx="5760720" cy="32004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400" b="1" i="0">
                <a:solidFill>
                  <a:srgbClr val="D9D2BD"/>
                </a:solidFill>
                <a:latin typeface="Aptos"/>
              </a:rPr>
              <a:t>Predicted vs observed growth, 2018–24, by tenth of cells</a:t>
            </a:r>
          </a:p>
        </p:txBody>
      </p:sp>
      <p:graphicFrame>
        <p:nvGraphicFramePr>
          <p:cNvPr id="9" name="Chart 8"/>
          <p:cNvGraphicFramePr>
            <a:graphicFrameLocks noGrp="1"/>
          </p:cNvGraphicFramePr>
          <p:nvPr/>
        </p:nvGraphicFramePr>
        <p:xfrm>
          <a:off x="5760720" y="1737360"/>
          <a:ext cx="5897880" cy="4343400"/>
        </p:xfrm>
        <a:graphic>
          <a:graphicData uri="http://schemas.openxmlformats.org/drawingml/2006/chart">
            <c:chart xmlns:c="http://schemas.openxmlformats.org/drawingml/2006/chart" xmlns:r="http://schemas.openxmlformats.org/officeDocument/2006/relationships" r:id="rId3"/>
          </a:graphicData>
        </a:graphic>
      </p:graphicFrame>
      <p:pic>
        <p:nvPicPr>
          <p:cNvPr id="10" name="Picture 9" descr="ai_days_logo_sticker.png"/>
          <p:cNvPicPr>
            <a:picLocks noChangeAspect="1"/>
          </p:cNvPicPr>
          <p:nvPr/>
        </p:nvPicPr>
        <p:blipFill>
          <a:blip r:embed="rId4"/>
          <a:stretch>
            <a:fillRect/>
          </a:stretch>
        </p:blipFill>
        <p:spPr>
          <a:xfrm>
            <a:off x="10408615" y="201168"/>
            <a:ext cx="1371600" cy="798271"/>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THE AI  ·  8</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How the AI is kept honest</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Jay Rosen  ·  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21</a:t>
            </a:r>
          </a:p>
        </p:txBody>
      </p:sp>
      <p:sp>
        <p:nvSpPr>
          <p:cNvPr id="6" name="TextBox 5"/>
          <p:cNvSpPr txBox="1"/>
          <p:nvPr/>
        </p:nvSpPr>
        <p:spPr>
          <a:xfrm>
            <a:off x="548640" y="1463040"/>
            <a:ext cx="5120640" cy="484632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800" b="0" i="0">
                <a:solidFill>
                  <a:srgbClr val="D9D2BD"/>
                </a:solidFill>
                <a:latin typeface="Aptos"/>
              </a:rPr>
              <a:t>Forecast scored only on years it never trained on; a </a:t>
            </a:r>
            <a:r>
              <a:rPr sz="1800" b="1" i="0">
                <a:solidFill>
                  <a:srgbClr val="F6B44B"/>
                </a:solidFill>
                <a:latin typeface="Aptos"/>
              </a:rPr>
              <a:t>unit test fails</a:t>
            </a:r>
            <a:r>
              <a:rPr sz="1800" b="0" i="0">
                <a:solidFill>
                  <a:srgbClr val="D9D2BD"/>
                </a:solidFill>
                <a:latin typeface="Aptos"/>
              </a:rPr>
              <a:t> if they leak into training</a:t>
            </a:r>
          </a:p>
          <a:p>
            <a:pPr marL="256032" indent="-256032">
              <a:lnSpc>
                <a:spcPct val="100000"/>
              </a:lnSpc>
              <a:spcBef>
                <a:spcPts val="1200"/>
              </a:spcBef>
              <a:spcAft>
                <a:spcPts val="0"/>
              </a:spcAft>
              <a:buClr>
                <a:srgbClr val="F6B44B"/>
              </a:buClr>
              <a:buSzPct val="100000"/>
              <a:buFont typeface="Arial"/>
              <a:buChar char="•"/>
            </a:pPr>
            <a:r>
              <a:rPr sz="1800" b="0" i="0">
                <a:solidFill>
                  <a:srgbClr val="D9D2BD"/>
                </a:solidFill>
                <a:latin typeface="Aptos"/>
              </a:rPr>
              <a:t>Detector's false-alarm rate checked on simulated noise; steady trends must not count as steps</a:t>
            </a:r>
          </a:p>
          <a:p>
            <a:pPr marL="256032" indent="-256032">
              <a:lnSpc>
                <a:spcPct val="100000"/>
              </a:lnSpc>
              <a:spcBef>
                <a:spcPts val="1200"/>
              </a:spcBef>
              <a:spcAft>
                <a:spcPts val="0"/>
              </a:spcAft>
              <a:buClr>
                <a:srgbClr val="F6B44B"/>
              </a:buClr>
              <a:buSzPct val="100000"/>
              <a:buFont typeface="Arial"/>
              <a:buChar char="•"/>
            </a:pPr>
            <a:r>
              <a:rPr sz="1800" b="0" i="0">
                <a:solidFill>
                  <a:srgbClr val="D9D2BD"/>
                </a:solidFill>
                <a:latin typeface="Aptos"/>
              </a:rPr>
              <a:t>The web page </a:t>
            </a:r>
            <a:r>
              <a:rPr sz="1800" b="1" i="0">
                <a:solidFill>
                  <a:srgbClr val="F6B44B"/>
                </a:solidFill>
                <a:latin typeface="Aptos"/>
              </a:rPr>
              <a:t>re-runs the step test</a:t>
            </a:r>
            <a:r>
              <a:rPr sz="1800" b="0" i="0">
                <a:solidFill>
                  <a:srgbClr val="D9D2BD"/>
                </a:solidFill>
                <a:latin typeface="Aptos"/>
              </a:rPr>
              <a:t> for any cell you click; it must match the pipeline on every lit cell</a:t>
            </a:r>
          </a:p>
          <a:p>
            <a:pPr marL="256032" indent="-256032">
              <a:lnSpc>
                <a:spcPct val="100000"/>
              </a:lnSpc>
              <a:spcBef>
                <a:spcPts val="1200"/>
              </a:spcBef>
              <a:spcAft>
                <a:spcPts val="0"/>
              </a:spcAft>
              <a:buClr>
                <a:srgbClr val="F6B44B"/>
              </a:buClr>
              <a:buSzPct val="100000"/>
              <a:buFont typeface="Arial"/>
              <a:buChar char="•"/>
            </a:pPr>
            <a:r>
              <a:rPr sz="1800" b="0" i="0">
                <a:solidFill>
                  <a:srgbClr val="D9D2BD"/>
                </a:solidFill>
                <a:latin typeface="Aptos"/>
              </a:rPr>
              <a:t>Sky model vs </a:t>
            </a:r>
            <a:r>
              <a:rPr sz="1800" b="1" i="0">
                <a:solidFill>
                  <a:srgbClr val="F6B44B"/>
                </a:solidFill>
                <a:latin typeface="Aptos"/>
              </a:rPr>
              <a:t>53</a:t>
            </a:r>
            <a:r>
              <a:rPr sz="1800" b="0" i="0">
                <a:solidFill>
                  <a:srgbClr val="D9D2BD"/>
                </a:solidFill>
                <a:latin typeface="Aptos"/>
              </a:rPr>
              <a:t> Globe at Night meter readings never used in any fit: median 0.52 mag</a:t>
            </a:r>
          </a:p>
        </p:txBody>
      </p:sp>
      <p:pic>
        <p:nvPicPr>
          <p:cNvPr id="7" name="Picture 6" descr="crop_honest.jpg"/>
          <p:cNvPicPr>
            <a:picLocks noChangeAspect="1"/>
          </p:cNvPicPr>
          <p:nvPr/>
        </p:nvPicPr>
        <p:blipFill>
          <a:blip r:embed="rId3"/>
          <a:stretch>
            <a:fillRect/>
          </a:stretch>
        </p:blipFill>
        <p:spPr>
          <a:xfrm>
            <a:off x="6035040" y="1508760"/>
            <a:ext cx="5605272" cy="3221257"/>
          </a:xfrm>
          <a:prstGeom prst="roundRect">
            <a:avLst>
              <a:gd name="adj" fmla="val 2000"/>
            </a:avLst>
          </a:prstGeom>
          <a:ln w="9525">
            <a:solidFill>
              <a:srgbClr val="2A3A60"/>
            </a:solidFill>
          </a:ln>
        </p:spPr>
      </p:pic>
      <p:sp>
        <p:nvSpPr>
          <p:cNvPr id="8" name="TextBox 7"/>
          <p:cNvSpPr txBox="1"/>
          <p:nvPr/>
        </p:nvSpPr>
        <p:spPr>
          <a:xfrm>
            <a:off x="6035040" y="4803169"/>
            <a:ext cx="5605272"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0" i="0">
                <a:solidFill>
                  <a:srgbClr val="A79F88"/>
                </a:solidFill>
                <a:latin typeface="Aptos"/>
              </a:rPr>
              <a:t>The same checks, stated in the app's AI tab.</a:t>
            </a:r>
          </a:p>
        </p:txBody>
      </p:sp>
      <p:pic>
        <p:nvPicPr>
          <p:cNvPr id="9" name="Picture 8" descr="ai_days_logo_sticker.png"/>
          <p:cNvPicPr>
            <a:picLocks noChangeAspect="1"/>
          </p:cNvPicPr>
          <p:nvPr/>
        </p:nvPicPr>
        <p:blipFill>
          <a:blip r:embed="rId4"/>
          <a:stretch>
            <a:fillRect/>
          </a:stretch>
        </p:blipFill>
        <p:spPr>
          <a:xfrm>
            <a:off x="10408615" y="201168"/>
            <a:ext cx="1371600" cy="798271"/>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IN USE</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Where could UF build its next observatory?</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Jay Rosen  ·  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22</a:t>
            </a:r>
          </a:p>
        </p:txBody>
      </p:sp>
      <p:sp>
        <p:nvSpPr>
          <p:cNvPr id="6" name="TextBox 5"/>
          <p:cNvSpPr txBox="1"/>
          <p:nvPr/>
        </p:nvSpPr>
        <p:spPr>
          <a:xfrm>
            <a:off x="548640" y="1417320"/>
            <a:ext cx="5074920" cy="493776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600" b="0" i="0">
                <a:solidFill>
                  <a:srgbClr val="D9D2BD"/>
                </a:solidFill>
                <a:latin typeface="Aptos"/>
              </a:rPr>
              <a:t>Requested by </a:t>
            </a:r>
            <a:r>
              <a:rPr sz="1600" b="1" i="0">
                <a:solidFill>
                  <a:srgbClr val="F6B44B"/>
                </a:solidFill>
                <a:latin typeface="Aptos"/>
              </a:rPr>
              <a:t>Dr. Elizabeth Lada</a:t>
            </a:r>
            <a:r>
              <a:rPr sz="1600" b="0" i="0">
                <a:solidFill>
                  <a:srgbClr val="D9D2BD"/>
                </a:solidFill>
                <a:latin typeface="Aptos"/>
              </a:rPr>
              <a:t>, Chair of UF Astronomy</a:t>
            </a:r>
          </a:p>
          <a:p>
            <a:pPr marL="256032" indent="-256032">
              <a:lnSpc>
                <a:spcPct val="100000"/>
              </a:lnSpc>
              <a:spcBef>
                <a:spcPts val="900"/>
              </a:spcBef>
              <a:spcAft>
                <a:spcPts val="0"/>
              </a:spcAft>
              <a:buClr>
                <a:srgbClr val="F6B44B"/>
              </a:buClr>
              <a:buSzPct val="100000"/>
              <a:buFont typeface="Arial"/>
              <a:buChar char="•"/>
            </a:pPr>
            <a:r>
              <a:rPr sz="1600" b="0" i="0">
                <a:solidFill>
                  <a:srgbClr val="D9D2BD"/>
                </a:solidFill>
                <a:latin typeface="Aptos"/>
              </a:rPr>
              <a:t>Every ~1 km cell of 11 counties scored: dark sky today and in </a:t>
            </a:r>
            <a:r>
              <a:rPr sz="1600" b="1" i="0">
                <a:solidFill>
                  <a:srgbClr val="F6B44B"/>
                </a:solidFill>
                <a:latin typeface="Aptos"/>
              </a:rPr>
              <a:t>2034</a:t>
            </a:r>
            <a:r>
              <a:rPr sz="1600" b="0" i="0">
                <a:solidFill>
                  <a:srgbClr val="D9D2BD"/>
                </a:solidFill>
                <a:latin typeface="Aptos"/>
              </a:rPr>
              <a:t> (LightGBM), clear air, land, access, </a:t>
            </a:r>
            <a:r>
              <a:rPr sz="1600" b="1" i="0">
                <a:solidFill>
                  <a:srgbClr val="F6B44B"/>
                </a:solidFill>
                <a:latin typeface="Aptos"/>
              </a:rPr>
              <a:t>drive time from UF</a:t>
            </a:r>
          </a:p>
          <a:p>
            <a:pPr marL="256032" indent="-256032">
              <a:lnSpc>
                <a:spcPct val="100000"/>
              </a:lnSpc>
              <a:spcBef>
                <a:spcPts val="900"/>
              </a:spcBef>
              <a:spcAft>
                <a:spcPts val="0"/>
              </a:spcAft>
              <a:buClr>
                <a:srgbClr val="F6B44B"/>
              </a:buClr>
              <a:buSzPct val="100000"/>
              <a:buFont typeface="Arial"/>
              <a:buChar char="•"/>
            </a:pPr>
            <a:r>
              <a:rPr sz="1600" b="0" i="0">
                <a:solidFill>
                  <a:srgbClr val="D9D2BD"/>
                </a:solidFill>
                <a:latin typeface="Aptos"/>
              </a:rPr>
              <a:t>Ruled out: </a:t>
            </a:r>
            <a:r>
              <a:rPr sz="1600" b="1" i="0">
                <a:solidFill>
                  <a:srgbClr val="F6B44B"/>
                </a:solidFill>
                <a:latin typeface="Aptos"/>
              </a:rPr>
              <a:t>water and wetland</a:t>
            </a:r>
            <a:r>
              <a:rPr sz="1600" b="0" i="0">
                <a:solidFill>
                  <a:srgbClr val="D9D2BD"/>
                </a:solidFill>
                <a:latin typeface="Aptos"/>
              </a:rPr>
              <a:t>, the coast, ground below 5 m (storm surge), </a:t>
            </a:r>
            <a:r>
              <a:rPr sz="1600" b="1" i="0">
                <a:solidFill>
                  <a:srgbClr val="F6B44B"/>
                </a:solidFill>
                <a:latin typeface="Aptos"/>
              </a:rPr>
              <a:t>2080 flood projections</a:t>
            </a:r>
            <a:r>
              <a:rPr sz="1600" b="0" i="0">
                <a:solidFill>
                  <a:srgbClr val="D9D2BD"/>
                </a:solidFill>
                <a:latin typeface="Aptos"/>
              </a:rPr>
              <a:t>, </a:t>
            </a:r>
            <a:r>
              <a:rPr sz="1600" b="1" i="0">
                <a:solidFill>
                  <a:srgbClr val="F6B44B"/>
                </a:solidFill>
                <a:latin typeface="Aptos"/>
              </a:rPr>
              <a:t>FEMA's 100-year floodplain</a:t>
            </a:r>
            <a:r>
              <a:rPr sz="1600" b="0" i="0">
                <a:solidFill>
                  <a:srgbClr val="D9D2BD"/>
                </a:solidFill>
                <a:latin typeface="Aptos"/>
              </a:rPr>
              <a:t>, over ~90 min away</a:t>
            </a:r>
          </a:p>
          <a:p>
            <a:pPr marL="256032" indent="-256032">
              <a:lnSpc>
                <a:spcPct val="100000"/>
              </a:lnSpc>
              <a:spcBef>
                <a:spcPts val="900"/>
              </a:spcBef>
              <a:spcAft>
                <a:spcPts val="0"/>
              </a:spcAft>
              <a:buClr>
                <a:srgbClr val="F6B44B"/>
              </a:buClr>
              <a:buSzPct val="100000"/>
              <a:buFont typeface="Arial"/>
              <a:buChar char="•"/>
            </a:pPr>
            <a:r>
              <a:rPr sz="1600" b="1" i="0">
                <a:solidFill>
                  <a:srgbClr val="F6B44B"/>
                </a:solidFill>
                <a:latin typeface="Aptos"/>
              </a:rPr>
              <a:t>Shortlist: Levy #1–#3</a:t>
            </a:r>
            <a:r>
              <a:rPr sz="1600" b="0" i="0">
                <a:solidFill>
                  <a:srgbClr val="D9D2BD"/>
                </a:solidFill>
                <a:latin typeface="Aptos"/>
              </a:rPr>
              <a:t>, between Chiefland and Bronson: 44–58 min from campus, Bortle 3, land </a:t>
            </a:r>
            <a:r>
              <a:rPr sz="1600" b="1" i="0">
                <a:solidFill>
                  <a:srgbClr val="F6B44B"/>
                </a:solidFill>
                <a:latin typeface="Aptos"/>
              </a:rPr>
              <a:t>$605K–806K</a:t>
            </a:r>
            <a:r>
              <a:rPr sz="1600" b="0" i="0">
                <a:solidFill>
                  <a:srgbClr val="D9D2BD"/>
                </a:solidFill>
                <a:latin typeface="Aptos"/>
              </a:rPr>
              <a:t> for 80 acres</a:t>
            </a:r>
          </a:p>
          <a:p>
            <a:pPr marL="256032" indent="-256032">
              <a:lnSpc>
                <a:spcPct val="100000"/>
              </a:lnSpc>
              <a:spcBef>
                <a:spcPts val="900"/>
              </a:spcBef>
              <a:spcAft>
                <a:spcPts val="0"/>
              </a:spcAft>
              <a:buClr>
                <a:srgbClr val="F6B44B"/>
              </a:buClr>
              <a:buSzPct val="100000"/>
              <a:buFont typeface="Arial"/>
              <a:buChar char="•"/>
            </a:pPr>
            <a:r>
              <a:rPr sz="1600" b="0" i="0">
                <a:solidFill>
                  <a:srgbClr val="D9D2BD"/>
                </a:solidFill>
                <a:latin typeface="Aptos"/>
              </a:rPr>
              <a:t>Telescope + building: $1–3M in published examples → </a:t>
            </a:r>
            <a:r>
              <a:rPr sz="1600" b="1" i="0">
                <a:solidFill>
                  <a:srgbClr val="F6B44B"/>
                </a:solidFill>
                <a:latin typeface="Aptos"/>
              </a:rPr>
              <a:t>≈ $1.6–3.8M</a:t>
            </a:r>
            <a:r>
              <a:rPr sz="1600" b="0" i="0">
                <a:solidFill>
                  <a:srgbClr val="D9D2BD"/>
                </a:solidFill>
                <a:latin typeface="Aptos"/>
              </a:rPr>
              <a:t> total</a:t>
            </a:r>
          </a:p>
        </p:txBody>
      </p:sp>
      <p:pic>
        <p:nvPicPr>
          <p:cNvPr id="7" name="Picture 6" descr="obs_map_markers.png"/>
          <p:cNvPicPr>
            <a:picLocks noChangeAspect="1"/>
          </p:cNvPicPr>
          <p:nvPr/>
        </p:nvPicPr>
        <p:blipFill>
          <a:blip r:embed="rId3"/>
          <a:srcRect r="6000" b="6000"/>
          <a:stretch>
            <a:fillRect/>
          </a:stretch>
        </p:blipFill>
        <p:spPr>
          <a:xfrm>
            <a:off x="5897880" y="1417320"/>
            <a:ext cx="5742432" cy="4610835"/>
          </a:xfrm>
          <a:prstGeom prst="roundRect">
            <a:avLst>
              <a:gd name="adj" fmla="val 1200"/>
            </a:avLst>
          </a:prstGeom>
          <a:ln w="9525">
            <a:solidFill>
              <a:srgbClr val="2A3A60"/>
            </a:solidFill>
          </a:ln>
        </p:spPr>
      </p:pic>
      <p:sp>
        <p:nvSpPr>
          <p:cNvPr id="8" name="TextBox 7"/>
          <p:cNvSpPr txBox="1"/>
          <p:nvPr/>
        </p:nvSpPr>
        <p:spPr>
          <a:xfrm>
            <a:off x="5897880" y="6073875"/>
            <a:ext cx="5742432"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Observatory tab: the top 20 sites by rank (orange = Levy shortlist; markers enlarged). Blank areas are ruled out: water, wetland, flood-prone ground or over 90 minutes away.</a:t>
            </a:r>
          </a:p>
        </p:txBody>
      </p:sp>
      <p:pic>
        <p:nvPicPr>
          <p:cNvPr id="9" name="Picture 8" descr="ai_days_logo_sticker.png"/>
          <p:cNvPicPr>
            <a:picLocks noChangeAspect="1"/>
          </p:cNvPicPr>
          <p:nvPr/>
        </p:nvPicPr>
        <p:blipFill>
          <a:blip r:embed="rId4"/>
          <a:stretch>
            <a:fillRect/>
          </a:stretch>
        </p:blipFill>
        <p:spPr>
          <a:xfrm>
            <a:off x="10408615" y="201168"/>
            <a:ext cx="1371600" cy="798271"/>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IN USE</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From model to policy brief</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Jay Rosen  ·  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23</a:t>
            </a:r>
          </a:p>
        </p:txBody>
      </p:sp>
      <p:sp>
        <p:nvSpPr>
          <p:cNvPr id="6" name="TextBox 5"/>
          <p:cNvSpPr txBox="1"/>
          <p:nvPr/>
        </p:nvSpPr>
        <p:spPr>
          <a:xfrm>
            <a:off x="548640" y="1463040"/>
            <a:ext cx="3687775" cy="475488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900" b="0" i="0">
                <a:solidFill>
                  <a:srgbClr val="D9D2BD"/>
                </a:solidFill>
                <a:latin typeface="Aptos"/>
              </a:rPr>
              <a:t>One-click </a:t>
            </a:r>
            <a:r>
              <a:rPr sz="1900" b="1" i="0">
                <a:solidFill>
                  <a:srgbClr val="F6B44B"/>
                </a:solidFill>
                <a:latin typeface="Aptos"/>
              </a:rPr>
              <a:t>PDF</a:t>
            </a:r>
            <a:r>
              <a:rPr sz="1900" b="0" i="0">
                <a:solidFill>
                  <a:srgbClr val="D9D2BD"/>
                </a:solidFill>
                <a:latin typeface="Aptos"/>
              </a:rPr>
              <a:t> for commissioners; every figure links back to its scenario</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First line: “These outputs are planning projections, not observed outcomes.”</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Defensibility panel lists what's missing: sky-meter stations, utility inventories, satellite calibration</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That list is the </a:t>
            </a:r>
            <a:r>
              <a:rPr sz="1900" b="1" i="0">
                <a:solidFill>
                  <a:srgbClr val="F6B44B"/>
                </a:solidFill>
                <a:latin typeface="Aptos"/>
              </a:rPr>
              <a:t>v3 plan</a:t>
            </a:r>
          </a:p>
        </p:txBody>
      </p:sp>
      <p:pic>
        <p:nvPicPr>
          <p:cNvPr id="7" name="23_brief.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4739335" y="1508760"/>
            <a:ext cx="6903720" cy="3883342"/>
          </a:xfrm>
          <a:prstGeom prst="rect">
            <a:avLst/>
          </a:prstGeom>
        </p:spPr>
      </p:pic>
      <p:sp>
        <p:nvSpPr>
          <p:cNvPr id="8" name="TextBox 7"/>
          <p:cNvSpPr txBox="1"/>
          <p:nvPr/>
        </p:nvSpPr>
        <p:spPr>
          <a:xfrm>
            <a:off x="4739335" y="5446966"/>
            <a:ext cx="690372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0" i="0">
                <a:solidFill>
                  <a:srgbClr val="A79F88"/>
                </a:solidFill>
                <a:latin typeface="Aptos"/>
              </a:rPr>
              <a:t>Brief tab: defensibility panel and the legislative brief.</a:t>
            </a:r>
          </a:p>
        </p:txBody>
      </p:sp>
      <p:pic>
        <p:nvPicPr>
          <p:cNvPr id="9" name="Picture 8" descr="ai_days_logo_sticker.png"/>
          <p:cNvPicPr>
            <a:picLocks noChangeAspect="1"/>
          </p:cNvPicPr>
          <p:nvPr/>
        </p:nvPicPr>
        <p:blipFill>
          <a:blip r:embed="rId6"/>
          <a:stretch>
            <a:fillRect/>
          </a:stretch>
        </p:blipFill>
        <p:spPr>
          <a:xfrm>
            <a:off x="10408615" y="201168"/>
            <a:ext cx="1371600" cy="79827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repeatCount="indefinite" fill="remove" display="0">
                  <p:stCondLst>
                    <p:cond delay="indefinite"/>
                  </p:stCondLst>
                </p:cTn>
                <p:tgtEl>
                  <p:spTgt spid="7"/>
                </p:tgtEl>
              </p:cMediaNode>
            </p:video>
            <p:seq concurrent="1" nextAc="seek">
              <p:cTn id="8" restart="whenNotActive" fill="hold" evtFilter="cancelBubble" nodeType="interactiveSeq">
                <p:stCondLst>
                  <p:cond evt="onClick" delay="0">
                    <p:tgtEl>
                      <p:spTgt spid="7"/>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7"/>
                                        </p:tgtEl>
                                      </p:cBhvr>
                                    </p:cmd>
                                  </p:childTnLst>
                                </p:cTn>
                              </p:par>
                            </p:childTnLst>
                          </p:cTn>
                        </p:par>
                      </p:childTnLst>
                    </p:cTn>
                  </p:par>
                </p:childTnLst>
              </p:cTn>
              <p:nextCondLst>
                <p:cond evt="onClick" delay="0">
                  <p:tgtEl>
                    <p:spTgt spid="7"/>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WHAT'S NEXT</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Scaling up: from projection to evidence</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Jay Rosen  ·  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24</a:t>
            </a:r>
          </a:p>
        </p:txBody>
      </p:sp>
      <p:sp>
        <p:nvSpPr>
          <p:cNvPr id="6" name="TextBox 5"/>
          <p:cNvSpPr txBox="1"/>
          <p:nvPr/>
        </p:nvSpPr>
        <p:spPr>
          <a:xfrm>
            <a:off x="548640" y="1463040"/>
            <a:ext cx="7589520" cy="484632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700" b="1" i="0">
                <a:solidFill>
                  <a:srgbClr val="F6B44B"/>
                </a:solidFill>
                <a:latin typeface="Aptos"/>
              </a:rPr>
              <a:t>Ground truth</a:t>
            </a:r>
            <a:r>
              <a:rPr sz="1700" b="0" i="0">
                <a:solidFill>
                  <a:srgbClr val="D9D2BD"/>
                </a:solidFill>
                <a:latin typeface="Aptos"/>
              </a:rPr>
              <a:t>: sky-quality meters in every county + a 50-node low-cost sensor pilot (~$5,900 hardware)</a:t>
            </a:r>
          </a:p>
          <a:p>
            <a:pPr marL="256032" indent="-256032">
              <a:lnSpc>
                <a:spcPct val="100000"/>
              </a:lnSpc>
              <a:spcBef>
                <a:spcPts val="900"/>
              </a:spcBef>
              <a:spcAft>
                <a:spcPts val="0"/>
              </a:spcAft>
              <a:buClr>
                <a:srgbClr val="F6B44B"/>
              </a:buClr>
              <a:buSzPct val="100000"/>
              <a:buFont typeface="Arial"/>
              <a:buChar char="•"/>
            </a:pPr>
            <a:r>
              <a:rPr sz="1700" b="1" i="0">
                <a:solidFill>
                  <a:srgbClr val="F6B44B"/>
                </a:solidFill>
                <a:latin typeface="Aptos"/>
              </a:rPr>
              <a:t>Real inventories</a:t>
            </a:r>
            <a:r>
              <a:rPr sz="1700" b="0" i="0">
                <a:solidFill>
                  <a:srgbClr val="D9D2BD"/>
                </a:solidFill>
                <a:latin typeface="Aptos"/>
              </a:rPr>
              <a:t>: utility data-sharing agreements (GRU, Duke, Clay, CFEC)</a:t>
            </a:r>
          </a:p>
          <a:p>
            <a:pPr marL="256032" indent="-256032">
              <a:lnSpc>
                <a:spcPct val="100000"/>
              </a:lnSpc>
              <a:spcBef>
                <a:spcPts val="900"/>
              </a:spcBef>
              <a:spcAft>
                <a:spcPts val="0"/>
              </a:spcAft>
              <a:buClr>
                <a:srgbClr val="F6B44B"/>
              </a:buClr>
              <a:buSzPct val="100000"/>
              <a:buFont typeface="Arial"/>
              <a:buChar char="•"/>
            </a:pPr>
            <a:r>
              <a:rPr sz="1700" b="1" i="0">
                <a:solidFill>
                  <a:srgbClr val="F6B44B"/>
                </a:solidFill>
                <a:latin typeface="Aptos"/>
              </a:rPr>
              <a:t>Computer vision</a:t>
            </a:r>
            <a:r>
              <a:rPr sz="1700" b="0" i="0">
                <a:solidFill>
                  <a:srgbClr val="D9D2BD"/>
                </a:solidFill>
                <a:latin typeface="Aptos"/>
              </a:rPr>
              <a:t>: a YOLO detector on street-level imagery to classify fixtures</a:t>
            </a:r>
          </a:p>
          <a:p>
            <a:pPr marL="256032" indent="-256032">
              <a:lnSpc>
                <a:spcPct val="100000"/>
              </a:lnSpc>
              <a:spcBef>
                <a:spcPts val="900"/>
              </a:spcBef>
              <a:spcAft>
                <a:spcPts val="0"/>
              </a:spcAft>
              <a:buClr>
                <a:srgbClr val="F6B44B"/>
              </a:buClr>
              <a:buSzPct val="100000"/>
              <a:buFont typeface="Arial"/>
              <a:buChar char="•"/>
            </a:pPr>
            <a:r>
              <a:rPr sz="1700" b="1" i="0">
                <a:solidFill>
                  <a:srgbClr val="F6B44B"/>
                </a:solidFill>
                <a:latin typeface="Aptos"/>
              </a:rPr>
              <a:t>Retrofit detection</a:t>
            </a:r>
            <a:r>
              <a:rPr sz="1700" b="0" i="0">
                <a:solidFill>
                  <a:srgbClr val="D9D2BD"/>
                </a:solidFill>
                <a:latin typeface="Aptos"/>
              </a:rPr>
              <a:t>: monthly satellite data; fit the LED correction on GRU's 3000 K conversions</a:t>
            </a:r>
          </a:p>
          <a:p>
            <a:pPr marL="256032" indent="-256032">
              <a:lnSpc>
                <a:spcPct val="100000"/>
              </a:lnSpc>
              <a:spcBef>
                <a:spcPts val="900"/>
              </a:spcBef>
              <a:spcAft>
                <a:spcPts val="0"/>
              </a:spcAft>
              <a:buClr>
                <a:srgbClr val="F6B44B"/>
              </a:buClr>
              <a:buSzPct val="100000"/>
              <a:buFont typeface="Arial"/>
              <a:buChar char="•"/>
            </a:pPr>
            <a:r>
              <a:rPr sz="1700" b="1" i="0">
                <a:solidFill>
                  <a:srgbClr val="F6B44B"/>
                </a:solidFill>
                <a:latin typeface="Aptos"/>
              </a:rPr>
              <a:t>Scaling</a:t>
            </a:r>
            <a:r>
              <a:rPr sz="1700" b="0" i="0">
                <a:solidFill>
                  <a:srgbClr val="D9D2BD"/>
                </a:solidFill>
                <a:latin typeface="Aptos"/>
              </a:rPr>
              <a:t>: a reusable county package (satellite data, lighting, development, policy), Levy County next</a:t>
            </a:r>
          </a:p>
          <a:p>
            <a:pPr marL="256032" indent="-256032">
              <a:lnSpc>
                <a:spcPct val="100000"/>
              </a:lnSpc>
              <a:spcBef>
                <a:spcPts val="900"/>
              </a:spcBef>
              <a:spcAft>
                <a:spcPts val="0"/>
              </a:spcAft>
              <a:buClr>
                <a:srgbClr val="F6B44B"/>
              </a:buClr>
              <a:buSzPct val="100000"/>
              <a:buFont typeface="Arial"/>
              <a:buChar char="•"/>
            </a:pPr>
            <a:r>
              <a:rPr sz="1700" b="1" i="0">
                <a:solidFill>
                  <a:srgbClr val="F6B44B"/>
                </a:solidFill>
                <a:latin typeface="Aptos"/>
              </a:rPr>
              <a:t>Siting</a:t>
            </a:r>
            <a:r>
              <a:rPr sz="1700" b="0" i="0">
                <a:solidFill>
                  <a:srgbClr val="D9D2BD"/>
                </a:solidFill>
                <a:latin typeface="Aptos"/>
              </a:rPr>
              <a:t>: parcel-level flood maps and site visits; blind test with UF Astronomy</a:t>
            </a:r>
          </a:p>
          <a:p>
            <a:pPr marL="256032" indent="-256032">
              <a:lnSpc>
                <a:spcPct val="100000"/>
              </a:lnSpc>
              <a:spcBef>
                <a:spcPts val="900"/>
              </a:spcBef>
              <a:spcAft>
                <a:spcPts val="0"/>
              </a:spcAft>
              <a:buClr>
                <a:srgbClr val="F6B44B"/>
              </a:buClr>
              <a:buSzPct val="100000"/>
              <a:buFont typeface="Arial"/>
              <a:buChar char="•"/>
            </a:pPr>
            <a:r>
              <a:rPr sz="1700" b="0" i="0">
                <a:solidFill>
                  <a:srgbClr val="D9D2BD"/>
                </a:solidFill>
                <a:latin typeface="Aptos"/>
              </a:rPr>
              <a:t>Looking for collaborators in sensors, computer vision, remote sensing and policy</a:t>
            </a:r>
          </a:p>
        </p:txBody>
      </p:sp>
      <p:pic>
        <p:nvPicPr>
          <p:cNvPr id="7" name="24_phone.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8950097" y="1463040"/>
            <a:ext cx="2198317" cy="4754880"/>
          </a:xfrm>
          <a:prstGeom prst="rect">
            <a:avLst/>
          </a:prstGeom>
        </p:spPr>
      </p:pic>
      <p:sp>
        <p:nvSpPr>
          <p:cNvPr id="8" name="TextBox 7"/>
          <p:cNvSpPr txBox="1"/>
          <p:nvPr/>
        </p:nvSpPr>
        <p:spPr>
          <a:xfrm>
            <a:off x="8950097" y="6272784"/>
            <a:ext cx="2198317"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The same app on a phone</a:t>
            </a:r>
          </a:p>
        </p:txBody>
      </p:sp>
      <p:pic>
        <p:nvPicPr>
          <p:cNvPr id="9" name="Picture 8" descr="ai_days_logo_sticker.png"/>
          <p:cNvPicPr>
            <a:picLocks noChangeAspect="1"/>
          </p:cNvPicPr>
          <p:nvPr/>
        </p:nvPicPr>
        <p:blipFill>
          <a:blip r:embed="rId6"/>
          <a:stretch>
            <a:fillRect/>
          </a:stretch>
        </p:blipFill>
        <p:spPr>
          <a:xfrm>
            <a:off x="10408615" y="201168"/>
            <a:ext cx="1371600" cy="79827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repeatCount="indefinite" fill="remove" display="0">
                  <p:stCondLst>
                    <p:cond delay="indefinite"/>
                  </p:stCondLst>
                </p:cTn>
                <p:tgtEl>
                  <p:spTgt spid="7"/>
                </p:tgtEl>
              </p:cMediaNode>
            </p:video>
            <p:seq concurrent="1" nextAc="seek">
              <p:cTn id="8" restart="whenNotActive" fill="hold" evtFilter="cancelBubble" nodeType="interactiveSeq">
                <p:stCondLst>
                  <p:cond evt="onClick" delay="0">
                    <p:tgtEl>
                      <p:spTgt spid="7"/>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7"/>
                                        </p:tgtEl>
                                      </p:cBhvr>
                                    </p:cmd>
                                  </p:childTnLst>
                                </p:cTn>
                              </p:par>
                            </p:childTnLst>
                          </p:cTn>
                        </p:par>
                      </p:childTnLst>
                    </p:cTn>
                  </p:par>
                </p:childTnLst>
              </p:cTn>
              <p:nextCondLst>
                <p:cond evt="onClick" delay="0">
                  <p:tgtEl>
                    <p:spTgt spid="7"/>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WHAT'S NEXT</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What UF can do</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Jay Rosen  ·  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25</a:t>
            </a:r>
          </a:p>
        </p:txBody>
      </p:sp>
      <p:sp>
        <p:nvSpPr>
          <p:cNvPr id="6" name="TextBox 5"/>
          <p:cNvSpPr txBox="1"/>
          <p:nvPr/>
        </p:nvSpPr>
        <p:spPr>
          <a:xfrm>
            <a:off x="548640" y="1417320"/>
            <a:ext cx="6172200" cy="493776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800" b="0" i="0">
                <a:solidFill>
                  <a:srgbClr val="D9D2BD"/>
                </a:solidFill>
                <a:latin typeface="Aptos"/>
              </a:rPr>
              <a:t>Alachua County has </a:t>
            </a:r>
            <a:r>
              <a:rPr sz="1800" b="1" i="0">
                <a:solidFill>
                  <a:srgbClr val="F6B44B"/>
                </a:solidFill>
                <a:latin typeface="Aptos"/>
              </a:rPr>
              <a:t>adopted</a:t>
            </a:r>
            <a:r>
              <a:rPr sz="1800" b="0" i="0">
                <a:solidFill>
                  <a:srgbClr val="D9D2BD"/>
                </a:solidFill>
                <a:latin typeface="Aptos"/>
              </a:rPr>
              <a:t> dark-sky principles; </a:t>
            </a:r>
            <a:r>
              <a:rPr sz="1800" b="1" i="0">
                <a:solidFill>
                  <a:srgbClr val="F6B44B"/>
                </a:solidFill>
                <a:latin typeface="Aptos"/>
              </a:rPr>
              <a:t>UF plans its own campus</a:t>
            </a:r>
            <a:r>
              <a:rPr sz="1800" b="0" i="0">
                <a:solidFill>
                  <a:srgbClr val="D9D2BD"/>
                </a:solidFill>
                <a:latin typeface="Aptos"/>
              </a:rPr>
              <a:t>, coordinated with the county, so it can lead</a:t>
            </a:r>
          </a:p>
          <a:p>
            <a:pPr marL="256032" indent="-256032">
              <a:lnSpc>
                <a:spcPct val="100000"/>
              </a:lnSpc>
              <a:spcBef>
                <a:spcPts val="1000"/>
              </a:spcBef>
              <a:spcAft>
                <a:spcPts val="0"/>
              </a:spcAft>
              <a:buClr>
                <a:srgbClr val="F6B44B"/>
              </a:buClr>
              <a:buSzPct val="100000"/>
              <a:buFont typeface="Arial"/>
              <a:buChar char="•"/>
            </a:pPr>
            <a:r>
              <a:rPr sz="1800" b="1" i="0">
                <a:solidFill>
                  <a:srgbClr val="F6B44B"/>
                </a:solidFill>
                <a:latin typeface="Aptos"/>
              </a:rPr>
              <a:t>Lead on campus</a:t>
            </a:r>
            <a:r>
              <a:rPr sz="1800" b="0" i="0">
                <a:solidFill>
                  <a:srgbClr val="D9D2BD"/>
                </a:solidFill>
                <a:latin typeface="Aptos"/>
              </a:rPr>
              <a:t>: upgrading UF's 4,100 pole lights costs about </a:t>
            </a:r>
            <a:r>
              <a:rPr sz="1800" b="1" i="0">
                <a:solidFill>
                  <a:srgbClr val="F6B44B"/>
                </a:solidFill>
                <a:latin typeface="Aptos"/>
              </a:rPr>
              <a:t>$984K</a:t>
            </a:r>
            <a:r>
              <a:rPr sz="1800" b="0" i="0">
                <a:solidFill>
                  <a:srgbClr val="D9D2BD"/>
                </a:solidFill>
                <a:latin typeface="Aptos"/>
              </a:rPr>
              <a:t> and saves about </a:t>
            </a:r>
            <a:r>
              <a:rPr sz="1800" b="1" i="0">
                <a:solidFill>
                  <a:srgbClr val="F6B44B"/>
                </a:solidFill>
                <a:latin typeface="Aptos"/>
              </a:rPr>
              <a:t>$198K</a:t>
            </a:r>
            <a:r>
              <a:rPr sz="1800" b="0" i="0">
                <a:solidFill>
                  <a:srgbClr val="D9D2BD"/>
                </a:solidFill>
                <a:latin typeface="Aptos"/>
              </a:rPr>
              <a:t> a year</a:t>
            </a:r>
          </a:p>
          <a:p>
            <a:pPr marL="256032" indent="-256032">
              <a:lnSpc>
                <a:spcPct val="100000"/>
              </a:lnSpc>
              <a:spcBef>
                <a:spcPts val="1000"/>
              </a:spcBef>
              <a:spcAft>
                <a:spcPts val="0"/>
              </a:spcAft>
              <a:buClr>
                <a:srgbClr val="F6B44B"/>
              </a:buClr>
              <a:buSzPct val="100000"/>
              <a:buFont typeface="Arial"/>
              <a:buChar char="•"/>
            </a:pPr>
            <a:r>
              <a:rPr sz="1800" b="1" i="0">
                <a:solidFill>
                  <a:srgbClr val="F6B44B"/>
                </a:solidFill>
                <a:latin typeface="Aptos"/>
              </a:rPr>
              <a:t>Protect UF's skies</a:t>
            </a:r>
            <a:r>
              <a:rPr sz="1800" b="0" i="0">
                <a:solidFill>
                  <a:srgbClr val="D9D2BD"/>
                </a:solidFill>
                <a:latin typeface="Aptos"/>
              </a:rPr>
              <a:t>: keep Rosemary Hill dark and choose a site for UF Astronomy's next observatory</a:t>
            </a:r>
          </a:p>
          <a:p>
            <a:pPr marL="256032" indent="-256032">
              <a:lnSpc>
                <a:spcPct val="100000"/>
              </a:lnSpc>
              <a:spcBef>
                <a:spcPts val="1000"/>
              </a:spcBef>
              <a:spcAft>
                <a:spcPts val="0"/>
              </a:spcAft>
              <a:buClr>
                <a:srgbClr val="F6B44B"/>
              </a:buClr>
              <a:buSzPct val="100000"/>
              <a:buFont typeface="Arial"/>
              <a:buChar char="•"/>
            </a:pPr>
            <a:r>
              <a:rPr sz="1800" b="1" i="0">
                <a:solidFill>
                  <a:srgbClr val="F6B44B"/>
                </a:solidFill>
                <a:latin typeface="Aptos"/>
              </a:rPr>
              <a:t>Measure the real sky</a:t>
            </a:r>
            <a:r>
              <a:rPr sz="1800" b="0" i="0">
                <a:solidFill>
                  <a:srgbClr val="D9D2BD"/>
                </a:solidFill>
                <a:latin typeface="Aptos"/>
              </a:rPr>
              <a:t>: a 50-sensor network (about </a:t>
            </a:r>
            <a:r>
              <a:rPr sz="1800" b="1" i="0">
                <a:solidFill>
                  <a:srgbClr val="F6B44B"/>
                </a:solidFill>
                <a:latin typeface="Aptos"/>
              </a:rPr>
              <a:t>$6,000</a:t>
            </a:r>
            <a:r>
              <a:rPr sz="1800" b="0" i="0">
                <a:solidFill>
                  <a:srgbClr val="D9D2BD"/>
                </a:solidFill>
                <a:latin typeface="Aptos"/>
              </a:rPr>
              <a:t> in hardware) to check the model against real readings</a:t>
            </a:r>
          </a:p>
          <a:p>
            <a:pPr marL="256032" indent="-256032">
              <a:lnSpc>
                <a:spcPct val="100000"/>
              </a:lnSpc>
              <a:spcBef>
                <a:spcPts val="1000"/>
              </a:spcBef>
              <a:spcAft>
                <a:spcPts val="0"/>
              </a:spcAft>
              <a:buClr>
                <a:srgbClr val="F6B44B"/>
              </a:buClr>
              <a:buSzPct val="100000"/>
              <a:buFont typeface="Arial"/>
              <a:buChar char="•"/>
            </a:pPr>
            <a:r>
              <a:rPr sz="1800" b="0" i="0">
                <a:solidFill>
                  <a:srgbClr val="D9D2BD"/>
                </a:solidFill>
                <a:latin typeface="Aptos"/>
              </a:rPr>
              <a:t>Independent and unfunded so far: I'd like this to become a UF project</a:t>
            </a:r>
          </a:p>
        </p:txBody>
      </p:sp>
      <p:pic>
        <p:nvPicPr>
          <p:cNvPr id="7" name="Picture 6" descr="photo_rho_dome.jpg"/>
          <p:cNvPicPr>
            <a:picLocks noChangeAspect="1"/>
          </p:cNvPicPr>
          <p:nvPr/>
        </p:nvPicPr>
        <p:blipFill>
          <a:blip r:embed="rId3"/>
          <a:srcRect l="13755" r="13755"/>
          <a:stretch>
            <a:fillRect/>
          </a:stretch>
        </p:blipFill>
        <p:spPr>
          <a:xfrm>
            <a:off x="6949440" y="1417320"/>
            <a:ext cx="4690872" cy="4343400"/>
          </a:xfrm>
          <a:prstGeom prst="roundRect">
            <a:avLst>
              <a:gd name="adj" fmla="val 1200"/>
            </a:avLst>
          </a:prstGeom>
          <a:ln w="9525">
            <a:solidFill>
              <a:srgbClr val="2A3A60"/>
            </a:solidFill>
          </a:ln>
        </p:spPr>
      </p:pic>
      <p:sp>
        <p:nvSpPr>
          <p:cNvPr id="8" name="TextBox 7"/>
          <p:cNvSpPr txBox="1"/>
          <p:nvPr/>
        </p:nvSpPr>
        <p:spPr>
          <a:xfrm>
            <a:off x="6949440" y="5806440"/>
            <a:ext cx="4690872"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UF's Rosemary Hill Observatory. Photo: The Gainesville Sun, April 2012.</a:t>
            </a:r>
          </a:p>
        </p:txBody>
      </p:sp>
      <p:pic>
        <p:nvPicPr>
          <p:cNvPr id="9" name="Picture 8" descr="ai_days_logo_sticker.png"/>
          <p:cNvPicPr>
            <a:picLocks noChangeAspect="1"/>
          </p:cNvPicPr>
          <p:nvPr/>
        </p:nvPicPr>
        <p:blipFill>
          <a:blip r:embed="rId4"/>
          <a:stretch>
            <a:fillRect/>
          </a:stretch>
        </p:blipFill>
        <p:spPr>
          <a:xfrm>
            <a:off x="10408615" y="201168"/>
            <a:ext cx="1371600" cy="798271"/>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pic>
        <p:nvPicPr>
          <p:cNvPr id="2" name="26_supercut.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504951" y="1325880"/>
            <a:ext cx="7494016" cy="4215384"/>
          </a:xfrm>
          <a:prstGeom prst="rect">
            <a:avLst/>
          </a:prstGeom>
        </p:spPr>
      </p:pic>
      <p:sp>
        <p:nvSpPr>
          <p:cNvPr id="3" name="TextBox 2"/>
          <p:cNvSpPr txBox="1"/>
          <p:nvPr/>
        </p:nvSpPr>
        <p:spPr>
          <a:xfrm>
            <a:off x="8412480" y="1188720"/>
            <a:ext cx="338328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4000" b="1" i="0">
                <a:solidFill>
                  <a:srgbClr val="F5F1E6"/>
                </a:solidFill>
                <a:latin typeface="Aptos Display"/>
              </a:rPr>
              <a:t>Thank you</a:t>
            </a:r>
          </a:p>
        </p:txBody>
      </p:sp>
      <p:sp>
        <p:nvSpPr>
          <p:cNvPr id="4" name="TextBox 3"/>
          <p:cNvSpPr txBox="1"/>
          <p:nvPr/>
        </p:nvSpPr>
        <p:spPr>
          <a:xfrm>
            <a:off x="8412480" y="1874519"/>
            <a:ext cx="3383280" cy="4572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2400" b="0" i="0">
                <a:solidFill>
                  <a:srgbClr val="F6B44B"/>
                </a:solidFill>
                <a:latin typeface="Aptos Display"/>
              </a:rPr>
              <a:t>Questions?</a:t>
            </a:r>
          </a:p>
        </p:txBody>
      </p:sp>
      <p:pic>
        <p:nvPicPr>
          <p:cNvPr id="5" name="Picture 4" descr="qr_app.png"/>
          <p:cNvPicPr>
            <a:picLocks noChangeAspect="1"/>
          </p:cNvPicPr>
          <p:nvPr/>
        </p:nvPicPr>
        <p:blipFill>
          <a:blip r:embed="rId6"/>
          <a:stretch>
            <a:fillRect/>
          </a:stretch>
        </p:blipFill>
        <p:spPr>
          <a:xfrm>
            <a:off x="8412480" y="2606040"/>
            <a:ext cx="1554480" cy="1554480"/>
          </a:xfrm>
          <a:prstGeom prst="rect">
            <a:avLst/>
          </a:prstGeom>
        </p:spPr>
      </p:pic>
      <p:sp>
        <p:nvSpPr>
          <p:cNvPr id="6" name="TextBox 5"/>
          <p:cNvSpPr txBox="1"/>
          <p:nvPr/>
        </p:nvSpPr>
        <p:spPr>
          <a:xfrm>
            <a:off x="8412480" y="4224528"/>
            <a:ext cx="164592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400" b="1" i="0">
                <a:solidFill>
                  <a:srgbClr val="F5F1E6"/>
                </a:solidFill>
                <a:latin typeface="Aptos"/>
              </a:rPr>
              <a:t>Try it</a:t>
            </a:r>
          </a:p>
        </p:txBody>
      </p:sp>
      <p:sp>
        <p:nvSpPr>
          <p:cNvPr id="7" name="TextBox 6"/>
          <p:cNvSpPr txBox="1"/>
          <p:nvPr/>
        </p:nvSpPr>
        <p:spPr>
          <a:xfrm>
            <a:off x="8412480" y="4498848"/>
            <a:ext cx="1645920" cy="54864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900" b="0" i="0">
                <a:solidFill>
                  <a:srgbClr val="D9D2BD"/>
                </a:solidFill>
                <a:latin typeface="Aptos"/>
              </a:rPr>
              <a:t>dark-sky-simulator-v2.vercel.app/dark-sky</a:t>
            </a:r>
          </a:p>
        </p:txBody>
      </p:sp>
      <p:pic>
        <p:nvPicPr>
          <p:cNvPr id="8" name="Picture 7" descr="qr_gh.png"/>
          <p:cNvPicPr>
            <a:picLocks noChangeAspect="1"/>
          </p:cNvPicPr>
          <p:nvPr/>
        </p:nvPicPr>
        <p:blipFill>
          <a:blip r:embed="rId7"/>
          <a:stretch>
            <a:fillRect/>
          </a:stretch>
        </p:blipFill>
        <p:spPr>
          <a:xfrm>
            <a:off x="10195559" y="2606040"/>
            <a:ext cx="1554480" cy="1554480"/>
          </a:xfrm>
          <a:prstGeom prst="rect">
            <a:avLst/>
          </a:prstGeom>
        </p:spPr>
      </p:pic>
      <p:sp>
        <p:nvSpPr>
          <p:cNvPr id="9" name="TextBox 8"/>
          <p:cNvSpPr txBox="1"/>
          <p:nvPr/>
        </p:nvSpPr>
        <p:spPr>
          <a:xfrm>
            <a:off x="10195559" y="4224528"/>
            <a:ext cx="164592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400" b="1" i="0">
                <a:solidFill>
                  <a:srgbClr val="F5F1E6"/>
                </a:solidFill>
                <a:latin typeface="Aptos"/>
              </a:rPr>
              <a:t>Code</a:t>
            </a:r>
          </a:p>
        </p:txBody>
      </p:sp>
      <p:sp>
        <p:nvSpPr>
          <p:cNvPr id="10" name="TextBox 9"/>
          <p:cNvSpPr txBox="1"/>
          <p:nvPr/>
        </p:nvSpPr>
        <p:spPr>
          <a:xfrm>
            <a:off x="10195559" y="4498848"/>
            <a:ext cx="1645920" cy="54864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900" b="0" i="0">
                <a:solidFill>
                  <a:srgbClr val="D9D2BD"/>
                </a:solidFill>
                <a:latin typeface="Aptos"/>
              </a:rPr>
              <a:t>github.com/jayrosen-design/dark-sky-simulator-v2</a:t>
            </a:r>
          </a:p>
        </p:txBody>
      </p:sp>
      <p:sp>
        <p:nvSpPr>
          <p:cNvPr id="11" name="TextBox 10"/>
          <p:cNvSpPr txBox="1"/>
          <p:nvPr/>
        </p:nvSpPr>
        <p:spPr>
          <a:xfrm>
            <a:off x="8412480" y="5257800"/>
            <a:ext cx="3566160" cy="32004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400" b="1" i="0">
                <a:solidFill>
                  <a:srgbClr val="F5F1E6"/>
                </a:solidFill>
                <a:latin typeface="Aptos"/>
              </a:rPr>
              <a:t>Jay Rosen</a:t>
            </a:r>
            <a:r>
              <a:rPr sz="1400" b="0" i="0">
                <a:solidFill>
                  <a:srgbClr val="F5F1E6"/>
                </a:solidFill>
                <a:latin typeface="Aptos"/>
              </a:rPr>
              <a:t>  ·  jayrosen@ufl.edu</a:t>
            </a:r>
          </a:p>
        </p:txBody>
      </p:sp>
      <p:pic>
        <p:nvPicPr>
          <p:cNvPr id="12" name="Picture 11" descr="ai_days_logo_sticker.png"/>
          <p:cNvPicPr>
            <a:picLocks noChangeAspect="1"/>
          </p:cNvPicPr>
          <p:nvPr/>
        </p:nvPicPr>
        <p:blipFill>
          <a:blip r:embed="rId8"/>
          <a:stretch>
            <a:fillRect/>
          </a:stretch>
        </p:blipFill>
        <p:spPr>
          <a:xfrm>
            <a:off x="10408615" y="201168"/>
            <a:ext cx="1371600" cy="79827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repeatCount="indefinite" fill="remove" display="0">
                  <p:stCondLst>
                    <p:cond delay="indefinite"/>
                  </p:stCondLst>
                </p:cTn>
                <p:tgtEl>
                  <p:spTgt spid="2"/>
                </p:tgtEl>
              </p:cMediaNode>
            </p:video>
            <p:seq concurrent="1" nextAc="seek">
              <p:cTn id="8" restart="whenNotActive" fill="hold" evtFilter="cancelBubble" nodeType="interactiveSeq">
                <p:stCondLst>
                  <p:cond evt="onClick" delay="0">
                    <p:tgtEl>
                      <p:spTgt spid="2"/>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2"/>
                                        </p:tgtEl>
                                      </p:cBhvr>
                                    </p:cmd>
                                  </p:childTnLst>
                                </p:cTn>
                              </p:par>
                            </p:childTnLst>
                          </p:cTn>
                        </p:par>
                      </p:childTnLst>
                    </p:cTn>
                  </p:par>
                </p:childTnLst>
              </p:cTn>
              <p:nextCondLst>
                <p:cond evt="onClick" delay="0">
                  <p:tgtEl>
                    <p:spTgt spid="2"/>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show="0">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SOURCES</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References</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Jay Rosen  ·  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27</a:t>
            </a:r>
          </a:p>
        </p:txBody>
      </p:sp>
      <p:sp>
        <p:nvSpPr>
          <p:cNvPr id="6" name="TextBox 5"/>
          <p:cNvSpPr txBox="1"/>
          <p:nvPr/>
        </p:nvSpPr>
        <p:spPr>
          <a:xfrm>
            <a:off x="548640" y="1325880"/>
            <a:ext cx="5440680" cy="5074920"/>
          </a:xfrm>
          <a:prstGeom prst="rect">
            <a:avLst/>
          </a:prstGeom>
          <a:noFill/>
        </p:spPr>
        <p:txBody>
          <a:bodyPr wrap="square" lIns="0" tIns="0" rIns="0" bIns="0" anchor="t">
            <a:noAutofit/>
          </a:bodyPr>
          <a:lstStyle/>
          <a:p>
            <a:pPr marL="228600" indent="-228600">
              <a:lnSpc>
                <a:spcPct val="93000"/>
              </a:lnSpc>
              <a:spcBef>
                <a:spcPts val="0"/>
              </a:spcBef>
              <a:spcAft>
                <a:spcPts val="0"/>
              </a:spcAft>
              <a:buNone/>
            </a:pPr>
            <a:r>
              <a:rPr sz="900" b="0" i="0">
                <a:solidFill>
                  <a:srgbClr val="D9D2BD"/>
                </a:solidFill>
                <a:latin typeface="Aptos"/>
              </a:rPr>
              <a:t>ABC7 Los Angeles (c. 2011). Domes put in place for CSUSB's observatory.</a:t>
            </a:r>
          </a:p>
          <a:p>
            <a:pPr marL="228600" indent="-228600">
              <a:lnSpc>
                <a:spcPct val="93000"/>
              </a:lnSpc>
              <a:spcBef>
                <a:spcPts val="200"/>
              </a:spcBef>
              <a:spcAft>
                <a:spcPts val="0"/>
              </a:spcAft>
              <a:buNone/>
            </a:pPr>
            <a:r>
              <a:rPr sz="900" b="0" i="0">
                <a:solidFill>
                  <a:srgbClr val="D9D2BD"/>
                </a:solidFill>
                <a:latin typeface="Aptos"/>
              </a:rPr>
              <a:t>Alachua County (2026, February 13). Comprehensive Plan proposed evaluation and appraisal based amendments, Conservation and Open Space Element, Policy 5.3.7.</a:t>
            </a:r>
          </a:p>
          <a:p>
            <a:pPr marL="228600" indent="-228600">
              <a:lnSpc>
                <a:spcPct val="93000"/>
              </a:lnSpc>
              <a:spcBef>
                <a:spcPts val="200"/>
              </a:spcBef>
              <a:spcAft>
                <a:spcPts val="0"/>
              </a:spcAft>
              <a:buNone/>
            </a:pPr>
            <a:r>
              <a:rPr sz="900" b="0" i="0">
                <a:solidFill>
                  <a:srgbClr val="D9D2BD"/>
                </a:solidFill>
                <a:latin typeface="Aptos"/>
              </a:rPr>
              <a:t>Andrews, D. W. K. (1993). Tests for parameter instability and structural change with unknown change point. Econometrica, 61(4), 821–856.</a:t>
            </a:r>
          </a:p>
          <a:p>
            <a:pPr marL="228600" indent="-228600">
              <a:lnSpc>
                <a:spcPct val="93000"/>
              </a:lnSpc>
              <a:spcBef>
                <a:spcPts val="200"/>
              </a:spcBef>
              <a:spcAft>
                <a:spcPts val="0"/>
              </a:spcAft>
              <a:buNone/>
            </a:pPr>
            <a:r>
              <a:rPr sz="900" b="0" i="0">
                <a:solidFill>
                  <a:srgbClr val="D9D2BD"/>
                </a:solidFill>
                <a:latin typeface="Aptos"/>
              </a:rPr>
              <a:t>Bortle, J. E. (2001). Introducing the Bortle dark-sky scale. Sky &amp; Telescope, 101(2), 126–129.</a:t>
            </a:r>
          </a:p>
          <a:p>
            <a:pPr marL="228600" indent="-228600">
              <a:lnSpc>
                <a:spcPct val="93000"/>
              </a:lnSpc>
              <a:spcBef>
                <a:spcPts val="200"/>
              </a:spcBef>
              <a:spcAft>
                <a:spcPts val="0"/>
              </a:spcAft>
              <a:buNone/>
            </a:pPr>
            <a:r>
              <a:rPr sz="900" b="0" i="0">
                <a:solidFill>
                  <a:srgbClr val="D9D2BD"/>
                </a:solidFill>
                <a:latin typeface="Aptos"/>
              </a:rPr>
              <a:t>Cangialosi, J. P., &amp; Alaka, L. (2026). Tropical Cyclone Report: Hurricane Idalia (AL102023), 26–31 August 2023. National Hurricane Center (original report February 13, 2024).</a:t>
            </a:r>
          </a:p>
          <a:p>
            <a:pPr marL="228600" indent="-228600">
              <a:lnSpc>
                <a:spcPct val="93000"/>
              </a:lnSpc>
              <a:spcBef>
                <a:spcPts val="200"/>
              </a:spcBef>
              <a:spcAft>
                <a:spcPts val="0"/>
              </a:spcAft>
              <a:buNone/>
            </a:pPr>
            <a:r>
              <a:rPr sz="900" b="0" i="0">
                <a:solidFill>
                  <a:srgbClr val="D9D2BD"/>
                </a:solidFill>
                <a:latin typeface="Aptos"/>
              </a:rPr>
              <a:t>City of Groveland, Florida (2022). Ordinance 2022-26, outdoor lighting regulations.</a:t>
            </a:r>
          </a:p>
          <a:p>
            <a:pPr marL="228600" indent="-228600">
              <a:lnSpc>
                <a:spcPct val="93000"/>
              </a:lnSpc>
              <a:spcBef>
                <a:spcPts val="200"/>
              </a:spcBef>
              <a:spcAft>
                <a:spcPts val="0"/>
              </a:spcAft>
              <a:buNone/>
            </a:pPr>
            <a:r>
              <a:rPr sz="900" b="0" i="0">
                <a:solidFill>
                  <a:srgbClr val="D9D2BD"/>
                </a:solidFill>
                <a:latin typeface="Aptos"/>
              </a:rPr>
              <a:t>Dark Sky Simulator fixture catalog (2026): installed unit costs from the research reports and a retail price survey of DarkSky-compliant fixture types (September 26, 2026); DarkSky Approved luminaire search, darksky.org.</a:t>
            </a:r>
          </a:p>
          <a:p>
            <a:pPr marL="228600" indent="-228600">
              <a:lnSpc>
                <a:spcPct val="93000"/>
              </a:lnSpc>
              <a:spcBef>
                <a:spcPts val="200"/>
              </a:spcBef>
              <a:spcAft>
                <a:spcPts val="0"/>
              </a:spcAft>
              <a:buNone/>
            </a:pPr>
            <a:r>
              <a:rPr sz="900" b="0" i="0">
                <a:solidFill>
                  <a:srgbClr val="D9D2BD"/>
                </a:solidFill>
                <a:latin typeface="Aptos"/>
              </a:rPr>
              <a:t>Dark Sky Simulator research reports (2025): Gainesville Dark Sky Lighting Assessment; Streetlight Retrofit Cost-Benefit Analysis (Levy); Smart Streetlight Cost-Benefit Analysis; Street Lighting Dimming Savings Calculation (Duke LS-1, Clay Schedule L, CFEC). Unpublished.</a:t>
            </a:r>
          </a:p>
          <a:p>
            <a:pPr marL="228600" indent="-228600">
              <a:lnSpc>
                <a:spcPct val="93000"/>
              </a:lnSpc>
              <a:spcBef>
                <a:spcPts val="200"/>
              </a:spcBef>
              <a:spcAft>
                <a:spcPts val="0"/>
              </a:spcAft>
              <a:buNone/>
            </a:pPr>
            <a:r>
              <a:rPr sz="900" b="0" i="0">
                <a:solidFill>
                  <a:srgbClr val="D9D2BD"/>
                </a:solidFill>
                <a:latin typeface="Aptos"/>
              </a:rPr>
              <a:t>DarkSky International &amp; Illuminating Engineering Society (2020). Five Principles for Responsible Outdoor Lighting. darksky.org.</a:t>
            </a:r>
          </a:p>
          <a:p>
            <a:pPr marL="228600" indent="-228600">
              <a:lnSpc>
                <a:spcPct val="93000"/>
              </a:lnSpc>
              <a:spcBef>
                <a:spcPts val="200"/>
              </a:spcBef>
              <a:spcAft>
                <a:spcPts val="0"/>
              </a:spcAft>
              <a:buNone/>
            </a:pPr>
            <a:r>
              <a:rPr sz="900" b="0" i="0">
                <a:solidFill>
                  <a:srgbClr val="D9D2BD"/>
                </a:solidFill>
                <a:latin typeface="Aptos"/>
              </a:rPr>
              <a:t>DarkSky International. DarkSky Approved program and seal. darksky.org/what-we-do/darksky-approved.</a:t>
            </a:r>
          </a:p>
          <a:p>
            <a:pPr marL="228600" indent="-228600">
              <a:lnSpc>
                <a:spcPct val="93000"/>
              </a:lnSpc>
              <a:spcBef>
                <a:spcPts val="200"/>
              </a:spcBef>
              <a:spcAft>
                <a:spcPts val="0"/>
              </a:spcAft>
              <a:buNone/>
            </a:pPr>
            <a:r>
              <a:rPr sz="900" b="0" i="0">
                <a:solidFill>
                  <a:srgbClr val="D9D2BD"/>
                </a:solidFill>
                <a:latin typeface="Aptos"/>
              </a:rPr>
              <a:t>DarkSky International. International Dark Sky Places program guidelines (Dark Sky Park: sky ≥ 21.2 mag/arcsec²). darksky.org.</a:t>
            </a:r>
          </a:p>
          <a:p>
            <a:pPr marL="228600" indent="-228600">
              <a:lnSpc>
                <a:spcPct val="93000"/>
              </a:lnSpc>
              <a:spcBef>
                <a:spcPts val="200"/>
              </a:spcBef>
              <a:spcAft>
                <a:spcPts val="0"/>
              </a:spcAft>
              <a:buNone/>
            </a:pPr>
            <a:r>
              <a:rPr sz="900" b="0" i="0">
                <a:solidFill>
                  <a:srgbClr val="D9D2BD"/>
                </a:solidFill>
                <a:latin typeface="Aptos"/>
              </a:rPr>
              <a:t>Dewitz, J. (2023). National Land Cover Database (NLCD) 2021 Products. U.S. Geological Survey data release. doi:10.5066/P9JZ7AO3.</a:t>
            </a:r>
          </a:p>
          <a:p>
            <a:pPr marL="228600" indent="-228600">
              <a:lnSpc>
                <a:spcPct val="93000"/>
              </a:lnSpc>
              <a:spcBef>
                <a:spcPts val="200"/>
              </a:spcBef>
              <a:spcAft>
                <a:spcPts val="0"/>
              </a:spcAft>
              <a:buNone/>
            </a:pPr>
            <a:r>
              <a:rPr sz="900" b="0" i="0">
                <a:solidFill>
                  <a:srgbClr val="D9D2BD"/>
                </a:solidFill>
                <a:latin typeface="Aptos"/>
              </a:rPr>
              <a:t>Elvidge, C. D., Zhizhin, M., Ghosh, T., Hsu, F.-C., &amp; Taneja, J. (2021). Annual time series of global VIIRS nighttime lights derived from monthly averages: 2012 to 2019. Remote Sensing, 13(5), 922.</a:t>
            </a:r>
          </a:p>
          <a:p>
            <a:pPr marL="228600" indent="-228600">
              <a:lnSpc>
                <a:spcPct val="93000"/>
              </a:lnSpc>
              <a:spcBef>
                <a:spcPts val="200"/>
              </a:spcBef>
              <a:spcAft>
                <a:spcPts val="0"/>
              </a:spcAft>
              <a:buNone/>
            </a:pPr>
            <a:r>
              <a:rPr sz="900" b="0" i="0">
                <a:solidFill>
                  <a:srgbClr val="D9D2BD"/>
                </a:solidFill>
                <a:latin typeface="Aptos"/>
              </a:rPr>
              <a:t>EMJ Construction (2016, September 1). Two new Florida Bass Pro locations underway. emjcorp.com.</a:t>
            </a:r>
          </a:p>
          <a:p>
            <a:pPr marL="228600" indent="-228600">
              <a:lnSpc>
                <a:spcPct val="93000"/>
              </a:lnSpc>
              <a:spcBef>
                <a:spcPts val="200"/>
              </a:spcBef>
              <a:spcAft>
                <a:spcPts val="0"/>
              </a:spcAft>
              <a:buNone/>
            </a:pPr>
            <a:r>
              <a:rPr sz="900" b="0" i="0">
                <a:solidFill>
                  <a:srgbClr val="D9D2BD"/>
                </a:solidFill>
                <a:latin typeface="Aptos"/>
              </a:rPr>
              <a:t>Falchi, F., Cinzano, P., Duriscoe, D., et al. (2016). The new world atlas of artificial night sky brightness. Science Advances, 2(6), e1600377.</a:t>
            </a:r>
          </a:p>
          <a:p>
            <a:pPr marL="228600" indent="-228600">
              <a:lnSpc>
                <a:spcPct val="93000"/>
              </a:lnSpc>
              <a:spcBef>
                <a:spcPts val="200"/>
              </a:spcBef>
              <a:spcAft>
                <a:spcPts val="0"/>
              </a:spcAft>
              <a:buNone/>
            </a:pPr>
            <a:r>
              <a:rPr sz="900" b="0" i="0">
                <a:solidFill>
                  <a:srgbClr val="D9D2BD"/>
                </a:solidFill>
                <a:latin typeface="Aptos"/>
              </a:rPr>
              <a:t>Federal Emergency Management Agency (2026). National Flood Hazard Layer (NFHL): Special Flood Hazard Areas. hazards.fema.gov, accessed October 20, 2026.</a:t>
            </a:r>
          </a:p>
          <a:p>
            <a:pPr marL="228600" indent="-228600">
              <a:lnSpc>
                <a:spcPct val="93000"/>
              </a:lnSpc>
              <a:spcBef>
                <a:spcPts val="200"/>
              </a:spcBef>
              <a:spcAft>
                <a:spcPts val="0"/>
              </a:spcAft>
              <a:buNone/>
            </a:pPr>
            <a:r>
              <a:rPr sz="900" b="0" i="0">
                <a:solidFill>
                  <a:srgbClr val="D9D2BD"/>
                </a:solidFill>
                <a:latin typeface="Aptos"/>
              </a:rPr>
              <a:t>Florida Department of Revenue (2025). Tax roll and qualified sales (parcels ≥ 5 acres), via the Florida Geographic Information Office statewide parcels.</a:t>
            </a:r>
          </a:p>
          <a:p>
            <a:pPr marL="228600" indent="-228600">
              <a:lnSpc>
                <a:spcPct val="93000"/>
              </a:lnSpc>
              <a:spcBef>
                <a:spcPts val="200"/>
              </a:spcBef>
              <a:spcAft>
                <a:spcPts val="0"/>
              </a:spcAft>
              <a:buNone/>
            </a:pPr>
            <a:r>
              <a:rPr sz="900" b="0" i="0">
                <a:solidFill>
                  <a:srgbClr val="D9D2BD"/>
                </a:solidFill>
                <a:latin typeface="Aptos"/>
              </a:rPr>
              <a:t>Florida Institute of Technology (2004, August 19). Funding secured for Florida Tech telescope. Florida Tech News.</a:t>
            </a:r>
          </a:p>
        </p:txBody>
      </p:sp>
      <p:sp>
        <p:nvSpPr>
          <p:cNvPr id="7" name="TextBox 6"/>
          <p:cNvSpPr txBox="1"/>
          <p:nvPr/>
        </p:nvSpPr>
        <p:spPr>
          <a:xfrm>
            <a:off x="6217920" y="1325880"/>
            <a:ext cx="5440680" cy="5074920"/>
          </a:xfrm>
          <a:prstGeom prst="rect">
            <a:avLst/>
          </a:prstGeom>
          <a:noFill/>
        </p:spPr>
        <p:txBody>
          <a:bodyPr wrap="square" lIns="0" tIns="0" rIns="0" bIns="0" anchor="t">
            <a:noAutofit/>
          </a:bodyPr>
          <a:lstStyle/>
          <a:p>
            <a:pPr marL="228600" indent="-228600">
              <a:lnSpc>
                <a:spcPct val="93000"/>
              </a:lnSpc>
              <a:spcBef>
                <a:spcPts val="0"/>
              </a:spcBef>
              <a:spcAft>
                <a:spcPts val="0"/>
              </a:spcAft>
              <a:buNone/>
            </a:pPr>
            <a:r>
              <a:rPr sz="900" b="0" i="0">
                <a:solidFill>
                  <a:srgbClr val="D9D2BD"/>
                </a:solidFill>
                <a:latin typeface="Aptos"/>
              </a:rPr>
              <a:t>Garstang, R. H. (1986). Model for artificial night-sky illumination. Publications of the Astronomical Society of the Pacific, 98, 364–375.</a:t>
            </a:r>
          </a:p>
          <a:p>
            <a:pPr marL="228600" indent="-228600">
              <a:lnSpc>
                <a:spcPct val="93000"/>
              </a:lnSpc>
              <a:spcBef>
                <a:spcPts val="200"/>
              </a:spcBef>
              <a:spcAft>
                <a:spcPts val="0"/>
              </a:spcAft>
              <a:buNone/>
            </a:pPr>
            <a:r>
              <a:rPr sz="900" b="0" i="0">
                <a:solidFill>
                  <a:srgbClr val="D9D2BD"/>
                </a:solidFill>
                <a:latin typeface="Aptos"/>
              </a:rPr>
              <a:t>Gorelick, N., Hancher, M., Dixon, M., et al. (2017). Google Earth Engine: Planetary-scale geospatial analysis for everyone. Remote Sensing of Environment, 202, 18–27.</a:t>
            </a:r>
          </a:p>
          <a:p>
            <a:pPr marL="228600" indent="-228600">
              <a:lnSpc>
                <a:spcPct val="93000"/>
              </a:lnSpc>
              <a:spcBef>
                <a:spcPts val="200"/>
              </a:spcBef>
              <a:spcAft>
                <a:spcPts val="0"/>
              </a:spcAft>
              <a:buNone/>
            </a:pPr>
            <a:r>
              <a:rPr sz="900" b="0" i="0">
                <a:solidFill>
                  <a:srgbClr val="D9D2BD"/>
                </a:solidFill>
                <a:latin typeface="Aptos"/>
              </a:rPr>
              <a:t>Ke, G., Meng, Q., Finley, T., et al. (2017). LightGBM: A highly efficient gradient boosting decision tree. Advances in Neural Information Processing Systems, 30, 3146–3154.</a:t>
            </a:r>
          </a:p>
          <a:p>
            <a:pPr marL="228600" indent="-228600">
              <a:lnSpc>
                <a:spcPct val="93000"/>
              </a:lnSpc>
              <a:spcBef>
                <a:spcPts val="200"/>
              </a:spcBef>
              <a:spcAft>
                <a:spcPts val="0"/>
              </a:spcAft>
              <a:buNone/>
            </a:pPr>
            <a:r>
              <a:rPr sz="900" b="0" i="0">
                <a:solidFill>
                  <a:srgbClr val="D9D2BD"/>
                </a:solidFill>
                <a:latin typeface="Aptos"/>
              </a:rPr>
              <a:t>Krisciunas, K., &amp; Schaefer, B. E. (1991). A model of the brightness of moonlight. Publications of the Astronomical Society of the Pacific, 103, 1033–1039.</a:t>
            </a:r>
          </a:p>
          <a:p>
            <a:pPr marL="228600" indent="-228600">
              <a:lnSpc>
                <a:spcPct val="93000"/>
              </a:lnSpc>
              <a:spcBef>
                <a:spcPts val="200"/>
              </a:spcBef>
              <a:spcAft>
                <a:spcPts val="0"/>
              </a:spcAft>
              <a:buNone/>
            </a:pPr>
            <a:r>
              <a:rPr sz="900" b="0" i="0">
                <a:solidFill>
                  <a:srgbClr val="D9D2BD"/>
                </a:solidFill>
                <a:latin typeface="Aptos"/>
              </a:rPr>
              <a:t>Kyba, C. C. M., Altıntaş, Y. Ö., Walker, C. E., &amp; Newhouse, M. (2023). Citizen scientists report global rapid reductions in the visibility of stars from 2011 to 2022. Science, 379(6629), 265–268.</a:t>
            </a:r>
          </a:p>
          <a:p>
            <a:pPr marL="228600" indent="-228600">
              <a:lnSpc>
                <a:spcPct val="93000"/>
              </a:lnSpc>
              <a:spcBef>
                <a:spcPts val="200"/>
              </a:spcBef>
              <a:spcAft>
                <a:spcPts val="0"/>
              </a:spcAft>
              <a:buNone/>
            </a:pPr>
            <a:r>
              <a:rPr sz="900" b="0" i="0">
                <a:solidFill>
                  <a:srgbClr val="D9D2BD"/>
                </a:solidFill>
                <a:latin typeface="Aptos"/>
              </a:rPr>
              <a:t>OpenStreetMap contributors (2026). Road, street-lamp and sports-venue data. openstreetmap.org (ODbL).</a:t>
            </a:r>
          </a:p>
          <a:p>
            <a:pPr marL="228600" indent="-228600">
              <a:lnSpc>
                <a:spcPct val="93000"/>
              </a:lnSpc>
              <a:spcBef>
                <a:spcPts val="200"/>
              </a:spcBef>
              <a:spcAft>
                <a:spcPts val="0"/>
              </a:spcAft>
              <a:buNone/>
            </a:pPr>
            <a:r>
              <a:rPr sz="900" b="0" i="0">
                <a:solidFill>
                  <a:srgbClr val="D9D2BD"/>
                </a:solidFill>
                <a:latin typeface="Aptos"/>
              </a:rPr>
              <a:t>Roldán Hernández, C. (2023, January 17). Security enhancements make for a brighter, safer campus. UF News, University of Florida.</a:t>
            </a:r>
          </a:p>
          <a:p>
            <a:pPr marL="228600" indent="-228600">
              <a:lnSpc>
                <a:spcPct val="93000"/>
              </a:lnSpc>
              <a:spcBef>
                <a:spcPts val="200"/>
              </a:spcBef>
              <a:spcAft>
                <a:spcPts val="0"/>
              </a:spcAft>
              <a:buNone/>
            </a:pPr>
            <a:r>
              <a:rPr sz="900" b="0" i="0">
                <a:solidFill>
                  <a:srgbClr val="D9D2BD"/>
                </a:solidFill>
                <a:latin typeface="Aptos"/>
              </a:rPr>
              <a:t>Román, M. O., Wang, Z., Sun, Q., et al. (2018). NASA's Black Marble nighttime lights product suite. Remote Sensing of Environment, 210, 113–143.</a:t>
            </a:r>
          </a:p>
          <a:p>
            <a:pPr marL="228600" indent="-228600">
              <a:lnSpc>
                <a:spcPct val="93000"/>
              </a:lnSpc>
              <a:spcBef>
                <a:spcPts val="200"/>
              </a:spcBef>
              <a:spcAft>
                <a:spcPts val="0"/>
              </a:spcAft>
              <a:buNone/>
            </a:pPr>
            <a:r>
              <a:rPr sz="900" b="0" i="0">
                <a:solidFill>
                  <a:srgbClr val="D9D2BD"/>
                </a:solidFill>
                <a:latin typeface="Aptos"/>
              </a:rPr>
              <a:t>Rosen, J. (2025). Dark Sky Simulator (v1) [software]. Zenodo. doi:10.5281/zenodo.17252185.</a:t>
            </a:r>
          </a:p>
          <a:p>
            <a:pPr marL="228600" indent="-228600">
              <a:lnSpc>
                <a:spcPct val="93000"/>
              </a:lnSpc>
              <a:spcBef>
                <a:spcPts val="200"/>
              </a:spcBef>
              <a:spcAft>
                <a:spcPts val="0"/>
              </a:spcAft>
              <a:buNone/>
            </a:pPr>
            <a:r>
              <a:rPr sz="900" b="0" i="0">
                <a:solidFill>
                  <a:srgbClr val="D9D2BD"/>
                </a:solidFill>
                <a:latin typeface="Aptos"/>
              </a:rPr>
              <a:t>Rosen, J. (2026). Dark Sky Simulator v2 [software], incl. ADR 0013 (the 19% reconstruction). github.com/jayrosen-design/dark-sky-simulator-v2.</a:t>
            </a:r>
          </a:p>
          <a:p>
            <a:pPr marL="228600" indent="-228600">
              <a:lnSpc>
                <a:spcPct val="93000"/>
              </a:lnSpc>
              <a:spcBef>
                <a:spcPts val="200"/>
              </a:spcBef>
              <a:spcAft>
                <a:spcPts val="0"/>
              </a:spcAft>
              <a:buNone/>
            </a:pPr>
            <a:r>
              <a:rPr sz="900" b="0" i="0">
                <a:solidFill>
                  <a:srgbClr val="D9D2BD"/>
                </a:solidFill>
                <a:latin typeface="Aptos"/>
              </a:rPr>
              <a:t>Rosen, J. (2026, January 13). Preserving natural skies in Alachua County: Light pollution mitigation and economic impact. Alachua County Environmental Protection Advisory Committee.</a:t>
            </a:r>
          </a:p>
          <a:p>
            <a:pPr marL="228600" indent="-228600">
              <a:lnSpc>
                <a:spcPct val="93000"/>
              </a:lnSpc>
              <a:spcBef>
                <a:spcPts val="200"/>
              </a:spcBef>
              <a:spcAft>
                <a:spcPts val="0"/>
              </a:spcAft>
              <a:buNone/>
            </a:pPr>
            <a:r>
              <a:rPr sz="900" b="0" i="0">
                <a:solidFill>
                  <a:srgbClr val="D9D2BD"/>
                </a:solidFill>
                <a:latin typeface="Aptos"/>
              </a:rPr>
              <a:t>Smith, J. (2026, March 24). Restoring the Milky Way: Arts alumnus develops app to reduce light pollution. UF College of the Arts.</a:t>
            </a:r>
          </a:p>
          <a:p>
            <a:pPr marL="228600" indent="-228600">
              <a:lnSpc>
                <a:spcPct val="93000"/>
              </a:lnSpc>
              <a:spcBef>
                <a:spcPts val="200"/>
              </a:spcBef>
              <a:spcAft>
                <a:spcPts val="0"/>
              </a:spcAft>
              <a:buNone/>
            </a:pPr>
            <a:r>
              <a:rPr sz="900" b="0" i="0">
                <a:solidFill>
                  <a:srgbClr val="D9D2BD"/>
                </a:solidFill>
                <a:latin typeface="Aptos"/>
              </a:rPr>
              <a:t>Sweet, W. V., et al. (2022). Global and Regional Sea Level Rise Scenarios for the United States. NOAA Technical Report NOS 01. National Oceanic and Atmospheric Administration.</a:t>
            </a:r>
          </a:p>
          <a:p>
            <a:pPr marL="228600" indent="-228600">
              <a:lnSpc>
                <a:spcPct val="93000"/>
              </a:lnSpc>
              <a:spcBef>
                <a:spcPts val="200"/>
              </a:spcBef>
              <a:spcAft>
                <a:spcPts val="0"/>
              </a:spcAft>
              <a:buNone/>
            </a:pPr>
            <a:r>
              <a:rPr sz="900" b="0" i="0">
                <a:solidFill>
                  <a:srgbClr val="D9D2BD"/>
                </a:solidFill>
                <a:latin typeface="Aptos"/>
              </a:rPr>
              <a:t>The Gainesville Sun (2012, April). Photograph of the University of Florida Rosemary Hill Observatory.</a:t>
            </a:r>
          </a:p>
          <a:p>
            <a:pPr marL="228600" indent="-228600">
              <a:lnSpc>
                <a:spcPct val="93000"/>
              </a:lnSpc>
              <a:spcBef>
                <a:spcPts val="200"/>
              </a:spcBef>
              <a:spcAft>
                <a:spcPts val="0"/>
              </a:spcAft>
              <a:buNone/>
            </a:pPr>
            <a:r>
              <a:rPr sz="900" b="0" i="0">
                <a:solidFill>
                  <a:srgbClr val="D9D2BD"/>
                </a:solidFill>
                <a:latin typeface="Aptos"/>
              </a:rPr>
              <a:t>U.S. Census Bureau (2020). TIGER/Line boundaries and roads; 2020 Census housing-unit counts.</a:t>
            </a:r>
          </a:p>
          <a:p>
            <a:pPr marL="228600" indent="-228600">
              <a:lnSpc>
                <a:spcPct val="93000"/>
              </a:lnSpc>
              <a:spcBef>
                <a:spcPts val="200"/>
              </a:spcBef>
              <a:spcAft>
                <a:spcPts val="0"/>
              </a:spcAft>
              <a:buNone/>
            </a:pPr>
            <a:r>
              <a:rPr sz="900" b="0" i="0">
                <a:solidFill>
                  <a:srgbClr val="D9D2BD"/>
                </a:solidFill>
                <a:latin typeface="Aptos"/>
              </a:rPr>
              <a:t>U.S. Energy Information Administration (2023). How much electricity does an American home use? FAQ (2022 average: 10,791 kWh per residential customer). eia.gov.</a:t>
            </a:r>
          </a:p>
          <a:p>
            <a:pPr marL="228600" indent="-228600">
              <a:lnSpc>
                <a:spcPct val="93000"/>
              </a:lnSpc>
              <a:spcBef>
                <a:spcPts val="200"/>
              </a:spcBef>
              <a:spcAft>
                <a:spcPts val="0"/>
              </a:spcAft>
              <a:buNone/>
            </a:pPr>
            <a:r>
              <a:rPr sz="900" b="0" i="0">
                <a:solidFill>
                  <a:srgbClr val="D9D2BD"/>
                </a:solidFill>
                <a:latin typeface="Aptos"/>
              </a:rPr>
              <a:t>Ward, P. J., et al. (2020). Aqueduct Floods Methodology. Technical Note. World Resources Institute. Data: WRI Aqueduct Floods Hazard Maps V2 via Google Earth Engine.</a:t>
            </a:r>
          </a:p>
          <a:p>
            <a:pPr marL="228600" indent="-228600">
              <a:lnSpc>
                <a:spcPct val="93000"/>
              </a:lnSpc>
              <a:spcBef>
                <a:spcPts val="200"/>
              </a:spcBef>
              <a:spcAft>
                <a:spcPts val="0"/>
              </a:spcAft>
              <a:buNone/>
            </a:pPr>
            <a:r>
              <a:rPr sz="900" b="0" i="0">
                <a:solidFill>
                  <a:srgbClr val="D9D2BD"/>
                </a:solidFill>
                <a:latin typeface="Aptos"/>
              </a:rPr>
              <a:t>York University (2019, August 16). Installation of new telescope expected to be largest at a Canadian university. YFile.</a:t>
            </a:r>
          </a:p>
        </p:txBody>
      </p:sp>
      <p:pic>
        <p:nvPicPr>
          <p:cNvPr id="8" name="Picture 7" descr="ai_days_logo_sticker.png"/>
          <p:cNvPicPr>
            <a:picLocks noChangeAspect="1"/>
          </p:cNvPicPr>
          <p:nvPr/>
        </p:nvPicPr>
        <p:blipFill>
          <a:blip r:embed="rId3"/>
          <a:stretch>
            <a:fillRect/>
          </a:stretch>
        </p:blipFill>
        <p:spPr>
          <a:xfrm>
            <a:off x="10408615" y="201168"/>
            <a:ext cx="1371600" cy="798271"/>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BACKUP · AI</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Finding where lighting changed: trend or step?</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Jay Rosen  ·  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28</a:t>
            </a:r>
          </a:p>
        </p:txBody>
      </p:sp>
      <p:sp>
        <p:nvSpPr>
          <p:cNvPr id="6" name="TextBox 5"/>
          <p:cNvSpPr txBox="1"/>
          <p:nvPr/>
        </p:nvSpPr>
        <p:spPr>
          <a:xfrm>
            <a:off x="548640" y="1463040"/>
            <a:ext cx="4709160" cy="484632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800" b="0" i="0">
                <a:solidFill>
                  <a:srgbClr val="D9D2BD"/>
                </a:solidFill>
                <a:latin typeface="Aptos"/>
              </a:rPr>
              <a:t>For every lit cell: is a steady trend enough, or was there a </a:t>
            </a:r>
            <a:r>
              <a:rPr sz="1800" b="1" i="0">
                <a:solidFill>
                  <a:srgbClr val="F6B44B"/>
                </a:solidFill>
                <a:latin typeface="Aptos"/>
              </a:rPr>
              <a:t>sudden step</a:t>
            </a:r>
            <a:r>
              <a:rPr sz="1800" b="0" i="0">
                <a:solidFill>
                  <a:srgbClr val="D9D2BD"/>
                </a:solidFill>
                <a:latin typeface="Aptos"/>
              </a:rPr>
              <a:t>?</a:t>
            </a:r>
          </a:p>
          <a:p>
            <a:pPr marL="256032" indent="-256032">
              <a:lnSpc>
                <a:spcPct val="100000"/>
              </a:lnSpc>
              <a:spcBef>
                <a:spcPts val="1000"/>
              </a:spcBef>
              <a:spcAft>
                <a:spcPts val="0"/>
              </a:spcAft>
              <a:buClr>
                <a:srgbClr val="F6B44B"/>
              </a:buClr>
              <a:buSzPct val="100000"/>
              <a:buFont typeface="Arial"/>
              <a:buChar char="•"/>
            </a:pPr>
            <a:r>
              <a:rPr sz="1800" b="0" i="0">
                <a:solidFill>
                  <a:srgbClr val="D9D2BD"/>
                </a:solidFill>
                <a:latin typeface="Aptos"/>
              </a:rPr>
              <a:t>F-test of line vs line + step, at the best of 8 split years (2015–2022)</a:t>
            </a:r>
          </a:p>
          <a:p>
            <a:pPr marL="256032" indent="-256032">
              <a:lnSpc>
                <a:spcPct val="100000"/>
              </a:lnSpc>
              <a:spcBef>
                <a:spcPts val="1000"/>
              </a:spcBef>
              <a:spcAft>
                <a:spcPts val="0"/>
              </a:spcAft>
              <a:buClr>
                <a:srgbClr val="F6B44B"/>
              </a:buClr>
              <a:buSzPct val="100000"/>
              <a:buFont typeface="Arial"/>
              <a:buChar char="•"/>
            </a:pPr>
            <a:r>
              <a:rPr sz="1800" b="0" i="0">
                <a:solidFill>
                  <a:srgbClr val="D9D2BD"/>
                </a:solidFill>
                <a:latin typeface="Aptos"/>
              </a:rPr>
              <a:t>Cutoff from simulating </a:t>
            </a:r>
            <a:r>
              <a:rPr sz="1800" b="1" i="0">
                <a:solidFill>
                  <a:srgbClr val="F6B44B"/>
                </a:solidFill>
                <a:latin typeface="Aptos"/>
              </a:rPr>
              <a:t>200,000</a:t>
            </a:r>
            <a:r>
              <a:rPr sz="1800" b="0" i="0">
                <a:solidFill>
                  <a:srgbClr val="D9D2BD"/>
                </a:solidFill>
                <a:latin typeface="Aptos"/>
              </a:rPr>
              <a:t> noise-only cells: F ≥ 36.3, a false alarm </a:t>
            </a:r>
            <a:r>
              <a:rPr sz="1800" b="1" i="0">
                <a:solidFill>
                  <a:srgbClr val="F6B44B"/>
                </a:solidFill>
                <a:latin typeface="Aptos"/>
              </a:rPr>
              <a:t>1 in 1,000</a:t>
            </a:r>
          </a:p>
          <a:p>
            <a:pPr marL="256032" indent="-256032">
              <a:lnSpc>
                <a:spcPct val="100000"/>
              </a:lnSpc>
              <a:spcBef>
                <a:spcPts val="1000"/>
              </a:spcBef>
              <a:spcAft>
                <a:spcPts val="0"/>
              </a:spcAft>
              <a:buClr>
                <a:srgbClr val="F6B44B"/>
              </a:buClr>
              <a:buSzPct val="100000"/>
              <a:buFont typeface="Arial"/>
              <a:buChar char="•"/>
            </a:pPr>
            <a:r>
              <a:rPr sz="1800" b="0" i="0">
                <a:solidFill>
                  <a:srgbClr val="D9D2BD"/>
                </a:solidFill>
                <a:latin typeface="Aptos"/>
              </a:rPr>
              <a:t>Region's shared movement removed first; steps must be ≥ 20%</a:t>
            </a:r>
          </a:p>
          <a:p>
            <a:pPr marL="256032" indent="-256032">
              <a:lnSpc>
                <a:spcPct val="100000"/>
              </a:lnSpc>
              <a:spcBef>
                <a:spcPts val="1000"/>
              </a:spcBef>
              <a:spcAft>
                <a:spcPts val="0"/>
              </a:spcAft>
              <a:buClr>
                <a:srgbClr val="F6B44B"/>
              </a:buClr>
              <a:buSzPct val="100000"/>
              <a:buFont typeface="Arial"/>
              <a:buChar char="•"/>
            </a:pPr>
            <a:r>
              <a:rPr sz="1800" b="0" i="0">
                <a:solidFill>
                  <a:srgbClr val="D9D2BD"/>
                </a:solidFill>
                <a:latin typeface="Aptos"/>
              </a:rPr>
              <a:t>Our first detector flagged </a:t>
            </a:r>
            <a:r>
              <a:rPr sz="1800" b="1" i="0">
                <a:solidFill>
                  <a:srgbClr val="F6B44B"/>
                </a:solidFill>
                <a:latin typeface="Aptos"/>
              </a:rPr>
              <a:t>2,000 of 2,000</a:t>
            </a:r>
            <a:r>
              <a:rPr sz="1800" b="0" i="0">
                <a:solidFill>
                  <a:srgbClr val="D9D2BD"/>
                </a:solidFill>
                <a:latin typeface="Aptos"/>
              </a:rPr>
              <a:t> simulated steady trends</a:t>
            </a:r>
          </a:p>
        </p:txBody>
      </p:sp>
      <p:pic>
        <p:nvPicPr>
          <p:cNvPr id="7" name="Picture 6" descr="crop_inspector_chiefland.jpg"/>
          <p:cNvPicPr>
            <a:picLocks noChangeAspect="1"/>
          </p:cNvPicPr>
          <p:nvPr/>
        </p:nvPicPr>
        <p:blipFill>
          <a:blip r:embed="rId3"/>
          <a:stretch>
            <a:fillRect/>
          </a:stretch>
        </p:blipFill>
        <p:spPr>
          <a:xfrm>
            <a:off x="5623560" y="1463040"/>
            <a:ext cx="2926080" cy="1522513"/>
          </a:xfrm>
          <a:prstGeom prst="roundRect">
            <a:avLst>
              <a:gd name="adj" fmla="val 3000"/>
            </a:avLst>
          </a:prstGeom>
          <a:ln w="9525">
            <a:solidFill>
              <a:srgbClr val="2A3A60"/>
            </a:solidFill>
          </a:ln>
        </p:spPr>
      </p:pic>
      <p:sp>
        <p:nvSpPr>
          <p:cNvPr id="8" name="TextBox 7"/>
          <p:cNvSpPr txBox="1"/>
          <p:nvPr/>
        </p:nvSpPr>
        <p:spPr>
          <a:xfrm>
            <a:off x="5623560" y="3031273"/>
            <a:ext cx="292608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1" i="0">
                <a:solidFill>
                  <a:srgbClr val="A79F88"/>
                </a:solidFill>
                <a:latin typeface="Aptos"/>
              </a:rPr>
              <a:t>Steady trend:</a:t>
            </a:r>
            <a:r>
              <a:rPr sz="1100" b="0" i="0">
                <a:solidFill>
                  <a:srgbClr val="A79F88"/>
                </a:solidFill>
                <a:latin typeface="Aptos"/>
              </a:rPr>
              <a:t> not flagged (Chiefland)</a:t>
            </a:r>
          </a:p>
        </p:txBody>
      </p:sp>
      <p:pic>
        <p:nvPicPr>
          <p:cNvPr id="9" name="Picture 8" descr="crop_inspector1.jpg"/>
          <p:cNvPicPr>
            <a:picLocks noChangeAspect="1"/>
          </p:cNvPicPr>
          <p:nvPr/>
        </p:nvPicPr>
        <p:blipFill>
          <a:blip r:embed="rId4"/>
          <a:stretch>
            <a:fillRect/>
          </a:stretch>
        </p:blipFill>
        <p:spPr>
          <a:xfrm>
            <a:off x="8714232" y="1463040"/>
            <a:ext cx="2926080" cy="1522513"/>
          </a:xfrm>
          <a:prstGeom prst="roundRect">
            <a:avLst>
              <a:gd name="adj" fmla="val 3000"/>
            </a:avLst>
          </a:prstGeom>
          <a:ln w="9525">
            <a:solidFill>
              <a:srgbClr val="2A3A60"/>
            </a:solidFill>
          </a:ln>
        </p:spPr>
      </p:pic>
      <p:sp>
        <p:nvSpPr>
          <p:cNvPr id="10" name="TextBox 9"/>
          <p:cNvSpPr txBox="1"/>
          <p:nvPr/>
        </p:nvSpPr>
        <p:spPr>
          <a:xfrm>
            <a:off x="8714232" y="3031273"/>
            <a:ext cx="292608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1" i="0">
                <a:solidFill>
                  <a:srgbClr val="A79F88"/>
                </a:solidFill>
                <a:latin typeface="Aptos"/>
              </a:rPr>
              <a:t>Step:</a:t>
            </a:r>
            <a:r>
              <a:rPr sz="1100" b="0" i="0">
                <a:solidFill>
                  <a:srgbClr val="A79F88"/>
                </a:solidFill>
                <a:latin typeface="Aptos"/>
              </a:rPr>
              <a:t> flagged (I-75 &amp; Archer Rd)</a:t>
            </a:r>
          </a:p>
        </p:txBody>
      </p:sp>
      <p:pic>
        <p:nvPicPr>
          <p:cNvPr id="11" name="Picture 10" descr="fstat_light.png"/>
          <p:cNvPicPr>
            <a:picLocks noChangeAspect="1"/>
          </p:cNvPicPr>
          <p:nvPr/>
        </p:nvPicPr>
        <p:blipFill>
          <a:blip r:embed="rId5"/>
          <a:stretch>
            <a:fillRect/>
          </a:stretch>
        </p:blipFill>
        <p:spPr>
          <a:xfrm>
            <a:off x="5669280" y="3520440"/>
            <a:ext cx="5897879" cy="929956"/>
          </a:xfrm>
          <a:prstGeom prst="rect">
            <a:avLst/>
          </a:prstGeom>
        </p:spPr>
      </p:pic>
      <p:pic>
        <p:nvPicPr>
          <p:cNvPr id="12" name="Picture 11" descr="fcrit_light.png"/>
          <p:cNvPicPr>
            <a:picLocks noChangeAspect="1"/>
          </p:cNvPicPr>
          <p:nvPr/>
        </p:nvPicPr>
        <p:blipFill>
          <a:blip r:embed="rId6"/>
          <a:stretch>
            <a:fillRect/>
          </a:stretch>
        </p:blipFill>
        <p:spPr>
          <a:xfrm>
            <a:off x="5669280" y="4572000"/>
            <a:ext cx="5897880" cy="594905"/>
          </a:xfrm>
          <a:prstGeom prst="rect">
            <a:avLst/>
          </a:prstGeom>
        </p:spPr>
      </p:pic>
      <p:pic>
        <p:nvPicPr>
          <p:cNvPr id="13" name="Picture 12" descr="ai_days_logo_sticker.png"/>
          <p:cNvPicPr>
            <a:picLocks noChangeAspect="1"/>
          </p:cNvPicPr>
          <p:nvPr/>
        </p:nvPicPr>
        <p:blipFill>
          <a:blip r:embed="rId7"/>
          <a:stretch>
            <a:fillRect/>
          </a:stretch>
        </p:blipFill>
        <p:spPr>
          <a:xfrm>
            <a:off x="10408615" y="201168"/>
            <a:ext cx="1371600" cy="798271"/>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BACKUP · AI</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Forecasting growth with LightGBM</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Jay Rosen  ·  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29</a:t>
            </a:r>
          </a:p>
        </p:txBody>
      </p:sp>
      <p:sp>
        <p:nvSpPr>
          <p:cNvPr id="6" name="TextBox 5"/>
          <p:cNvSpPr txBox="1"/>
          <p:nvPr/>
        </p:nvSpPr>
        <p:spPr>
          <a:xfrm>
            <a:off x="548640" y="1463040"/>
            <a:ext cx="4892040" cy="484632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900" b="0" i="0">
                <a:solidFill>
                  <a:srgbClr val="D9D2BD"/>
                </a:solidFill>
                <a:latin typeface="Aptos"/>
              </a:rPr>
              <a:t>Gradient-boosted decision trees on </a:t>
            </a:r>
            <a:r>
              <a:rPr sz="1900" b="1" i="0">
                <a:solidFill>
                  <a:srgbClr val="F6B44B"/>
                </a:solidFill>
                <a:latin typeface="Aptos"/>
              </a:rPr>
              <a:t>~30,000</a:t>
            </a:r>
            <a:r>
              <a:rPr sz="1900" b="0" i="0">
                <a:solidFill>
                  <a:srgbClr val="D9D2BD"/>
                </a:solidFill>
                <a:latin typeface="Aptos"/>
              </a:rPr>
              <a:t> one-km cells</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Learns how fast a cell brightened over 6 years from </a:t>
            </a:r>
            <a:r>
              <a:rPr sz="1900" b="1" i="0">
                <a:solidFill>
                  <a:srgbClr val="F6B44B"/>
                </a:solidFill>
                <a:latin typeface="Aptos"/>
              </a:rPr>
              <a:t>6 open inputs</a:t>
            </a:r>
            <a:r>
              <a:rPr sz="1900" b="0" i="0">
                <a:solidFill>
                  <a:srgbClr val="D9D2BD"/>
                </a:solidFill>
                <a:latin typeface="Aptos"/>
              </a:rPr>
              <a:t> describing it at the start</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Why not deep learning? Small tabular data: trains in </a:t>
            </a:r>
            <a:r>
              <a:rPr sz="1900" b="1" i="0">
                <a:solidFill>
                  <a:srgbClr val="F6B44B"/>
                </a:solidFill>
                <a:latin typeface="Aptos"/>
              </a:rPr>
              <a:t>seconds</a:t>
            </a:r>
            <a:r>
              <a:rPr sz="1900" b="0" i="0">
                <a:solidFill>
                  <a:srgbClr val="D9D2BD"/>
                </a:solidFill>
                <a:latin typeface="Aptos"/>
              </a:rPr>
              <a:t> on a laptop, no GPU, reports what it relies on</a:t>
            </a:r>
          </a:p>
        </p:txBody>
      </p:sp>
      <p:pic>
        <p:nvPicPr>
          <p:cNvPr id="7" name="Picture 6" descr="boost_light.png"/>
          <p:cNvPicPr>
            <a:picLocks noChangeAspect="1"/>
          </p:cNvPicPr>
          <p:nvPr/>
        </p:nvPicPr>
        <p:blipFill>
          <a:blip r:embed="rId3"/>
          <a:stretch>
            <a:fillRect/>
          </a:stretch>
        </p:blipFill>
        <p:spPr>
          <a:xfrm>
            <a:off x="548640" y="4892040"/>
            <a:ext cx="4892040" cy="377087"/>
          </a:xfrm>
          <a:prstGeom prst="rect">
            <a:avLst/>
          </a:prstGeom>
        </p:spPr>
      </p:pic>
      <p:sp>
        <p:nvSpPr>
          <p:cNvPr id="8" name="TextBox 7"/>
          <p:cNvSpPr txBox="1"/>
          <p:nvPr/>
        </p:nvSpPr>
        <p:spPr>
          <a:xfrm>
            <a:off x="548640" y="5715000"/>
            <a:ext cx="4892040" cy="54864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0" i="0">
                <a:solidFill>
                  <a:srgbClr val="A79F88"/>
                </a:solidFill>
                <a:latin typeface="Aptos"/>
              </a:rPr>
              <a:t>300 trees · learning rate 0.05 · ≤ 31 leaves · ≥ 40 cells per leaf</a:t>
            </a:r>
          </a:p>
        </p:txBody>
      </p:sp>
      <p:sp>
        <p:nvSpPr>
          <p:cNvPr id="9" name="TextBox 8"/>
          <p:cNvSpPr txBox="1"/>
          <p:nvPr/>
        </p:nvSpPr>
        <p:spPr>
          <a:xfrm>
            <a:off x="5852160" y="1417320"/>
            <a:ext cx="5760720" cy="32004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400" b="1" i="0">
                <a:solidFill>
                  <a:srgbClr val="D9D2BD"/>
                </a:solidFill>
                <a:latin typeface="Aptos"/>
              </a:rPr>
              <a:t>What the model relies on (share of split gain)</a:t>
            </a:r>
          </a:p>
        </p:txBody>
      </p:sp>
      <p:graphicFrame>
        <p:nvGraphicFramePr>
          <p:cNvPr id="10" name="Chart 9"/>
          <p:cNvGraphicFramePr>
            <a:graphicFrameLocks noGrp="1"/>
          </p:cNvGraphicFramePr>
          <p:nvPr/>
        </p:nvGraphicFramePr>
        <p:xfrm>
          <a:off x="5760720" y="1737360"/>
          <a:ext cx="5897880" cy="4297680"/>
        </p:xfrm>
        <a:graphic>
          <a:graphicData uri="http://schemas.openxmlformats.org/drawingml/2006/chart">
            <c:chart xmlns:c="http://schemas.openxmlformats.org/drawingml/2006/chart" xmlns:r="http://schemas.openxmlformats.org/officeDocument/2006/relationships" r:id="rId4"/>
          </a:graphicData>
        </a:graphic>
      </p:graphicFrame>
      <p:pic>
        <p:nvPicPr>
          <p:cNvPr id="11" name="Picture 10" descr="ai_days_logo_sticker.png"/>
          <p:cNvPicPr>
            <a:picLocks noChangeAspect="1"/>
          </p:cNvPicPr>
          <p:nvPr/>
        </p:nvPicPr>
        <p:blipFill>
          <a:blip r:embed="rId5"/>
          <a:stretch>
            <a:fillRect/>
          </a:stretch>
        </p:blipFill>
        <p:spPr>
          <a:xfrm>
            <a:off x="10408615" y="201168"/>
            <a:ext cx="1371600" cy="798271"/>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BACKUP · MATH</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The step test, exactly</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Jay Rosen  ·  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30</a:t>
            </a:r>
          </a:p>
        </p:txBody>
      </p:sp>
      <p:pic>
        <p:nvPicPr>
          <p:cNvPr id="6" name="Picture 5" descr="models_light.png"/>
          <p:cNvPicPr>
            <a:picLocks noChangeAspect="1"/>
          </p:cNvPicPr>
          <p:nvPr/>
        </p:nvPicPr>
        <p:blipFill>
          <a:blip r:embed="rId3"/>
          <a:stretch>
            <a:fillRect/>
          </a:stretch>
        </p:blipFill>
        <p:spPr>
          <a:xfrm>
            <a:off x="731520" y="1554480"/>
            <a:ext cx="9420324" cy="566928"/>
          </a:xfrm>
          <a:prstGeom prst="rect">
            <a:avLst/>
          </a:prstGeom>
        </p:spPr>
      </p:pic>
      <p:pic>
        <p:nvPicPr>
          <p:cNvPr id="7" name="Picture 6" descr="fstat_light.png"/>
          <p:cNvPicPr>
            <a:picLocks noChangeAspect="1"/>
          </p:cNvPicPr>
          <p:nvPr/>
        </p:nvPicPr>
        <p:blipFill>
          <a:blip r:embed="rId4"/>
          <a:stretch>
            <a:fillRect/>
          </a:stretch>
        </p:blipFill>
        <p:spPr>
          <a:xfrm>
            <a:off x="731520" y="2514600"/>
            <a:ext cx="5799221" cy="914400"/>
          </a:xfrm>
          <a:prstGeom prst="rect">
            <a:avLst/>
          </a:prstGeom>
        </p:spPr>
      </p:pic>
      <p:pic>
        <p:nvPicPr>
          <p:cNvPr id="8" name="Picture 7" descr="fcrit_light.png"/>
          <p:cNvPicPr>
            <a:picLocks noChangeAspect="1"/>
          </p:cNvPicPr>
          <p:nvPr/>
        </p:nvPicPr>
        <p:blipFill>
          <a:blip r:embed="rId5"/>
          <a:stretch>
            <a:fillRect/>
          </a:stretch>
        </p:blipFill>
        <p:spPr>
          <a:xfrm>
            <a:off x="731520" y="3840480"/>
            <a:ext cx="6799006" cy="685800"/>
          </a:xfrm>
          <a:prstGeom prst="rect">
            <a:avLst/>
          </a:prstGeom>
        </p:spPr>
      </p:pic>
      <p:sp>
        <p:nvSpPr>
          <p:cNvPr id="9" name="TextBox 8"/>
          <p:cNvSpPr txBox="1"/>
          <p:nvPr/>
        </p:nvSpPr>
        <p:spPr>
          <a:xfrm>
            <a:off x="731520" y="4800600"/>
            <a:ext cx="10789920" cy="155448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600" b="0" i="0">
                <a:solidFill>
                  <a:srgbClr val="D9D2BD"/>
                </a:solidFill>
                <a:latin typeface="Aptos"/>
              </a:rPr>
              <a:t>z = ln radiance minus the region's shared movement; n = 13 years; flagged if F* ≥ 36.3 and |step| ≥ 20%</a:t>
            </a:r>
          </a:p>
          <a:p>
            <a:pPr marL="256032" indent="-256032">
              <a:lnSpc>
                <a:spcPct val="100000"/>
              </a:lnSpc>
              <a:spcBef>
                <a:spcPts val="600"/>
              </a:spcBef>
              <a:spcAft>
                <a:spcPts val="0"/>
              </a:spcAft>
              <a:buClr>
                <a:srgbClr val="F6B44B"/>
              </a:buClr>
              <a:buSzPct val="100000"/>
              <a:buFont typeface="Arial"/>
              <a:buChar char="•"/>
            </a:pPr>
            <a:r>
              <a:rPr sz="1600" b="0" i="0">
                <a:solidFill>
                  <a:srgbClr val="D9D2BD"/>
                </a:solidFill>
                <a:latin typeface="Aptos"/>
              </a:rPr>
              <a:t>F* is unchanged by shifting, tilting or rescaling a series, so one simulation of pure noise serves every cell</a:t>
            </a:r>
          </a:p>
          <a:p>
            <a:pPr marL="256032" indent="-256032">
              <a:lnSpc>
                <a:spcPct val="100000"/>
              </a:lnSpc>
              <a:spcBef>
                <a:spcPts val="600"/>
              </a:spcBef>
              <a:spcAft>
                <a:spcPts val="0"/>
              </a:spcAft>
              <a:buClr>
                <a:srgbClr val="F6B44B"/>
              </a:buClr>
              <a:buSzPct val="100000"/>
              <a:buFont typeface="Arial"/>
              <a:buChar char="•"/>
            </a:pPr>
            <a:r>
              <a:rPr sz="1600" b="0" i="0">
                <a:solidFill>
                  <a:srgbClr val="D9D2BD"/>
                </a:solidFill>
                <a:latin typeface="Aptos"/>
              </a:rPr>
              <a:t>Expected chance flags: 0.001 × 28,986 ≈ 29; observed 1,493 (491 rising events, 144 falling)</a:t>
            </a:r>
          </a:p>
        </p:txBody>
      </p:sp>
      <p:pic>
        <p:nvPicPr>
          <p:cNvPr id="10" name="Picture 9" descr="ai_days_logo_sticker.png"/>
          <p:cNvPicPr>
            <a:picLocks noChangeAspect="1"/>
          </p:cNvPicPr>
          <p:nvPr/>
        </p:nvPicPr>
        <p:blipFill>
          <a:blip r:embed="rId6"/>
          <a:stretch>
            <a:fillRect/>
          </a:stretch>
        </p:blipFill>
        <p:spPr>
          <a:xfrm>
            <a:off x="10408615" y="201168"/>
            <a:ext cx="1371600" cy="798271"/>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BACKUP · MATH</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LightGBM: fit, back-test and forecast</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Jay Rosen  ·  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31</a:t>
            </a:r>
          </a:p>
        </p:txBody>
      </p:sp>
      <p:pic>
        <p:nvPicPr>
          <p:cNvPr id="6" name="Picture 5" descr="boost_light.png"/>
          <p:cNvPicPr>
            <a:picLocks noChangeAspect="1"/>
          </p:cNvPicPr>
          <p:nvPr/>
        </p:nvPicPr>
        <p:blipFill>
          <a:blip r:embed="rId3"/>
          <a:stretch>
            <a:fillRect/>
          </a:stretch>
        </p:blipFill>
        <p:spPr>
          <a:xfrm>
            <a:off x="731520" y="1508760"/>
            <a:ext cx="7354878" cy="566928"/>
          </a:xfrm>
          <a:prstGeom prst="rect">
            <a:avLst/>
          </a:prstGeom>
        </p:spPr>
      </p:pic>
      <p:pic>
        <p:nvPicPr>
          <p:cNvPr id="7" name="Picture 6" descr="backtest_light.png"/>
          <p:cNvPicPr>
            <a:picLocks noChangeAspect="1"/>
          </p:cNvPicPr>
          <p:nvPr/>
        </p:nvPicPr>
        <p:blipFill>
          <a:blip r:embed="rId4"/>
          <a:stretch>
            <a:fillRect/>
          </a:stretch>
        </p:blipFill>
        <p:spPr>
          <a:xfrm>
            <a:off x="731520" y="2331720"/>
            <a:ext cx="7707350" cy="566928"/>
          </a:xfrm>
          <a:prstGeom prst="rect">
            <a:avLst/>
          </a:prstGeom>
        </p:spPr>
      </p:pic>
      <p:pic>
        <p:nvPicPr>
          <p:cNvPr id="8" name="Picture 7" descr="mdape_light.png"/>
          <p:cNvPicPr>
            <a:picLocks noChangeAspect="1"/>
          </p:cNvPicPr>
          <p:nvPr/>
        </p:nvPicPr>
        <p:blipFill>
          <a:blip r:embed="rId5"/>
          <a:stretch>
            <a:fillRect/>
          </a:stretch>
        </p:blipFill>
        <p:spPr>
          <a:xfrm>
            <a:off x="731520" y="3154680"/>
            <a:ext cx="6946582" cy="777240"/>
          </a:xfrm>
          <a:prstGeom prst="rect">
            <a:avLst/>
          </a:prstGeom>
        </p:spPr>
      </p:pic>
      <p:pic>
        <p:nvPicPr>
          <p:cNvPr id="9" name="Picture 8" descr="forecast_light.png"/>
          <p:cNvPicPr>
            <a:picLocks noChangeAspect="1"/>
          </p:cNvPicPr>
          <p:nvPr/>
        </p:nvPicPr>
        <p:blipFill>
          <a:blip r:embed="rId6"/>
          <a:stretch>
            <a:fillRect/>
          </a:stretch>
        </p:blipFill>
        <p:spPr>
          <a:xfrm>
            <a:off x="731520" y="4206240"/>
            <a:ext cx="3912421" cy="502920"/>
          </a:xfrm>
          <a:prstGeom prst="rect">
            <a:avLst/>
          </a:prstGeom>
        </p:spPr>
      </p:pic>
      <p:sp>
        <p:nvSpPr>
          <p:cNvPr id="10" name="TextBox 9"/>
          <p:cNvSpPr txBox="1"/>
          <p:nvPr/>
        </p:nvSpPr>
        <p:spPr>
          <a:xfrm>
            <a:off x="731520" y="4937760"/>
            <a:ext cx="10789920" cy="137160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600" b="0" i="0">
                <a:solidFill>
                  <a:srgbClr val="D9D2BD"/>
                </a:solidFill>
                <a:latin typeface="Aptos"/>
              </a:rPr>
              <a:t>Inputs s: distance to roads and urban cores, housing density, elevation, conservation land, ln radiance at the window start</a:t>
            </a:r>
          </a:p>
          <a:p>
            <a:pPr marL="256032" indent="-256032">
              <a:lnSpc>
                <a:spcPct val="100000"/>
              </a:lnSpc>
              <a:spcBef>
                <a:spcPts val="600"/>
              </a:spcBef>
              <a:spcAft>
                <a:spcPts val="0"/>
              </a:spcAft>
              <a:buClr>
                <a:srgbClr val="F6B44B"/>
              </a:buClr>
              <a:buSzPct val="100000"/>
              <a:buFont typeface="Arial"/>
              <a:buChar char="•"/>
            </a:pPr>
            <a:r>
              <a:rPr sz="1600" b="0" i="0">
                <a:solidFill>
                  <a:srgbClr val="D9D2BD"/>
                </a:solidFill>
                <a:latin typeface="Aptos"/>
              </a:rPr>
              <a:t>Spatial check: 16 × 16-cell blocks in five folds → R² 0.18; forecast rate clipped to [−1%, +6%] per year</a:t>
            </a:r>
          </a:p>
        </p:txBody>
      </p:sp>
      <p:pic>
        <p:nvPicPr>
          <p:cNvPr id="11" name="Picture 10" descr="ai_days_logo_sticker.png"/>
          <p:cNvPicPr>
            <a:picLocks noChangeAspect="1"/>
          </p:cNvPicPr>
          <p:nvPr/>
        </p:nvPicPr>
        <p:blipFill>
          <a:blip r:embed="rId7"/>
          <a:stretch>
            <a:fillRect/>
          </a:stretch>
        </p:blipFill>
        <p:spPr>
          <a:xfrm>
            <a:off x="10408615" y="201168"/>
            <a:ext cx="1371600" cy="798271"/>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0">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BACKUP · MATH</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Skyglow physics: from a fixture to a magnitude</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Jay Rosen  ·  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32</a:t>
            </a:r>
          </a:p>
        </p:txBody>
      </p:sp>
      <p:pic>
        <p:nvPicPr>
          <p:cNvPr id="6" name="Picture 5" descr="emission_light.png"/>
          <p:cNvPicPr>
            <a:picLocks noChangeAspect="1"/>
          </p:cNvPicPr>
          <p:nvPr/>
        </p:nvPicPr>
        <p:blipFill>
          <a:blip r:embed="rId3"/>
          <a:stretch>
            <a:fillRect/>
          </a:stretch>
        </p:blipFill>
        <p:spPr>
          <a:xfrm>
            <a:off x="731520" y="1508760"/>
            <a:ext cx="4915517" cy="713231"/>
          </a:xfrm>
          <a:prstGeom prst="rect">
            <a:avLst/>
          </a:prstGeom>
        </p:spPr>
      </p:pic>
      <p:pic>
        <p:nvPicPr>
          <p:cNvPr id="7" name="Picture 6" descr="kernel_light.png"/>
          <p:cNvPicPr>
            <a:picLocks noChangeAspect="1"/>
          </p:cNvPicPr>
          <p:nvPr/>
        </p:nvPicPr>
        <p:blipFill>
          <a:blip r:embed="rId4"/>
          <a:stretch>
            <a:fillRect/>
          </a:stretch>
        </p:blipFill>
        <p:spPr>
          <a:xfrm>
            <a:off x="731520" y="2423160"/>
            <a:ext cx="8398445" cy="713232"/>
          </a:xfrm>
          <a:prstGeom prst="rect">
            <a:avLst/>
          </a:prstGeom>
        </p:spPr>
      </p:pic>
      <p:pic>
        <p:nvPicPr>
          <p:cNvPr id="8" name="Picture 7" descr="basis_light.png"/>
          <p:cNvPicPr>
            <a:picLocks noChangeAspect="1"/>
          </p:cNvPicPr>
          <p:nvPr/>
        </p:nvPicPr>
        <p:blipFill>
          <a:blip r:embed="rId5"/>
          <a:stretch>
            <a:fillRect/>
          </a:stretch>
        </p:blipFill>
        <p:spPr>
          <a:xfrm>
            <a:off x="731520" y="3337560"/>
            <a:ext cx="3045758" cy="457200"/>
          </a:xfrm>
          <a:prstGeom prst="rect">
            <a:avLst/>
          </a:prstGeom>
        </p:spPr>
      </p:pic>
      <p:pic>
        <p:nvPicPr>
          <p:cNvPr id="9" name="Picture 8" descr="skysum_light.png"/>
          <p:cNvPicPr>
            <a:picLocks noChangeAspect="1"/>
          </p:cNvPicPr>
          <p:nvPr/>
        </p:nvPicPr>
        <p:blipFill>
          <a:blip r:embed="rId6"/>
          <a:stretch>
            <a:fillRect/>
          </a:stretch>
        </p:blipFill>
        <p:spPr>
          <a:xfrm>
            <a:off x="731520" y="3977639"/>
            <a:ext cx="6472009" cy="566928"/>
          </a:xfrm>
          <a:prstGeom prst="rect">
            <a:avLst/>
          </a:prstGeom>
        </p:spPr>
      </p:pic>
      <p:sp>
        <p:nvSpPr>
          <p:cNvPr id="10" name="TextBox 9"/>
          <p:cNvSpPr txBox="1"/>
          <p:nvPr/>
        </p:nvSpPr>
        <p:spPr>
          <a:xfrm>
            <a:off x="731520" y="4800600"/>
            <a:ext cx="10789920" cy="155448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600" b="0" i="0">
                <a:solidFill>
                  <a:srgbClr val="D9D2BD"/>
                </a:solidFill>
                <a:latin typeface="Aptos"/>
              </a:rPr>
              <a:t>Rayleigh + Henyey-Greenstein aerosol scattering, slant-path extinction, Earth curvature; fitted within 7.4%</a:t>
            </a:r>
          </a:p>
          <a:p>
            <a:pPr marL="256032" indent="-256032">
              <a:lnSpc>
                <a:spcPct val="100000"/>
              </a:lnSpc>
              <a:spcBef>
                <a:spcPts val="600"/>
              </a:spcBef>
              <a:spcAft>
                <a:spcPts val="0"/>
              </a:spcAft>
              <a:buClr>
                <a:srgbClr val="F6B44B"/>
              </a:buClr>
              <a:buSzPct val="100000"/>
              <a:buFont typeface="Arial"/>
              <a:buChar char="•"/>
            </a:pPr>
            <a:r>
              <a:rPr sz="1600" b="0" i="0">
                <a:solidFill>
                  <a:srgbClr val="D9D2BD"/>
                </a:solidFill>
                <a:latin typeface="Aptos"/>
              </a:rPr>
              <a:t>One global scale α fitted to 10 reference sites (RMSE 0.46 mag): a sanity fit, not a calibration</a:t>
            </a:r>
          </a:p>
          <a:p>
            <a:pPr marL="256032" indent="-256032">
              <a:lnSpc>
                <a:spcPct val="100000"/>
              </a:lnSpc>
              <a:spcBef>
                <a:spcPts val="600"/>
              </a:spcBef>
              <a:spcAft>
                <a:spcPts val="0"/>
              </a:spcAft>
              <a:buClr>
                <a:srgbClr val="F6B44B"/>
              </a:buClr>
              <a:buSzPct val="100000"/>
              <a:buFont typeface="Arial"/>
              <a:buChar char="•"/>
            </a:pPr>
            <a:r>
              <a:rPr sz="1600" b="0" i="0">
                <a:solidFill>
                  <a:srgbClr val="D9D2BD"/>
                </a:solidFill>
                <a:latin typeface="Aptos"/>
              </a:rPr>
              <a:t>53 Globe at Night SQM readings never fitted: model reads a median 0.52 mag darker (0.21 after midnight)</a:t>
            </a:r>
          </a:p>
        </p:txBody>
      </p:sp>
      <p:pic>
        <p:nvPicPr>
          <p:cNvPr id="11" name="Picture 10" descr="ai_days_logo_sticker.png"/>
          <p:cNvPicPr>
            <a:picLocks noChangeAspect="1"/>
          </p:cNvPicPr>
          <p:nvPr/>
        </p:nvPicPr>
        <p:blipFill>
          <a:blip r:embed="rId7"/>
          <a:stretch>
            <a:fillRect/>
          </a:stretch>
        </p:blipFill>
        <p:spPr>
          <a:xfrm>
            <a:off x="10408615" y="201168"/>
            <a:ext cx="1371600" cy="798271"/>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BACKUP · Q&amp;A</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Prepared answers</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Jay Rosen  ·  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33</a:t>
            </a:r>
          </a:p>
        </p:txBody>
      </p:sp>
      <p:sp>
        <p:nvSpPr>
          <p:cNvPr id="6" name="TextBox 5"/>
          <p:cNvSpPr txBox="1"/>
          <p:nvPr/>
        </p:nvSpPr>
        <p:spPr>
          <a:xfrm>
            <a:off x="548640" y="1417320"/>
            <a:ext cx="11064240" cy="493776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500" b="1" i="0">
                <a:solidFill>
                  <a:srgbClr val="F6B44B"/>
                </a:solidFill>
                <a:latin typeface="Aptos"/>
              </a:rPr>
              <a:t>Ground truth for change events?</a:t>
            </a:r>
            <a:r>
              <a:rPr sz="1500" b="0" i="0">
                <a:solidFill>
                  <a:srgbClr val="D9D2BD"/>
                </a:solidFill>
                <a:latin typeface="Aptos"/>
              </a:rPr>
              <a:t> False-alarm rate set by simulation and tested; known openings line up (Celebration Pointe, Nov 2016). Next: utility work orders</a:t>
            </a:r>
          </a:p>
          <a:p>
            <a:pPr marL="256032" indent="-256032">
              <a:lnSpc>
                <a:spcPct val="100000"/>
              </a:lnSpc>
              <a:spcBef>
                <a:spcPts val="700"/>
              </a:spcBef>
              <a:spcAft>
                <a:spcPts val="0"/>
              </a:spcAft>
              <a:buClr>
                <a:srgbClr val="F6B44B"/>
              </a:buClr>
              <a:buSzPct val="100000"/>
              <a:buFont typeface="Arial"/>
              <a:buChar char="•"/>
            </a:pPr>
            <a:r>
              <a:rPr sz="1500" b="1" i="0">
                <a:solidFill>
                  <a:srgbClr val="F6B44B"/>
                </a:solidFill>
                <a:latin typeface="Aptos"/>
              </a:rPr>
              <a:t>Data leakage?</a:t>
            </a:r>
            <a:r>
              <a:rPr sz="1500" b="0" i="0">
                <a:solidFill>
                  <a:srgbClr val="D9D2BD"/>
                </a:solidFill>
                <a:latin typeface="Aptos"/>
              </a:rPr>
              <a:t> Back-test trains on 2012 state and 2012–18 growth, predicts 2024 from 2018; a test feeds a 2018–24 jump and fails if the model could see it</a:t>
            </a:r>
          </a:p>
          <a:p>
            <a:pPr marL="256032" indent="-256032">
              <a:lnSpc>
                <a:spcPct val="100000"/>
              </a:lnSpc>
              <a:spcBef>
                <a:spcPts val="700"/>
              </a:spcBef>
              <a:spcAft>
                <a:spcPts val="0"/>
              </a:spcAft>
              <a:buClr>
                <a:srgbClr val="F6B44B"/>
              </a:buClr>
              <a:buSzPct val="100000"/>
              <a:buFont typeface="Arial"/>
              <a:buChar char="•"/>
            </a:pPr>
            <a:r>
              <a:rPr sz="1500" b="1" i="0">
                <a:solidFill>
                  <a:srgbClr val="F6B44B"/>
                </a:solidFill>
                <a:latin typeface="Aptos"/>
              </a:rPr>
              <a:t>Is the satellite blind to LEDs?</a:t>
            </a:r>
            <a:r>
              <a:rPr sz="1500" b="0" i="0">
                <a:solidFill>
                  <a:srgbClr val="D9D2BD"/>
                </a:solidFill>
                <a:latin typeface="Aptos"/>
              </a:rPr>
              <a:t> Partly: VIIRS sees 500–900 nm. For the Groveland preset it records −24.9% where the eye sees −23.5%</a:t>
            </a:r>
          </a:p>
          <a:p>
            <a:pPr marL="256032" indent="-256032">
              <a:lnSpc>
                <a:spcPct val="100000"/>
              </a:lnSpc>
              <a:spcBef>
                <a:spcPts val="700"/>
              </a:spcBef>
              <a:spcAft>
                <a:spcPts val="0"/>
              </a:spcAft>
              <a:buClr>
                <a:srgbClr val="F6B44B"/>
              </a:buClr>
              <a:buSzPct val="100000"/>
              <a:buFont typeface="Arial"/>
              <a:buChar char="•"/>
            </a:pPr>
            <a:r>
              <a:rPr sz="1500" b="1" i="0">
                <a:solidFill>
                  <a:srgbClr val="F6B44B"/>
                </a:solidFill>
                <a:latin typeface="Aptos"/>
              </a:rPr>
              <a:t>Cost?</a:t>
            </a:r>
            <a:r>
              <a:rPr sz="1500" b="0" i="0">
                <a:solidFill>
                  <a:srgbClr val="D9D2BD"/>
                </a:solidFill>
                <a:latin typeface="Aptos"/>
              </a:rPr>
              <a:t> Earth Engine's free noncommercial tier; the app is static files on free hosting</a:t>
            </a:r>
          </a:p>
          <a:p>
            <a:pPr marL="256032" indent="-256032">
              <a:lnSpc>
                <a:spcPct val="100000"/>
              </a:lnSpc>
              <a:spcBef>
                <a:spcPts val="700"/>
              </a:spcBef>
              <a:spcAft>
                <a:spcPts val="0"/>
              </a:spcAft>
              <a:buClr>
                <a:srgbClr val="F6B44B"/>
              </a:buClr>
              <a:buSzPct val="100000"/>
              <a:buFont typeface="Arial"/>
              <a:buChar char="•"/>
            </a:pPr>
            <a:r>
              <a:rPr sz="1500" b="1" i="0">
                <a:solidFill>
                  <a:srgbClr val="F6B44B"/>
                </a:solidFill>
                <a:latin typeface="Aptos"/>
              </a:rPr>
              <a:t>Didn't the County find +19%?</a:t>
            </a:r>
            <a:r>
              <a:rPr sz="1500" b="0" i="0">
                <a:solidFill>
                  <a:srgbClr val="D9D2BD"/>
                </a:solidFill>
                <a:latin typeface="Aptos"/>
              </a:rPr>
              <a:t> That covered the whole 212 × 131 km map view (~20% in NOAA radiance); the county rose 3–6%</a:t>
            </a:r>
          </a:p>
          <a:p>
            <a:pPr marL="256032" indent="-256032">
              <a:lnSpc>
                <a:spcPct val="100000"/>
              </a:lnSpc>
              <a:spcBef>
                <a:spcPts val="700"/>
              </a:spcBef>
              <a:spcAft>
                <a:spcPts val="0"/>
              </a:spcAft>
              <a:buClr>
                <a:srgbClr val="F6B44B"/>
              </a:buClr>
              <a:buSzPct val="100000"/>
              <a:buFont typeface="Arial"/>
              <a:buChar char="•"/>
            </a:pPr>
            <a:r>
              <a:rPr sz="1500" b="1" i="0">
                <a:solidFill>
                  <a:srgbClr val="F6B44B"/>
                </a:solidFill>
                <a:latin typeface="Aptos"/>
              </a:rPr>
              <a:t>How good is the sky model?</a:t>
            </a:r>
            <a:r>
              <a:rPr sz="1500" b="0" i="0">
                <a:solidFill>
                  <a:srgbClr val="D9D2BD"/>
                </a:solidFill>
                <a:latin typeface="Aptos"/>
              </a:rPr>
              <a:t> Scale fitted to 10 sites (RMSE 0.46 mag); 53 independent meter readings a median 0.52 mag brighter</a:t>
            </a:r>
          </a:p>
          <a:p>
            <a:pPr marL="256032" indent="-256032">
              <a:lnSpc>
                <a:spcPct val="100000"/>
              </a:lnSpc>
              <a:spcBef>
                <a:spcPts val="700"/>
              </a:spcBef>
              <a:spcAft>
                <a:spcPts val="0"/>
              </a:spcAft>
              <a:buClr>
                <a:srgbClr val="F6B44B"/>
              </a:buClr>
              <a:buSzPct val="100000"/>
              <a:buFont typeface="Arial"/>
              <a:buChar char="•"/>
            </a:pPr>
            <a:r>
              <a:rPr sz="1500" b="1" i="0">
                <a:solidFill>
                  <a:srgbClr val="F6B44B"/>
                </a:solidFill>
                <a:latin typeface="Aptos"/>
              </a:rPr>
              <a:t>Do not claim</a:t>
            </a:r>
            <a:r>
              <a:rPr sz="1500" b="0" i="0">
                <a:solidFill>
                  <a:srgbClr val="D9D2BD"/>
                </a:solidFill>
                <a:latin typeface="Aptos"/>
              </a:rPr>
              <a:t>: calibrated sky brightness, a predicted 2034 sky (it is the 2018–24 pace carried forward), or that the detector finds retrofits</a:t>
            </a:r>
          </a:p>
        </p:txBody>
      </p:sp>
      <p:pic>
        <p:nvPicPr>
          <p:cNvPr id="7" name="Picture 6" descr="ai_days_logo_sticker.png"/>
          <p:cNvPicPr>
            <a:picLocks noChangeAspect="1"/>
          </p:cNvPicPr>
          <p:nvPr/>
        </p:nvPicPr>
        <p:blipFill>
          <a:blip r:embed="rId3"/>
          <a:stretch>
            <a:fillRect/>
          </a:stretch>
        </p:blipFill>
        <p:spPr>
          <a:xfrm>
            <a:off x="10408615" y="201168"/>
            <a:ext cx="1371600" cy="798271"/>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7728</Words>
  <Application>Microsoft Office PowerPoint</Application>
  <PresentationFormat>Widescreen</PresentationFormat>
  <Paragraphs>578</Paragraphs>
  <Slides>33</Slides>
  <Notes>33</Notes>
  <HiddenSlides>7</HiddenSlides>
  <MMClips>13</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33</vt:i4>
      </vt:variant>
    </vt:vector>
  </HeadingPairs>
  <TitlesOfParts>
    <vt:vector size="38" baseType="lpstr">
      <vt:lpstr>Aptos</vt:lpstr>
      <vt:lpstr>Aptos Display</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Jay Rosen</cp:lastModifiedBy>
  <cp:revision>2</cp:revision>
  <dcterms:created xsi:type="dcterms:W3CDTF">2013-01-27T09:14:16Z</dcterms:created>
  <dcterms:modified xsi:type="dcterms:W3CDTF">2026-10-26T01:32:40Z</dcterms:modified>
  <cp:category/>
</cp:coreProperties>
</file>