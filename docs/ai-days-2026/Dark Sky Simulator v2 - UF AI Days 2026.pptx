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2.xml" ContentType="application/vnd.openxmlformats-officedocument.drawingml.chart+xml"/>
  <Override PartName="/ppt/notesSlides/notesSlide19.xml" ContentType="application/vnd.openxmlformats-officedocument.presentationml.notesSlide+xml"/>
  <Override PartName="/ppt/charts/chart3.xml" ContentType="application/vnd.openxmlformats-officedocument.drawingml.chart+xml"/>
  <Override PartName="/ppt/notesSlides/notesSlide20.xml" ContentType="application/vnd.openxmlformats-officedocument.presentationml.notesSlide+xml"/>
  <Override PartName="/ppt/charts/chart4.xml" ContentType="application/vnd.openxmlformats-officedocument.drawingml.chart+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Airglow background</c:v>
                </c:pt>
              </c:strCache>
            </c:strRef>
          </c:tx>
          <c:spPr>
            <a:solidFill>
              <a:srgbClr val="F6B44B"/>
            </a:solidFill>
            <a:ln>
              <a:noFill/>
            </a:ln>
          </c:spPr>
          <c:invertIfNegative val="0"/>
          <c:dLbls>
            <c:numFmt formatCode="0.00" sourceLinked="0"/>
            <c:spPr>
              <a:noFill/>
              <a:ln>
                <a:noFill/>
              </a:ln>
              <a:effectLst/>
            </c:spPr>
            <c:txPr>
              <a:bodyPr/>
              <a:lstStyle/>
              <a:p>
                <a:pPr>
                  <a:defRPr sz="1200">
                    <a:solidFill>
                      <a:srgbClr val="D9D2BD"/>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Sheet1!$A$2:$A$14</c:f>
              <c:strCache>
                <c:ptCount val="13"/>
                <c:pt idx="0">
                  <c:v>2012</c:v>
                </c:pt>
                <c:pt idx="1">
                  <c:v>2013</c:v>
                </c:pt>
                <c:pt idx="2">
                  <c:v>2014</c:v>
                </c:pt>
                <c:pt idx="3">
                  <c:v>2015</c:v>
                </c:pt>
                <c:pt idx="4">
                  <c:v>2016</c:v>
                </c:pt>
                <c:pt idx="5">
                  <c:v>2017</c:v>
                </c:pt>
                <c:pt idx="6">
                  <c:v>2018</c:v>
                </c:pt>
                <c:pt idx="7">
                  <c:v>2019</c:v>
                </c:pt>
                <c:pt idx="8">
                  <c:v>2020</c:v>
                </c:pt>
                <c:pt idx="9">
                  <c:v>2021</c:v>
                </c:pt>
                <c:pt idx="10">
                  <c:v>2022</c:v>
                </c:pt>
                <c:pt idx="11">
                  <c:v>2023</c:v>
                </c:pt>
                <c:pt idx="12">
                  <c:v>2024</c:v>
                </c:pt>
              </c:strCache>
            </c:strRef>
          </c:cat>
          <c:val>
            <c:numRef>
              <c:f>Sheet1!$B$2:$B$14</c:f>
              <c:numCache>
                <c:formatCode>General</c:formatCode>
                <c:ptCount val="13"/>
                <c:pt idx="0">
                  <c:v>0.26100000000000001</c:v>
                </c:pt>
                <c:pt idx="1">
                  <c:v>0.192</c:v>
                </c:pt>
                <c:pt idx="2">
                  <c:v>0.254</c:v>
                </c:pt>
                <c:pt idx="3">
                  <c:v>0.22</c:v>
                </c:pt>
                <c:pt idx="4">
                  <c:v>0.17100000000000001</c:v>
                </c:pt>
                <c:pt idx="5">
                  <c:v>0.151</c:v>
                </c:pt>
                <c:pt idx="6">
                  <c:v>0.158</c:v>
                </c:pt>
                <c:pt idx="7">
                  <c:v>0.125</c:v>
                </c:pt>
                <c:pt idx="8">
                  <c:v>0.1</c:v>
                </c:pt>
                <c:pt idx="9">
                  <c:v>0.13</c:v>
                </c:pt>
                <c:pt idx="10">
                  <c:v>0.26200000000000001</c:v>
                </c:pt>
                <c:pt idx="11">
                  <c:v>0.33100000000000002</c:v>
                </c:pt>
                <c:pt idx="12">
                  <c:v>0.26700000000000002</c:v>
                </c:pt>
              </c:numCache>
            </c:numRef>
          </c:val>
          <c:extLst>
            <c:ext xmlns:c16="http://schemas.microsoft.com/office/drawing/2014/chart" uri="{C3380CC4-5D6E-409C-BE32-E72D297353CC}">
              <c16:uniqueId val="{00000000-2C01-4CC9-B83C-F7698EE2818E}"/>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2A3A60"/>
            </a:solidFill>
          </a:ln>
        </c:spPr>
        <c:txPr>
          <a:bodyPr/>
          <a:lstStyle/>
          <a:p>
            <a:pPr>
              <a:defRPr sz="1200">
                <a:solidFill>
                  <a:srgbClr val="D9D2BD"/>
                </a:solidFill>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200">
          <a:solidFill>
            <a:srgbClr val="D9D2BD"/>
          </a:solidFill>
          <a:latin typeface="Aptos"/>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Detection rate</c:v>
                </c:pt>
              </c:strCache>
            </c:strRef>
          </c:tx>
          <c:spPr>
            <a:solidFill>
              <a:srgbClr val="F6B44B"/>
            </a:solidFill>
            <a:ln>
              <a:noFill/>
            </a:ln>
          </c:spPr>
          <c:invertIfNegative val="0"/>
          <c:dLbls>
            <c:numFmt formatCode="0.0#%" sourceLinked="0"/>
            <c:spPr>
              <a:noFill/>
              <a:ln>
                <a:noFill/>
              </a:ln>
              <a:effectLst/>
            </c:spPr>
            <c:txPr>
              <a:bodyPr/>
              <a:lstStyle/>
              <a:p>
                <a:pPr>
                  <a:defRPr sz="1400">
                    <a:solidFill>
                      <a:srgbClr val="D9D2BD"/>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No step
(false alarm)</c:v>
                </c:pt>
                <c:pt idx="1">
                  <c:v>−30% step
(LED retrofit)</c:v>
                </c:pt>
                <c:pt idx="2">
                  <c:v>+50% step</c:v>
                </c:pt>
              </c:strCache>
            </c:strRef>
          </c:cat>
          <c:val>
            <c:numRef>
              <c:f>Sheet1!$B$2:$B$4</c:f>
              <c:numCache>
                <c:formatCode>General</c:formatCode>
                <c:ptCount val="3"/>
                <c:pt idx="0">
                  <c:v>5.0000000000000001E-4</c:v>
                </c:pt>
                <c:pt idx="1">
                  <c:v>5.8000000000000003E-2</c:v>
                </c:pt>
                <c:pt idx="2">
                  <c:v>9.8000000000000004E-2</c:v>
                </c:pt>
              </c:numCache>
            </c:numRef>
          </c:val>
          <c:extLst>
            <c:ext xmlns:c16="http://schemas.microsoft.com/office/drawing/2014/chart" uri="{C3380CC4-5D6E-409C-BE32-E72D297353CC}">
              <c16:uniqueId val="{00000000-CB4D-4118-9D30-3E64F0DDF199}"/>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2A3A60"/>
            </a:solidFill>
          </a:ln>
        </c:spPr>
        <c:txPr>
          <a:bodyPr/>
          <a:lstStyle/>
          <a:p>
            <a:pPr>
              <a:defRPr sz="1400">
                <a:solidFill>
                  <a:srgbClr val="D9D2BD"/>
                </a:solidFill>
              </a:defRPr>
            </a:pPr>
            <a:endParaRPr lang="en-US"/>
          </a:p>
        </c:txPr>
        <c:crossAx val="-2113994440"/>
        <c:crosses val="autoZero"/>
        <c:auto val="1"/>
        <c:lblAlgn val="ctr"/>
        <c:lblOffset val="100"/>
        <c:noMultiLvlLbl val="0"/>
      </c:catAx>
      <c:valAx>
        <c:axId val="-2113994440"/>
        <c:scaling>
          <c:orientation val="minMax"/>
          <c:max val="0.12"/>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400">
          <a:solidFill>
            <a:srgbClr val="D9D2BD"/>
          </a:solidFill>
          <a:latin typeface="Apto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Importance</c:v>
                </c:pt>
              </c:strCache>
            </c:strRef>
          </c:tx>
          <c:spPr>
            <a:solidFill>
              <a:srgbClr val="F6B44B"/>
            </a:solidFill>
            <a:ln>
              <a:noFill/>
            </a:ln>
          </c:spPr>
          <c:invertIfNegative val="0"/>
          <c:dLbls>
            <c:numFmt formatCode="0%" sourceLinked="0"/>
            <c:spPr>
              <a:noFill/>
              <a:ln>
                <a:noFill/>
              </a:ln>
              <a:effectLst/>
            </c:spPr>
            <c:txPr>
              <a:bodyPr/>
              <a:lstStyle/>
              <a:p>
                <a:pPr>
                  <a:defRPr sz="1400">
                    <a:solidFill>
                      <a:srgbClr val="D9D2BD"/>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Distance to urban cores</c:v>
                </c:pt>
                <c:pt idx="1">
                  <c:v>Housing density</c:v>
                </c:pt>
                <c:pt idx="2">
                  <c:v>Elevation</c:v>
                </c:pt>
                <c:pt idx="3">
                  <c:v>Current brightness</c:v>
                </c:pt>
                <c:pt idx="4">
                  <c:v>Distance to major roads</c:v>
                </c:pt>
                <c:pt idx="5">
                  <c:v>Conservation land</c:v>
                </c:pt>
              </c:strCache>
            </c:strRef>
          </c:cat>
          <c:val>
            <c:numRef>
              <c:f>Sheet1!$B$2:$B$7</c:f>
              <c:numCache>
                <c:formatCode>General</c:formatCode>
                <c:ptCount val="6"/>
                <c:pt idx="0">
                  <c:v>0.309</c:v>
                </c:pt>
                <c:pt idx="1">
                  <c:v>0.223</c:v>
                </c:pt>
                <c:pt idx="2">
                  <c:v>0.20499999999999999</c:v>
                </c:pt>
                <c:pt idx="3">
                  <c:v>0.186</c:v>
                </c:pt>
                <c:pt idx="4">
                  <c:v>6.5000000000000002E-2</c:v>
                </c:pt>
                <c:pt idx="5">
                  <c:v>1.2E-2</c:v>
                </c:pt>
              </c:numCache>
            </c:numRef>
          </c:val>
          <c:extLst>
            <c:ext xmlns:c16="http://schemas.microsoft.com/office/drawing/2014/chart" uri="{C3380CC4-5D6E-409C-BE32-E72D297353CC}">
              <c16:uniqueId val="{00000000-9D44-463A-8782-D5D48E05EAF5}"/>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2A3A60"/>
            </a:solidFill>
          </a:ln>
        </c:spPr>
        <c:txPr>
          <a:bodyPr/>
          <a:lstStyle/>
          <a:p>
            <a:pPr>
              <a:defRPr sz="1400">
                <a:solidFill>
                  <a:srgbClr val="D9D2BD"/>
                </a:solidFill>
              </a:defRPr>
            </a:pPr>
            <a:endParaRPr lang="en-US"/>
          </a:p>
        </c:txPr>
        <c:crossAx val="-2113994440"/>
        <c:crosses val="autoZero"/>
        <c:auto val="1"/>
        <c:lblAlgn val="ctr"/>
        <c:lblOffset val="100"/>
        <c:noMultiLvlLbl val="0"/>
      </c:catAx>
      <c:valAx>
        <c:axId val="-2113994440"/>
        <c:scaling>
          <c:orientation val="minMax"/>
          <c:max val="0.38"/>
          <c:min val="0"/>
        </c:scaling>
        <c:delete val="1"/>
        <c:axPos val="t"/>
        <c:numFmt formatCode="General" sourceLinked="1"/>
        <c:majorTickMark val="out"/>
        <c:minorTickMark val="none"/>
        <c:tickLblPos val="none"/>
        <c:crossAx val="-2068027336"/>
        <c:crosses val="autoZero"/>
        <c:crossBetween val="between"/>
      </c:valAx>
    </c:plotArea>
    <c:plotVisOnly val="1"/>
    <c:dispBlanksAs val="gap"/>
    <c:showDLblsOverMax val="1"/>
  </c:chart>
  <c:txPr>
    <a:bodyPr/>
    <a:lstStyle/>
    <a:p>
      <a:pPr>
        <a:defRPr sz="1400">
          <a:solidFill>
            <a:srgbClr val="D9D2BD"/>
          </a:solidFill>
          <a:latin typeface="Apto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Tenths of cells</c:v>
                </c:pt>
              </c:strCache>
            </c:strRef>
          </c:tx>
          <c:spPr>
            <a:ln w="47625">
              <a:noFill/>
            </a:ln>
          </c:spPr>
          <c:marker>
            <c:symbol val="circle"/>
            <c:size val="11"/>
            <c:spPr>
              <a:solidFill>
                <a:srgbClr val="F6B44B"/>
              </a:solidFill>
              <a:ln>
                <a:solidFill>
                  <a:srgbClr val="F6B44B"/>
                </a:solidFill>
              </a:ln>
            </c:spPr>
          </c:marker>
          <c:xVal>
            <c:numRef>
              <c:f>Sheet1!$A$2:$A$11</c:f>
              <c:numCache>
                <c:formatCode>General</c:formatCode>
                <c:ptCount val="10"/>
                <c:pt idx="0">
                  <c:v>-3.24</c:v>
                </c:pt>
                <c:pt idx="1">
                  <c:v>-2.0499999999999998</c:v>
                </c:pt>
                <c:pt idx="2">
                  <c:v>-1.55</c:v>
                </c:pt>
                <c:pt idx="3">
                  <c:v>-1.1200000000000001</c:v>
                </c:pt>
                <c:pt idx="4">
                  <c:v>-0.69</c:v>
                </c:pt>
                <c:pt idx="5">
                  <c:v>-0.2</c:v>
                </c:pt>
                <c:pt idx="6">
                  <c:v>0.34</c:v>
                </c:pt>
                <c:pt idx="7">
                  <c:v>0.98</c:v>
                </c:pt>
                <c:pt idx="8">
                  <c:v>1.8</c:v>
                </c:pt>
                <c:pt idx="9">
                  <c:v>3.93</c:v>
                </c:pt>
              </c:numCache>
            </c:numRef>
          </c:xVal>
          <c:yVal>
            <c:numRef>
              <c:f>Sheet1!$B$2:$B$11</c:f>
              <c:numCache>
                <c:formatCode>General</c:formatCode>
                <c:ptCount val="10"/>
                <c:pt idx="0">
                  <c:v>-0.05</c:v>
                </c:pt>
                <c:pt idx="1">
                  <c:v>1.05</c:v>
                </c:pt>
                <c:pt idx="2">
                  <c:v>1.78</c:v>
                </c:pt>
                <c:pt idx="3">
                  <c:v>2.4500000000000002</c:v>
                </c:pt>
                <c:pt idx="4">
                  <c:v>2.95</c:v>
                </c:pt>
                <c:pt idx="5">
                  <c:v>3.48</c:v>
                </c:pt>
                <c:pt idx="6">
                  <c:v>4.1100000000000003</c:v>
                </c:pt>
                <c:pt idx="7">
                  <c:v>4.96</c:v>
                </c:pt>
                <c:pt idx="8">
                  <c:v>5.69</c:v>
                </c:pt>
                <c:pt idx="9">
                  <c:v>8.35</c:v>
                </c:pt>
              </c:numCache>
            </c:numRef>
          </c:yVal>
          <c:smooth val="0"/>
          <c:extLst>
            <c:ext xmlns:c16="http://schemas.microsoft.com/office/drawing/2014/chart" uri="{C3380CC4-5D6E-409C-BE32-E72D297353CC}">
              <c16:uniqueId val="{00000000-A93C-477D-956B-C580DC8161C1}"/>
            </c:ext>
          </c:extLst>
        </c:ser>
        <c:ser>
          <c:idx val="1"/>
          <c:order val="1"/>
          <c:tx>
            <c:strRef>
              <c:f>Sheet1!$B$13</c:f>
              <c:strCache>
                <c:ptCount val="1"/>
                <c:pt idx="0">
                  <c:v>Perfect forecast</c:v>
                </c:pt>
              </c:strCache>
            </c:strRef>
          </c:tx>
          <c:spPr>
            <a:ln w="22225">
              <a:solidFill>
                <a:srgbClr val="A79F88"/>
              </a:solidFill>
              <a:prstDash val="dash"/>
            </a:ln>
          </c:spPr>
          <c:marker>
            <c:symbol val="none"/>
          </c:marker>
          <c:xVal>
            <c:numRef>
              <c:f>Sheet1!$A$14:$A$15</c:f>
              <c:numCache>
                <c:formatCode>General</c:formatCode>
                <c:ptCount val="2"/>
                <c:pt idx="0">
                  <c:v>-4</c:v>
                </c:pt>
                <c:pt idx="1">
                  <c:v>9</c:v>
                </c:pt>
              </c:numCache>
            </c:numRef>
          </c:xVal>
          <c:yVal>
            <c:numRef>
              <c:f>Sheet1!$B$14:$B$15</c:f>
              <c:numCache>
                <c:formatCode>General</c:formatCode>
                <c:ptCount val="2"/>
                <c:pt idx="0">
                  <c:v>-4</c:v>
                </c:pt>
                <c:pt idx="1">
                  <c:v>9</c:v>
                </c:pt>
              </c:numCache>
            </c:numRef>
          </c:yVal>
          <c:smooth val="0"/>
          <c:extLst>
            <c:ext xmlns:c16="http://schemas.microsoft.com/office/drawing/2014/chart" uri="{C3380CC4-5D6E-409C-BE32-E72D297353CC}">
              <c16:uniqueId val="{00000001-A93C-477D-956B-C580DC8161C1}"/>
            </c:ext>
          </c:extLst>
        </c:ser>
        <c:dLbls>
          <c:showLegendKey val="0"/>
          <c:showVal val="0"/>
          <c:showCatName val="0"/>
          <c:showSerName val="0"/>
          <c:showPercent val="0"/>
          <c:showBubbleSize val="0"/>
        </c:dLbls>
        <c:axId val="-2128940872"/>
        <c:axId val="-2129643912"/>
      </c:scatterChart>
      <c:valAx>
        <c:axId val="-2128940872"/>
        <c:scaling>
          <c:orientation val="minMax"/>
          <c:max val="5"/>
          <c:min val="-4"/>
        </c:scaling>
        <c:delete val="0"/>
        <c:axPos val="b"/>
        <c:majorGridlines>
          <c:spPr>
            <a:ln>
              <a:solidFill>
                <a:srgbClr val="1A2642"/>
              </a:solidFill>
            </a:ln>
          </c:spPr>
        </c:majorGridlines>
        <c:title>
          <c:tx>
            <c:rich>
              <a:bodyPr/>
              <a:lstStyle/>
              <a:p>
                <a:r>
                  <a:rPr sz="1300" b="0">
                    <a:solidFill>
                      <a:srgbClr val="D9D2BD"/>
                    </a:solidFill>
                    <a:latin typeface="Aptos"/>
                  </a:rPr>
                  <a:t>predicted, % per year</a:t>
                </a:r>
              </a:p>
            </c:rich>
          </c:tx>
          <c:overlay val="0"/>
        </c:title>
        <c:numFmt formatCode="General" sourceLinked="1"/>
        <c:majorTickMark val="out"/>
        <c:minorTickMark val="none"/>
        <c:tickLblPos val="low"/>
        <c:spPr>
          <a:ln>
            <a:solidFill>
              <a:srgbClr val="2A3A60"/>
            </a:solidFill>
          </a:ln>
        </c:spPr>
        <c:txPr>
          <a:bodyPr/>
          <a:lstStyle/>
          <a:p>
            <a:pPr>
              <a:defRPr sz="1300">
                <a:solidFill>
                  <a:srgbClr val="D9D2BD"/>
                </a:solidFill>
              </a:defRPr>
            </a:pPr>
            <a:endParaRPr lang="en-US"/>
          </a:p>
        </c:txPr>
        <c:crossAx val="-2129643912"/>
        <c:crosses val="autoZero"/>
        <c:crossBetween val="midCat"/>
      </c:valAx>
      <c:valAx>
        <c:axId val="-2129643912"/>
        <c:scaling>
          <c:orientation val="minMax"/>
          <c:max val="9"/>
          <c:min val="-4"/>
        </c:scaling>
        <c:delete val="0"/>
        <c:axPos val="l"/>
        <c:majorGridlines>
          <c:spPr>
            <a:ln>
              <a:solidFill>
                <a:srgbClr val="1A2642"/>
              </a:solidFill>
            </a:ln>
          </c:spPr>
        </c:majorGridlines>
        <c:title>
          <c:tx>
            <c:rich>
              <a:bodyPr/>
              <a:lstStyle/>
              <a:p>
                <a:r>
                  <a:rPr sz="1300" b="0">
                    <a:solidFill>
                      <a:srgbClr val="D9D2BD"/>
                    </a:solidFill>
                    <a:latin typeface="Aptos"/>
                  </a:rPr>
                  <a:t>observed, % per year</a:t>
                </a:r>
              </a:p>
            </c:rich>
          </c:tx>
          <c:overlay val="0"/>
        </c:title>
        <c:numFmt formatCode="General" sourceLinked="1"/>
        <c:majorTickMark val="out"/>
        <c:minorTickMark val="none"/>
        <c:tickLblPos val="low"/>
        <c:spPr>
          <a:ln>
            <a:solidFill>
              <a:srgbClr val="2A3A60"/>
            </a:solidFill>
          </a:ln>
        </c:spPr>
        <c:txPr>
          <a:bodyPr/>
          <a:lstStyle/>
          <a:p>
            <a:pPr>
              <a:defRPr sz="1300">
                <a:solidFill>
                  <a:srgbClr val="D9D2BD"/>
                </a:solidFill>
              </a:defRPr>
            </a:pPr>
            <a:endParaRPr lang="en-US"/>
          </a:p>
        </c:txPr>
        <c:crossAx val="-2128940872"/>
        <c:crosses val="autoZero"/>
        <c:crossBetween val="midCat"/>
      </c:valAx>
    </c:plotArea>
    <c:legend>
      <c:legendPos val="t"/>
      <c:overlay val="0"/>
      <c:txPr>
        <a:bodyPr/>
        <a:lstStyle/>
        <a:p>
          <a:pPr>
            <a:defRPr sz="1300">
              <a:solidFill>
                <a:srgbClr val="D9D2BD"/>
              </a:solidFill>
            </a:defRPr>
          </a:pPr>
          <a:endParaRPr lang="en-US"/>
        </a:p>
      </c:txPr>
    </c:legend>
    <c:plotVisOnly val="1"/>
    <c:dispBlanksAs val="gap"/>
    <c:showDLblsOverMax val="0"/>
  </c:chart>
  <c:txPr>
    <a:bodyPr/>
    <a:lstStyle/>
    <a:p>
      <a:pPr>
        <a:defRPr sz="1300">
          <a:solidFill>
            <a:srgbClr val="D9D2BD"/>
          </a:solidFill>
          <a:latin typeface="Apto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294308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[0:00–0:31]</a:t>
            </a:r>
          </a:p>
          <a:p>
            <a:r>
              <a:t>Good afternoon. I'm Jay Rosen, a research software engineer in UF's College of Education, and an astrophotographer.</a:t>
            </a:r>
          </a:p>
          <a:p>
            <a:r>
              <a:t>This is the Milky Way over Paynes Prairie, fifteen minutes from campus, and the yellow glow on the horizon is light pollution from our cities.</a:t>
            </a:r>
          </a:p>
          <a:p>
            <a:r>
              <a:t>My talk is about restoring that view: how AI-assisted satellite analysis and interactive simulation can help counties plan their lighting, and how we're scaling that across North Central Florida.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[0:31–1:19]</a:t>
            </a:r>
          </a:p>
          <a:p>
            <a:r>
              <a:t>Artificial light at night is an expanding problem. Skyglow is light scattered by air and haze back down to the ground, and it travels tens of kilometers.</a:t>
            </a:r>
          </a:p>
          <a:p>
            <a:r>
              <a:t>On the left, from Paynes Prairie, Gainesville's dome takes over half the sky. On the right, Stephen C. Foster State Park in Georgia, a Bortle 2 dark-sky park.</a:t>
            </a:r>
          </a:p>
          <a:p>
            <a:r>
              <a:t>It affects astronomy, wildlife and energy use, and it reaches UF's Rosemary Hill Observatory and the Chiefland Astronomy Village.</a:t>
            </a:r>
          </a:p>
          <a:p>
            <a:r>
              <a:t>The good news: it's preventable. Shield fixtures, aim light where it's needed, use warmer colors, reduce brightness, dim late at night. What communities lack is a way to test those choices before writing them into policy.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[1:19–2:02]</a:t>
            </a:r>
          </a:p>
          <a:p>
            <a:r>
              <a:t>A quick backstory. In September 2025 I gave a public comment at Alachua County's Environmental Protection Advisory Committee and built the first simulator in about a month.</a:t>
            </a:r>
          </a:p>
          <a:p>
            <a:r>
              <a:t>In January the committee voted unanimously to work toward dark-sky policy, and in February that work helped inform an amendment to Policy 5.3.7, in the Conservation and Open Space Element of the County's Comprehensive Plan.</a:t>
            </a:r>
          </a:p>
          <a:p>
            <a:r>
              <a:t>Now we're expanding into Levy County, home to Rosemary Hill and the Chiefland Astronomy Village. And Dr. Elizabeth Lada, chair of UF Astronomy, asked whether the platform could help find a site for a future UF observatory.</a:t>
            </a:r>
          </a:p>
          <a:p>
            <a:r>
              <a:t>[Before the talk: update with the amendment's current status.]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[2:02–2:30]</a:t>
            </a:r>
          </a:p>
          <a:p>
            <a:r>
              <a:t>Version 1, on the left, was built to persuade, and it worked. Then people asked the right question: how do you know?</a:t>
            </a:r>
          </a:p>
          <a:p>
            <a:r>
              <a:t>Version 2 is my answer. The sky comes from atmospheric physics, the lights from public data, and AI is used where data can teach us something. Every number is labeled a planning projection, and it runs on a phone with no server.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[2:30–2:58]</a:t>
            </a:r>
          </a:p>
          <a:p>
            <a:r>
              <a:t>Here's version 2. It covers Alachua, Levy and six neighboring counties, with roughly 817,000 modeled light sources: streetlights, homes and businesses, and sports fields.</a:t>
            </a:r>
          </a:p>
          <a:p>
            <a:r>
              <a:t>The colors are the modeled sky brightness overhead: yellow is an urban sky, black is close to natural.</a:t>
            </a:r>
          </a:p>
          <a:p>
            <a:r>
              <a:t>You choose shielding, color limits, dimming or curfews, and compare the projected sky, Bortle class, energy, cost, savings and payback.</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[2:58–3:22]</a:t>
            </a:r>
          </a:p>
          <a:p>
            <a:r>
              <a:t>What makes it fast: everything heavy runs once, offline. Atmospheric scattering, placing every fixture, processing the satellite record, training the models.</a:t>
            </a:r>
          </a:p>
          <a:p>
            <a:r>
              <a:t>Because skyglow adds up, the browser only needs a weighted sum of precomputed layers, about 55 milliseconds per scenario. The sky itself is a published physics model, not a neural network.</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[3:22–3:55]</a:t>
            </a:r>
          </a:p>
          <a:p>
            <a:r>
              <a:t>One click applies a Groveland-style ordinance; Groveland is Florida's first dark-sky city. Full shielding, a 3000-kelvin cap, and dimming to half from 10 p.m.</a:t>
            </a:r>
          </a:p>
          <a:p>
            <a:r>
              <a:t>Blue is where the sky gets darker, and it crosses county lines: skyglow is regional.</a:t>
            </a:r>
          </a:p>
          <a:p>
            <a:r>
              <a:t>Paynes Prairie goes from 20.98 to 21.62, the level DarkSky uses for parks, if every light, public and private, complies. Public lights alone get about half of that, and downtown moves one Bortle class, 7 to 6.</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[3:55–4:56]</a:t>
            </a:r>
          </a:p>
          <a:p>
            <a:r>
              <a:t>So what does each government pay, and save? The best-value package is right-sizing public streetlights: fully shielded 3000-kelvin LEDs at 30 percent lower output, with no smart controllers.</a:t>
            </a:r>
          </a:p>
          <a:p>
            <a:r>
              <a:t>Alachua County, all public streetlights: 15.3 million dollars, saving about 2.6 million a year in energy and maintenance, paid back in about 6 years and 23 million ahead after 15.</a:t>
            </a:r>
          </a:p>
          <a:p>
            <a:r>
              <a:t>For UF: its 4,100 campus pole lights, about 60 percent already LED, would cost about a million dollars and save about 200 thousand a year, a 5-year payback.</a:t>
            </a:r>
          </a:p>
          <a:p>
            <a:r>
              <a:t>The City of Gainesville's GRU streetlights: 7.2 million, 1.45 million a year, also 5 years. State roads: under a million. Levy County: 1.9 million; Chiefland: 171 thousand, paid back in about 8 years.</a:t>
            </a:r>
          </a:p>
          <a:p>
            <a:r>
              <a:t>Adding motion-only lighting late at night darkens the sky more, but needs a controller on every pole, so payback stretches to about 13 years.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[4:56–5:17]</a:t>
            </a:r>
          </a:p>
          <a:p>
            <a:r>
              <a:t>You don't have to change a whole county. Overlay zones apply stricter rules in rings around the observatories: an amber, motion-only core and a warm-white buffer.</a:t>
            </a:r>
          </a:p>
          <a:p>
            <a:r>
              <a:t>Protecting both sites costs under a million dollars in public retrofits. That's a trade-off a commission can actually vote on.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[5:17–5:39]</a:t>
            </a:r>
          </a:p>
          <a:p>
            <a:r>
              <a:t>Numbers like 18.4 and 21.7 don't mean much to most people, so the simulator draws the sky.</a:t>
            </a:r>
          </a:p>
          <a:p>
            <a:r>
              <a:t>Same moonless night: downtown Gainesville, Bortle 7, an orange dome. Rosemary Hill, Bortle 3, and the Milky Way. It's an illustration driven by the computed sky brightness, not a photograph.</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[5:39–5:57]</a:t>
            </a:r>
          </a:p>
          <a:p>
            <a:r>
              <a:t>Build mode turns policy into hardware: 17 DarkSky-compliant fixture types with real installed costs. Equip one and the sky, the budget and the install markers update.</a:t>
            </a:r>
          </a:p>
          <a:p>
            <a:r>
              <a:t>The 3D view puts every modeled light at street level, here downtown Gainesville.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[5:57–6:28]</a:t>
            </a:r>
          </a:p>
          <a:p>
            <a:r>
              <a:t>Now the AI, and I want to be precise about where it is.</a:t>
            </a:r>
          </a:p>
          <a:p>
            <a:r>
              <a:t>Two models learn from data: a statistical change detector that finds where lighting changed suddenly, and a LightGBM forecast of where light will grow. Both read 13 years of satellite images of Florida at night.</a:t>
            </a:r>
          </a:p>
          <a:p>
            <a:r>
              <a:t>Everything else is physics or explicit rules you can inspect. For decision-makers, knowing which parts are learned matters as much as the learning.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[6:28–6:50]</a:t>
            </a:r>
          </a:p>
          <a:p>
            <a:r>
              <a:t>The data is NASA's Black Marble product from the VIIRS instrument: a nightly image of Earth's lights at about 500 meters.</a:t>
            </a:r>
          </a:p>
          <a:p>
            <a:r>
              <a:t>We keep only cloud-free nights and take one median per year for every cell, 2012 to 2024, through Google Earth Engine's free tier, in about twelve minutes.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[6:50–7:21]</a:t>
            </a:r>
          </a:p>
          <a:p>
            <a:r>
              <a:t>Lesson one: the most important AI work was checking the data.</a:t>
            </a:r>
          </a:p>
          <a:p>
            <a:r>
              <a:t>Our first pull came back ten times too dark: a scale factor applied twice.</a:t>
            </a:r>
          </a:p>
          <a:p>
            <a:r>
              <a:t>Then forests and wetlands seemed to brighten 70 to 120 percent. They didn't. That's airglow, light from the upper atmosphere that follows the solar cycle. A model trained on that would have learned the Sun, not development, so we subtract it every year first.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[7:21–7:54]</a:t>
            </a:r>
          </a:p>
          <a:p>
            <a:r>
              <a:t>The first analysis, AI-assisted comparison of NOAA night imagery from 2012 and 2024, estimated about 19 percent brightening.</a:t>
            </a:r>
          </a:p>
          <a:p>
            <a:r>
              <a:t>In version 2 we re-measured it with calibrated NOAA and NASA radiance. The region around Alachua County rose about 20 percent, which matches. Inside the county line it's 3 to 6 percent, and around Gainesville about 5.</a:t>
            </a:r>
          </a:p>
          <a:p>
            <a:r>
              <a:t>So the growth is concentrated around the county, along I-75 and toward Ocala, which is exactly why a regional platform matters.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[7:54–8:24]</a:t>
            </a:r>
          </a:p>
          <a:p>
            <a:r>
              <a:t>To find where lighting changed, we test every lit cell: is a steady trend enough, or was there a sudden step? Left, a slow decline in Chiefland; right, a jump in 2016.</a:t>
            </a:r>
          </a:p>
          <a:p>
            <a:r>
              <a:t>Our first detector flagged 2,000 out of 2,000 simulated cells that had only a steady trend. So the cutoff now comes from simulating 200,000 cells of pure noise: a false alarm one time in a thousand.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[8:24–8:48]</a:t>
            </a:r>
          </a:p>
          <a:p>
            <a:r>
              <a:t>Of 28,986 lit cells, 1,493 are flagged, where chance alone would give about 29.</a:t>
            </a:r>
          </a:p>
          <a:p>
            <a:r>
              <a:t>The top event is at I-75 and Archer Road, a jump in 2016. That's Celebration Pointe; Bass Pro Shops opened there in November 2016. Nobody told the model where to look.</a:t>
            </a:r>
          </a:p>
          <a:p>
            <a:r>
              <a:t>It knows that light changed, not what was built.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[8:48–9:10]</a:t>
            </a:r>
          </a:p>
          <a:p>
            <a:r>
              <a:t>And what it can't do. Year-to-year noise is about 10 percent, so it finds large new lighting but misses most LED retrofits, which are 20 to 40 percent drops. The satellite also barely sees the blue in white LEDs.</a:t>
            </a:r>
          </a:p>
          <a:p>
            <a:r>
              <a:t>Seeing retrofits needs monthly data or utility work orders.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[9:10–9:34]</a:t>
            </a:r>
          </a:p>
          <a:p>
            <a:r>
              <a:t>The second model forecasts growth. LightGBM, gradient-boosted trees, learns how fast each one-kilometer cell brightened from six open inputs describing it at the start.</a:t>
            </a:r>
          </a:p>
          <a:p>
            <a:r>
              <a:t>It leans on distance to cities, housing density, elevation and current brightness. With 30,000 cells and six features, boosted trees train in seconds on a laptop and explain themselves.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[9:34–9:57]</a:t>
            </a:r>
          </a:p>
          <a:p>
            <a:r>
              <a:t>We back-tested it on years it never saw. Against "no change", it ties on the amount: lit areas fell 4 percent, then rose 21 percent, a reversal nothing earlier predicted.</a:t>
            </a:r>
          </a:p>
          <a:p>
            <a:r>
              <a:t>But it gets the order right: cells it expected to grow fastest did grow fastest. That's what a site ranking needs.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[9:57–10:23]</a:t>
            </a:r>
          </a:p>
          <a:p>
            <a:r>
              <a:t>How do we keep it honest? The forecast is scored only on unseen years, and a test fails if they leak into training. The detector's false-alarm rate is checked on simulated noise. The web page re-runs the test for any cell you click. And the sky model is compared with 53 citizen meter readings it never saw.</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[10:23–11:20]</a:t>
            </a:r>
          </a:p>
          <a:p>
            <a:r>
              <a:t>Here's the application Dr. Lada asked about. Every square kilometer of 11 counties is scored for a future observatory: dark today, dark in 2034 from the forecast, clear air, land, access, and drive time from campus.</a:t>
            </a:r>
          </a:p>
          <a:p>
            <a:r>
              <a:t>Then we rule out land that can't host it for decades: water and wetland, the coast, anything below five meters that a surge like Hurricane Idalia's could reach, places projected to flood by 2080, FEMA's 100-year floodplain, and anything more than about ninety minutes away.</a:t>
            </a:r>
          </a:p>
          <a:p>
            <a:r>
              <a:t>The shortlist is three Levy County sites between Chiefland and Bronson, the top one right beside the Chiefland Astronomy Village: 45 minutes to an hour from campus, land about six to eight hundred thousand dollars for 80 acres. With a telescope and building, published examples put the total around 1.6 to 3.8 million.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[11:20–11:39]</a:t>
            </a:r>
          </a:p>
          <a:p>
            <a:r>
              <a:t>Finally, it has to reach decision-makers. The Brief tab generates a PDF for commissioners that opens with: "These outputs are planning projections, not observed outcomes." Every figure links back to its scenario, and a defensibility panel lists what's still missing.</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[11:39–12:09]</a:t>
            </a:r>
          </a:p>
          <a:p>
            <a:r>
              <a:t>Scaling up means turning projection into evidence: sky-quality meters and a low-cost sensor network, real utility inventories, a street-level computer-vision detector for fixtures, and monthly satellite data for retrofits.</a:t>
            </a:r>
          </a:p>
          <a:p>
            <a:r>
              <a:t>The county package is reusable: satellite data, lighting, development and policy scenarios load per county without rebuilding the system. Levy County is next.</a:t>
            </a:r>
          </a:p>
          <a:p>
            <a:r>
              <a:t>If you work on sensors, computer vision, remote sensing or policy, I'd love to talk.</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[12:09–13:04]</a:t>
            </a:r>
          </a:p>
          <a:p>
            <a:r>
              <a:t>Here's my ask. Alachua County is writing dark-sky lighting into its Comprehensive Plan. But UF answers to the State of Florida, not the county, so lighting on campus is UF's own decision.</a:t>
            </a:r>
          </a:p>
          <a:p>
            <a:r>
              <a:t>UF can lead by example on its own campus: upgrading its 4,100 pole lights would cost about a million dollars and save about two hundred thousand a year, so it pays for itself in about five years. It would protect UF's own observatory at Rosemary Hill, and help choose a site for the next one.</a:t>
            </a:r>
          </a:p>
          <a:p>
            <a:r>
              <a:t>And UF can help measure the real sky. About six thousand dollars buys a network of fifty sky-brightness sensors, enough to check the model against real readings.</a:t>
            </a:r>
          </a:p>
          <a:p>
            <a:r>
              <a:t>So far this has been independent and unfunded. I'd like it to become a UF project.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[13:04–13:20]</a:t>
            </a:r>
          </a:p>
          <a:p>
            <a:r>
              <a:t>The simulator is live: scan the code to try it on your phone; the other code is the GitHub repository with the models and tests.</a:t>
            </a:r>
          </a:p>
          <a:p>
            <a:r>
              <a:t>Thank you. I'm happy to take questions.</a:t>
            </a:r>
          </a:p>
          <a:p>
            <a:r>
              <a:t>[Prepared answers are on the hidden backup slides.]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References for the talk and the poster (the poster numbers them in order of citation). Leave this slide up during questions if useful.</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for questions about the change detector. Hidden in the slide show; un-hide if needed.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for questions about the forecast. Hidden in the slide show.</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for questions about the physics. Hidden in the slide show.</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From docs/demo_script.md, 'Questions you may get' and 'Do not claim'. Hidden in the slide show.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7.jpg"/><Relationship Id="rId5" Type="http://schemas.openxmlformats.org/officeDocument/2006/relationships/image" Target="../media/image6.jpg"/><Relationship Id="rId4" Type="http://schemas.openxmlformats.org/officeDocument/2006/relationships/image" Target="../media/image5.jpg"/></Relationships>
</file>

<file path=ppt/slides/_rels/slide4.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9.jp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0.jp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12.jp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13.jp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5.jpg"/></Relationships>
</file>

<file path=ppt/slides/_rels/slide11.xml.rels><?xml version="1.0" encoding="UTF-8" standalone="yes"?>
<Relationships xmlns="http://schemas.openxmlformats.org/package/2006/relationships"><Relationship Id="rId8" Type="http://schemas.openxmlformats.org/officeDocument/2006/relationships/image" Target="../media/image17.jpg"/><Relationship Id="rId3" Type="http://schemas.microsoft.com/office/2007/relationships/media" Target="../media/media5.mp4"/><Relationship Id="rId7" Type="http://schemas.openxmlformats.org/officeDocument/2006/relationships/image" Target="../media/image16.jpg"/><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notesSlide" Target="../notesSlides/notesSlide11.xml"/><Relationship Id="rId5" Type="http://schemas.openxmlformats.org/officeDocument/2006/relationships/slideLayout" Target="../slideLayouts/slideLayout7.xml"/><Relationship Id="rId4" Type="http://schemas.openxmlformats.org/officeDocument/2006/relationships/video" Target="../media/media5.mp4"/></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6.mp4"/><Relationship Id="rId1" Type="http://schemas.microsoft.com/office/2007/relationships/media" Target="../media/media6.mp4"/><Relationship Id="rId5" Type="http://schemas.openxmlformats.org/officeDocument/2006/relationships/image" Target="../media/image18.jp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7.mp4"/><Relationship Id="rId1" Type="http://schemas.microsoft.com/office/2007/relationships/media" Target="../media/media7.mp4"/><Relationship Id="rId5" Type="http://schemas.openxmlformats.org/officeDocument/2006/relationships/image" Target="../media/image20.jp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jp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8.mp4"/><Relationship Id="rId1" Type="http://schemas.microsoft.com/office/2007/relationships/media" Target="../media/media8.mp4"/><Relationship Id="rId5" Type="http://schemas.openxmlformats.org/officeDocument/2006/relationships/image" Target="../media/image25.jp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chart" Target="../charts/chart3.xml"/></Relationships>
</file>

<file path=ppt/slides/_rels/slide2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9.mp4"/><Relationship Id="rId1" Type="http://schemas.microsoft.com/office/2007/relationships/media" Target="../media/media9.mp4"/><Relationship Id="rId5" Type="http://schemas.openxmlformats.org/officeDocument/2006/relationships/image" Target="../media/image29.jp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0.mp4"/><Relationship Id="rId1" Type="http://schemas.microsoft.com/office/2007/relationships/media" Target="../media/media10.mp4"/><Relationship Id="rId5" Type="http://schemas.openxmlformats.org/officeDocument/2006/relationships/image" Target="../media/image30.jp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26.xml"/><Relationship Id="rId1" Type="http://schemas.openxmlformats.org/officeDocument/2006/relationships/slideLayout" Target="../slideLayouts/slideLayout7.xml"/><Relationship Id="rId5" Type="http://schemas.openxmlformats.org/officeDocument/2006/relationships/image" Target="../media/image34.png"/><Relationship Id="rId4" Type="http://schemas.openxmlformats.org/officeDocument/2006/relationships/image" Target="../media/image33.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8.xml"/><Relationship Id="rId1" Type="http://schemas.openxmlformats.org/officeDocument/2006/relationships/slideLayout" Target="../slideLayouts/slideLayout7.xml"/><Relationship Id="rId5" Type="http://schemas.openxmlformats.org/officeDocument/2006/relationships/image" Target="../media/image24.png"/><Relationship Id="rId4" Type="http://schemas.openxmlformats.org/officeDocument/2006/relationships/image" Target="../media/image23.png"/></Relationships>
</file>

<file path=ppt/slides/_rels/slide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9.xml"/><Relationship Id="rId1"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3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0.xml"/><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41.png"/><Relationship Id="rId4" Type="http://schemas.openxmlformats.org/officeDocument/2006/relationships/image" Target="../media/image40.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pic>
        <p:nvPicPr>
          <p:cNvPr id="2" name="Picture 1" descr="photo_prairie_milkyway.jpg"/>
          <p:cNvPicPr>
            <a:picLocks noChangeAspect="1"/>
          </p:cNvPicPr>
          <p:nvPr/>
        </p:nvPicPr>
        <p:blipFill>
          <a:blip r:embed="rId3"/>
          <a:srcRect l="1" r="1"/>
          <a:stretch>
            <a:fillRect/>
          </a:stretch>
        </p:blipFill>
        <p:spPr>
          <a:xfrm>
            <a:off x="0" y="0"/>
            <a:ext cx="12191695" cy="6858000"/>
          </a:xfrm>
          <a:prstGeom prst="rect">
            <a:avLst/>
          </a:prstGeom>
        </p:spPr>
      </p:pic>
      <p:sp>
        <p:nvSpPr>
          <p:cNvPr id="3" name="Rectangle 2"/>
          <p:cNvSpPr/>
          <p:nvPr/>
        </p:nvSpPr>
        <p:spPr>
          <a:xfrm>
            <a:off x="0" y="0"/>
            <a:ext cx="6766560" cy="6858000"/>
          </a:xfrm>
          <a:prstGeom prst="rect">
            <a:avLst/>
          </a:prstGeom>
          <a:solidFill>
            <a:srgbClr val="05070D">
              <a:alpha val="6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85800" y="566928"/>
            <a:ext cx="594360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F6B44B"/>
                </a:solidFill>
                <a:latin typeface="Aptos"/>
              </a:rPr>
              <a:t>UF AI DAYS  ·  PLENARY TALK</a:t>
            </a:r>
          </a:p>
        </p:txBody>
      </p:sp>
      <p:sp>
        <p:nvSpPr>
          <p:cNvPr id="5" name="TextBox 4"/>
          <p:cNvSpPr txBox="1"/>
          <p:nvPr/>
        </p:nvSpPr>
        <p:spPr>
          <a:xfrm>
            <a:off x="685800" y="859536"/>
            <a:ext cx="5943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300" b="0" i="0">
                <a:solidFill>
                  <a:srgbClr val="F5F1E6"/>
                </a:solidFill>
                <a:latin typeface="Aptos"/>
              </a:rPr>
              <a:t>Tue., Oct. 27, 2026  ·  2:40–2:55 PM  ·  Reitz Union Grand Ballroom</a:t>
            </a:r>
          </a:p>
        </p:txBody>
      </p:sp>
      <p:sp>
        <p:nvSpPr>
          <p:cNvPr id="6" name="TextBox 5"/>
          <p:cNvSpPr txBox="1"/>
          <p:nvPr/>
        </p:nvSpPr>
        <p:spPr>
          <a:xfrm>
            <a:off x="685800" y="1115568"/>
            <a:ext cx="5943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D9D2BD"/>
                </a:solidFill>
                <a:latin typeface="Aptos"/>
              </a:rPr>
              <a:t>AI Research, Teaching, and Learning Day</a:t>
            </a:r>
          </a:p>
        </p:txBody>
      </p:sp>
      <p:sp>
        <p:nvSpPr>
          <p:cNvPr id="7" name="TextBox 6"/>
          <p:cNvSpPr txBox="1"/>
          <p:nvPr/>
        </p:nvSpPr>
        <p:spPr>
          <a:xfrm>
            <a:off x="685800" y="1554480"/>
            <a:ext cx="6035040" cy="9144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4400" b="1" i="0">
                <a:solidFill>
                  <a:srgbClr val="F5F1E6"/>
                </a:solidFill>
                <a:latin typeface="Aptos Display"/>
              </a:rPr>
              <a:t>Restoring the Milky Way</a:t>
            </a:r>
          </a:p>
        </p:txBody>
      </p:sp>
      <p:sp>
        <p:nvSpPr>
          <p:cNvPr id="8" name="TextBox 7"/>
          <p:cNvSpPr txBox="1"/>
          <p:nvPr/>
        </p:nvSpPr>
        <p:spPr>
          <a:xfrm>
            <a:off x="685800" y="2331720"/>
            <a:ext cx="5852160" cy="1188720"/>
          </a:xfrm>
          <a:prstGeom prst="rect">
            <a:avLst/>
          </a:prstGeom>
          <a:noFill/>
        </p:spPr>
        <p:txBody>
          <a:bodyPr wrap="square" lIns="0" tIns="0" rIns="0" bIns="0" anchor="t">
            <a:noAutofit/>
          </a:bodyPr>
          <a:lstStyle/>
          <a:p>
            <a:pPr marL="0" indent="0" algn="l">
              <a:lnSpc>
                <a:spcPct val="105000"/>
              </a:lnSpc>
              <a:spcBef>
                <a:spcPts val="0"/>
              </a:spcBef>
              <a:spcAft>
                <a:spcPts val="0"/>
              </a:spcAft>
              <a:buNone/>
            </a:pPr>
            <a:r>
              <a:rPr sz="2400" b="0" i="0">
                <a:solidFill>
                  <a:srgbClr val="D9D2BD"/>
                </a:solidFill>
                <a:latin typeface="Aptos Display"/>
              </a:rPr>
              <a:t>Scaling AI-assisted light pollution planning</a:t>
            </a:r>
          </a:p>
          <a:p>
            <a:pPr marL="0" indent="0" algn="l">
              <a:lnSpc>
                <a:spcPct val="105000"/>
              </a:lnSpc>
              <a:spcBef>
                <a:spcPts val="0"/>
              </a:spcBef>
              <a:spcAft>
                <a:spcPts val="0"/>
              </a:spcAft>
              <a:buNone/>
            </a:pPr>
            <a:r>
              <a:rPr sz="2400" b="0" i="0">
                <a:solidFill>
                  <a:srgbClr val="D9D2BD"/>
                </a:solidFill>
                <a:latin typeface="Aptos Display"/>
              </a:rPr>
              <a:t>across North Central Florida</a:t>
            </a:r>
          </a:p>
        </p:txBody>
      </p:sp>
      <p:sp>
        <p:nvSpPr>
          <p:cNvPr id="9" name="TextBox 8"/>
          <p:cNvSpPr txBox="1"/>
          <p:nvPr/>
        </p:nvSpPr>
        <p:spPr>
          <a:xfrm>
            <a:off x="685800" y="3611880"/>
            <a:ext cx="5669280" cy="146304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0" i="0">
                <a:solidFill>
                  <a:srgbClr val="D9D2BD"/>
                </a:solidFill>
                <a:latin typeface="Aptos"/>
              </a:rPr>
              <a:t>The Dark Sky Simulator: satellite AI, geospatial mapping and scenario modeling</a:t>
            </a:r>
          </a:p>
          <a:p>
            <a:pPr marL="256032" indent="-256032">
              <a:lnSpc>
                <a:spcPct val="100000"/>
              </a:lnSpc>
              <a:spcBef>
                <a:spcPts val="600"/>
              </a:spcBef>
              <a:spcAft>
                <a:spcPts val="0"/>
              </a:spcAft>
              <a:buClr>
                <a:srgbClr val="F6B44B"/>
              </a:buClr>
              <a:buSzPct val="100000"/>
              <a:buFont typeface="Arial"/>
              <a:buChar char="•"/>
            </a:pPr>
            <a:r>
              <a:rPr sz="1700" b="0" i="0">
                <a:solidFill>
                  <a:srgbClr val="D9D2BD"/>
                </a:solidFill>
                <a:latin typeface="Aptos"/>
              </a:rPr>
              <a:t>Test lighting policy before it is written into law</a:t>
            </a:r>
          </a:p>
        </p:txBody>
      </p:sp>
      <p:sp>
        <p:nvSpPr>
          <p:cNvPr id="10" name="TextBox 9"/>
          <p:cNvSpPr txBox="1"/>
          <p:nvPr/>
        </p:nvSpPr>
        <p:spPr>
          <a:xfrm>
            <a:off x="685800" y="4754880"/>
            <a:ext cx="5760720" cy="1005840"/>
          </a:xfrm>
          <a:prstGeom prst="rect">
            <a:avLst/>
          </a:prstGeom>
          <a:noFill/>
        </p:spPr>
        <p:txBody>
          <a:bodyPr wrap="square" lIns="0" tIns="0" rIns="0" bIns="0" anchor="t">
            <a:noAutofit/>
          </a:bodyPr>
          <a:lstStyle/>
          <a:p>
            <a:pPr marL="0" indent="0" algn="l">
              <a:lnSpc>
                <a:spcPct val="114999"/>
              </a:lnSpc>
              <a:spcBef>
                <a:spcPts val="0"/>
              </a:spcBef>
              <a:spcAft>
                <a:spcPts val="0"/>
              </a:spcAft>
              <a:buNone/>
            </a:pPr>
            <a:r>
              <a:rPr sz="1500" b="1" i="0">
                <a:solidFill>
                  <a:srgbClr val="D9D2BD"/>
                </a:solidFill>
                <a:latin typeface="Aptos"/>
              </a:rPr>
              <a:t>Jay Rosen</a:t>
            </a:r>
          </a:p>
          <a:p>
            <a:pPr marL="0" indent="0" algn="l">
              <a:lnSpc>
                <a:spcPct val="114999"/>
              </a:lnSpc>
              <a:spcBef>
                <a:spcPts val="0"/>
              </a:spcBef>
              <a:spcAft>
                <a:spcPts val="0"/>
              </a:spcAft>
              <a:buNone/>
            </a:pPr>
            <a:r>
              <a:rPr sz="1500" b="0" i="0">
                <a:solidFill>
                  <a:srgbClr val="D9D2BD"/>
                </a:solidFill>
                <a:latin typeface="Aptos"/>
              </a:rPr>
              <a:t>Research Software Engineer III</a:t>
            </a:r>
          </a:p>
          <a:p>
            <a:pPr marL="0" indent="0" algn="l">
              <a:lnSpc>
                <a:spcPct val="114999"/>
              </a:lnSpc>
              <a:spcBef>
                <a:spcPts val="0"/>
              </a:spcBef>
              <a:spcAft>
                <a:spcPts val="0"/>
              </a:spcAft>
              <a:buNone/>
            </a:pPr>
            <a:r>
              <a:rPr sz="1500" b="0" i="0">
                <a:solidFill>
                  <a:srgbClr val="D9D2BD"/>
                </a:solidFill>
                <a:latin typeface="Aptos"/>
              </a:rPr>
              <a:t>University of Florida College of Education  ·  jayrosen@ufl.edu</a:t>
            </a:r>
          </a:p>
        </p:txBody>
      </p:sp>
      <p:sp>
        <p:nvSpPr>
          <p:cNvPr id="11" name="TextBox 10"/>
          <p:cNvSpPr txBox="1"/>
          <p:nvPr/>
        </p:nvSpPr>
        <p:spPr>
          <a:xfrm>
            <a:off x="685800" y="5852160"/>
            <a:ext cx="5760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F6B44B"/>
                </a:solidFill>
                <a:latin typeface="Aptos"/>
              </a:rPr>
              <a:t>Geospatial AI · Computer Vision · Remote Sensing · Decision Support · Policy Simulation</a:t>
            </a:r>
          </a:p>
        </p:txBody>
      </p:sp>
      <p:sp>
        <p:nvSpPr>
          <p:cNvPr id="12" name="TextBox 11"/>
          <p:cNvSpPr txBox="1"/>
          <p:nvPr/>
        </p:nvSpPr>
        <p:spPr>
          <a:xfrm>
            <a:off x="685800" y="6263640"/>
            <a:ext cx="5760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Photo: Milky Way and urban skyglow over Paynes Prairie, 2022. Jay Rosen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PROBLEM</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Skyglow travels: one city's lights wash out a whole region</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a:t>
            </a:r>
          </a:p>
        </p:txBody>
      </p:sp>
      <p:pic>
        <p:nvPicPr>
          <p:cNvPr id="6" name="Picture 5" descr="photo_gnv_skyglow.jpg"/>
          <p:cNvPicPr>
            <a:picLocks noChangeAspect="1"/>
          </p:cNvPicPr>
          <p:nvPr/>
        </p:nvPicPr>
        <p:blipFill>
          <a:blip r:embed="rId3"/>
          <a:srcRect l="47" r="47"/>
          <a:stretch>
            <a:fillRect/>
          </a:stretch>
        </p:blipFill>
        <p:spPr>
          <a:xfrm>
            <a:off x="548640" y="1371600"/>
            <a:ext cx="5440680" cy="3063240"/>
          </a:xfrm>
          <a:prstGeom prst="roundRect">
            <a:avLst>
              <a:gd name="adj" fmla="val 1500"/>
            </a:avLst>
          </a:prstGeom>
          <a:ln w="9525">
            <a:solidFill>
              <a:srgbClr val="2A3A60"/>
            </a:solidFill>
          </a:ln>
        </p:spPr>
      </p:pic>
      <p:sp>
        <p:nvSpPr>
          <p:cNvPr id="7" name="Rectangle 6"/>
          <p:cNvSpPr/>
          <p:nvPr/>
        </p:nvSpPr>
        <p:spPr>
          <a:xfrm>
            <a:off x="658368" y="1481328"/>
            <a:ext cx="4398264" cy="255905"/>
          </a:xfrm>
          <a:prstGeom prst="roundRect">
            <a:avLst>
              <a:gd name="adj" fmla="val 25000"/>
            </a:avLst>
          </a:prstGeom>
          <a:solidFill>
            <a:srgbClr val="F6B44B"/>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marL="0" indent="0" algn="ctr">
              <a:lnSpc>
                <a:spcPct val="100000"/>
              </a:lnSpc>
              <a:spcBef>
                <a:spcPts val="0"/>
              </a:spcBef>
              <a:spcAft>
                <a:spcPts val="0"/>
              </a:spcAft>
              <a:buNone/>
            </a:pPr>
            <a:r>
              <a:rPr sz="1300" b="1" i="0">
                <a:solidFill>
                  <a:srgbClr val="05070D"/>
                </a:solidFill>
                <a:latin typeface="Aptos"/>
              </a:rPr>
              <a:t>Paynes Prairie  ·  Bortle 4, Gainesville dome</a:t>
            </a:r>
          </a:p>
        </p:txBody>
      </p:sp>
      <p:sp>
        <p:nvSpPr>
          <p:cNvPr id="8" name="TextBox 7"/>
          <p:cNvSpPr txBox="1"/>
          <p:nvPr/>
        </p:nvSpPr>
        <p:spPr>
          <a:xfrm>
            <a:off x="548640" y="4480559"/>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Gainesville's skyglow and Comet NEOWISE from Paynes Prairie, July 2020. Photo: Jay Rosen</a:t>
            </a:r>
          </a:p>
        </p:txBody>
      </p:sp>
      <p:pic>
        <p:nvPicPr>
          <p:cNvPr id="9" name="Picture 8" descr="photo_scfoster.jpg"/>
          <p:cNvPicPr>
            <a:picLocks noChangeAspect="1"/>
          </p:cNvPicPr>
          <p:nvPr/>
        </p:nvPicPr>
        <p:blipFill>
          <a:blip r:embed="rId4"/>
          <a:srcRect l="47" r="47"/>
          <a:stretch>
            <a:fillRect/>
          </a:stretch>
        </p:blipFill>
        <p:spPr>
          <a:xfrm>
            <a:off x="6199632" y="1371600"/>
            <a:ext cx="5440680" cy="3063240"/>
          </a:xfrm>
          <a:prstGeom prst="roundRect">
            <a:avLst>
              <a:gd name="adj" fmla="val 1500"/>
            </a:avLst>
          </a:prstGeom>
          <a:ln w="9525">
            <a:solidFill>
              <a:srgbClr val="2A3A60"/>
            </a:solidFill>
          </a:ln>
        </p:spPr>
      </p:pic>
      <p:sp>
        <p:nvSpPr>
          <p:cNvPr id="10" name="Rectangle 9"/>
          <p:cNvSpPr/>
          <p:nvPr/>
        </p:nvSpPr>
        <p:spPr>
          <a:xfrm>
            <a:off x="6309360" y="1481328"/>
            <a:ext cx="4398264" cy="255905"/>
          </a:xfrm>
          <a:prstGeom prst="roundRect">
            <a:avLst>
              <a:gd name="adj" fmla="val 25000"/>
            </a:avLst>
          </a:prstGeom>
          <a:solidFill>
            <a:srgbClr val="F6B44B"/>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marL="0" indent="0" algn="ctr">
              <a:lnSpc>
                <a:spcPct val="100000"/>
              </a:lnSpc>
              <a:spcBef>
                <a:spcPts val="0"/>
              </a:spcBef>
              <a:spcAft>
                <a:spcPts val="0"/>
              </a:spcAft>
              <a:buNone/>
            </a:pPr>
            <a:r>
              <a:rPr sz="1300" b="1" i="0">
                <a:solidFill>
                  <a:srgbClr val="05070D"/>
                </a:solidFill>
                <a:latin typeface="Aptos"/>
              </a:rPr>
              <a:t>Stephen C. Foster State Park, GA  ·  Bortle 2</a:t>
            </a:r>
          </a:p>
        </p:txBody>
      </p:sp>
      <p:sp>
        <p:nvSpPr>
          <p:cNvPr id="11" name="TextBox 10"/>
          <p:cNvSpPr txBox="1"/>
          <p:nvPr/>
        </p:nvSpPr>
        <p:spPr>
          <a:xfrm>
            <a:off x="6199632" y="4480559"/>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International Dark Sky Park, October 2020. Photo: Jay Rosen</a:t>
            </a:r>
          </a:p>
        </p:txBody>
      </p:sp>
      <p:sp>
        <p:nvSpPr>
          <p:cNvPr id="12" name="TextBox 11"/>
          <p:cNvSpPr txBox="1"/>
          <p:nvPr/>
        </p:nvSpPr>
        <p:spPr>
          <a:xfrm>
            <a:off x="548640" y="4846320"/>
            <a:ext cx="544068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Light scattered by air and haze brightens the sky </a:t>
            </a:r>
            <a:r>
              <a:rPr sz="1800" b="1" i="0">
                <a:solidFill>
                  <a:srgbClr val="F6B44B"/>
                </a:solidFill>
                <a:latin typeface="Aptos"/>
              </a:rPr>
              <a:t>tens of km</a:t>
            </a:r>
            <a:r>
              <a:rPr sz="1800" b="0" i="0">
                <a:solidFill>
                  <a:srgbClr val="D9D2BD"/>
                </a:solidFill>
                <a:latin typeface="Aptos"/>
              </a:rPr>
              <a:t> away</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Harms wildlife, sleep and health, and wastes energy</a:t>
            </a:r>
          </a:p>
        </p:txBody>
      </p:sp>
      <p:sp>
        <p:nvSpPr>
          <p:cNvPr id="13" name="TextBox 12"/>
          <p:cNvSpPr txBox="1"/>
          <p:nvPr/>
        </p:nvSpPr>
        <p:spPr>
          <a:xfrm>
            <a:off x="6199632" y="4846320"/>
            <a:ext cx="544068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Threatens UF's dark sites: </a:t>
            </a:r>
            <a:r>
              <a:rPr sz="1800" b="1" i="0">
                <a:solidFill>
                  <a:srgbClr val="F6B44B"/>
                </a:solidFill>
                <a:latin typeface="Aptos"/>
              </a:rPr>
              <a:t>Rosemary Hill Observatory</a:t>
            </a:r>
            <a:r>
              <a:rPr sz="1800" b="0" i="0">
                <a:solidFill>
                  <a:srgbClr val="D9D2BD"/>
                </a:solidFill>
                <a:latin typeface="Aptos"/>
              </a:rPr>
              <a:t> and </a:t>
            </a:r>
            <a:r>
              <a:rPr sz="1800" b="1" i="0">
                <a:solidFill>
                  <a:srgbClr val="F6B44B"/>
                </a:solidFill>
                <a:latin typeface="Aptos"/>
              </a:rPr>
              <a:t>Chiefland Astronomy Village</a:t>
            </a:r>
          </a:p>
          <a:p>
            <a:pPr marL="256032" indent="-256032">
              <a:lnSpc>
                <a:spcPct val="100000"/>
              </a:lnSpc>
              <a:spcBef>
                <a:spcPts val="600"/>
              </a:spcBef>
              <a:spcAft>
                <a:spcPts val="0"/>
              </a:spcAft>
              <a:buClr>
                <a:srgbClr val="F6B44B"/>
              </a:buClr>
              <a:buSzPct val="100000"/>
              <a:buFont typeface="Arial"/>
              <a:buChar char="•"/>
            </a:pPr>
            <a:r>
              <a:rPr sz="1800" b="1" i="0">
                <a:solidFill>
                  <a:srgbClr val="F6B44B"/>
                </a:solidFill>
                <a:latin typeface="Aptos"/>
              </a:rPr>
              <a:t>Preventable</a:t>
            </a:r>
            <a:r>
              <a:rPr sz="1800" b="0" i="0">
                <a:solidFill>
                  <a:srgbClr val="D9D2BD"/>
                </a:solidFill>
                <a:latin typeface="Aptos"/>
              </a:rPr>
              <a:t>: shield, aim, warmer color, less brightness, dim late at night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BACKSTORY</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From astrophotography to county policy</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a:t>
            </a:r>
          </a:p>
        </p:txBody>
      </p:sp>
      <p:sp>
        <p:nvSpPr>
          <p:cNvPr id="6" name="TextBox 5"/>
          <p:cNvSpPr txBox="1"/>
          <p:nvPr/>
        </p:nvSpPr>
        <p:spPr>
          <a:xfrm>
            <a:off x="548640" y="1463040"/>
            <a:ext cx="493776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1" i="0">
                <a:solidFill>
                  <a:srgbClr val="F6B44B"/>
                </a:solidFill>
                <a:latin typeface="Aptos"/>
              </a:rPr>
              <a:t>2020–25</a:t>
            </a:r>
            <a:r>
              <a:rPr sz="1700" b="0" i="0">
                <a:solidFill>
                  <a:srgbClr val="D9D2BD"/>
                </a:solidFill>
                <a:latin typeface="Aptos"/>
              </a:rPr>
              <a:t>  Photographing the night sky under Gainesville's light dome</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Sep 2025</a:t>
            </a:r>
            <a:r>
              <a:rPr sz="1700" b="0" i="0">
                <a:solidFill>
                  <a:srgbClr val="D9D2BD"/>
                </a:solidFill>
                <a:latin typeface="Aptos"/>
              </a:rPr>
              <a:t>  Public comment at Alachua County's advisory committee (EPAC); v1 simulator built in a month</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Jan 2026</a:t>
            </a:r>
            <a:r>
              <a:rPr sz="1700" b="0" i="0">
                <a:solidFill>
                  <a:srgbClr val="D9D2BD"/>
                </a:solidFill>
                <a:latin typeface="Aptos"/>
              </a:rPr>
              <a:t>  EPAC votes unanimously to work toward dark-sky policy</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Feb 2026</a:t>
            </a:r>
            <a:r>
              <a:rPr sz="1700" b="0" i="0">
                <a:solidFill>
                  <a:srgbClr val="D9D2BD"/>
                </a:solidFill>
                <a:latin typeface="Aptos"/>
              </a:rPr>
              <a:t>  Policy 5.3.7 amendment (Comprehensive Plan, Conservation and Open Space Element) goes to the County Commission</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2026</a:t>
            </a:r>
            <a:r>
              <a:rPr sz="1700" b="0" i="0">
                <a:solidFill>
                  <a:srgbClr val="D9D2BD"/>
                </a:solidFill>
                <a:latin typeface="Aptos"/>
              </a:rPr>
              <a:t>  Expanding into </a:t>
            </a:r>
            <a:r>
              <a:rPr sz="1700" b="1" i="0">
                <a:solidFill>
                  <a:srgbClr val="F6B44B"/>
                </a:solidFill>
                <a:latin typeface="Aptos"/>
              </a:rPr>
              <a:t>Levy County</a:t>
            </a:r>
            <a:r>
              <a:rPr sz="1700" b="0" i="0">
                <a:solidFill>
                  <a:srgbClr val="D9D2BD"/>
                </a:solidFill>
                <a:latin typeface="Aptos"/>
              </a:rPr>
              <a:t>, home to Rosemary Hill and the Chiefland Astronomy Village</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Next</a:t>
            </a:r>
            <a:r>
              <a:rPr sz="1700" b="0" i="0">
                <a:solidFill>
                  <a:srgbClr val="D9D2BD"/>
                </a:solidFill>
                <a:latin typeface="Aptos"/>
              </a:rPr>
              <a:t>  UF Astronomy (Dr. Elizabeth Lada) asks where a future observatory should go</a:t>
            </a:r>
          </a:p>
        </p:txBody>
      </p:sp>
      <p:pic>
        <p:nvPicPr>
          <p:cNvPr id="7" name="Picture 6" descr="v1_poster.jpg"/>
          <p:cNvPicPr>
            <a:picLocks noChangeAspect="1"/>
          </p:cNvPicPr>
          <p:nvPr/>
        </p:nvPicPr>
        <p:blipFill>
          <a:blip r:embed="rId3"/>
          <a:stretch>
            <a:fillRect/>
          </a:stretch>
        </p:blipFill>
        <p:spPr>
          <a:xfrm>
            <a:off x="5809187" y="1463040"/>
            <a:ext cx="3560665" cy="2679192"/>
          </a:xfrm>
          <a:prstGeom prst="roundRect">
            <a:avLst>
              <a:gd name="adj" fmla="val 1000"/>
            </a:avLst>
          </a:prstGeom>
          <a:ln w="9525">
            <a:solidFill>
              <a:srgbClr val="2A3A60"/>
            </a:solidFill>
          </a:ln>
        </p:spPr>
      </p:pic>
      <p:sp>
        <p:nvSpPr>
          <p:cNvPr id="8" name="Rectangle 7"/>
          <p:cNvSpPr/>
          <p:nvPr/>
        </p:nvSpPr>
        <p:spPr>
          <a:xfrm>
            <a:off x="5916168" y="1572768"/>
            <a:ext cx="1994408" cy="255905"/>
          </a:xfrm>
          <a:prstGeom prst="roundRect">
            <a:avLst>
              <a:gd name="adj" fmla="val 25000"/>
            </a:avLst>
          </a:prstGeom>
          <a:solidFill>
            <a:srgbClr val="F6B44B"/>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marL="0" indent="0" algn="ctr">
              <a:lnSpc>
                <a:spcPct val="100000"/>
              </a:lnSpc>
              <a:spcBef>
                <a:spcPts val="0"/>
              </a:spcBef>
              <a:spcAft>
                <a:spcPts val="0"/>
              </a:spcAft>
              <a:buNone/>
            </a:pPr>
            <a:r>
              <a:rPr sz="1300" b="1" i="0">
                <a:solidFill>
                  <a:srgbClr val="05070D"/>
                </a:solidFill>
                <a:latin typeface="Aptos"/>
              </a:rPr>
              <a:t>v1 poster, Oct 2025</a:t>
            </a:r>
          </a:p>
        </p:txBody>
      </p:sp>
      <p:pic>
        <p:nvPicPr>
          <p:cNvPr id="9" name="Picture 8" descr="news_ufarts.jpg"/>
          <p:cNvPicPr>
            <a:picLocks noChangeAspect="1"/>
          </p:cNvPicPr>
          <p:nvPr/>
        </p:nvPicPr>
        <p:blipFill>
          <a:blip r:embed="rId4"/>
          <a:stretch>
            <a:fillRect/>
          </a:stretch>
        </p:blipFill>
        <p:spPr>
          <a:xfrm>
            <a:off x="9509873" y="1463040"/>
            <a:ext cx="2130324" cy="2459736"/>
          </a:xfrm>
          <a:prstGeom prst="roundRect">
            <a:avLst>
              <a:gd name="adj" fmla="val 1000"/>
            </a:avLst>
          </a:prstGeom>
          <a:ln w="9525">
            <a:solidFill>
              <a:srgbClr val="2A3A60"/>
            </a:solidFill>
          </a:ln>
        </p:spPr>
      </p:pic>
      <p:pic>
        <p:nvPicPr>
          <p:cNvPr id="10" name="Picture 9" descr="policy_537.jpg"/>
          <p:cNvPicPr>
            <a:picLocks noChangeAspect="1"/>
          </p:cNvPicPr>
          <p:nvPr/>
        </p:nvPicPr>
        <p:blipFill>
          <a:blip r:embed="rId5"/>
          <a:srcRect t="33124" b="17124"/>
          <a:stretch>
            <a:fillRect/>
          </a:stretch>
        </p:blipFill>
        <p:spPr>
          <a:xfrm>
            <a:off x="5806440" y="4297680"/>
            <a:ext cx="3566160" cy="2011680"/>
          </a:xfrm>
          <a:prstGeom prst="roundRect">
            <a:avLst>
              <a:gd name="adj" fmla="val 1000"/>
            </a:avLst>
          </a:prstGeom>
          <a:ln w="9525">
            <a:solidFill>
              <a:srgbClr val="2A3A60"/>
            </a:solidFill>
          </a:ln>
        </p:spPr>
      </p:pic>
      <p:sp>
        <p:nvSpPr>
          <p:cNvPr id="11" name="Rectangle 10"/>
          <p:cNvSpPr/>
          <p:nvPr/>
        </p:nvSpPr>
        <p:spPr>
          <a:xfrm>
            <a:off x="5916168" y="4407408"/>
            <a:ext cx="3103880" cy="255905"/>
          </a:xfrm>
          <a:prstGeom prst="roundRect">
            <a:avLst>
              <a:gd name="adj" fmla="val 25000"/>
            </a:avLst>
          </a:prstGeom>
          <a:solidFill>
            <a:srgbClr val="F6B44B"/>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marL="0" indent="0" algn="ctr">
              <a:lnSpc>
                <a:spcPct val="100000"/>
              </a:lnSpc>
              <a:spcBef>
                <a:spcPts val="0"/>
              </a:spcBef>
              <a:spcAft>
                <a:spcPts val="0"/>
              </a:spcAft>
              <a:buNone/>
            </a:pPr>
            <a:r>
              <a:rPr sz="1300" b="1" i="0">
                <a:solidFill>
                  <a:srgbClr val="05070D"/>
                </a:solidFill>
                <a:latin typeface="Aptos"/>
              </a:rPr>
              <a:t>Policy 5.3.7 language, Feb 2026</a:t>
            </a:r>
          </a:p>
        </p:txBody>
      </p:sp>
      <p:pic>
        <p:nvPicPr>
          <p:cNvPr id="12" name="Picture 11" descr="news_invadingsea.jpg"/>
          <p:cNvPicPr>
            <a:picLocks noChangeAspect="1"/>
          </p:cNvPicPr>
          <p:nvPr/>
        </p:nvPicPr>
        <p:blipFill>
          <a:blip r:embed="rId6"/>
          <a:stretch>
            <a:fillRect/>
          </a:stretch>
        </p:blipFill>
        <p:spPr>
          <a:xfrm>
            <a:off x="9509760" y="4043920"/>
            <a:ext cx="2130552" cy="2263166"/>
          </a:xfrm>
          <a:prstGeom prst="roundRect">
            <a:avLst>
              <a:gd name="adj" fmla="val 1000"/>
            </a:avLst>
          </a:prstGeom>
          <a:ln w="9525">
            <a:solidFill>
              <a:srgbClr val="2A3A60"/>
            </a:solidFill>
          </a:ln>
        </p:spPr>
      </p:pic>
      <p:sp>
        <p:nvSpPr>
          <p:cNvPr id="13" name="TextBox 12"/>
          <p:cNvSpPr txBox="1"/>
          <p:nvPr/>
        </p:nvSpPr>
        <p:spPr>
          <a:xfrm>
            <a:off x="9509760" y="3941063"/>
            <a:ext cx="213055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A79F88"/>
                </a:solidFill>
                <a:latin typeface="Aptos"/>
              </a:rPr>
              <a:t>UF College of the Arts, Mar 2026</a:t>
            </a:r>
          </a:p>
        </p:txBody>
      </p:sp>
      <p:sp>
        <p:nvSpPr>
          <p:cNvPr id="14" name="TextBox 13"/>
          <p:cNvSpPr txBox="1"/>
          <p:nvPr/>
        </p:nvSpPr>
        <p:spPr>
          <a:xfrm>
            <a:off x="9509760" y="6327648"/>
            <a:ext cx="213055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A79F88"/>
                </a:solidFill>
                <a:latin typeface="Aptos"/>
              </a:rPr>
              <a:t>The Invading Sea, Jan 2026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WHY A VERSION 2</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v1 told a story. v2 has to answer “How do you know?”</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4</a:t>
            </a:r>
          </a:p>
        </p:txBody>
      </p:sp>
      <p:pic>
        <p:nvPicPr>
          <p:cNvPr id="6" name="Picture 5" descr="v1_app.jpg"/>
          <p:cNvPicPr>
            <a:picLocks noChangeAspect="1"/>
          </p:cNvPicPr>
          <p:nvPr/>
        </p:nvPicPr>
        <p:blipFill>
          <a:blip r:embed="rId3"/>
          <a:srcRect l="7117" r="7117" b="5000"/>
          <a:stretch>
            <a:fillRect/>
          </a:stretch>
        </p:blipFill>
        <p:spPr>
          <a:xfrm>
            <a:off x="548640" y="1371600"/>
            <a:ext cx="5440680" cy="3063240"/>
          </a:xfrm>
          <a:prstGeom prst="roundRect">
            <a:avLst>
              <a:gd name="adj" fmla="val 1500"/>
            </a:avLst>
          </a:prstGeom>
          <a:ln w="9525">
            <a:solidFill>
              <a:srgbClr val="2A3A60"/>
            </a:solidFill>
          </a:ln>
        </p:spPr>
      </p:pic>
      <p:sp>
        <p:nvSpPr>
          <p:cNvPr id="7" name="Rectangle 6"/>
          <p:cNvSpPr/>
          <p:nvPr/>
        </p:nvSpPr>
        <p:spPr>
          <a:xfrm>
            <a:off x="658368" y="1481328"/>
            <a:ext cx="1254760" cy="255905"/>
          </a:xfrm>
          <a:prstGeom prst="roundRect">
            <a:avLst>
              <a:gd name="adj" fmla="val 25000"/>
            </a:avLst>
          </a:prstGeom>
          <a:solidFill>
            <a:srgbClr val="F6B44B"/>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marL="0" indent="0" algn="ctr">
              <a:lnSpc>
                <a:spcPct val="100000"/>
              </a:lnSpc>
              <a:spcBef>
                <a:spcPts val="0"/>
              </a:spcBef>
              <a:spcAft>
                <a:spcPts val="0"/>
              </a:spcAft>
              <a:buNone/>
            </a:pPr>
            <a:r>
              <a:rPr sz="1300" b="1" i="0">
                <a:solidFill>
                  <a:srgbClr val="05070D"/>
                </a:solidFill>
                <a:latin typeface="Aptos"/>
              </a:rPr>
              <a:t>v1  ·  2025</a:t>
            </a:r>
          </a:p>
        </p:txBody>
      </p:sp>
      <p:pic>
        <p:nvPicPr>
          <p:cNvPr id="8" name="Picture 7" descr="overview.jpg"/>
          <p:cNvPicPr>
            <a:picLocks noChangeAspect="1"/>
          </p:cNvPicPr>
          <p:nvPr/>
        </p:nvPicPr>
        <p:blipFill>
          <a:blip r:embed="rId4"/>
          <a:srcRect l="26" r="26"/>
          <a:stretch>
            <a:fillRect/>
          </a:stretch>
        </p:blipFill>
        <p:spPr>
          <a:xfrm>
            <a:off x="6199632" y="1371600"/>
            <a:ext cx="5440680" cy="3063240"/>
          </a:xfrm>
          <a:prstGeom prst="roundRect">
            <a:avLst>
              <a:gd name="adj" fmla="val 1500"/>
            </a:avLst>
          </a:prstGeom>
          <a:ln w="9525">
            <a:solidFill>
              <a:srgbClr val="2A3A60"/>
            </a:solidFill>
          </a:ln>
        </p:spPr>
      </p:pic>
      <p:sp>
        <p:nvSpPr>
          <p:cNvPr id="9" name="Rectangle 8"/>
          <p:cNvSpPr/>
          <p:nvPr/>
        </p:nvSpPr>
        <p:spPr>
          <a:xfrm>
            <a:off x="6309360" y="1481328"/>
            <a:ext cx="1254760" cy="255905"/>
          </a:xfrm>
          <a:prstGeom prst="roundRect">
            <a:avLst>
              <a:gd name="adj" fmla="val 25000"/>
            </a:avLst>
          </a:prstGeom>
          <a:solidFill>
            <a:srgbClr val="F6B44B"/>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marL="0" indent="0" algn="ctr">
              <a:lnSpc>
                <a:spcPct val="100000"/>
              </a:lnSpc>
              <a:spcBef>
                <a:spcPts val="0"/>
              </a:spcBef>
              <a:spcAft>
                <a:spcPts val="0"/>
              </a:spcAft>
              <a:buNone/>
            </a:pPr>
            <a:r>
              <a:rPr sz="1300" b="1" i="0">
                <a:solidFill>
                  <a:srgbClr val="05070D"/>
                </a:solidFill>
                <a:latin typeface="Aptos"/>
              </a:rPr>
              <a:t>v2  ·  2026</a:t>
            </a:r>
          </a:p>
        </p:txBody>
      </p:sp>
      <p:sp>
        <p:nvSpPr>
          <p:cNvPr id="10" name="TextBox 9"/>
          <p:cNvSpPr txBox="1"/>
          <p:nvPr/>
        </p:nvSpPr>
        <p:spPr>
          <a:xfrm>
            <a:off x="548640" y="4663440"/>
            <a:ext cx="5440680" cy="17373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Hand-tuned multipliers, built in a month</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Persuasive headline numbers (“$1.9M a year saved”) that nobody could audit</a:t>
            </a:r>
          </a:p>
        </p:txBody>
      </p:sp>
      <p:sp>
        <p:nvSpPr>
          <p:cNvPr id="11" name="TextBox 10"/>
          <p:cNvSpPr txBox="1"/>
          <p:nvPr/>
        </p:nvSpPr>
        <p:spPr>
          <a:xfrm>
            <a:off x="6199632" y="4663440"/>
            <a:ext cx="5440680" cy="17373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Physics for the sky, public data for the lights, </a:t>
            </a:r>
            <a:r>
              <a:rPr sz="1800" b="1" i="0">
                <a:solidFill>
                  <a:srgbClr val="F6B44B"/>
                </a:solidFill>
                <a:latin typeface="Aptos"/>
              </a:rPr>
              <a:t>AI only where data can teach</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Every number labeled a planning projection; runs on a phone, no server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SIMULATOR</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v2 at a glance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5</a:t>
            </a:r>
          </a:p>
        </p:txBody>
      </p:sp>
      <p:sp>
        <p:nvSpPr>
          <p:cNvPr id="6" name="TextBox 5"/>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1" i="0">
                <a:solidFill>
                  <a:srgbClr val="F6B44B"/>
                </a:solidFill>
                <a:latin typeface="Aptos"/>
              </a:rPr>
              <a:t>8 counties</a:t>
            </a:r>
            <a:r>
              <a:rPr sz="1900" b="0" i="0">
                <a:solidFill>
                  <a:srgbClr val="D9D2BD"/>
                </a:solidFill>
                <a:latin typeface="Aptos"/>
              </a:rPr>
              <a:t>: Alachua, Levy and six neighbors, ~0.4 km cells</a:t>
            </a:r>
          </a:p>
          <a:p>
            <a:pPr marL="256032" indent="-256032">
              <a:lnSpc>
                <a:spcPct val="100000"/>
              </a:lnSpc>
              <a:spcBef>
                <a:spcPts val="1200"/>
              </a:spcBef>
              <a:spcAft>
                <a:spcPts val="0"/>
              </a:spcAft>
              <a:buClr>
                <a:srgbClr val="F6B44B"/>
              </a:buClr>
              <a:buSzPct val="100000"/>
              <a:buFont typeface="Arial"/>
              <a:buChar char="•"/>
            </a:pPr>
            <a:r>
              <a:rPr sz="1900" b="1" i="0">
                <a:solidFill>
                  <a:srgbClr val="F6B44B"/>
                </a:solidFill>
                <a:latin typeface="Aptos"/>
              </a:rPr>
              <a:t>~817,000</a:t>
            </a:r>
            <a:r>
              <a:rPr sz="1900" b="0" i="0">
                <a:solidFill>
                  <a:srgbClr val="D9D2BD"/>
                </a:solidFill>
                <a:latin typeface="Aptos"/>
              </a:rPr>
              <a:t> modeled light sources: streetlights, homes and businesses, sports fields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Map: modeled zenith sky brightness (mag/arcsec²); yellow = urban, black = near natural</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Seven tabs: Scenario · Sites · Costs · Observatory · Stargaze · </a:t>
            </a:r>
            <a:r>
              <a:rPr sz="1900" b="1" i="0">
                <a:solidFill>
                  <a:srgbClr val="F6B44B"/>
                </a:solidFill>
                <a:latin typeface="Aptos"/>
              </a:rPr>
              <a:t>AI</a:t>
            </a:r>
            <a:r>
              <a:rPr sz="1900" b="0" i="0">
                <a:solidFill>
                  <a:srgbClr val="D9D2BD"/>
                </a:solidFill>
                <a:latin typeface="Aptos"/>
              </a:rPr>
              <a:t> · Brief</a:t>
            </a:r>
          </a:p>
        </p:txBody>
      </p:sp>
      <p:pic>
        <p:nvPicPr>
          <p:cNvPr id="7" name="05_overview.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8" name="TextBox 7"/>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Scenario tab with today's modeled sky. Amber badge on every screen: “Uncalibrated planning projection”.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HOW IT WORKS</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Heavy work offline, instant scenarios in the browser</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6</a:t>
            </a:r>
          </a:p>
        </p:txBody>
      </p:sp>
      <p:sp>
        <p:nvSpPr>
          <p:cNvPr id="6" name="Rectangle 5"/>
          <p:cNvSpPr/>
          <p:nvPr/>
        </p:nvSpPr>
        <p:spPr>
          <a:xfrm>
            <a:off x="548640" y="1508760"/>
            <a:ext cx="2487168" cy="502920"/>
          </a:xfrm>
          <a:prstGeom prst="roundRect">
            <a:avLst>
              <a:gd name="adj" fmla="val 12000"/>
            </a:avLst>
          </a:prstGeom>
          <a:solidFill>
            <a:srgbClr val="D9D2BD"/>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Public data</a:t>
            </a:r>
          </a:p>
        </p:txBody>
      </p:sp>
      <p:sp>
        <p:nvSpPr>
          <p:cNvPr id="7" name="Rectangle 6"/>
          <p:cNvSpPr/>
          <p:nvPr/>
        </p:nvSpPr>
        <p:spPr>
          <a:xfrm>
            <a:off x="548640" y="2103120"/>
            <a:ext cx="2487168" cy="2240280"/>
          </a:xfrm>
          <a:prstGeom prst="roundRect">
            <a:avLst>
              <a:gd name="adj" fmla="val 5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NASA VIIRS night lights</a:t>
            </a:r>
          </a:p>
          <a:p>
            <a:pPr marL="0" indent="0" algn="ctr">
              <a:lnSpc>
                <a:spcPct val="110000"/>
              </a:lnSpc>
              <a:spcBef>
                <a:spcPts val="0"/>
              </a:spcBef>
              <a:spcAft>
                <a:spcPts val="0"/>
              </a:spcAft>
              <a:buNone/>
            </a:pPr>
            <a:r>
              <a:rPr sz="1500" b="0" i="0">
                <a:solidFill>
                  <a:srgbClr val="F5F1E6"/>
                </a:solidFill>
                <a:latin typeface="Aptos"/>
              </a:rPr>
              <a:t>(Google Earth Engine)</a:t>
            </a:r>
          </a:p>
          <a:p>
            <a:pPr marL="0" indent="0" algn="ctr">
              <a:lnSpc>
                <a:spcPct val="110000"/>
              </a:lnSpc>
              <a:spcBef>
                <a:spcPts val="0"/>
              </a:spcBef>
              <a:spcAft>
                <a:spcPts val="0"/>
              </a:spcAft>
              <a:buNone/>
            </a:pPr>
            <a:r>
              <a:rPr sz="1500" b="0" i="0">
                <a:solidFill>
                  <a:srgbClr val="F5F1E6"/>
                </a:solidFill>
                <a:latin typeface="Aptos"/>
              </a:rPr>
              <a:t>Census · OpenStreetMap</a:t>
            </a:r>
          </a:p>
          <a:p>
            <a:pPr marL="0" indent="0" algn="ctr">
              <a:lnSpc>
                <a:spcPct val="110000"/>
              </a:lnSpc>
              <a:spcBef>
                <a:spcPts val="0"/>
              </a:spcBef>
              <a:spcAft>
                <a:spcPts val="0"/>
              </a:spcAft>
              <a:buNone/>
            </a:pPr>
            <a:r>
              <a:rPr sz="1500" b="0" i="0">
                <a:solidFill>
                  <a:srgbClr val="F5F1E6"/>
                </a:solidFill>
                <a:latin typeface="Aptos"/>
              </a:rPr>
              <a:t>streetlight inventories</a:t>
            </a:r>
          </a:p>
          <a:p>
            <a:pPr marL="0" indent="0" algn="ctr">
              <a:lnSpc>
                <a:spcPct val="110000"/>
              </a:lnSpc>
              <a:spcBef>
                <a:spcPts val="0"/>
              </a:spcBef>
              <a:spcAft>
                <a:spcPts val="0"/>
              </a:spcAft>
              <a:buNone/>
            </a:pPr>
            <a:r>
              <a:rPr sz="1500" b="0" i="0">
                <a:solidFill>
                  <a:srgbClr val="F5F1E6"/>
                </a:solidFill>
                <a:latin typeface="Aptos"/>
              </a:rPr>
              <a:t>parcels · elevation</a:t>
            </a:r>
          </a:p>
          <a:p>
            <a:pPr marL="0" indent="0" algn="ctr">
              <a:lnSpc>
                <a:spcPct val="110000"/>
              </a:lnSpc>
              <a:spcBef>
                <a:spcPts val="0"/>
              </a:spcBef>
              <a:spcAft>
                <a:spcPts val="0"/>
              </a:spcAft>
              <a:buNone/>
            </a:pPr>
            <a:r>
              <a:rPr sz="1500" b="0" i="0">
                <a:solidFill>
                  <a:srgbClr val="F5F1E6"/>
                </a:solidFill>
                <a:latin typeface="Aptos"/>
              </a:rPr>
              <a:t>Globe at Night meters</a:t>
            </a:r>
          </a:p>
        </p:txBody>
      </p:sp>
      <p:cxnSp>
        <p:nvCxnSpPr>
          <p:cNvPr id="8" name="Connector 7"/>
          <p:cNvCxnSpPr/>
          <p:nvPr/>
        </p:nvCxnSpPr>
        <p:spPr>
          <a:xfrm>
            <a:off x="3072384" y="3200400"/>
            <a:ext cx="310896"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419856" y="1508760"/>
            <a:ext cx="2487168" cy="502920"/>
          </a:xfrm>
          <a:prstGeom prst="roundRect">
            <a:avLst>
              <a:gd name="adj" fmla="val 12000"/>
            </a:avLst>
          </a:prstGeom>
          <a:solidFill>
            <a:srgbClr val="F6B44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Offline pipeline · Python</a:t>
            </a:r>
          </a:p>
        </p:txBody>
      </p:sp>
      <p:sp>
        <p:nvSpPr>
          <p:cNvPr id="10" name="Rectangle 9"/>
          <p:cNvSpPr/>
          <p:nvPr/>
        </p:nvSpPr>
        <p:spPr>
          <a:xfrm>
            <a:off x="3419856" y="2103120"/>
            <a:ext cx="2487168" cy="2240280"/>
          </a:xfrm>
          <a:prstGeom prst="roundRect">
            <a:avLst>
              <a:gd name="adj" fmla="val 5000"/>
            </a:avLst>
          </a:prstGeom>
          <a:solidFill>
            <a:srgbClr val="1A2642"/>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Atmospheric scattering</a:t>
            </a:r>
          </a:p>
          <a:p>
            <a:pPr marL="0" indent="0" algn="ctr">
              <a:lnSpc>
                <a:spcPct val="110000"/>
              </a:lnSpc>
              <a:spcBef>
                <a:spcPts val="0"/>
              </a:spcBef>
              <a:spcAft>
                <a:spcPts val="0"/>
              </a:spcAft>
              <a:buNone/>
            </a:pPr>
            <a:r>
              <a:rPr sz="1500" b="0" i="0">
                <a:solidFill>
                  <a:srgbClr val="F5F1E6"/>
                </a:solidFill>
                <a:latin typeface="Aptos"/>
              </a:rPr>
              <a:t>kernels (Garstang)</a:t>
            </a:r>
          </a:p>
          <a:p>
            <a:pPr marL="0" indent="0" algn="ctr">
              <a:lnSpc>
                <a:spcPct val="110000"/>
              </a:lnSpc>
              <a:spcBef>
                <a:spcPts val="0"/>
              </a:spcBef>
              <a:spcAft>
                <a:spcPts val="0"/>
              </a:spcAft>
              <a:buNone/>
            </a:pPr>
            <a:r>
              <a:rPr sz="1500" b="0" i="0">
                <a:solidFill>
                  <a:srgbClr val="F5F1E6"/>
                </a:solidFill>
                <a:latin typeface="Aptos"/>
              </a:rPr>
              <a:t>place every fixture</a:t>
            </a:r>
          </a:p>
          <a:p>
            <a:pPr marL="0" indent="0" algn="ctr">
              <a:lnSpc>
                <a:spcPct val="110000"/>
              </a:lnSpc>
              <a:spcBef>
                <a:spcPts val="0"/>
              </a:spcBef>
              <a:spcAft>
                <a:spcPts val="0"/>
              </a:spcAft>
              <a:buNone/>
            </a:pPr>
            <a:r>
              <a:rPr sz="1500" b="0" i="0">
                <a:solidFill>
                  <a:srgbClr val="F5F1E6"/>
                </a:solidFill>
                <a:latin typeface="Aptos"/>
              </a:rPr>
              <a:t>AI: change detector</a:t>
            </a:r>
          </a:p>
          <a:p>
            <a:pPr marL="0" indent="0" algn="ctr">
              <a:lnSpc>
                <a:spcPct val="110000"/>
              </a:lnSpc>
              <a:spcBef>
                <a:spcPts val="0"/>
              </a:spcBef>
              <a:spcAft>
                <a:spcPts val="0"/>
              </a:spcAft>
              <a:buNone/>
            </a:pPr>
            <a:r>
              <a:rPr sz="1500" b="0" i="0">
                <a:solidFill>
                  <a:srgbClr val="F5F1E6"/>
                </a:solidFill>
                <a:latin typeface="Aptos"/>
              </a:rPr>
              <a:t>+ LightGBM forecast</a:t>
            </a:r>
          </a:p>
        </p:txBody>
      </p:sp>
      <p:cxnSp>
        <p:nvCxnSpPr>
          <p:cNvPr id="11" name="Connector 10"/>
          <p:cNvCxnSpPr/>
          <p:nvPr/>
        </p:nvCxnSpPr>
        <p:spPr>
          <a:xfrm>
            <a:off x="5943600" y="3200400"/>
            <a:ext cx="310896"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291072" y="1508760"/>
            <a:ext cx="2487168" cy="502920"/>
          </a:xfrm>
          <a:prstGeom prst="roundRect">
            <a:avLst>
              <a:gd name="adj" fmla="val 12000"/>
            </a:avLst>
          </a:prstGeom>
          <a:solidFill>
            <a:srgbClr val="D9D2BD"/>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Static data package</a:t>
            </a:r>
          </a:p>
        </p:txBody>
      </p:sp>
      <p:sp>
        <p:nvSpPr>
          <p:cNvPr id="13" name="Rectangle 12"/>
          <p:cNvSpPr/>
          <p:nvPr/>
        </p:nvSpPr>
        <p:spPr>
          <a:xfrm>
            <a:off x="6291072" y="2103120"/>
            <a:ext cx="2487168" cy="2240280"/>
          </a:xfrm>
          <a:prstGeom prst="roundRect">
            <a:avLst>
              <a:gd name="adj" fmla="val 5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16-bit grids + JSON</a:t>
            </a:r>
          </a:p>
          <a:p>
            <a:pPr marL="0" indent="0" algn="ctr">
              <a:lnSpc>
                <a:spcPct val="110000"/>
              </a:lnSpc>
              <a:spcBef>
                <a:spcPts val="0"/>
              </a:spcBef>
              <a:spcAft>
                <a:spcPts val="0"/>
              </a:spcAft>
              <a:buNone/>
            </a:pPr>
            <a:r>
              <a:rPr sz="1500" b="0" i="0">
                <a:solidFill>
                  <a:srgbClr val="F5F1E6"/>
                </a:solidFill>
                <a:latin typeface="Aptos"/>
              </a:rPr>
              <a:t>one layer per</a:t>
            </a:r>
          </a:p>
          <a:p>
            <a:pPr marL="0" indent="0" algn="ctr">
              <a:lnSpc>
                <a:spcPct val="110000"/>
              </a:lnSpc>
              <a:spcBef>
                <a:spcPts val="0"/>
              </a:spcBef>
              <a:spcAft>
                <a:spcPts val="0"/>
              </a:spcAft>
              <a:buNone/>
            </a:pPr>
            <a:r>
              <a:rPr sz="1500" b="0" i="0">
                <a:solidFill>
                  <a:srgbClr val="F5F1E6"/>
                </a:solidFill>
                <a:latin typeface="Aptos"/>
              </a:rPr>
              <a:t>fixture group × county</a:t>
            </a:r>
          </a:p>
          <a:p>
            <a:pPr marL="0" indent="0" algn="ctr">
              <a:lnSpc>
                <a:spcPct val="110000"/>
              </a:lnSpc>
              <a:spcBef>
                <a:spcPts val="0"/>
              </a:spcBef>
              <a:spcAft>
                <a:spcPts val="0"/>
              </a:spcAft>
              <a:buNone/>
            </a:pPr>
            <a:r>
              <a:rPr sz="1500" b="0" i="0">
                <a:solidFill>
                  <a:srgbClr val="F5F1E6"/>
                </a:solidFill>
                <a:latin typeface="Aptos"/>
              </a:rPr>
              <a:t>(basis layers)</a:t>
            </a:r>
          </a:p>
        </p:txBody>
      </p:sp>
      <p:cxnSp>
        <p:nvCxnSpPr>
          <p:cNvPr id="14" name="Connector 13"/>
          <p:cNvCxnSpPr/>
          <p:nvPr/>
        </p:nvCxnSpPr>
        <p:spPr>
          <a:xfrm>
            <a:off x="8814815" y="3200400"/>
            <a:ext cx="310897"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9162288" y="1508760"/>
            <a:ext cx="2487168" cy="502920"/>
          </a:xfrm>
          <a:prstGeom prst="roundRect">
            <a:avLst>
              <a:gd name="adj" fmla="val 12000"/>
            </a:avLst>
          </a:prstGeom>
          <a:solidFill>
            <a:srgbClr val="F6B44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Browser · React + MapLibre</a:t>
            </a:r>
          </a:p>
        </p:txBody>
      </p:sp>
      <p:sp>
        <p:nvSpPr>
          <p:cNvPr id="16" name="Rectangle 15"/>
          <p:cNvSpPr/>
          <p:nvPr/>
        </p:nvSpPr>
        <p:spPr>
          <a:xfrm>
            <a:off x="9162288" y="2103120"/>
            <a:ext cx="2487168" cy="2240280"/>
          </a:xfrm>
          <a:prstGeom prst="roundRect">
            <a:avLst>
              <a:gd name="adj" fmla="val 5000"/>
            </a:avLst>
          </a:prstGeom>
          <a:solidFill>
            <a:srgbClr val="1A2642"/>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sky = weighted sum</a:t>
            </a:r>
          </a:p>
          <a:p>
            <a:pPr marL="0" indent="0" algn="ctr">
              <a:lnSpc>
                <a:spcPct val="110000"/>
              </a:lnSpc>
              <a:spcBef>
                <a:spcPts val="0"/>
              </a:spcBef>
              <a:spcAft>
                <a:spcPts val="0"/>
              </a:spcAft>
              <a:buNone/>
            </a:pPr>
            <a:r>
              <a:rPr sz="1500" b="0" i="0">
                <a:solidFill>
                  <a:srgbClr val="F5F1E6"/>
                </a:solidFill>
                <a:latin typeface="Aptos"/>
              </a:rPr>
              <a:t>of basis layers</a:t>
            </a:r>
          </a:p>
          <a:p>
            <a:pPr marL="0" indent="0" algn="ctr">
              <a:lnSpc>
                <a:spcPct val="110000"/>
              </a:lnSpc>
              <a:spcBef>
                <a:spcPts val="0"/>
              </a:spcBef>
              <a:spcAft>
                <a:spcPts val="0"/>
              </a:spcAft>
              <a:buNone/>
            </a:pPr>
            <a:r>
              <a:rPr sz="1500" b="0" i="0">
                <a:solidFill>
                  <a:srgbClr val="F5F1E6"/>
                </a:solidFill>
                <a:latin typeface="Aptos"/>
              </a:rPr>
              <a:t>~55 ms per scenario</a:t>
            </a:r>
          </a:p>
          <a:p>
            <a:pPr marL="0" indent="0" algn="ctr">
              <a:lnSpc>
                <a:spcPct val="110000"/>
              </a:lnSpc>
              <a:spcBef>
                <a:spcPts val="0"/>
              </a:spcBef>
              <a:spcAft>
                <a:spcPts val="0"/>
              </a:spcAft>
              <a:buNone/>
            </a:pPr>
            <a:r>
              <a:rPr sz="1500" b="0" i="0">
                <a:solidFill>
                  <a:srgbClr val="F5F1E6"/>
                </a:solidFill>
                <a:latin typeface="Aptos"/>
              </a:rPr>
              <a:t>map · 3D · charts · PDF</a:t>
            </a:r>
          </a:p>
        </p:txBody>
      </p:sp>
      <p:pic>
        <p:nvPicPr>
          <p:cNvPr id="17" name="Picture 16" descr="skysum_light.png"/>
          <p:cNvPicPr>
            <a:picLocks noChangeAspect="1"/>
          </p:cNvPicPr>
          <p:nvPr/>
        </p:nvPicPr>
        <p:blipFill>
          <a:blip r:embed="rId3"/>
          <a:stretch>
            <a:fillRect/>
          </a:stretch>
        </p:blipFill>
        <p:spPr>
          <a:xfrm>
            <a:off x="548640" y="4572000"/>
            <a:ext cx="6472009" cy="566928"/>
          </a:xfrm>
          <a:prstGeom prst="rect">
            <a:avLst/>
          </a:prstGeom>
        </p:spPr>
      </p:pic>
      <p:sp>
        <p:nvSpPr>
          <p:cNvPr id="18" name="TextBox 17"/>
          <p:cNvSpPr txBox="1"/>
          <p:nvPr/>
        </p:nvSpPr>
        <p:spPr>
          <a:xfrm>
            <a:off x="548640" y="5303520"/>
            <a:ext cx="11064240" cy="10972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0" i="0">
                <a:solidFill>
                  <a:srgbClr val="D9D2BD"/>
                </a:solidFill>
                <a:latin typeface="Aptos"/>
              </a:rPr>
              <a:t>Skyglow adds linearly, so any ordinance is a re-weighting of precomputed layers: a phone can explore it instantly</a:t>
            </a:r>
          </a:p>
          <a:p>
            <a:pPr marL="256032" indent="-256032">
              <a:lnSpc>
                <a:spcPct val="100000"/>
              </a:lnSpc>
              <a:spcBef>
                <a:spcPts val="400"/>
              </a:spcBef>
              <a:spcAft>
                <a:spcPts val="0"/>
              </a:spcAft>
              <a:buClr>
                <a:srgbClr val="F6B44B"/>
              </a:buClr>
              <a:buSzPct val="100000"/>
              <a:buFont typeface="Arial"/>
              <a:buChar char="•"/>
            </a:pPr>
            <a:r>
              <a:rPr sz="1700" b="0" i="0">
                <a:solidFill>
                  <a:srgbClr val="D9D2BD"/>
                </a:solidFill>
                <a:latin typeface="Aptos"/>
              </a:rPr>
              <a:t>The sky is a published single-scattering model (Garstang 1986), </a:t>
            </a:r>
            <a:r>
              <a:rPr sz="1700" b="1" i="0">
                <a:solidFill>
                  <a:srgbClr val="F6B44B"/>
                </a:solidFill>
                <a:latin typeface="Aptos"/>
              </a:rPr>
              <a:t>not</a:t>
            </a:r>
            <a:r>
              <a:rPr sz="1700" b="0" i="0">
                <a:solidFill>
                  <a:srgbClr val="D9D2BD"/>
                </a:solidFill>
                <a:latin typeface="Aptos"/>
              </a:rPr>
              <a:t> a neural network</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One click: a Groveland-style ordinance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7</a:t>
            </a:r>
          </a:p>
        </p:txBody>
      </p:sp>
      <p:sp>
        <p:nvSpPr>
          <p:cNvPr id="6" name="TextBox 5"/>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Groveland: Florida's first dark-sky city</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Full shielding (U0), </a:t>
            </a:r>
            <a:r>
              <a:rPr sz="1900" b="1" i="0">
                <a:solidFill>
                  <a:srgbClr val="F6B44B"/>
                </a:solidFill>
                <a:latin typeface="Aptos"/>
              </a:rPr>
              <a:t>3000 K</a:t>
            </a:r>
            <a:r>
              <a:rPr sz="1900" b="0" i="0">
                <a:solidFill>
                  <a:srgbClr val="D9D2BD"/>
                </a:solidFill>
                <a:latin typeface="Aptos"/>
              </a:rPr>
              <a:t> cap, dim to 50% from 22:00 to 06:30</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Paynes Prairie: </a:t>
            </a:r>
            <a:r>
              <a:rPr sz="1900" b="1" i="0">
                <a:solidFill>
                  <a:srgbClr val="F6B44B"/>
                </a:solidFill>
                <a:latin typeface="Aptos"/>
              </a:rPr>
              <a:t>20.98 → 21.62</a:t>
            </a:r>
            <a:r>
              <a:rPr sz="1900" b="0" i="0">
                <a:solidFill>
                  <a:srgbClr val="D9D2BD"/>
                </a:solidFill>
                <a:latin typeface="Aptos"/>
              </a:rPr>
              <a:t> mag/arcsec² if every light complies; </a:t>
            </a:r>
            <a:r>
              <a:rPr sz="1900" b="1" i="0">
                <a:solidFill>
                  <a:srgbClr val="F6B44B"/>
                </a:solidFill>
                <a:latin typeface="Aptos"/>
              </a:rPr>
              <a:t>21.30</a:t>
            </a:r>
            <a:r>
              <a:rPr sz="1900" b="0" i="0">
                <a:solidFill>
                  <a:srgbClr val="D9D2BD"/>
                </a:solidFill>
                <a:latin typeface="Aptos"/>
              </a:rPr>
              <a:t> with public lights alone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Blue = darker sky, and it crosses county lines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Public cost: </a:t>
            </a:r>
            <a:r>
              <a:rPr sz="1900" b="1" i="0">
                <a:solidFill>
                  <a:srgbClr val="F6B44B"/>
                </a:solidFill>
                <a:latin typeface="Aptos"/>
              </a:rPr>
              <a:t>$26.6M</a:t>
            </a:r>
            <a:r>
              <a:rPr sz="1900" b="0" i="0">
                <a:solidFill>
                  <a:srgbClr val="D9D2BD"/>
                </a:solidFill>
                <a:latin typeface="Aptos"/>
              </a:rPr>
              <a:t>, $1.43M/yr saved, 18.6-yr payback</a:t>
            </a:r>
          </a:p>
        </p:txBody>
      </p:sp>
      <p:pic>
        <p:nvPicPr>
          <p:cNvPr id="7" name="07_ordinance.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8" name="TextBox 7"/>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Change layer: where the sky gets darker (blue) under the ordinance; Budget card at top right.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  ·  COSTS</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What each government pays, and saves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8</a:t>
            </a:r>
          </a:p>
        </p:txBody>
      </p:sp>
      <p:sp>
        <p:nvSpPr>
          <p:cNvPr id="6" name="TextBox 5"/>
          <p:cNvSpPr txBox="1"/>
          <p:nvPr/>
        </p:nvSpPr>
        <p:spPr>
          <a:xfrm>
            <a:off x="548640" y="1280160"/>
            <a:ext cx="11064240" cy="4572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600" b="0" i="0">
                <a:solidFill>
                  <a:srgbClr val="D9D2BD"/>
                </a:solidFill>
                <a:latin typeface="Aptos"/>
              </a:rPr>
              <a:t>Right-sized public streetlights: </a:t>
            </a:r>
            <a:r>
              <a:rPr sz="1600" b="1" i="0">
                <a:solidFill>
                  <a:srgbClr val="F6B44B"/>
                </a:solidFill>
                <a:latin typeface="Aptos"/>
              </a:rPr>
              <a:t>fully shielded 3000 K LEDs at 30% lower output</a:t>
            </a:r>
            <a:r>
              <a:rPr sz="1600" b="0" i="0">
                <a:solidFill>
                  <a:srgbClr val="D9D2BD"/>
                </a:solidFill>
                <a:latin typeface="Aptos"/>
              </a:rPr>
              <a:t>, no smart controllers. Savings = energy + avoided maintenance, at each utility's rates.</a:t>
            </a:r>
          </a:p>
        </p:txBody>
      </p:sp>
      <p:sp>
        <p:nvSpPr>
          <p:cNvPr id="7" name="Rectangle 6"/>
          <p:cNvSpPr/>
          <p:nvPr/>
        </p:nvSpPr>
        <p:spPr>
          <a:xfrm>
            <a:off x="548640" y="178308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31520" y="1874519"/>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Alachua County</a:t>
            </a:r>
          </a:p>
        </p:txBody>
      </p:sp>
      <p:sp>
        <p:nvSpPr>
          <p:cNvPr id="9" name="TextBox 8"/>
          <p:cNvSpPr txBox="1"/>
          <p:nvPr/>
        </p:nvSpPr>
        <p:spPr>
          <a:xfrm>
            <a:off x="731520" y="1892807"/>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all public streetlights (43,517)</a:t>
            </a:r>
          </a:p>
        </p:txBody>
      </p:sp>
      <p:sp>
        <p:nvSpPr>
          <p:cNvPr id="10" name="TextBox 9"/>
          <p:cNvSpPr txBox="1"/>
          <p:nvPr/>
        </p:nvSpPr>
        <p:spPr>
          <a:xfrm>
            <a:off x="640080"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$15.3M</a:t>
            </a:r>
          </a:p>
        </p:txBody>
      </p:sp>
      <p:sp>
        <p:nvSpPr>
          <p:cNvPr id="11" name="TextBox 10"/>
          <p:cNvSpPr txBox="1"/>
          <p:nvPr/>
        </p:nvSpPr>
        <p:spPr>
          <a:xfrm>
            <a:off x="640080"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12" name="TextBox 11"/>
          <p:cNvSpPr txBox="1"/>
          <p:nvPr/>
        </p:nvSpPr>
        <p:spPr>
          <a:xfrm>
            <a:off x="1965960"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$2.55M</a:t>
            </a:r>
          </a:p>
        </p:txBody>
      </p:sp>
      <p:sp>
        <p:nvSpPr>
          <p:cNvPr id="13" name="TextBox 12"/>
          <p:cNvSpPr txBox="1"/>
          <p:nvPr/>
        </p:nvSpPr>
        <p:spPr>
          <a:xfrm>
            <a:off x="1965960"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14" name="TextBox 13"/>
          <p:cNvSpPr txBox="1"/>
          <p:nvPr/>
        </p:nvSpPr>
        <p:spPr>
          <a:xfrm>
            <a:off x="3291839"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6.0 yr</a:t>
            </a:r>
          </a:p>
        </p:txBody>
      </p:sp>
      <p:sp>
        <p:nvSpPr>
          <p:cNvPr id="15" name="TextBox 14"/>
          <p:cNvSpPr txBox="1"/>
          <p:nvPr/>
        </p:nvSpPr>
        <p:spPr>
          <a:xfrm>
            <a:off x="3291839"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16" name="TextBox 15"/>
          <p:cNvSpPr txBox="1"/>
          <p:nvPr/>
        </p:nvSpPr>
        <p:spPr>
          <a:xfrm>
            <a:off x="4617720"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+$23.0M</a:t>
            </a:r>
          </a:p>
        </p:txBody>
      </p:sp>
      <p:sp>
        <p:nvSpPr>
          <p:cNvPr id="17" name="TextBox 16"/>
          <p:cNvSpPr txBox="1"/>
          <p:nvPr/>
        </p:nvSpPr>
        <p:spPr>
          <a:xfrm>
            <a:off x="4617720"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18" name="Rectangle 17"/>
          <p:cNvSpPr/>
          <p:nvPr/>
        </p:nvSpPr>
        <p:spPr>
          <a:xfrm>
            <a:off x="6199631" y="1783080"/>
            <a:ext cx="5440680" cy="1325880"/>
          </a:xfrm>
          <a:prstGeom prst="roundRect">
            <a:avLst>
              <a:gd name="adj" fmla="val 6000"/>
            </a:avLst>
          </a:prstGeom>
          <a:solidFill>
            <a:srgbClr val="1A2642"/>
          </a:solidFill>
          <a:ln w="25400">
            <a:solidFill>
              <a:srgbClr val="F6B44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382512" y="1874519"/>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University of Florida*</a:t>
            </a:r>
          </a:p>
        </p:txBody>
      </p:sp>
      <p:sp>
        <p:nvSpPr>
          <p:cNvPr id="20" name="TextBox 19"/>
          <p:cNvSpPr txBox="1"/>
          <p:nvPr/>
        </p:nvSpPr>
        <p:spPr>
          <a:xfrm>
            <a:off x="6382512" y="1892807"/>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4,100 campus pole lights</a:t>
            </a:r>
          </a:p>
        </p:txBody>
      </p:sp>
      <p:sp>
        <p:nvSpPr>
          <p:cNvPr id="21" name="TextBox 20"/>
          <p:cNvSpPr txBox="1"/>
          <p:nvPr/>
        </p:nvSpPr>
        <p:spPr>
          <a:xfrm>
            <a:off x="6291071"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$984K</a:t>
            </a:r>
          </a:p>
        </p:txBody>
      </p:sp>
      <p:sp>
        <p:nvSpPr>
          <p:cNvPr id="22" name="TextBox 21"/>
          <p:cNvSpPr txBox="1"/>
          <p:nvPr/>
        </p:nvSpPr>
        <p:spPr>
          <a:xfrm>
            <a:off x="6291071"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23" name="TextBox 22"/>
          <p:cNvSpPr txBox="1"/>
          <p:nvPr/>
        </p:nvSpPr>
        <p:spPr>
          <a:xfrm>
            <a:off x="7616951"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$198K</a:t>
            </a:r>
          </a:p>
        </p:txBody>
      </p:sp>
      <p:sp>
        <p:nvSpPr>
          <p:cNvPr id="24" name="TextBox 23"/>
          <p:cNvSpPr txBox="1"/>
          <p:nvPr/>
        </p:nvSpPr>
        <p:spPr>
          <a:xfrm>
            <a:off x="7616951"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25" name="TextBox 24"/>
          <p:cNvSpPr txBox="1"/>
          <p:nvPr/>
        </p:nvSpPr>
        <p:spPr>
          <a:xfrm>
            <a:off x="8942832"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5.0 yr</a:t>
            </a:r>
          </a:p>
        </p:txBody>
      </p:sp>
      <p:sp>
        <p:nvSpPr>
          <p:cNvPr id="26" name="TextBox 25"/>
          <p:cNvSpPr txBox="1"/>
          <p:nvPr/>
        </p:nvSpPr>
        <p:spPr>
          <a:xfrm>
            <a:off x="8942832"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27" name="TextBox 26"/>
          <p:cNvSpPr txBox="1"/>
          <p:nvPr/>
        </p:nvSpPr>
        <p:spPr>
          <a:xfrm>
            <a:off x="10268711"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+$2.0M</a:t>
            </a:r>
          </a:p>
        </p:txBody>
      </p:sp>
      <p:sp>
        <p:nvSpPr>
          <p:cNvPr id="28" name="TextBox 27"/>
          <p:cNvSpPr txBox="1"/>
          <p:nvPr/>
        </p:nvSpPr>
        <p:spPr>
          <a:xfrm>
            <a:off x="10268711"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29" name="Rectangle 28"/>
          <p:cNvSpPr/>
          <p:nvPr/>
        </p:nvSpPr>
        <p:spPr>
          <a:xfrm>
            <a:off x="548640" y="324612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31520" y="333756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City of Gainesville</a:t>
            </a:r>
          </a:p>
        </p:txBody>
      </p:sp>
      <p:sp>
        <p:nvSpPr>
          <p:cNvPr id="31" name="TextBox 30"/>
          <p:cNvSpPr txBox="1"/>
          <p:nvPr/>
        </p:nvSpPr>
        <p:spPr>
          <a:xfrm>
            <a:off x="731520" y="335584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GRU streetlights (30,000)</a:t>
            </a:r>
          </a:p>
        </p:txBody>
      </p:sp>
      <p:sp>
        <p:nvSpPr>
          <p:cNvPr id="32" name="TextBox 31"/>
          <p:cNvSpPr txBox="1"/>
          <p:nvPr/>
        </p:nvSpPr>
        <p:spPr>
          <a:xfrm>
            <a:off x="640080"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$7.20M</a:t>
            </a:r>
          </a:p>
        </p:txBody>
      </p:sp>
      <p:sp>
        <p:nvSpPr>
          <p:cNvPr id="33" name="TextBox 32"/>
          <p:cNvSpPr txBox="1"/>
          <p:nvPr/>
        </p:nvSpPr>
        <p:spPr>
          <a:xfrm>
            <a:off x="640080"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34" name="TextBox 33"/>
          <p:cNvSpPr txBox="1"/>
          <p:nvPr/>
        </p:nvSpPr>
        <p:spPr>
          <a:xfrm>
            <a:off x="1965960"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$1.45M</a:t>
            </a:r>
          </a:p>
        </p:txBody>
      </p:sp>
      <p:sp>
        <p:nvSpPr>
          <p:cNvPr id="35" name="TextBox 34"/>
          <p:cNvSpPr txBox="1"/>
          <p:nvPr/>
        </p:nvSpPr>
        <p:spPr>
          <a:xfrm>
            <a:off x="1965960"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36" name="TextBox 35"/>
          <p:cNvSpPr txBox="1"/>
          <p:nvPr/>
        </p:nvSpPr>
        <p:spPr>
          <a:xfrm>
            <a:off x="3291839"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5.0 yr</a:t>
            </a:r>
          </a:p>
        </p:txBody>
      </p:sp>
      <p:sp>
        <p:nvSpPr>
          <p:cNvPr id="37" name="TextBox 36"/>
          <p:cNvSpPr txBox="1"/>
          <p:nvPr/>
        </p:nvSpPr>
        <p:spPr>
          <a:xfrm>
            <a:off x="3291839"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38" name="TextBox 37"/>
          <p:cNvSpPr txBox="1"/>
          <p:nvPr/>
        </p:nvSpPr>
        <p:spPr>
          <a:xfrm>
            <a:off x="4617720"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+$14.6M</a:t>
            </a:r>
          </a:p>
        </p:txBody>
      </p:sp>
      <p:sp>
        <p:nvSpPr>
          <p:cNvPr id="39" name="TextBox 38"/>
          <p:cNvSpPr txBox="1"/>
          <p:nvPr/>
        </p:nvSpPr>
        <p:spPr>
          <a:xfrm>
            <a:off x="4617720"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40" name="Rectangle 39"/>
          <p:cNvSpPr/>
          <p:nvPr/>
        </p:nvSpPr>
        <p:spPr>
          <a:xfrm>
            <a:off x="6199631" y="324612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6382512" y="333756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State roads (FDOT), Alachua</a:t>
            </a:r>
          </a:p>
        </p:txBody>
      </p:sp>
      <p:sp>
        <p:nvSpPr>
          <p:cNvPr id="42" name="TextBox 41"/>
          <p:cNvSpPr txBox="1"/>
          <p:nvPr/>
        </p:nvSpPr>
        <p:spPr>
          <a:xfrm>
            <a:off x="6382512" y="335584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1,500 state-road lights</a:t>
            </a:r>
          </a:p>
        </p:txBody>
      </p:sp>
      <p:sp>
        <p:nvSpPr>
          <p:cNvPr id="43" name="TextBox 42"/>
          <p:cNvSpPr txBox="1"/>
          <p:nvPr/>
        </p:nvSpPr>
        <p:spPr>
          <a:xfrm>
            <a:off x="6291071"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$900K</a:t>
            </a:r>
          </a:p>
        </p:txBody>
      </p:sp>
      <p:sp>
        <p:nvSpPr>
          <p:cNvPr id="44" name="TextBox 43"/>
          <p:cNvSpPr txBox="1"/>
          <p:nvPr/>
        </p:nvSpPr>
        <p:spPr>
          <a:xfrm>
            <a:off x="6291071"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45" name="TextBox 44"/>
          <p:cNvSpPr txBox="1"/>
          <p:nvPr/>
        </p:nvSpPr>
        <p:spPr>
          <a:xfrm>
            <a:off x="7616951"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$113K</a:t>
            </a:r>
          </a:p>
        </p:txBody>
      </p:sp>
      <p:sp>
        <p:nvSpPr>
          <p:cNvPr id="46" name="TextBox 45"/>
          <p:cNvSpPr txBox="1"/>
          <p:nvPr/>
        </p:nvSpPr>
        <p:spPr>
          <a:xfrm>
            <a:off x="7616951"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47" name="TextBox 46"/>
          <p:cNvSpPr txBox="1"/>
          <p:nvPr/>
        </p:nvSpPr>
        <p:spPr>
          <a:xfrm>
            <a:off x="8942832"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8.0 yr</a:t>
            </a:r>
          </a:p>
        </p:txBody>
      </p:sp>
      <p:sp>
        <p:nvSpPr>
          <p:cNvPr id="48" name="TextBox 47"/>
          <p:cNvSpPr txBox="1"/>
          <p:nvPr/>
        </p:nvSpPr>
        <p:spPr>
          <a:xfrm>
            <a:off x="8942832"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49" name="TextBox 48"/>
          <p:cNvSpPr txBox="1"/>
          <p:nvPr/>
        </p:nvSpPr>
        <p:spPr>
          <a:xfrm>
            <a:off x="10268711"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+$795K</a:t>
            </a:r>
          </a:p>
        </p:txBody>
      </p:sp>
      <p:sp>
        <p:nvSpPr>
          <p:cNvPr id="50" name="TextBox 49"/>
          <p:cNvSpPr txBox="1"/>
          <p:nvPr/>
        </p:nvSpPr>
        <p:spPr>
          <a:xfrm>
            <a:off x="10268711"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51" name="Rectangle 50"/>
          <p:cNvSpPr/>
          <p:nvPr/>
        </p:nvSpPr>
        <p:spPr>
          <a:xfrm>
            <a:off x="548640" y="470916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Box 51"/>
          <p:cNvSpPr txBox="1"/>
          <p:nvPr/>
        </p:nvSpPr>
        <p:spPr>
          <a:xfrm>
            <a:off x="731520" y="480060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Levy County</a:t>
            </a:r>
          </a:p>
        </p:txBody>
      </p:sp>
      <p:sp>
        <p:nvSpPr>
          <p:cNvPr id="53" name="TextBox 52"/>
          <p:cNvSpPr txBox="1"/>
          <p:nvPr/>
        </p:nvSpPr>
        <p:spPr>
          <a:xfrm>
            <a:off x="731520" y="481888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all public streetlights (3,135)</a:t>
            </a:r>
          </a:p>
        </p:txBody>
      </p:sp>
      <p:sp>
        <p:nvSpPr>
          <p:cNvPr id="54" name="TextBox 53"/>
          <p:cNvSpPr txBox="1"/>
          <p:nvPr/>
        </p:nvSpPr>
        <p:spPr>
          <a:xfrm>
            <a:off x="640080"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$1.88M</a:t>
            </a:r>
          </a:p>
        </p:txBody>
      </p:sp>
      <p:sp>
        <p:nvSpPr>
          <p:cNvPr id="55" name="TextBox 54"/>
          <p:cNvSpPr txBox="1"/>
          <p:nvPr/>
        </p:nvSpPr>
        <p:spPr>
          <a:xfrm>
            <a:off x="640080"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56" name="TextBox 55"/>
          <p:cNvSpPr txBox="1"/>
          <p:nvPr/>
        </p:nvSpPr>
        <p:spPr>
          <a:xfrm>
            <a:off x="1965960"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$228K</a:t>
            </a:r>
          </a:p>
        </p:txBody>
      </p:sp>
      <p:sp>
        <p:nvSpPr>
          <p:cNvPr id="57" name="TextBox 56"/>
          <p:cNvSpPr txBox="1"/>
          <p:nvPr/>
        </p:nvSpPr>
        <p:spPr>
          <a:xfrm>
            <a:off x="1965960"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58" name="TextBox 57"/>
          <p:cNvSpPr txBox="1"/>
          <p:nvPr/>
        </p:nvSpPr>
        <p:spPr>
          <a:xfrm>
            <a:off x="3291839"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8.3 yr</a:t>
            </a:r>
          </a:p>
        </p:txBody>
      </p:sp>
      <p:sp>
        <p:nvSpPr>
          <p:cNvPr id="59" name="TextBox 58"/>
          <p:cNvSpPr txBox="1"/>
          <p:nvPr/>
        </p:nvSpPr>
        <p:spPr>
          <a:xfrm>
            <a:off x="3291839"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60" name="TextBox 59"/>
          <p:cNvSpPr txBox="1"/>
          <p:nvPr/>
        </p:nvSpPr>
        <p:spPr>
          <a:xfrm>
            <a:off x="4617720"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+$1.54M</a:t>
            </a:r>
          </a:p>
        </p:txBody>
      </p:sp>
      <p:sp>
        <p:nvSpPr>
          <p:cNvPr id="61" name="TextBox 60"/>
          <p:cNvSpPr txBox="1"/>
          <p:nvPr/>
        </p:nvSpPr>
        <p:spPr>
          <a:xfrm>
            <a:off x="4617720"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62" name="Rectangle 61"/>
          <p:cNvSpPr/>
          <p:nvPr/>
        </p:nvSpPr>
        <p:spPr>
          <a:xfrm>
            <a:off x="6199631" y="470916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6382512" y="480060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City of Chiefland</a:t>
            </a:r>
          </a:p>
        </p:txBody>
      </p:sp>
      <p:sp>
        <p:nvSpPr>
          <p:cNvPr id="64" name="TextBox 63"/>
          <p:cNvSpPr txBox="1"/>
          <p:nvPr/>
        </p:nvSpPr>
        <p:spPr>
          <a:xfrm>
            <a:off x="6382512" y="481888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285 city streetlights</a:t>
            </a:r>
          </a:p>
        </p:txBody>
      </p:sp>
      <p:sp>
        <p:nvSpPr>
          <p:cNvPr id="65" name="TextBox 64"/>
          <p:cNvSpPr txBox="1"/>
          <p:nvPr/>
        </p:nvSpPr>
        <p:spPr>
          <a:xfrm>
            <a:off x="6291071"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$171K</a:t>
            </a:r>
          </a:p>
        </p:txBody>
      </p:sp>
      <p:sp>
        <p:nvSpPr>
          <p:cNvPr id="66" name="TextBox 65"/>
          <p:cNvSpPr txBox="1"/>
          <p:nvPr/>
        </p:nvSpPr>
        <p:spPr>
          <a:xfrm>
            <a:off x="6291071"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67" name="TextBox 66"/>
          <p:cNvSpPr txBox="1"/>
          <p:nvPr/>
        </p:nvSpPr>
        <p:spPr>
          <a:xfrm>
            <a:off x="7616951"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$21.5K</a:t>
            </a:r>
          </a:p>
        </p:txBody>
      </p:sp>
      <p:sp>
        <p:nvSpPr>
          <p:cNvPr id="68" name="TextBox 67"/>
          <p:cNvSpPr txBox="1"/>
          <p:nvPr/>
        </p:nvSpPr>
        <p:spPr>
          <a:xfrm>
            <a:off x="7616951"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69" name="TextBox 68"/>
          <p:cNvSpPr txBox="1"/>
          <p:nvPr/>
        </p:nvSpPr>
        <p:spPr>
          <a:xfrm>
            <a:off x="8942832"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8.0 yr</a:t>
            </a:r>
          </a:p>
        </p:txBody>
      </p:sp>
      <p:sp>
        <p:nvSpPr>
          <p:cNvPr id="70" name="TextBox 69"/>
          <p:cNvSpPr txBox="1"/>
          <p:nvPr/>
        </p:nvSpPr>
        <p:spPr>
          <a:xfrm>
            <a:off x="8942832"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71" name="TextBox 70"/>
          <p:cNvSpPr txBox="1"/>
          <p:nvPr/>
        </p:nvSpPr>
        <p:spPr>
          <a:xfrm>
            <a:off x="10268711"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+$152K</a:t>
            </a:r>
          </a:p>
        </p:txBody>
      </p:sp>
      <p:sp>
        <p:nvSpPr>
          <p:cNvPr id="72" name="TextBox 71"/>
          <p:cNvSpPr txBox="1"/>
          <p:nvPr/>
        </p:nvSpPr>
        <p:spPr>
          <a:xfrm>
            <a:off x="10268711"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73" name="TextBox 72"/>
          <p:cNvSpPr txBox="1"/>
          <p:nvPr/>
        </p:nvSpPr>
        <p:spPr>
          <a:xfrm>
            <a:off x="548640" y="6144768"/>
            <a:ext cx="1106424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*UF: 4,100 campus pole lights, about 60% already LED (UF News, 2023), run through the simulator's cost engine at GRU rates. Gainesville and FDOT are within Alachua's total.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Or protect just the observatories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9</a:t>
            </a:r>
          </a:p>
        </p:txBody>
      </p:sp>
      <p:sp>
        <p:nvSpPr>
          <p:cNvPr id="6" name="TextBox 5"/>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Overlay zones: stricter rules in rings around </a:t>
            </a:r>
            <a:r>
              <a:rPr sz="1900" b="1" i="0">
                <a:solidFill>
                  <a:srgbClr val="F6B44B"/>
                </a:solidFill>
                <a:latin typeface="Aptos"/>
              </a:rPr>
              <a:t>Rosemary Hill</a:t>
            </a:r>
            <a:r>
              <a:rPr sz="1900" b="0" i="0">
                <a:solidFill>
                  <a:srgbClr val="D9D2BD"/>
                </a:solidFill>
                <a:latin typeface="Aptos"/>
              </a:rPr>
              <a:t> and </a:t>
            </a:r>
            <a:r>
              <a:rPr sz="1900" b="1" i="0">
                <a:solidFill>
                  <a:srgbClr val="F6B44B"/>
                </a:solidFill>
                <a:latin typeface="Aptos"/>
              </a:rPr>
              <a:t>Chiefland Astronomy Village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LZ0 core: shielded, amber, motion-only</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LZ1 buffer: shielded, ≤ 2700 K</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Flagstaff-style preset: about </a:t>
            </a:r>
            <a:r>
              <a:rPr sz="1900" b="1" i="0">
                <a:solidFill>
                  <a:srgbClr val="F6B44B"/>
                </a:solidFill>
                <a:latin typeface="Aptos"/>
              </a:rPr>
              <a:t>$0.79M</a:t>
            </a:r>
            <a:r>
              <a:rPr sz="1900" b="0" i="0">
                <a:solidFill>
                  <a:srgbClr val="D9D2BD"/>
                </a:solidFill>
                <a:latin typeface="Aptos"/>
              </a:rPr>
              <a:t> in public retrofits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A trade-off a commission can actually vote on</a:t>
            </a:r>
          </a:p>
        </p:txBody>
      </p:sp>
      <p:pic>
        <p:nvPicPr>
          <p:cNvPr id="7" name="09_overlays.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8" name="TextBox 7"/>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Flagstaff LZ1 overlay preset (3-mile core, 5-mile buffer) on the Change layer.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SEE IT</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Same moonless night, two skies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10</a:t>
            </a:r>
          </a:p>
        </p:txBody>
      </p:sp>
      <p:pic>
        <p:nvPicPr>
          <p:cNvPr id="6" name="Picture 5" descr="allsky_aug_downtown.jpg"/>
          <p:cNvPicPr>
            <a:picLocks noChangeAspect="1"/>
          </p:cNvPicPr>
          <p:nvPr/>
        </p:nvPicPr>
        <p:blipFill>
          <a:blip r:embed="rId3"/>
          <a:srcRect l="8522" r="8522" b="17000"/>
          <a:stretch>
            <a:fillRect/>
          </a:stretch>
        </p:blipFill>
        <p:spPr>
          <a:xfrm>
            <a:off x="548640" y="1371600"/>
            <a:ext cx="5440680" cy="3063240"/>
          </a:xfrm>
          <a:prstGeom prst="roundRect">
            <a:avLst>
              <a:gd name="adj" fmla="val 1500"/>
            </a:avLst>
          </a:prstGeom>
          <a:ln w="9525">
            <a:solidFill>
              <a:srgbClr val="2A3A60"/>
            </a:solidFill>
          </a:ln>
        </p:spPr>
      </p:pic>
      <p:sp>
        <p:nvSpPr>
          <p:cNvPr id="7" name="Rectangle 6"/>
          <p:cNvSpPr/>
          <p:nvPr/>
        </p:nvSpPr>
        <p:spPr>
          <a:xfrm>
            <a:off x="658368" y="1481328"/>
            <a:ext cx="2086864" cy="255905"/>
          </a:xfrm>
          <a:prstGeom prst="roundRect">
            <a:avLst>
              <a:gd name="adj" fmla="val 25000"/>
            </a:avLst>
          </a:prstGeom>
          <a:solidFill>
            <a:srgbClr val="F6B44B"/>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marL="0" indent="0" algn="ctr">
              <a:lnSpc>
                <a:spcPct val="100000"/>
              </a:lnSpc>
              <a:spcBef>
                <a:spcPts val="0"/>
              </a:spcBef>
              <a:spcAft>
                <a:spcPts val="0"/>
              </a:spcAft>
              <a:buNone/>
            </a:pPr>
            <a:r>
              <a:rPr sz="1300" b="1" i="0">
                <a:solidFill>
                  <a:srgbClr val="05070D"/>
                </a:solidFill>
                <a:latin typeface="Aptos"/>
              </a:rPr>
              <a:t>Downtown Gainesville</a:t>
            </a:r>
          </a:p>
        </p:txBody>
      </p:sp>
      <p:pic>
        <p:nvPicPr>
          <p:cNvPr id="8" name="Picture 7" descr="allsky_aug_rho.jpg"/>
          <p:cNvPicPr>
            <a:picLocks noChangeAspect="1"/>
          </p:cNvPicPr>
          <p:nvPr/>
        </p:nvPicPr>
        <p:blipFill>
          <a:blip r:embed="rId4"/>
          <a:srcRect l="8522" r="8522" b="17000"/>
          <a:stretch>
            <a:fillRect/>
          </a:stretch>
        </p:blipFill>
        <p:spPr>
          <a:xfrm>
            <a:off x="6199632" y="1371600"/>
            <a:ext cx="5440680" cy="3063240"/>
          </a:xfrm>
          <a:prstGeom prst="roundRect">
            <a:avLst>
              <a:gd name="adj" fmla="val 1500"/>
            </a:avLst>
          </a:prstGeom>
          <a:ln w="9525">
            <a:solidFill>
              <a:srgbClr val="2A3A60"/>
            </a:solidFill>
          </a:ln>
        </p:spPr>
      </p:pic>
      <p:sp>
        <p:nvSpPr>
          <p:cNvPr id="9" name="Rectangle 8"/>
          <p:cNvSpPr/>
          <p:nvPr/>
        </p:nvSpPr>
        <p:spPr>
          <a:xfrm>
            <a:off x="6309360" y="1481328"/>
            <a:ext cx="2549144" cy="255905"/>
          </a:xfrm>
          <a:prstGeom prst="roundRect">
            <a:avLst>
              <a:gd name="adj" fmla="val 25000"/>
            </a:avLst>
          </a:prstGeom>
          <a:solidFill>
            <a:srgbClr val="F6B44B"/>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marL="0" indent="0" algn="ctr">
              <a:lnSpc>
                <a:spcPct val="100000"/>
              </a:lnSpc>
              <a:spcBef>
                <a:spcPts val="0"/>
              </a:spcBef>
              <a:spcAft>
                <a:spcPts val="0"/>
              </a:spcAft>
              <a:buNone/>
            </a:pPr>
            <a:r>
              <a:rPr sz="1300" b="1" i="0">
                <a:solidFill>
                  <a:srgbClr val="05070D"/>
                </a:solidFill>
                <a:latin typeface="Aptos"/>
              </a:rPr>
              <a:t>Rosemary Hill Observatory</a:t>
            </a:r>
          </a:p>
        </p:txBody>
      </p:sp>
      <p:sp>
        <p:nvSpPr>
          <p:cNvPr id="10" name="TextBox 9"/>
          <p:cNvSpPr txBox="1"/>
          <p:nvPr/>
        </p:nvSpPr>
        <p:spPr>
          <a:xfrm>
            <a:off x="548640" y="4498848"/>
            <a:ext cx="1106424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All-sky view looking south, August 12, 2026, 22:00, new Moon. Illustrative, drawn from the computed sky brightness; not a photograph.</a:t>
            </a:r>
          </a:p>
        </p:txBody>
      </p:sp>
      <p:sp>
        <p:nvSpPr>
          <p:cNvPr id="11" name="TextBox 10"/>
          <p:cNvSpPr txBox="1"/>
          <p:nvPr/>
        </p:nvSpPr>
        <p:spPr>
          <a:xfrm>
            <a:off x="548640" y="4892040"/>
            <a:ext cx="5440680" cy="146304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1" i="0">
                <a:solidFill>
                  <a:srgbClr val="F6B44B"/>
                </a:solidFill>
                <a:latin typeface="Aptos"/>
              </a:rPr>
              <a:t>18.43</a:t>
            </a:r>
            <a:r>
              <a:rPr sz="1800" b="0" i="0">
                <a:solidFill>
                  <a:srgbClr val="D9D2BD"/>
                </a:solidFill>
                <a:latin typeface="Aptos"/>
              </a:rPr>
              <a:t> mag/arcsec² · Bortle 7</a:t>
            </a:r>
          </a:p>
          <a:p>
            <a:pPr marL="256032" indent="-256032">
              <a:lnSpc>
                <a:spcPct val="100000"/>
              </a:lnSpc>
              <a:spcBef>
                <a:spcPts val="400"/>
              </a:spcBef>
              <a:spcAft>
                <a:spcPts val="0"/>
              </a:spcAft>
              <a:buClr>
                <a:srgbClr val="F6B44B"/>
              </a:buClr>
              <a:buSzPct val="100000"/>
              <a:buFont typeface="Arial"/>
              <a:buChar char="•"/>
            </a:pPr>
            <a:r>
              <a:rPr sz="1800" b="0" i="0">
                <a:solidFill>
                  <a:srgbClr val="D9D2BD"/>
                </a:solidFill>
                <a:latin typeface="Aptos"/>
              </a:rPr>
              <a:t>Faintest naked-eye stars ≈ magnitude 4.3</a:t>
            </a:r>
          </a:p>
        </p:txBody>
      </p:sp>
      <p:sp>
        <p:nvSpPr>
          <p:cNvPr id="12" name="TextBox 11"/>
          <p:cNvSpPr txBox="1"/>
          <p:nvPr/>
        </p:nvSpPr>
        <p:spPr>
          <a:xfrm>
            <a:off x="6199632" y="4892040"/>
            <a:ext cx="5440680" cy="146304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1" i="0">
                <a:solidFill>
                  <a:srgbClr val="F6B44B"/>
                </a:solidFill>
                <a:latin typeface="Aptos"/>
              </a:rPr>
              <a:t>21.69</a:t>
            </a:r>
            <a:r>
              <a:rPr sz="1800" b="0" i="0">
                <a:solidFill>
                  <a:srgbClr val="D9D2BD"/>
                </a:solidFill>
                <a:latin typeface="Aptos"/>
              </a:rPr>
              <a:t> mag/arcsec² · Bortle 3</a:t>
            </a:r>
          </a:p>
          <a:p>
            <a:pPr marL="256032" indent="-256032">
              <a:lnSpc>
                <a:spcPct val="100000"/>
              </a:lnSpc>
              <a:spcBef>
                <a:spcPts val="400"/>
              </a:spcBef>
              <a:spcAft>
                <a:spcPts val="0"/>
              </a:spcAft>
              <a:buClr>
                <a:srgbClr val="F6B44B"/>
              </a:buClr>
              <a:buSzPct val="100000"/>
              <a:buFont typeface="Arial"/>
              <a:buChar char="•"/>
            </a:pPr>
            <a:r>
              <a:rPr sz="1800" b="0" i="0">
                <a:solidFill>
                  <a:srgbClr val="D9D2BD"/>
                </a:solidFill>
                <a:latin typeface="Aptos"/>
              </a:rPr>
              <a:t>Faintest stars ≈ 6.5: the Milky Way is back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Build mode and 3D streets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11</a:t>
            </a:r>
          </a:p>
        </p:txBody>
      </p:sp>
      <p:pic>
        <p:nvPicPr>
          <p:cNvPr id="6" name="11_build.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373028"/>
            <a:ext cx="5440680" cy="3060382"/>
          </a:xfrm>
          <a:prstGeom prst="rect">
            <a:avLst/>
          </a:prstGeom>
        </p:spPr>
      </p:pic>
      <p:sp>
        <p:nvSpPr>
          <p:cNvPr id="7" name="Rectangle 6"/>
          <p:cNvSpPr/>
          <p:nvPr/>
        </p:nvSpPr>
        <p:spPr>
          <a:xfrm>
            <a:off x="658368" y="1482756"/>
            <a:ext cx="1162304" cy="255905"/>
          </a:xfrm>
          <a:prstGeom prst="roundRect">
            <a:avLst>
              <a:gd name="adj" fmla="val 25000"/>
            </a:avLst>
          </a:prstGeom>
          <a:solidFill>
            <a:srgbClr val="F6B44B"/>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marL="0" indent="0" algn="ctr">
              <a:lnSpc>
                <a:spcPct val="100000"/>
              </a:lnSpc>
              <a:spcBef>
                <a:spcPts val="0"/>
              </a:spcBef>
              <a:spcAft>
                <a:spcPts val="0"/>
              </a:spcAft>
              <a:buNone/>
            </a:pPr>
            <a:r>
              <a:rPr sz="1300" b="1" i="0">
                <a:solidFill>
                  <a:srgbClr val="05070D"/>
                </a:solidFill>
                <a:latin typeface="Aptos"/>
              </a:rPr>
              <a:t>Build mode</a:t>
            </a:r>
          </a:p>
        </p:txBody>
      </p:sp>
      <p:pic>
        <p:nvPicPr>
          <p:cNvPr id="8" name="11_3d.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6199632" y="1373028"/>
            <a:ext cx="5440680" cy="3060382"/>
          </a:xfrm>
          <a:prstGeom prst="rect">
            <a:avLst/>
          </a:prstGeom>
        </p:spPr>
      </p:pic>
      <p:sp>
        <p:nvSpPr>
          <p:cNvPr id="9" name="Rectangle 8"/>
          <p:cNvSpPr/>
          <p:nvPr/>
        </p:nvSpPr>
        <p:spPr>
          <a:xfrm>
            <a:off x="6309360" y="1482756"/>
            <a:ext cx="2456688" cy="255905"/>
          </a:xfrm>
          <a:prstGeom prst="roundRect">
            <a:avLst>
              <a:gd name="adj" fmla="val 25000"/>
            </a:avLst>
          </a:prstGeom>
          <a:solidFill>
            <a:srgbClr val="F6B44B"/>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marL="0" indent="0" algn="ctr">
              <a:lnSpc>
                <a:spcPct val="100000"/>
              </a:lnSpc>
              <a:spcBef>
                <a:spcPts val="0"/>
              </a:spcBef>
              <a:spcAft>
                <a:spcPts val="0"/>
              </a:spcAft>
              <a:buNone/>
            </a:pPr>
            <a:r>
              <a:rPr sz="1300" b="1" i="0">
                <a:solidFill>
                  <a:srgbClr val="05070D"/>
                </a:solidFill>
                <a:latin typeface="Aptos"/>
              </a:rPr>
              <a:t>3D: downtown Gainesville</a:t>
            </a:r>
          </a:p>
        </p:txBody>
      </p:sp>
      <p:sp>
        <p:nvSpPr>
          <p:cNvPr id="10" name="TextBox 9"/>
          <p:cNvSpPr txBox="1"/>
          <p:nvPr/>
        </p:nvSpPr>
        <p:spPr>
          <a:xfrm>
            <a:off x="548640" y="4709160"/>
            <a:ext cx="5440680" cy="16459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Catalog of </a:t>
            </a:r>
            <a:r>
              <a:rPr sz="1800" b="1" i="0">
                <a:solidFill>
                  <a:srgbClr val="F6B44B"/>
                </a:solidFill>
                <a:latin typeface="Aptos"/>
              </a:rPr>
              <a:t>17 DarkSky-compliant fixture types</a:t>
            </a:r>
            <a:r>
              <a:rPr sz="1800" b="0" i="0">
                <a:solidFill>
                  <a:srgbClr val="D9D2BD"/>
                </a:solidFill>
                <a:latin typeface="Aptos"/>
              </a:rPr>
              <a:t>: spectrum, uplight rating, watts, installed cost</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Equip one: sky, budget, brief and install markers update</a:t>
            </a:r>
          </a:p>
        </p:txBody>
      </p:sp>
      <p:sp>
        <p:nvSpPr>
          <p:cNvPr id="11" name="TextBox 10"/>
          <p:cNvSpPr txBox="1"/>
          <p:nvPr/>
        </p:nvSpPr>
        <p:spPr>
          <a:xfrm>
            <a:off x="6199632" y="4709160"/>
            <a:ext cx="5440680" cy="16459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Terrain, buildings and every modeled light at street level</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Mapped streetlights where they stand; modeled ones along the roads of their cell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6"/>
                                        </p:tgtEl>
                                      </p:cBhvr>
                                    </p:cmd>
                                  </p:childTnLst>
                                </p:cTn>
                              </p:par>
                              <p:par>
                                <p:cTn id="7" presetID="1" presetClass="mediacall" presetSubtype="0" fill="hold" nodeType="withEffect">
                                  <p:stCondLst>
                                    <p:cond delay="0"/>
                                  </p:stCondLst>
                                  <p:childTnLst>
                                    <p:cmd type="call" cmd="playFrom(0.0)">
                                      <p:cBhvr>
                                        <p:cTn id="8" dur="1"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repeatCount="indefinite" fill="remove" display="0">
                  <p:stCondLst>
                    <p:cond delay="indefinite"/>
                  </p:stCondLst>
                </p:cTn>
                <p:tgtEl>
                  <p:spTgt spid="6"/>
                </p:tgtEl>
              </p:cMediaNode>
            </p:video>
            <p:seq concurrent="1" nextAc="seek">
              <p:cTn id="10" restart="whenNotActive" fill="hold" evtFilter="cancelBubble" nodeType="interactiveSeq">
                <p:stCondLst>
                  <p:cond evt="onClick" delay="0">
                    <p:tgtEl>
                      <p:spTgt spid="6"/>
                    </p:tgtEl>
                  </p:cond>
                </p:stCondLst>
                <p:endSync evt="end" delay="0">
                  <p:rtn val="all"/>
                </p:endSync>
                <p:childTnLst>
                  <p:par>
                    <p:cTn id="11" fill="hold">
                      <p:stCondLst>
                        <p:cond delay="0"/>
                      </p:stCondLst>
                      <p:childTnLst>
                        <p:par>
                          <p:cTn id="12" fill="hold">
                            <p:stCondLst>
                              <p:cond delay="0"/>
                            </p:stCondLst>
                            <p:childTnLst>
                              <p:par>
                                <p:cTn id="13" presetID="2" presetClass="mediacall" presetSubtype="0" fill="hold" nodeType="clickEffect">
                                  <p:stCondLst>
                                    <p:cond delay="0"/>
                                  </p:stCondLst>
                                  <p:childTnLst>
                                    <p:cmd type="call" cmd="togglePause">
                                      <p:cBhvr>
                                        <p:cTn id="14" dur="1" fill="hold"/>
                                        <p:tgtEl>
                                          <p:spTgt spid="6"/>
                                        </p:tgtEl>
                                      </p:cBhvr>
                                    </p:cmd>
                                  </p:childTnLst>
                                </p:cTn>
                              </p:par>
                            </p:childTnLst>
                          </p:cTn>
                        </p:par>
                      </p:childTnLst>
                    </p:cTn>
                  </p:par>
                </p:childTnLst>
              </p:cTn>
              <p:nextCondLst>
                <p:cond evt="onClick" delay="0">
                  <p:tgtEl>
                    <p:spTgt spid="6"/>
                  </p:tgtEl>
                </p:cond>
              </p:nextCondLst>
            </p:seq>
            <p:video>
              <p:cMediaNode vol="80000">
                <p:cTn id="15" repeatCount="indefinite" fill="remove" display="0">
                  <p:stCondLst>
                    <p:cond delay="indefinite"/>
                  </p:stCondLst>
                </p:cTn>
                <p:tgtEl>
                  <p:spTgt spid="8"/>
                </p:tgtEl>
              </p:cMediaNode>
            </p:video>
            <p:seq concurrent="1" nextAc="seek">
              <p:cTn id="16" restart="whenNotActive" fill="hold" evtFilter="cancelBubble" nodeType="interactiveSeq">
                <p:stCondLst>
                  <p:cond evt="onClick" delay="0">
                    <p:tgtEl>
                      <p:spTgt spid="8"/>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1</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Where AI is used, and where it isn't</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12</a:t>
            </a:r>
          </a:p>
        </p:txBody>
      </p:sp>
      <p:sp>
        <p:nvSpPr>
          <p:cNvPr id="6" name="Rectangle 5"/>
          <p:cNvSpPr/>
          <p:nvPr/>
        </p:nvSpPr>
        <p:spPr>
          <a:xfrm>
            <a:off x="548640" y="1508760"/>
            <a:ext cx="2468880" cy="196596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1 · Data</a:t>
            </a:r>
          </a:p>
          <a:p>
            <a:pPr marL="0" indent="0" algn="ctr">
              <a:lnSpc>
                <a:spcPct val="110000"/>
              </a:lnSpc>
              <a:spcBef>
                <a:spcPts val="0"/>
              </a:spcBef>
              <a:spcAft>
                <a:spcPts val="0"/>
              </a:spcAft>
              <a:buNone/>
            </a:pPr>
            <a:r>
              <a:rPr sz="1600" b="0" i="0">
                <a:solidFill>
                  <a:srgbClr val="F5F1E6"/>
                </a:solidFill>
                <a:latin typeface="Aptos"/>
              </a:rPr>
              <a:t>NASA Black Marble</a:t>
            </a:r>
          </a:p>
          <a:p>
            <a:pPr marL="0" indent="0" algn="ctr">
              <a:lnSpc>
                <a:spcPct val="110000"/>
              </a:lnSpc>
              <a:spcBef>
                <a:spcPts val="0"/>
              </a:spcBef>
              <a:spcAft>
                <a:spcPts val="0"/>
              </a:spcAft>
              <a:buNone/>
            </a:pPr>
            <a:r>
              <a:rPr sz="1600" b="0" i="0">
                <a:solidFill>
                  <a:srgbClr val="F5F1E6"/>
                </a:solidFill>
                <a:latin typeface="Aptos"/>
              </a:rPr>
              <a:t>13 years, 2012–2024</a:t>
            </a:r>
          </a:p>
        </p:txBody>
      </p:sp>
      <p:cxnSp>
        <p:nvCxnSpPr>
          <p:cNvPr id="7" name="Connector 6"/>
          <p:cNvCxnSpPr/>
          <p:nvPr/>
        </p:nvCxnSpPr>
        <p:spPr>
          <a:xfrm>
            <a:off x="3054096" y="2487168"/>
            <a:ext cx="320040"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0712" y="1508760"/>
            <a:ext cx="2468880" cy="196596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2 · Cleaning</a:t>
            </a:r>
          </a:p>
          <a:p>
            <a:pPr marL="0" indent="0" algn="ctr">
              <a:lnSpc>
                <a:spcPct val="110000"/>
              </a:lnSpc>
              <a:spcBef>
                <a:spcPts val="0"/>
              </a:spcBef>
              <a:spcAft>
                <a:spcPts val="0"/>
              </a:spcAft>
              <a:buNone/>
            </a:pPr>
            <a:r>
              <a:rPr sz="1600" b="0" i="0">
                <a:solidFill>
                  <a:srgbClr val="F5F1E6"/>
                </a:solidFill>
                <a:latin typeface="Aptos"/>
              </a:rPr>
              <a:t>remove the</a:t>
            </a:r>
          </a:p>
          <a:p>
            <a:pPr marL="0" indent="0" algn="ctr">
              <a:lnSpc>
                <a:spcPct val="110000"/>
              </a:lnSpc>
              <a:spcBef>
                <a:spcPts val="0"/>
              </a:spcBef>
              <a:spcAft>
                <a:spcPts val="0"/>
              </a:spcAft>
              <a:buNone/>
            </a:pPr>
            <a:r>
              <a:rPr sz="1600" b="0" i="0">
                <a:solidFill>
                  <a:srgbClr val="F5F1E6"/>
                </a:solidFill>
                <a:latin typeface="Aptos"/>
              </a:rPr>
              <a:t>solar-cycle airglow</a:t>
            </a:r>
          </a:p>
        </p:txBody>
      </p:sp>
      <p:cxnSp>
        <p:nvCxnSpPr>
          <p:cNvPr id="9" name="Connector 8"/>
          <p:cNvCxnSpPr/>
          <p:nvPr/>
        </p:nvCxnSpPr>
        <p:spPr>
          <a:xfrm>
            <a:off x="5916168" y="2487168"/>
            <a:ext cx="320040"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6272784" y="1508760"/>
            <a:ext cx="2468880" cy="1965960"/>
          </a:xfrm>
          <a:prstGeom prst="roundRect">
            <a:avLst>
              <a:gd name="adj" fmla="val 6000"/>
            </a:avLst>
          </a:prstGeom>
          <a:solidFill>
            <a:srgbClr val="111A2E"/>
          </a:solidFill>
          <a:ln w="25400">
            <a:solidFill>
              <a:srgbClr val="F6B44B"/>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3 · Statistics</a:t>
            </a:r>
          </a:p>
          <a:p>
            <a:pPr marL="0" indent="0" algn="ctr">
              <a:lnSpc>
                <a:spcPct val="110000"/>
              </a:lnSpc>
              <a:spcBef>
                <a:spcPts val="0"/>
              </a:spcBef>
              <a:spcAft>
                <a:spcPts val="0"/>
              </a:spcAft>
              <a:buNone/>
            </a:pPr>
            <a:r>
              <a:rPr sz="1600" b="0" i="0">
                <a:solidFill>
                  <a:srgbClr val="F5F1E6"/>
                </a:solidFill>
                <a:latin typeface="Aptos"/>
              </a:rPr>
              <a:t>step test on every</a:t>
            </a:r>
          </a:p>
          <a:p>
            <a:pPr marL="0" indent="0" algn="ctr">
              <a:lnSpc>
                <a:spcPct val="110000"/>
              </a:lnSpc>
              <a:spcBef>
                <a:spcPts val="0"/>
              </a:spcBef>
              <a:spcAft>
                <a:spcPts val="0"/>
              </a:spcAft>
              <a:buNone/>
            </a:pPr>
            <a:r>
              <a:rPr sz="1600" b="0" i="0">
                <a:solidFill>
                  <a:srgbClr val="F5F1E6"/>
                </a:solidFill>
                <a:latin typeface="Aptos"/>
              </a:rPr>
              <a:t>lit cell → change events</a:t>
            </a:r>
          </a:p>
        </p:txBody>
      </p:sp>
      <p:cxnSp>
        <p:nvCxnSpPr>
          <p:cNvPr id="11" name="Connector 10"/>
          <p:cNvCxnSpPr/>
          <p:nvPr/>
        </p:nvCxnSpPr>
        <p:spPr>
          <a:xfrm>
            <a:off x="8778240" y="2487168"/>
            <a:ext cx="320040"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9134856" y="1508760"/>
            <a:ext cx="2468880" cy="1965960"/>
          </a:xfrm>
          <a:prstGeom prst="roundRect">
            <a:avLst>
              <a:gd name="adj" fmla="val 6000"/>
            </a:avLst>
          </a:prstGeom>
          <a:solidFill>
            <a:srgbClr val="111A2E"/>
          </a:solidFill>
          <a:ln w="25400">
            <a:solidFill>
              <a:srgbClr val="F6B44B"/>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4 · Machine learning</a:t>
            </a:r>
          </a:p>
          <a:p>
            <a:pPr marL="0" indent="0" algn="ctr">
              <a:lnSpc>
                <a:spcPct val="110000"/>
              </a:lnSpc>
              <a:spcBef>
                <a:spcPts val="0"/>
              </a:spcBef>
              <a:spcAft>
                <a:spcPts val="0"/>
              </a:spcAft>
              <a:buNone/>
            </a:pPr>
            <a:r>
              <a:rPr sz="1600" b="0" i="0">
                <a:solidFill>
                  <a:srgbClr val="F5F1E6"/>
                </a:solidFill>
                <a:latin typeface="Aptos"/>
              </a:rPr>
              <a:t>LightGBM forecast</a:t>
            </a:r>
          </a:p>
          <a:p>
            <a:pPr marL="0" indent="0" algn="ctr">
              <a:lnSpc>
                <a:spcPct val="110000"/>
              </a:lnSpc>
              <a:spcBef>
                <a:spcPts val="0"/>
              </a:spcBef>
              <a:spcAft>
                <a:spcPts val="0"/>
              </a:spcAft>
              <a:buNone/>
            </a:pPr>
            <a:r>
              <a:rPr sz="1600" b="0" i="0">
                <a:solidFill>
                  <a:srgbClr val="F5F1E6"/>
                </a:solidFill>
                <a:latin typeface="Aptos"/>
              </a:rPr>
              <a:t>of where light grows</a:t>
            </a:r>
          </a:p>
        </p:txBody>
      </p:sp>
      <p:sp>
        <p:nvSpPr>
          <p:cNvPr id="13" name="Rectangle 12"/>
          <p:cNvSpPr/>
          <p:nvPr/>
        </p:nvSpPr>
        <p:spPr>
          <a:xfrm>
            <a:off x="6400800" y="3703320"/>
            <a:ext cx="5239512" cy="685800"/>
          </a:xfrm>
          <a:prstGeom prst="roundRect">
            <a:avLst>
              <a:gd name="adj" fmla="val 10000"/>
            </a:avLst>
          </a:prstGeom>
          <a:solidFill>
            <a:srgbClr val="1A2642"/>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500" b="0" i="0">
                <a:solidFill>
                  <a:srgbClr val="F5F1E6"/>
                </a:solidFill>
                <a:latin typeface="Aptos"/>
              </a:rPr>
              <a:t>→ 2034 sky and observatory site ranking</a:t>
            </a:r>
          </a:p>
        </p:txBody>
      </p:sp>
      <p:sp>
        <p:nvSpPr>
          <p:cNvPr id="14" name="Rectangle 13"/>
          <p:cNvSpPr/>
          <p:nvPr/>
        </p:nvSpPr>
        <p:spPr>
          <a:xfrm>
            <a:off x="3520440" y="3703320"/>
            <a:ext cx="2651760" cy="685800"/>
          </a:xfrm>
          <a:prstGeom prst="roundRect">
            <a:avLst>
              <a:gd name="adj" fmla="val 10000"/>
            </a:avLst>
          </a:prstGeom>
          <a:solidFill>
            <a:srgbClr val="1A2642"/>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500" b="0" i="0">
                <a:solidFill>
                  <a:srgbClr val="F5F1E6"/>
                </a:solidFill>
                <a:latin typeface="Aptos"/>
              </a:rPr>
              <a:t>→ change-events map</a:t>
            </a:r>
          </a:p>
        </p:txBody>
      </p:sp>
      <p:sp>
        <p:nvSpPr>
          <p:cNvPr id="15" name="Rectangle 14"/>
          <p:cNvSpPr/>
          <p:nvPr/>
        </p:nvSpPr>
        <p:spPr>
          <a:xfrm>
            <a:off x="548640" y="4617720"/>
            <a:ext cx="11091672" cy="1691640"/>
          </a:xfrm>
          <a:prstGeom prst="roundRect">
            <a:avLst>
              <a:gd name="adj" fmla="val 4000"/>
            </a:avLst>
          </a:prstGeom>
          <a:solidFill>
            <a:srgbClr val="0A0F1C"/>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77240" y="4709160"/>
            <a:ext cx="1005840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300" b="1" i="0">
                <a:solidFill>
                  <a:srgbClr val="F6B44B"/>
                </a:solidFill>
                <a:latin typeface="Aptos"/>
              </a:rPr>
              <a:t>NOT AI: physics and explicit rules you can inspect</a:t>
            </a:r>
          </a:p>
        </p:txBody>
      </p:sp>
      <p:sp>
        <p:nvSpPr>
          <p:cNvPr id="17" name="TextBox 16"/>
          <p:cNvSpPr txBox="1"/>
          <p:nvPr/>
        </p:nvSpPr>
        <p:spPr>
          <a:xfrm>
            <a:off x="777240" y="5074920"/>
            <a:ext cx="5212080" cy="12801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1" i="0">
                <a:solidFill>
                  <a:srgbClr val="F6B44B"/>
                </a:solidFill>
                <a:latin typeface="Aptos"/>
              </a:rPr>
              <a:t>Sky brightness</a:t>
            </a:r>
            <a:r>
              <a:rPr sz="1700" b="0" i="0">
                <a:solidFill>
                  <a:srgbClr val="D9D2BD"/>
                </a:solidFill>
                <a:latin typeface="Aptos"/>
              </a:rPr>
              <a:t>: atmospheric scattering physics</a:t>
            </a:r>
          </a:p>
          <a:p>
            <a:pPr marL="256032" indent="-256032">
              <a:lnSpc>
                <a:spcPct val="100000"/>
              </a:lnSpc>
              <a:spcBef>
                <a:spcPts val="400"/>
              </a:spcBef>
              <a:spcAft>
                <a:spcPts val="0"/>
              </a:spcAft>
              <a:buClr>
                <a:srgbClr val="F6B44B"/>
              </a:buClr>
              <a:buSzPct val="100000"/>
              <a:buFont typeface="Arial"/>
              <a:buChar char="•"/>
            </a:pPr>
            <a:r>
              <a:rPr sz="1700" b="1" i="0">
                <a:solidFill>
                  <a:srgbClr val="F6B44B"/>
                </a:solidFill>
                <a:latin typeface="Aptos"/>
              </a:rPr>
              <a:t>Scenario effects</a:t>
            </a:r>
            <a:r>
              <a:rPr sz="1700" b="0" i="0">
                <a:solidFill>
                  <a:srgbClr val="D9D2BD"/>
                </a:solidFill>
                <a:latin typeface="Aptos"/>
              </a:rPr>
              <a:t>: published fixture rules</a:t>
            </a:r>
          </a:p>
        </p:txBody>
      </p:sp>
      <p:sp>
        <p:nvSpPr>
          <p:cNvPr id="18" name="TextBox 17"/>
          <p:cNvSpPr txBox="1"/>
          <p:nvPr/>
        </p:nvSpPr>
        <p:spPr>
          <a:xfrm>
            <a:off x="6309360" y="5074920"/>
            <a:ext cx="5212080" cy="12801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1" i="0">
                <a:solidFill>
                  <a:srgbClr val="F6B44B"/>
                </a:solidFill>
                <a:latin typeface="Aptos"/>
              </a:rPr>
              <a:t>Site ranking</a:t>
            </a:r>
            <a:r>
              <a:rPr sz="1700" b="0" i="0">
                <a:solidFill>
                  <a:srgbClr val="D9D2BD"/>
                </a:solidFill>
                <a:latin typeface="Aptos"/>
              </a:rPr>
              <a:t>: weighted sum, weights you set</a:t>
            </a:r>
          </a:p>
          <a:p>
            <a:pPr marL="256032" indent="-256032">
              <a:lnSpc>
                <a:spcPct val="100000"/>
              </a:lnSpc>
              <a:spcBef>
                <a:spcPts val="400"/>
              </a:spcBef>
              <a:spcAft>
                <a:spcPts val="0"/>
              </a:spcAft>
              <a:buClr>
                <a:srgbClr val="F6B44B"/>
              </a:buClr>
              <a:buSzPct val="100000"/>
              <a:buFont typeface="Arial"/>
              <a:buChar char="•"/>
            </a:pPr>
            <a:r>
              <a:rPr sz="1700" b="1" i="0">
                <a:solidFill>
                  <a:srgbClr val="F6B44B"/>
                </a:solidFill>
                <a:latin typeface="Aptos"/>
              </a:rPr>
              <a:t>Costs</a:t>
            </a:r>
            <a:r>
              <a:rPr sz="1700" b="0" i="0">
                <a:solidFill>
                  <a:srgbClr val="D9D2BD"/>
                </a:solidFill>
                <a:latin typeface="Aptos"/>
              </a:rPr>
              <a:t>: unit prices × fixture counts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2</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The data: 13 years of NASA night lights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13</a:t>
            </a:r>
          </a:p>
        </p:txBody>
      </p:sp>
      <p:sp>
        <p:nvSpPr>
          <p:cNvPr id="6" name="TextBox 5"/>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NASA Black Marble (</a:t>
            </a:r>
            <a:r>
              <a:rPr sz="1900" b="1" i="0">
                <a:solidFill>
                  <a:srgbClr val="F6B44B"/>
                </a:solidFill>
                <a:latin typeface="Aptos"/>
              </a:rPr>
              <a:t>VIIRS VNP46A2</a:t>
            </a:r>
            <a:r>
              <a:rPr sz="1900" b="0" i="0">
                <a:solidFill>
                  <a:srgbClr val="D9D2BD"/>
                </a:solidFill>
                <a:latin typeface="Aptos"/>
              </a:rPr>
              <a:t>): nightly, moonlight- and angle-corrected, ~500 m</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Keep cloud-free, high-quality nights; </a:t>
            </a:r>
            <a:r>
              <a:rPr sz="1900" b="1" i="0">
                <a:solidFill>
                  <a:srgbClr val="F6B44B"/>
                </a:solidFill>
                <a:latin typeface="Aptos"/>
              </a:rPr>
              <a:t>one median per year</a:t>
            </a:r>
            <a:r>
              <a:rPr sz="1900" b="0" i="0">
                <a:solidFill>
                  <a:srgbClr val="D9D2BD"/>
                </a:solidFill>
                <a:latin typeface="Aptos"/>
              </a:rPr>
              <a:t> per cell, 2012–2024</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Pulled through </a:t>
            </a:r>
            <a:r>
              <a:rPr sz="1900" b="1" i="0">
                <a:solidFill>
                  <a:srgbClr val="F6B44B"/>
                </a:solidFill>
                <a:latin typeface="Aptos"/>
              </a:rPr>
              <a:t>Google Earth Engine</a:t>
            </a:r>
            <a:r>
              <a:rPr sz="1900" b="0" i="0">
                <a:solidFill>
                  <a:srgbClr val="D9D2BD"/>
                </a:solidFill>
                <a:latin typeface="Aptos"/>
              </a:rPr>
              <a:t>'s free noncommercial tier in ~12 minutes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The 2024 layer also tells the physics model where private lighting is</a:t>
            </a:r>
          </a:p>
        </p:txBody>
      </p:sp>
      <p:pic>
        <p:nvPicPr>
          <p:cNvPr id="7" name="13_viirs.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8" name="TextBox 7"/>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VIIRS layer: yearly median radiance with the airglow background removed; the slider steps through 2012–2024.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3</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Lesson 1: check the data before the model</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14</a:t>
            </a:r>
          </a:p>
        </p:txBody>
      </p:sp>
      <p:sp>
        <p:nvSpPr>
          <p:cNvPr id="6" name="TextBox 5"/>
          <p:cNvSpPr txBox="1"/>
          <p:nvPr/>
        </p:nvSpPr>
        <p:spPr>
          <a:xfrm>
            <a:off x="548640" y="1463040"/>
            <a:ext cx="475488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First pull came back </a:t>
            </a:r>
            <a:r>
              <a:rPr sz="1900" b="1" i="0">
                <a:solidFill>
                  <a:srgbClr val="F6B44B"/>
                </a:solidFill>
                <a:latin typeface="Aptos"/>
              </a:rPr>
              <a:t>10× too dark</a:t>
            </a:r>
            <a:r>
              <a:rPr sz="1900" b="0" i="0">
                <a:solidFill>
                  <a:srgbClr val="D9D2BD"/>
                </a:solidFill>
                <a:latin typeface="Aptos"/>
              </a:rPr>
              <a:t>: a scale factor applied twice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Then forests and wetlands “brightened” </a:t>
            </a:r>
            <a:r>
              <a:rPr sz="1900" b="1" i="0">
                <a:solidFill>
                  <a:srgbClr val="F6B44B"/>
                </a:solidFill>
                <a:latin typeface="Aptos"/>
              </a:rPr>
              <a:t>70–120%</a:t>
            </a:r>
            <a:r>
              <a:rPr sz="1900" b="0" i="0">
                <a:solidFill>
                  <a:srgbClr val="D9D2BD"/>
                </a:solidFill>
                <a:latin typeface="Aptos"/>
              </a:rPr>
              <a:t> from 2020 to 2023</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Cause: </a:t>
            </a:r>
            <a:r>
              <a:rPr sz="1900" b="1" i="0">
                <a:solidFill>
                  <a:srgbClr val="F6B44B"/>
                </a:solidFill>
                <a:latin typeface="Aptos"/>
              </a:rPr>
              <a:t>airglow</a:t>
            </a:r>
            <a:r>
              <a:rPr sz="1900" b="0" i="0">
                <a:solidFill>
                  <a:srgbClr val="D9D2BD"/>
                </a:solidFill>
                <a:latin typeface="Aptos"/>
              </a:rPr>
              <a:t>, upper-atmosphere light that follows the 11-year solar cycle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Fix: subtract each year's background, the median of the darkest fifth of the region, before any model sees the data</a:t>
            </a:r>
          </a:p>
        </p:txBody>
      </p:sp>
      <p:sp>
        <p:nvSpPr>
          <p:cNvPr id="7" name="TextBox 6"/>
          <p:cNvSpPr txBox="1"/>
          <p:nvPr/>
        </p:nvSpPr>
        <p:spPr>
          <a:xfrm>
            <a:off x="5760720" y="1417320"/>
            <a:ext cx="585216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Background glow over unlit land, nW cm⁻² sr⁻¹</a:t>
            </a:r>
          </a:p>
        </p:txBody>
      </p:sp>
      <p:graphicFrame>
        <p:nvGraphicFramePr>
          <p:cNvPr id="8" name="Chart 7"/>
          <p:cNvGraphicFramePr>
            <a:graphicFrameLocks noGrp="1"/>
          </p:cNvGraphicFramePr>
          <p:nvPr/>
        </p:nvGraphicFramePr>
        <p:xfrm>
          <a:off x="5669280" y="1691640"/>
          <a:ext cx="5989320" cy="324612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p:cNvSpPr txBox="1"/>
          <p:nvPr/>
        </p:nvSpPr>
        <p:spPr>
          <a:xfrm>
            <a:off x="5760720" y="4892040"/>
            <a:ext cx="585216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Solar minimum 2019–20: 0.10 · solar maximum 2023: 0.33</a:t>
            </a:r>
          </a:p>
        </p:txBody>
      </p:sp>
      <p:pic>
        <p:nvPicPr>
          <p:cNvPr id="10" name="Picture 9" descr="airglow_light.png"/>
          <p:cNvPicPr>
            <a:picLocks noChangeAspect="1"/>
          </p:cNvPicPr>
          <p:nvPr/>
        </p:nvPicPr>
        <p:blipFill>
          <a:blip r:embed="rId4"/>
          <a:stretch>
            <a:fillRect/>
          </a:stretch>
        </p:blipFill>
        <p:spPr>
          <a:xfrm>
            <a:off x="5760720" y="5303520"/>
            <a:ext cx="5852160" cy="385151"/>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4</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The 19% estimate, checked with calibrated data</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15</a:t>
            </a:r>
          </a:p>
        </p:txBody>
      </p:sp>
      <p:sp>
        <p:nvSpPr>
          <p:cNvPr id="6" name="TextBox 5"/>
          <p:cNvSpPr txBox="1"/>
          <p:nvPr/>
        </p:nvSpPr>
        <p:spPr>
          <a:xfrm>
            <a:off x="548640" y="1463040"/>
            <a:ext cx="4846320" cy="2651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0" i="0">
                <a:solidFill>
                  <a:srgbClr val="D9D2BD"/>
                </a:solidFill>
                <a:latin typeface="Aptos"/>
              </a:rPr>
              <a:t>AI analysis of NOAA night imagery, 2012 → 2024: </a:t>
            </a:r>
            <a:r>
              <a:rPr sz="1700" b="1" i="0">
                <a:solidFill>
                  <a:srgbClr val="F6B44B"/>
                </a:solidFill>
                <a:latin typeface="Aptos"/>
              </a:rPr>
              <a:t>≈19% brighter</a:t>
            </a:r>
            <a:r>
              <a:rPr sz="1700" b="0" i="0">
                <a:solidFill>
                  <a:srgbClr val="D9D2BD"/>
                </a:solidFill>
                <a:latin typeface="Aptos"/>
              </a:rPr>
              <a:t> (v1)</a:t>
            </a:r>
          </a:p>
          <a:p>
            <a:pPr marL="256032" indent="-256032">
              <a:lnSpc>
                <a:spcPct val="100000"/>
              </a:lnSpc>
              <a:spcBef>
                <a:spcPts val="900"/>
              </a:spcBef>
              <a:spcAft>
                <a:spcPts val="0"/>
              </a:spcAft>
              <a:buClr>
                <a:srgbClr val="F6B44B"/>
              </a:buClr>
              <a:buSzPct val="100000"/>
              <a:buFont typeface="Arial"/>
              <a:buChar char="•"/>
            </a:pPr>
            <a:r>
              <a:rPr sz="1700" b="0" i="0">
                <a:solidFill>
                  <a:srgbClr val="D9D2BD"/>
                </a:solidFill>
                <a:latin typeface="Aptos"/>
              </a:rPr>
              <a:t>Re-measured in calibrated NOAA and NASA radiance: the </a:t>
            </a:r>
            <a:r>
              <a:rPr sz="1700" b="1" i="0">
                <a:solidFill>
                  <a:srgbClr val="F6B44B"/>
                </a:solidFill>
                <a:latin typeface="Aptos"/>
              </a:rPr>
              <a:t>region around Alachua County rose ~20%</a:t>
            </a:r>
          </a:p>
          <a:p>
            <a:pPr marL="256032" indent="-256032">
              <a:lnSpc>
                <a:spcPct val="100000"/>
              </a:lnSpc>
              <a:spcBef>
                <a:spcPts val="900"/>
              </a:spcBef>
              <a:spcAft>
                <a:spcPts val="0"/>
              </a:spcAft>
              <a:buClr>
                <a:srgbClr val="F6B44B"/>
              </a:buClr>
              <a:buSzPct val="100000"/>
              <a:buFont typeface="Arial"/>
              <a:buChar char="•"/>
            </a:pPr>
            <a:r>
              <a:rPr sz="1700" b="0" i="0">
                <a:solidFill>
                  <a:srgbClr val="D9D2BD"/>
                </a:solidFill>
                <a:latin typeface="Aptos"/>
              </a:rPr>
              <a:t>Inside the county line: </a:t>
            </a:r>
            <a:r>
              <a:rPr sz="1700" b="1" i="0">
                <a:solidFill>
                  <a:srgbClr val="F6B44B"/>
                </a:solidFill>
                <a:latin typeface="Aptos"/>
              </a:rPr>
              <a:t>3–6%</a:t>
            </a:r>
            <a:r>
              <a:rPr sz="1700" b="0" i="0">
                <a:solidFill>
                  <a:srgbClr val="D9D2BD"/>
                </a:solidFill>
                <a:latin typeface="Aptos"/>
              </a:rPr>
              <a:t>; around Gainesville ≈5%. Growth concentrates along I-75 and around Ocala</a:t>
            </a:r>
          </a:p>
        </p:txBody>
      </p:sp>
      <p:graphicFrame>
        <p:nvGraphicFramePr>
          <p:cNvPr id="7" name="Table 6"/>
          <p:cNvGraphicFramePr>
            <a:graphicFrameLocks noGrp="1"/>
          </p:cNvGraphicFramePr>
          <p:nvPr/>
        </p:nvGraphicFramePr>
        <p:xfrm>
          <a:off x="548640" y="4160520"/>
          <a:ext cx="4846320" cy="2057400"/>
        </p:xfrm>
        <a:graphic>
          <a:graphicData uri="http://schemas.openxmlformats.org/drawingml/2006/table">
            <a:tbl>
              <a:tblPr>
                <a:tableStyleId>{5940675A-B579-460E-94D1-54222C63F5DA}</a:tableStyleId>
              </a:tblPr>
              <a:tblGrid>
                <a:gridCol w="26517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514350">
                <a:tc>
                  <a:txBody>
                    <a:bodyPr/>
                    <a:lstStyle/>
                    <a:p>
                      <a:pPr algn="l"/>
                      <a:r>
                        <a:rPr sz="1400" b="1" i="0">
                          <a:solidFill>
                            <a:srgbClr val="F6B44B"/>
                          </a:solidFill>
                          <a:latin typeface="Aptos"/>
                        </a:rPr>
                        <a:t>Calibrated radiance, 2013 → 2024</a:t>
                      </a:r>
                    </a:p>
                  </a:txBody>
                  <a:tcPr marL="73152" marR="73152" marT="27432" marB="27432" anchor="ctr">
                    <a:solidFill>
                      <a:srgbClr val="1A2642"/>
                    </a:solidFill>
                  </a:tcPr>
                </a:tc>
                <a:tc>
                  <a:txBody>
                    <a:bodyPr/>
                    <a:lstStyle/>
                    <a:p>
                      <a:pPr algn="r"/>
                      <a:r>
                        <a:rPr sz="1400" b="1" i="0">
                          <a:solidFill>
                            <a:srgbClr val="F6B44B"/>
                          </a:solidFill>
                          <a:latin typeface="Aptos"/>
                        </a:rPr>
                        <a:t>NOAA EOG</a:t>
                      </a:r>
                    </a:p>
                  </a:txBody>
                  <a:tcPr marL="73152" marR="73152" marT="27432" marB="27432" anchor="ctr">
                    <a:solidFill>
                      <a:srgbClr val="1A2642"/>
                    </a:solidFill>
                  </a:tcPr>
                </a:tc>
                <a:tc>
                  <a:txBody>
                    <a:bodyPr/>
                    <a:lstStyle/>
                    <a:p>
                      <a:pPr algn="r"/>
                      <a:r>
                        <a:rPr sz="1400" b="1" i="0">
                          <a:solidFill>
                            <a:srgbClr val="F6B44B"/>
                          </a:solidFill>
                          <a:latin typeface="Aptos"/>
                        </a:rPr>
                        <a:t>NASA BM</a:t>
                      </a:r>
                    </a:p>
                  </a:txBody>
                  <a:tcPr marL="73152" marR="73152" marT="27432" marB="27432" anchor="ctr">
                    <a:solidFill>
                      <a:srgbClr val="1A2642"/>
                    </a:solidFill>
                  </a:tcPr>
                </a:tc>
                <a:extLst>
                  <a:ext uri="{0D108BD9-81ED-4DB2-BD59-A6C34878D82A}">
                    <a16:rowId xmlns:a16="http://schemas.microsoft.com/office/drawing/2014/main" val="10000"/>
                  </a:ext>
                </a:extLst>
              </a:tr>
              <a:tr h="514350">
                <a:tc>
                  <a:txBody>
                    <a:bodyPr/>
                    <a:lstStyle/>
                    <a:p>
                      <a:pPr algn="l"/>
                      <a:r>
                        <a:rPr sz="1400" b="1" i="0">
                          <a:solidFill>
                            <a:srgbClr val="F6B44B"/>
                          </a:solidFill>
                          <a:latin typeface="Aptos"/>
                        </a:rPr>
                        <a:t>Region around the county</a:t>
                      </a:r>
                    </a:p>
                  </a:txBody>
                  <a:tcPr marL="73152" marR="73152" marT="27432" marB="27432" anchor="ctr">
                    <a:solidFill>
                      <a:srgbClr val="0A0F1C"/>
                    </a:solidFill>
                  </a:tcPr>
                </a:tc>
                <a:tc>
                  <a:txBody>
                    <a:bodyPr/>
                    <a:lstStyle/>
                    <a:p>
                      <a:pPr algn="r"/>
                      <a:r>
                        <a:rPr sz="1400" b="1" i="0">
                          <a:solidFill>
                            <a:srgbClr val="F6B44B"/>
                          </a:solidFill>
                          <a:latin typeface="Aptos"/>
                        </a:rPr>
                        <a:t>+20.5%</a:t>
                      </a:r>
                    </a:p>
                  </a:txBody>
                  <a:tcPr marL="73152" marR="73152" marT="27432" marB="27432" anchor="ctr">
                    <a:solidFill>
                      <a:srgbClr val="0A0F1C"/>
                    </a:solidFill>
                  </a:tcPr>
                </a:tc>
                <a:tc>
                  <a:txBody>
                    <a:bodyPr/>
                    <a:lstStyle/>
                    <a:p>
                      <a:pPr algn="r"/>
                      <a:r>
                        <a:rPr sz="1400" b="1" i="0">
                          <a:solidFill>
                            <a:srgbClr val="F6B44B"/>
                          </a:solidFill>
                          <a:latin typeface="Aptos"/>
                        </a:rPr>
                        <a:t>+12.8%</a:t>
                      </a:r>
                    </a:p>
                  </a:txBody>
                  <a:tcPr marL="73152" marR="73152" marT="27432" marB="27432" anchor="ctr">
                    <a:solidFill>
                      <a:srgbClr val="0A0F1C"/>
                    </a:solidFill>
                  </a:tcPr>
                </a:tc>
                <a:extLst>
                  <a:ext uri="{0D108BD9-81ED-4DB2-BD59-A6C34878D82A}">
                    <a16:rowId xmlns:a16="http://schemas.microsoft.com/office/drawing/2014/main" val="10001"/>
                  </a:ext>
                </a:extLst>
              </a:tr>
              <a:tr h="514350">
                <a:tc>
                  <a:txBody>
                    <a:bodyPr/>
                    <a:lstStyle/>
                    <a:p>
                      <a:pPr algn="l"/>
                      <a:r>
                        <a:rPr sz="1400" b="0" i="0">
                          <a:solidFill>
                            <a:srgbClr val="F5F1E6"/>
                          </a:solidFill>
                          <a:latin typeface="Aptos"/>
                        </a:rPr>
                        <a:t>Alachua County</a:t>
                      </a:r>
                    </a:p>
                  </a:txBody>
                  <a:tcPr marL="73152" marR="73152" marT="27432" marB="27432" anchor="ctr">
                    <a:solidFill>
                      <a:srgbClr val="0A0F1C"/>
                    </a:solidFill>
                  </a:tcPr>
                </a:tc>
                <a:tc>
                  <a:txBody>
                    <a:bodyPr/>
                    <a:lstStyle/>
                    <a:p>
                      <a:pPr algn="r"/>
                      <a:r>
                        <a:rPr sz="1400" b="0" i="0">
                          <a:solidFill>
                            <a:srgbClr val="F5F1E6"/>
                          </a:solidFill>
                          <a:latin typeface="Aptos"/>
                        </a:rPr>
                        <a:t>+6.1%</a:t>
                      </a:r>
                    </a:p>
                  </a:txBody>
                  <a:tcPr marL="73152" marR="73152" marT="27432" marB="27432" anchor="ctr">
                    <a:solidFill>
                      <a:srgbClr val="0A0F1C"/>
                    </a:solidFill>
                  </a:tcPr>
                </a:tc>
                <a:tc>
                  <a:txBody>
                    <a:bodyPr/>
                    <a:lstStyle/>
                    <a:p>
                      <a:pPr algn="r"/>
                      <a:r>
                        <a:rPr sz="1400" b="0" i="0">
                          <a:solidFill>
                            <a:srgbClr val="F5F1E6"/>
                          </a:solidFill>
                          <a:latin typeface="Aptos"/>
                        </a:rPr>
                        <a:t>+2.9%</a:t>
                      </a:r>
                    </a:p>
                  </a:txBody>
                  <a:tcPr marL="73152" marR="73152" marT="27432" marB="27432" anchor="ctr">
                    <a:solidFill>
                      <a:srgbClr val="0A0F1C"/>
                    </a:solidFill>
                  </a:tcPr>
                </a:tc>
                <a:extLst>
                  <a:ext uri="{0D108BD9-81ED-4DB2-BD59-A6C34878D82A}">
                    <a16:rowId xmlns:a16="http://schemas.microsoft.com/office/drawing/2014/main" val="10002"/>
                  </a:ext>
                </a:extLst>
              </a:tr>
              <a:tr h="514350">
                <a:tc>
                  <a:txBody>
                    <a:bodyPr/>
                    <a:lstStyle/>
                    <a:p>
                      <a:pPr algn="l"/>
                      <a:r>
                        <a:rPr sz="1400" b="0" i="0">
                          <a:solidFill>
                            <a:srgbClr val="F5F1E6"/>
                          </a:solidFill>
                          <a:latin typeface="Aptos"/>
                        </a:rPr>
                        <a:t>Gainesville</a:t>
                      </a:r>
                    </a:p>
                  </a:txBody>
                  <a:tcPr marL="73152" marR="73152" marT="27432" marB="27432" anchor="ctr">
                    <a:solidFill>
                      <a:srgbClr val="0A0F1C"/>
                    </a:solidFill>
                  </a:tcPr>
                </a:tc>
                <a:tc>
                  <a:txBody>
                    <a:bodyPr/>
                    <a:lstStyle/>
                    <a:p>
                      <a:pPr algn="r"/>
                      <a:r>
                        <a:rPr sz="1400" b="0" i="0">
                          <a:solidFill>
                            <a:srgbClr val="F5F1E6"/>
                          </a:solidFill>
                          <a:latin typeface="Aptos"/>
                        </a:rPr>
                        <a:t>+5.0%</a:t>
                      </a:r>
                    </a:p>
                  </a:txBody>
                  <a:tcPr marL="73152" marR="73152" marT="27432" marB="27432" anchor="ctr">
                    <a:solidFill>
                      <a:srgbClr val="0A0F1C"/>
                    </a:solidFill>
                  </a:tcPr>
                </a:tc>
                <a:tc>
                  <a:txBody>
                    <a:bodyPr/>
                    <a:lstStyle/>
                    <a:p>
                      <a:pPr algn="r"/>
                      <a:r>
                        <a:rPr sz="1400" b="0" i="0">
                          <a:solidFill>
                            <a:srgbClr val="F5F1E6"/>
                          </a:solidFill>
                          <a:latin typeface="Aptos"/>
                        </a:rPr>
                        <a:t>+4.8%</a:t>
                      </a:r>
                    </a:p>
                  </a:txBody>
                  <a:tcPr marL="73152" marR="73152" marT="27432" marB="27432" anchor="ctr">
                    <a:solidFill>
                      <a:srgbClr val="0A0F1C"/>
                    </a:solidFill>
                  </a:tcPr>
                </a:tc>
                <a:extLst>
                  <a:ext uri="{0D108BD9-81ED-4DB2-BD59-A6C34878D82A}">
                    <a16:rowId xmlns:a16="http://schemas.microsoft.com/office/drawing/2014/main" val="10003"/>
                  </a:ext>
                </a:extLst>
              </a:tr>
            </a:tbl>
          </a:graphicData>
        </a:graphic>
      </p:graphicFrame>
      <p:pic>
        <p:nvPicPr>
          <p:cNvPr id="8" name="15_trend.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715000" y="2059686"/>
            <a:ext cx="5925312" cy="3332988"/>
          </a:xfrm>
          <a:prstGeom prst="rect">
            <a:avLst/>
          </a:prstGeom>
        </p:spPr>
      </p:pic>
      <p:sp>
        <p:nvSpPr>
          <p:cNvPr id="9" name="TextBox 8"/>
          <p:cNvSpPr txBox="1"/>
          <p:nvPr/>
        </p:nvSpPr>
        <p:spPr>
          <a:xfrm>
            <a:off x="5715000" y="5447538"/>
            <a:ext cx="592531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Trend 2012–24 layer: change from 2012–14 to 2022–24 for lit cells; growth along I-75 and around Ocala.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8"/>
                </p:tgtEl>
              </p:cMediaNode>
            </p:video>
            <p:seq concurrent="1" nextAc="seek">
              <p:cTn id="8" restart="whenNotActive" fill="hold" evtFilter="cancelBubble" nodeType="interactiveSeq">
                <p:stCondLst>
                  <p:cond evt="onClick" delay="0">
                    <p:tgtEl>
                      <p:spTgt spid="8"/>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5</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Finding where lighting changed: trend or step?</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16</a:t>
            </a:r>
          </a:p>
        </p:txBody>
      </p:sp>
      <p:sp>
        <p:nvSpPr>
          <p:cNvPr id="6" name="TextBox 5"/>
          <p:cNvSpPr txBox="1"/>
          <p:nvPr/>
        </p:nvSpPr>
        <p:spPr>
          <a:xfrm>
            <a:off x="548640" y="1463040"/>
            <a:ext cx="470916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For every lit cell: is a steady trend enough, or was there a </a:t>
            </a:r>
            <a:r>
              <a:rPr sz="1800" b="1" i="0">
                <a:solidFill>
                  <a:srgbClr val="F6B44B"/>
                </a:solidFill>
                <a:latin typeface="Aptos"/>
              </a:rPr>
              <a:t>sudden step</a:t>
            </a:r>
            <a:r>
              <a:rPr sz="1800" b="0" i="0">
                <a:solidFill>
                  <a:srgbClr val="D9D2BD"/>
                </a:solidFill>
                <a:latin typeface="Aptos"/>
              </a:rPr>
              <a:t>?</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F-test of line vs line + step, at the best of 8 split years (2015–2022)</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Cutoff from simulating </a:t>
            </a:r>
            <a:r>
              <a:rPr sz="1800" b="1" i="0">
                <a:solidFill>
                  <a:srgbClr val="F6B44B"/>
                </a:solidFill>
                <a:latin typeface="Aptos"/>
              </a:rPr>
              <a:t>200,000</a:t>
            </a:r>
            <a:r>
              <a:rPr sz="1800" b="0" i="0">
                <a:solidFill>
                  <a:srgbClr val="D9D2BD"/>
                </a:solidFill>
                <a:latin typeface="Aptos"/>
              </a:rPr>
              <a:t> noise-only cells: F ≥ 36.3, a false alarm </a:t>
            </a:r>
            <a:r>
              <a:rPr sz="1800" b="1" i="0">
                <a:solidFill>
                  <a:srgbClr val="F6B44B"/>
                </a:solidFill>
                <a:latin typeface="Aptos"/>
              </a:rPr>
              <a:t>1 in 1,000</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Region's shared movement removed first; steps must be ≥ 20%</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Our first detector flagged </a:t>
            </a:r>
            <a:r>
              <a:rPr sz="1800" b="1" i="0">
                <a:solidFill>
                  <a:srgbClr val="F6B44B"/>
                </a:solidFill>
                <a:latin typeface="Aptos"/>
              </a:rPr>
              <a:t>2,000 of 2,000</a:t>
            </a:r>
            <a:r>
              <a:rPr sz="1800" b="0" i="0">
                <a:solidFill>
                  <a:srgbClr val="D9D2BD"/>
                </a:solidFill>
                <a:latin typeface="Aptos"/>
              </a:rPr>
              <a:t> simulated steady trends</a:t>
            </a:r>
          </a:p>
        </p:txBody>
      </p:sp>
      <p:pic>
        <p:nvPicPr>
          <p:cNvPr id="7" name="Picture 6" descr="crop_inspector_chiefland.jpg"/>
          <p:cNvPicPr>
            <a:picLocks noChangeAspect="1"/>
          </p:cNvPicPr>
          <p:nvPr/>
        </p:nvPicPr>
        <p:blipFill>
          <a:blip r:embed="rId3"/>
          <a:stretch>
            <a:fillRect/>
          </a:stretch>
        </p:blipFill>
        <p:spPr>
          <a:xfrm>
            <a:off x="5623560" y="1463040"/>
            <a:ext cx="2926080" cy="1522513"/>
          </a:xfrm>
          <a:prstGeom prst="roundRect">
            <a:avLst>
              <a:gd name="adj" fmla="val 3000"/>
            </a:avLst>
          </a:prstGeom>
          <a:ln w="9525">
            <a:solidFill>
              <a:srgbClr val="2A3A60"/>
            </a:solidFill>
          </a:ln>
        </p:spPr>
      </p:pic>
      <p:sp>
        <p:nvSpPr>
          <p:cNvPr id="8" name="Rectangle 7"/>
          <p:cNvSpPr/>
          <p:nvPr/>
        </p:nvSpPr>
        <p:spPr>
          <a:xfrm>
            <a:off x="5715000" y="3040417"/>
            <a:ext cx="3132328" cy="216535"/>
          </a:xfrm>
          <a:prstGeom prst="roundRect">
            <a:avLst>
              <a:gd name="adj" fmla="val 25000"/>
            </a:avLst>
          </a:prstGeom>
          <a:solidFill>
            <a:srgbClr val="F6B44B"/>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marL="0" indent="0" algn="ctr">
              <a:lnSpc>
                <a:spcPct val="100000"/>
              </a:lnSpc>
              <a:spcBef>
                <a:spcPts val="0"/>
              </a:spcBef>
              <a:spcAft>
                <a:spcPts val="0"/>
              </a:spcAft>
              <a:buNone/>
            </a:pPr>
            <a:r>
              <a:rPr sz="1100" b="1" i="0">
                <a:solidFill>
                  <a:srgbClr val="05070D"/>
                </a:solidFill>
                <a:latin typeface="Aptos"/>
              </a:rPr>
              <a:t>Steady trend: not flagged (Chiefland)</a:t>
            </a:r>
          </a:p>
        </p:txBody>
      </p:sp>
      <p:pic>
        <p:nvPicPr>
          <p:cNvPr id="9" name="Picture 8" descr="crop_inspector1.jpg"/>
          <p:cNvPicPr>
            <a:picLocks noChangeAspect="1"/>
          </p:cNvPicPr>
          <p:nvPr/>
        </p:nvPicPr>
        <p:blipFill>
          <a:blip r:embed="rId4"/>
          <a:stretch>
            <a:fillRect/>
          </a:stretch>
        </p:blipFill>
        <p:spPr>
          <a:xfrm>
            <a:off x="8714232" y="1463040"/>
            <a:ext cx="2926080" cy="1522513"/>
          </a:xfrm>
          <a:prstGeom prst="roundRect">
            <a:avLst>
              <a:gd name="adj" fmla="val 3000"/>
            </a:avLst>
          </a:prstGeom>
          <a:ln w="9525">
            <a:solidFill>
              <a:srgbClr val="2A3A60"/>
            </a:solidFill>
          </a:ln>
        </p:spPr>
      </p:pic>
      <p:sp>
        <p:nvSpPr>
          <p:cNvPr id="10" name="Rectangle 9"/>
          <p:cNvSpPr/>
          <p:nvPr/>
        </p:nvSpPr>
        <p:spPr>
          <a:xfrm>
            <a:off x="8805672" y="3040417"/>
            <a:ext cx="2741168" cy="216535"/>
          </a:xfrm>
          <a:prstGeom prst="roundRect">
            <a:avLst>
              <a:gd name="adj" fmla="val 25000"/>
            </a:avLst>
          </a:prstGeom>
          <a:solidFill>
            <a:srgbClr val="F6B44B"/>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marL="0" indent="0" algn="ctr">
              <a:lnSpc>
                <a:spcPct val="100000"/>
              </a:lnSpc>
              <a:spcBef>
                <a:spcPts val="0"/>
              </a:spcBef>
              <a:spcAft>
                <a:spcPts val="0"/>
              </a:spcAft>
              <a:buNone/>
            </a:pPr>
            <a:r>
              <a:rPr sz="1100" b="1" i="0">
                <a:solidFill>
                  <a:srgbClr val="05070D"/>
                </a:solidFill>
                <a:latin typeface="Aptos"/>
              </a:rPr>
              <a:t>Step: flagged (I-75 &amp; Archer Rd)</a:t>
            </a:r>
          </a:p>
        </p:txBody>
      </p:sp>
      <p:pic>
        <p:nvPicPr>
          <p:cNvPr id="11" name="Picture 10" descr="fstat_light.png"/>
          <p:cNvPicPr>
            <a:picLocks noChangeAspect="1"/>
          </p:cNvPicPr>
          <p:nvPr/>
        </p:nvPicPr>
        <p:blipFill>
          <a:blip r:embed="rId5"/>
          <a:stretch>
            <a:fillRect/>
          </a:stretch>
        </p:blipFill>
        <p:spPr>
          <a:xfrm>
            <a:off x="5669280" y="3520440"/>
            <a:ext cx="5897879" cy="929956"/>
          </a:xfrm>
          <a:prstGeom prst="rect">
            <a:avLst/>
          </a:prstGeom>
        </p:spPr>
      </p:pic>
      <p:pic>
        <p:nvPicPr>
          <p:cNvPr id="12" name="Picture 11" descr="fcrit_light.png"/>
          <p:cNvPicPr>
            <a:picLocks noChangeAspect="1"/>
          </p:cNvPicPr>
          <p:nvPr/>
        </p:nvPicPr>
        <p:blipFill>
          <a:blip r:embed="rId6"/>
          <a:stretch>
            <a:fillRect/>
          </a:stretch>
        </p:blipFill>
        <p:spPr>
          <a:xfrm>
            <a:off x="5669280" y="4572000"/>
            <a:ext cx="5897880" cy="5949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6</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It found new development on its own</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17</a:t>
            </a:r>
          </a:p>
        </p:txBody>
      </p:sp>
      <p:sp>
        <p:nvSpPr>
          <p:cNvPr id="6" name="TextBox 5"/>
          <p:cNvSpPr txBox="1"/>
          <p:nvPr/>
        </p:nvSpPr>
        <p:spPr>
          <a:xfrm>
            <a:off x="548640" y="1463040"/>
            <a:ext cx="387065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1" i="0">
                <a:solidFill>
                  <a:srgbClr val="F6B44B"/>
                </a:solidFill>
                <a:latin typeface="Aptos"/>
              </a:rPr>
              <a:t>28,986</a:t>
            </a:r>
            <a:r>
              <a:rPr sz="1800" b="0" i="0">
                <a:solidFill>
                  <a:srgbClr val="D9D2BD"/>
                </a:solidFill>
                <a:latin typeface="Aptos"/>
              </a:rPr>
              <a:t> lit cells tested · </a:t>
            </a:r>
            <a:r>
              <a:rPr sz="1800" b="1" i="0">
                <a:solidFill>
                  <a:srgbClr val="F6B44B"/>
                </a:solidFill>
                <a:latin typeface="Aptos"/>
              </a:rPr>
              <a:t>1,493</a:t>
            </a:r>
            <a:r>
              <a:rPr sz="1800" b="0" i="0">
                <a:solidFill>
                  <a:srgbClr val="D9D2BD"/>
                </a:solidFill>
                <a:latin typeface="Aptos"/>
              </a:rPr>
              <a:t> flagged · ≈ 29 expected by chance</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#1 event, near I-75 and Archer Road: </a:t>
            </a:r>
            <a:r>
              <a:rPr sz="1800" b="1" i="0">
                <a:solidFill>
                  <a:srgbClr val="F6B44B"/>
                </a:solidFill>
                <a:latin typeface="Aptos"/>
              </a:rPr>
              <a:t>28 → 91 nW</a:t>
            </a:r>
            <a:r>
              <a:rPr sz="1800" b="0" i="0">
                <a:solidFill>
                  <a:srgbClr val="D9D2BD"/>
                </a:solidFill>
                <a:latin typeface="Aptos"/>
              </a:rPr>
              <a:t>, step in 2016 (F = 176.8)</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That's </a:t>
            </a:r>
            <a:r>
              <a:rPr sz="1800" b="1" i="0">
                <a:solidFill>
                  <a:srgbClr val="F6B44B"/>
                </a:solidFill>
                <a:latin typeface="Aptos"/>
              </a:rPr>
              <a:t>Celebration Pointe</a:t>
            </a:r>
            <a:r>
              <a:rPr sz="1800" b="0" i="0">
                <a:solidFill>
                  <a:srgbClr val="D9D2BD"/>
                </a:solidFill>
                <a:latin typeface="Aptos"/>
              </a:rPr>
              <a:t>: Bass Pro Shops opened there in November 2016</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#2: dark land west of Ocala lit up in 2021 (0.5 → 53.5 nW)</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Nobody told the model where to look; it knows light changed, not what was built</a:t>
            </a:r>
          </a:p>
        </p:txBody>
      </p:sp>
      <p:pic>
        <p:nvPicPr>
          <p:cNvPr id="7" name="17_ai_event1.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922215" y="1508760"/>
            <a:ext cx="6720840" cy="3780472"/>
          </a:xfrm>
          <a:prstGeom prst="rect">
            <a:avLst/>
          </a:prstGeom>
        </p:spPr>
      </p:pic>
      <p:sp>
        <p:nvSpPr>
          <p:cNvPr id="8" name="TextBox 7"/>
          <p:cNvSpPr txBox="1"/>
          <p:nvPr/>
        </p:nvSpPr>
        <p:spPr>
          <a:xfrm>
            <a:off x="4922215" y="5344096"/>
            <a:ext cx="672084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AI tab: clicking the top event flies the map to it and shows the cell's 13 years with the fitted step.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7</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What the detector can't see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18</a:t>
            </a:r>
          </a:p>
        </p:txBody>
      </p:sp>
      <p:sp>
        <p:nvSpPr>
          <p:cNvPr id="6" name="TextBox 5"/>
          <p:cNvSpPr txBox="1"/>
          <p:nvPr/>
        </p:nvSpPr>
        <p:spPr>
          <a:xfrm>
            <a:off x="548640" y="1463040"/>
            <a:ext cx="489204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A lit cell's yearly values scatter </a:t>
            </a:r>
            <a:r>
              <a:rPr sz="1900" b="1" i="0">
                <a:solidFill>
                  <a:srgbClr val="F6B44B"/>
                </a:solidFill>
                <a:latin typeface="Aptos"/>
              </a:rPr>
              <a:t>≈ 10%</a:t>
            </a:r>
            <a:r>
              <a:rPr sz="1900" b="0" i="0">
                <a:solidFill>
                  <a:srgbClr val="D9D2BD"/>
                </a:solidFill>
                <a:latin typeface="Aptos"/>
              </a:rPr>
              <a:t> around its trend</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At that noise a +50% step is caught </a:t>
            </a:r>
            <a:r>
              <a:rPr sz="1900" b="1" i="0">
                <a:solidFill>
                  <a:srgbClr val="F6B44B"/>
                </a:solidFill>
                <a:latin typeface="Aptos"/>
              </a:rPr>
              <a:t>10%</a:t>
            </a:r>
            <a:r>
              <a:rPr sz="1900" b="0" i="0">
                <a:solidFill>
                  <a:srgbClr val="D9D2BD"/>
                </a:solidFill>
                <a:latin typeface="Aptos"/>
              </a:rPr>
              <a:t> of the time, a −30% step </a:t>
            </a:r>
            <a:r>
              <a:rPr sz="1900" b="1" i="0">
                <a:solidFill>
                  <a:srgbClr val="F6B44B"/>
                </a:solidFill>
                <a:latin typeface="Aptos"/>
              </a:rPr>
              <a:t>6%</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So it finds large new lighting and </a:t>
            </a:r>
            <a:r>
              <a:rPr sz="1900" b="1" i="0">
                <a:solidFill>
                  <a:srgbClr val="F6B44B"/>
                </a:solidFill>
                <a:latin typeface="Aptos"/>
              </a:rPr>
              <a:t>misses most LED retrofits</a:t>
            </a:r>
            <a:r>
              <a:rPr sz="1900" b="0" i="0">
                <a:solidFill>
                  <a:srgbClr val="D9D2BD"/>
                </a:solidFill>
                <a:latin typeface="Aptos"/>
              </a:rPr>
              <a:t> (20–40% drops)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VIIRS is nearly blind below 500 nm: it misses most of a white LED's blue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Next: monthly data and utility work orders</a:t>
            </a:r>
          </a:p>
        </p:txBody>
      </p:sp>
      <p:sp>
        <p:nvSpPr>
          <p:cNvPr id="7" name="TextBox 6"/>
          <p:cNvSpPr txBox="1"/>
          <p:nvPr/>
        </p:nvSpPr>
        <p:spPr>
          <a:xfrm>
            <a:off x="5852160" y="1417320"/>
            <a:ext cx="576072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Chance a step is flagged, at the median noise (9.7%)</a:t>
            </a:r>
          </a:p>
        </p:txBody>
      </p:sp>
      <p:graphicFrame>
        <p:nvGraphicFramePr>
          <p:cNvPr id="8" name="Chart 7"/>
          <p:cNvGraphicFramePr>
            <a:graphicFrameLocks noGrp="1"/>
          </p:cNvGraphicFramePr>
          <p:nvPr/>
        </p:nvGraphicFramePr>
        <p:xfrm>
          <a:off x="5760720" y="1737360"/>
          <a:ext cx="589788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p:cNvSpPr txBox="1"/>
          <p:nvPr/>
        </p:nvSpPr>
        <p:spPr>
          <a:xfrm>
            <a:off x="5852160" y="5760720"/>
            <a:ext cx="5760720" cy="5029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From 20,000 simulated series per case with a step in 2019. Large new development (+100% and more) is what it reliably finds.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8</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Forecasting growth with LightGBM</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19</a:t>
            </a:r>
          </a:p>
        </p:txBody>
      </p:sp>
      <p:sp>
        <p:nvSpPr>
          <p:cNvPr id="6" name="TextBox 5"/>
          <p:cNvSpPr txBox="1"/>
          <p:nvPr/>
        </p:nvSpPr>
        <p:spPr>
          <a:xfrm>
            <a:off x="548640" y="1463040"/>
            <a:ext cx="489204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Gradient-boosted decision trees on </a:t>
            </a:r>
            <a:r>
              <a:rPr sz="1900" b="1" i="0">
                <a:solidFill>
                  <a:srgbClr val="F6B44B"/>
                </a:solidFill>
                <a:latin typeface="Aptos"/>
              </a:rPr>
              <a:t>~30,000</a:t>
            </a:r>
            <a:r>
              <a:rPr sz="1900" b="0" i="0">
                <a:solidFill>
                  <a:srgbClr val="D9D2BD"/>
                </a:solidFill>
                <a:latin typeface="Aptos"/>
              </a:rPr>
              <a:t> one-km cells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Learns how fast a cell brightened over 6 years from </a:t>
            </a:r>
            <a:r>
              <a:rPr sz="1900" b="1" i="0">
                <a:solidFill>
                  <a:srgbClr val="F6B44B"/>
                </a:solidFill>
                <a:latin typeface="Aptos"/>
              </a:rPr>
              <a:t>6 open inputs</a:t>
            </a:r>
            <a:r>
              <a:rPr sz="1900" b="0" i="0">
                <a:solidFill>
                  <a:srgbClr val="D9D2BD"/>
                </a:solidFill>
                <a:latin typeface="Aptos"/>
              </a:rPr>
              <a:t> describing it at the start</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Why not deep learning? Small tabular data: trains in </a:t>
            </a:r>
            <a:r>
              <a:rPr sz="1900" b="1" i="0">
                <a:solidFill>
                  <a:srgbClr val="F6B44B"/>
                </a:solidFill>
                <a:latin typeface="Aptos"/>
              </a:rPr>
              <a:t>seconds</a:t>
            </a:r>
            <a:r>
              <a:rPr sz="1900" b="0" i="0">
                <a:solidFill>
                  <a:srgbClr val="D9D2BD"/>
                </a:solidFill>
                <a:latin typeface="Aptos"/>
              </a:rPr>
              <a:t> on a laptop, no GPU, reports what it relies on</a:t>
            </a:r>
          </a:p>
        </p:txBody>
      </p:sp>
      <p:pic>
        <p:nvPicPr>
          <p:cNvPr id="7" name="Picture 6" descr="boost_light.png"/>
          <p:cNvPicPr>
            <a:picLocks noChangeAspect="1"/>
          </p:cNvPicPr>
          <p:nvPr/>
        </p:nvPicPr>
        <p:blipFill>
          <a:blip r:embed="rId3"/>
          <a:stretch>
            <a:fillRect/>
          </a:stretch>
        </p:blipFill>
        <p:spPr>
          <a:xfrm>
            <a:off x="548640" y="4892040"/>
            <a:ext cx="4892040" cy="377087"/>
          </a:xfrm>
          <a:prstGeom prst="rect">
            <a:avLst/>
          </a:prstGeom>
        </p:spPr>
      </p:pic>
      <p:sp>
        <p:nvSpPr>
          <p:cNvPr id="8" name="TextBox 7"/>
          <p:cNvSpPr txBox="1"/>
          <p:nvPr/>
        </p:nvSpPr>
        <p:spPr>
          <a:xfrm>
            <a:off x="548640" y="5715000"/>
            <a:ext cx="4892040" cy="5486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300 trees · learning rate 0.05 · ≤ 31 leaves · ≥ 40 cells per leaf</a:t>
            </a:r>
          </a:p>
        </p:txBody>
      </p:sp>
      <p:sp>
        <p:nvSpPr>
          <p:cNvPr id="9" name="TextBox 8"/>
          <p:cNvSpPr txBox="1"/>
          <p:nvPr/>
        </p:nvSpPr>
        <p:spPr>
          <a:xfrm>
            <a:off x="5852160" y="1417320"/>
            <a:ext cx="576072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What the model relies on (share of split gain)</a:t>
            </a:r>
          </a:p>
        </p:txBody>
      </p:sp>
      <p:graphicFrame>
        <p:nvGraphicFramePr>
          <p:cNvPr id="10" name="Chart 9"/>
          <p:cNvGraphicFramePr>
            <a:graphicFrameLocks noGrp="1"/>
          </p:cNvGraphicFramePr>
          <p:nvPr/>
        </p:nvGraphicFramePr>
        <p:xfrm>
          <a:off x="5760720" y="1737360"/>
          <a:ext cx="5897880" cy="429768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9</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The back-test: did it beat “no change”?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20</a:t>
            </a:r>
          </a:p>
        </p:txBody>
      </p:sp>
      <p:sp>
        <p:nvSpPr>
          <p:cNvPr id="6" name="TextBox 5"/>
          <p:cNvSpPr txBox="1"/>
          <p:nvPr/>
        </p:nvSpPr>
        <p:spPr>
          <a:xfrm>
            <a:off x="548640" y="1463040"/>
            <a:ext cx="4892040" cy="2560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Trained on 2012 → 2018, asked for </a:t>
            </a:r>
            <a:r>
              <a:rPr sz="1800" b="1" i="0">
                <a:solidFill>
                  <a:srgbClr val="F6B44B"/>
                </a:solidFill>
                <a:latin typeface="Aptos"/>
              </a:rPr>
              <a:t>2024</a:t>
            </a:r>
            <a:r>
              <a:rPr sz="1800" b="0" i="0">
                <a:solidFill>
                  <a:srgbClr val="D9D2BD"/>
                </a:solidFill>
                <a:latin typeface="Aptos"/>
              </a:rPr>
              <a:t>: years it never saw</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Ties “no change” on brightness: lit areas fell </a:t>
            </a:r>
            <a:r>
              <a:rPr sz="1800" b="1" i="0">
                <a:solidFill>
                  <a:srgbClr val="F6B44B"/>
                </a:solidFill>
                <a:latin typeface="Aptos"/>
              </a:rPr>
              <a:t>3.7%</a:t>
            </a:r>
            <a:r>
              <a:rPr sz="1800" b="0" i="0">
                <a:solidFill>
                  <a:srgbClr val="D9D2BD"/>
                </a:solidFill>
                <a:latin typeface="Aptos"/>
              </a:rPr>
              <a:t> (2012–18), then rose </a:t>
            </a:r>
            <a:r>
              <a:rPr sz="1800" b="1" i="0">
                <a:solidFill>
                  <a:srgbClr val="F6B44B"/>
                </a:solidFill>
                <a:latin typeface="Aptos"/>
              </a:rPr>
              <a:t>20.6%</a:t>
            </a:r>
            <a:r>
              <a:rPr sz="1800" b="0" i="0">
                <a:solidFill>
                  <a:srgbClr val="D9D2BD"/>
                </a:solidFill>
                <a:latin typeface="Aptos"/>
              </a:rPr>
              <a:t> (2018–24)</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But it gets the </a:t>
            </a:r>
            <a:r>
              <a:rPr sz="1800" b="1" i="0">
                <a:solidFill>
                  <a:srgbClr val="F6B44B"/>
                </a:solidFill>
                <a:latin typeface="Aptos"/>
              </a:rPr>
              <a:t>order</a:t>
            </a:r>
            <a:r>
              <a:rPr sz="1800" b="0" i="0">
                <a:solidFill>
                  <a:srgbClr val="D9D2BD"/>
                </a:solidFill>
                <a:latin typeface="Aptos"/>
              </a:rPr>
              <a:t> right: correlation </a:t>
            </a:r>
            <a:r>
              <a:rPr sz="1800" b="1" i="0">
                <a:solidFill>
                  <a:srgbClr val="F6B44B"/>
                </a:solidFill>
                <a:latin typeface="Aptos"/>
              </a:rPr>
              <a:t>0.35</a:t>
            </a:r>
            <a:r>
              <a:rPr sz="1800" b="0" i="0">
                <a:solidFill>
                  <a:srgbClr val="D9D2BD"/>
                </a:solidFill>
                <a:latin typeface="Aptos"/>
              </a:rPr>
              <a:t>; R² </a:t>
            </a:r>
            <a:r>
              <a:rPr sz="1800" b="1" i="0">
                <a:solidFill>
                  <a:srgbClr val="F6B44B"/>
                </a:solidFill>
                <a:latin typeface="Aptos"/>
              </a:rPr>
              <a:t>0.18</a:t>
            </a:r>
            <a:r>
              <a:rPr sz="1800" b="0" i="0">
                <a:solidFill>
                  <a:srgbClr val="D9D2BD"/>
                </a:solidFill>
                <a:latin typeface="Aptos"/>
              </a:rPr>
              <a:t> on held-out areas</a:t>
            </a:r>
          </a:p>
        </p:txBody>
      </p:sp>
      <p:graphicFrame>
        <p:nvGraphicFramePr>
          <p:cNvPr id="7" name="Table 6"/>
          <p:cNvGraphicFramePr>
            <a:graphicFrameLocks noGrp="1"/>
          </p:cNvGraphicFramePr>
          <p:nvPr/>
        </p:nvGraphicFramePr>
        <p:xfrm>
          <a:off x="548640" y="4206240"/>
          <a:ext cx="4892040" cy="1828800"/>
        </p:xfrm>
        <a:graphic>
          <a:graphicData uri="http://schemas.openxmlformats.org/drawingml/2006/table">
            <a:tbl>
              <a:tblPr>
                <a:tableStyleId>{5940675A-B579-460E-94D1-54222C63F5DA}</a:tableStyleId>
              </a:tblPr>
              <a:tblGrid>
                <a:gridCol w="26060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57200">
                <a:tc>
                  <a:txBody>
                    <a:bodyPr/>
                    <a:lstStyle/>
                    <a:p>
                      <a:pPr algn="l"/>
                      <a:r>
                        <a:rPr sz="1400" b="1" i="0">
                          <a:solidFill>
                            <a:srgbClr val="F6B44B"/>
                          </a:solidFill>
                          <a:latin typeface="Aptos"/>
                        </a:rPr>
                        <a:t>Prediction of 2024</a:t>
                      </a:r>
                    </a:p>
                  </a:txBody>
                  <a:tcPr marL="73152" marR="73152" marT="27432" marB="27432" anchor="ctr">
                    <a:solidFill>
                      <a:srgbClr val="1A2642"/>
                    </a:solidFill>
                  </a:tcPr>
                </a:tc>
                <a:tc>
                  <a:txBody>
                    <a:bodyPr/>
                    <a:lstStyle/>
                    <a:p>
                      <a:pPr algn="r"/>
                      <a:r>
                        <a:rPr sz="1400" b="1" i="0">
                          <a:solidFill>
                            <a:srgbClr val="F6B44B"/>
                          </a:solidFill>
                          <a:latin typeface="Aptos"/>
                        </a:rPr>
                        <a:t>Median error</a:t>
                      </a:r>
                    </a:p>
                  </a:txBody>
                  <a:tcPr marL="73152" marR="73152" marT="27432" marB="27432" anchor="ctr">
                    <a:solidFill>
                      <a:srgbClr val="1A2642"/>
                    </a:solidFill>
                  </a:tcPr>
                </a:tc>
                <a:tc>
                  <a:txBody>
                    <a:bodyPr/>
                    <a:lstStyle/>
                    <a:p>
                      <a:pPr algn="r"/>
                      <a:r>
                        <a:rPr sz="1400" b="1" i="0">
                          <a:solidFill>
                            <a:srgbClr val="F6B44B"/>
                          </a:solidFill>
                          <a:latin typeface="Aptos"/>
                        </a:rPr>
                        <a:t>Log error</a:t>
                      </a:r>
                    </a:p>
                  </a:txBody>
                  <a:tcPr marL="73152" marR="73152" marT="27432" marB="27432" anchor="ctr">
                    <a:solidFill>
                      <a:srgbClr val="1A2642"/>
                    </a:solidFill>
                  </a:tcPr>
                </a:tc>
                <a:extLst>
                  <a:ext uri="{0D108BD9-81ED-4DB2-BD59-A6C34878D82A}">
                    <a16:rowId xmlns:a16="http://schemas.microsoft.com/office/drawing/2014/main" val="10000"/>
                  </a:ext>
                </a:extLst>
              </a:tr>
              <a:tr h="457200">
                <a:tc>
                  <a:txBody>
                    <a:bodyPr/>
                    <a:lstStyle/>
                    <a:p>
                      <a:pPr algn="l"/>
                      <a:r>
                        <a:rPr sz="1400" b="1" i="0">
                          <a:solidFill>
                            <a:srgbClr val="F6B44B"/>
                          </a:solidFill>
                          <a:latin typeface="Aptos"/>
                        </a:rPr>
                        <a:t>LightGBM</a:t>
                      </a:r>
                    </a:p>
                  </a:txBody>
                  <a:tcPr marL="73152" marR="73152" marT="27432" marB="27432" anchor="ctr">
                    <a:solidFill>
                      <a:srgbClr val="0A0F1C"/>
                    </a:solidFill>
                  </a:tcPr>
                </a:tc>
                <a:tc>
                  <a:txBody>
                    <a:bodyPr/>
                    <a:lstStyle/>
                    <a:p>
                      <a:pPr algn="r"/>
                      <a:r>
                        <a:rPr sz="1400" b="1" i="0">
                          <a:solidFill>
                            <a:srgbClr val="F6B44B"/>
                          </a:solidFill>
                          <a:latin typeface="Aptos"/>
                        </a:rPr>
                        <a:t>21.2%</a:t>
                      </a:r>
                    </a:p>
                  </a:txBody>
                  <a:tcPr marL="73152" marR="73152" marT="27432" marB="27432" anchor="ctr">
                    <a:solidFill>
                      <a:srgbClr val="0A0F1C"/>
                    </a:solidFill>
                  </a:tcPr>
                </a:tc>
                <a:tc>
                  <a:txBody>
                    <a:bodyPr/>
                    <a:lstStyle/>
                    <a:p>
                      <a:pPr algn="r"/>
                      <a:r>
                        <a:rPr sz="1400" b="1" i="0">
                          <a:solidFill>
                            <a:srgbClr val="F6B44B"/>
                          </a:solidFill>
                          <a:latin typeface="Aptos"/>
                        </a:rPr>
                        <a:t>0.449</a:t>
                      </a:r>
                    </a:p>
                  </a:txBody>
                  <a:tcPr marL="73152" marR="73152" marT="27432" marB="27432" anchor="ctr">
                    <a:solidFill>
                      <a:srgbClr val="0A0F1C"/>
                    </a:solidFill>
                  </a:tcPr>
                </a:tc>
                <a:extLst>
                  <a:ext uri="{0D108BD9-81ED-4DB2-BD59-A6C34878D82A}">
                    <a16:rowId xmlns:a16="http://schemas.microsoft.com/office/drawing/2014/main" val="10001"/>
                  </a:ext>
                </a:extLst>
              </a:tr>
              <a:tr h="457200">
                <a:tc>
                  <a:txBody>
                    <a:bodyPr/>
                    <a:lstStyle/>
                    <a:p>
                      <a:pPr algn="l"/>
                      <a:r>
                        <a:rPr sz="1400" b="0" i="0">
                          <a:solidFill>
                            <a:srgbClr val="F5F1E6"/>
                          </a:solidFill>
                          <a:latin typeface="Aptos"/>
                        </a:rPr>
                        <a:t>No change (2024 = 2018)</a:t>
                      </a:r>
                    </a:p>
                  </a:txBody>
                  <a:tcPr marL="73152" marR="73152" marT="27432" marB="27432" anchor="ctr">
                    <a:solidFill>
                      <a:srgbClr val="0A0F1C"/>
                    </a:solidFill>
                  </a:tcPr>
                </a:tc>
                <a:tc>
                  <a:txBody>
                    <a:bodyPr/>
                    <a:lstStyle/>
                    <a:p>
                      <a:pPr algn="r"/>
                      <a:r>
                        <a:rPr sz="1400" b="0" i="0">
                          <a:solidFill>
                            <a:srgbClr val="F5F1E6"/>
                          </a:solidFill>
                          <a:latin typeface="Aptos"/>
                        </a:rPr>
                        <a:t>21.2%</a:t>
                      </a:r>
                    </a:p>
                  </a:txBody>
                  <a:tcPr marL="73152" marR="73152" marT="27432" marB="27432" anchor="ctr">
                    <a:solidFill>
                      <a:srgbClr val="0A0F1C"/>
                    </a:solidFill>
                  </a:tcPr>
                </a:tc>
                <a:tc>
                  <a:txBody>
                    <a:bodyPr/>
                    <a:lstStyle/>
                    <a:p>
                      <a:pPr algn="r"/>
                      <a:r>
                        <a:rPr sz="1400" b="0" i="0">
                          <a:solidFill>
                            <a:srgbClr val="F5F1E6"/>
                          </a:solidFill>
                          <a:latin typeface="Aptos"/>
                        </a:rPr>
                        <a:t>0.467</a:t>
                      </a:r>
                    </a:p>
                  </a:txBody>
                  <a:tcPr marL="73152" marR="73152" marT="27432" marB="27432" anchor="ctr">
                    <a:solidFill>
                      <a:srgbClr val="0A0F1C"/>
                    </a:solidFill>
                  </a:tcPr>
                </a:tc>
                <a:extLst>
                  <a:ext uri="{0D108BD9-81ED-4DB2-BD59-A6C34878D82A}">
                    <a16:rowId xmlns:a16="http://schemas.microsoft.com/office/drawing/2014/main" val="10002"/>
                  </a:ext>
                </a:extLst>
              </a:tr>
              <a:tr h="457200">
                <a:tc>
                  <a:txBody>
                    <a:bodyPr/>
                    <a:lstStyle/>
                    <a:p>
                      <a:pPr algn="l"/>
                      <a:r>
                        <a:rPr sz="1400" b="0" i="0">
                          <a:solidFill>
                            <a:srgbClr val="F5F1E6"/>
                          </a:solidFill>
                          <a:latin typeface="Aptos"/>
                        </a:rPr>
                        <a:t>Each cell's own past trend</a:t>
                      </a:r>
                    </a:p>
                  </a:txBody>
                  <a:tcPr marL="73152" marR="73152" marT="27432" marB="27432" anchor="ctr">
                    <a:solidFill>
                      <a:srgbClr val="0A0F1C"/>
                    </a:solidFill>
                  </a:tcPr>
                </a:tc>
                <a:tc>
                  <a:txBody>
                    <a:bodyPr/>
                    <a:lstStyle/>
                    <a:p>
                      <a:pPr algn="r"/>
                      <a:r>
                        <a:rPr sz="1400" b="0" i="0">
                          <a:solidFill>
                            <a:srgbClr val="F5F1E6"/>
                          </a:solidFill>
                          <a:latin typeface="Aptos"/>
                        </a:rPr>
                        <a:t>25.4%</a:t>
                      </a:r>
                    </a:p>
                  </a:txBody>
                  <a:tcPr marL="73152" marR="73152" marT="27432" marB="27432" anchor="ctr">
                    <a:solidFill>
                      <a:srgbClr val="0A0F1C"/>
                    </a:solidFill>
                  </a:tcPr>
                </a:tc>
                <a:tc>
                  <a:txBody>
                    <a:bodyPr/>
                    <a:lstStyle/>
                    <a:p>
                      <a:pPr algn="r"/>
                      <a:r>
                        <a:rPr sz="1400" b="0" i="0">
                          <a:solidFill>
                            <a:srgbClr val="F5F1E6"/>
                          </a:solidFill>
                          <a:latin typeface="Aptos"/>
                        </a:rPr>
                        <a:t>–</a:t>
                      </a:r>
                    </a:p>
                  </a:txBody>
                  <a:tcPr marL="73152" marR="73152" marT="27432" marB="27432" anchor="ctr">
                    <a:solidFill>
                      <a:srgbClr val="0A0F1C"/>
                    </a:solidFill>
                  </a:tcPr>
                </a:tc>
                <a:extLst>
                  <a:ext uri="{0D108BD9-81ED-4DB2-BD59-A6C34878D82A}">
                    <a16:rowId xmlns:a16="http://schemas.microsoft.com/office/drawing/2014/main" val="10003"/>
                  </a:ext>
                </a:extLst>
              </a:tr>
            </a:tbl>
          </a:graphicData>
        </a:graphic>
      </p:graphicFrame>
      <p:sp>
        <p:nvSpPr>
          <p:cNvPr id="8" name="TextBox 7"/>
          <p:cNvSpPr txBox="1"/>
          <p:nvPr/>
        </p:nvSpPr>
        <p:spPr>
          <a:xfrm>
            <a:off x="5852160" y="1417320"/>
            <a:ext cx="576072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Predicted vs observed growth, 2018–24, by tenth of cells</a:t>
            </a:r>
          </a:p>
        </p:txBody>
      </p:sp>
      <p:graphicFrame>
        <p:nvGraphicFramePr>
          <p:cNvPr id="9" name="Chart 8"/>
          <p:cNvGraphicFramePr>
            <a:graphicFrameLocks noGrp="1"/>
          </p:cNvGraphicFramePr>
          <p:nvPr/>
        </p:nvGraphicFramePr>
        <p:xfrm>
          <a:off x="5760720" y="1737360"/>
          <a:ext cx="5897880" cy="434340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10</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How the AI is kept honest</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21</a:t>
            </a:r>
          </a:p>
        </p:txBody>
      </p:sp>
      <p:sp>
        <p:nvSpPr>
          <p:cNvPr id="6" name="TextBox 5"/>
          <p:cNvSpPr txBox="1"/>
          <p:nvPr/>
        </p:nvSpPr>
        <p:spPr>
          <a:xfrm>
            <a:off x="548640" y="1463040"/>
            <a:ext cx="512064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Forecast scored only on years it never trained on; a </a:t>
            </a:r>
            <a:r>
              <a:rPr sz="1800" b="1" i="0">
                <a:solidFill>
                  <a:srgbClr val="F6B44B"/>
                </a:solidFill>
                <a:latin typeface="Aptos"/>
              </a:rPr>
              <a:t>unit test fails</a:t>
            </a:r>
            <a:r>
              <a:rPr sz="1800" b="0" i="0">
                <a:solidFill>
                  <a:srgbClr val="D9D2BD"/>
                </a:solidFill>
                <a:latin typeface="Aptos"/>
              </a:rPr>
              <a:t> if they leak into training</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Detector's false-alarm rate checked on simulated noise; steady trends must not count as steps</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The web page </a:t>
            </a:r>
            <a:r>
              <a:rPr sz="1800" b="1" i="0">
                <a:solidFill>
                  <a:srgbClr val="F6B44B"/>
                </a:solidFill>
                <a:latin typeface="Aptos"/>
              </a:rPr>
              <a:t>re-runs the step test</a:t>
            </a:r>
            <a:r>
              <a:rPr sz="1800" b="0" i="0">
                <a:solidFill>
                  <a:srgbClr val="D9D2BD"/>
                </a:solidFill>
                <a:latin typeface="Aptos"/>
              </a:rPr>
              <a:t> for any cell you click; it must match the pipeline on every lit cell</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Sky model vs </a:t>
            </a:r>
            <a:r>
              <a:rPr sz="1800" b="1" i="0">
                <a:solidFill>
                  <a:srgbClr val="F6B44B"/>
                </a:solidFill>
                <a:latin typeface="Aptos"/>
              </a:rPr>
              <a:t>53</a:t>
            </a:r>
            <a:r>
              <a:rPr sz="1800" b="0" i="0">
                <a:solidFill>
                  <a:srgbClr val="D9D2BD"/>
                </a:solidFill>
                <a:latin typeface="Aptos"/>
              </a:rPr>
              <a:t> Globe at Night meter readings never used in any fit: median 0.52 mag</a:t>
            </a:r>
          </a:p>
        </p:txBody>
      </p:sp>
      <p:pic>
        <p:nvPicPr>
          <p:cNvPr id="7" name="Picture 6" descr="crop_honest.jpg"/>
          <p:cNvPicPr>
            <a:picLocks noChangeAspect="1"/>
          </p:cNvPicPr>
          <p:nvPr/>
        </p:nvPicPr>
        <p:blipFill>
          <a:blip r:embed="rId3"/>
          <a:stretch>
            <a:fillRect/>
          </a:stretch>
        </p:blipFill>
        <p:spPr>
          <a:xfrm>
            <a:off x="6035040" y="1508760"/>
            <a:ext cx="5605272" cy="3221257"/>
          </a:xfrm>
          <a:prstGeom prst="roundRect">
            <a:avLst>
              <a:gd name="adj" fmla="val 2000"/>
            </a:avLst>
          </a:prstGeom>
          <a:ln w="9525">
            <a:solidFill>
              <a:srgbClr val="2A3A60"/>
            </a:solidFill>
          </a:ln>
        </p:spPr>
      </p:pic>
      <p:sp>
        <p:nvSpPr>
          <p:cNvPr id="8" name="TextBox 7"/>
          <p:cNvSpPr txBox="1"/>
          <p:nvPr/>
        </p:nvSpPr>
        <p:spPr>
          <a:xfrm>
            <a:off x="6035040" y="4803169"/>
            <a:ext cx="560527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The same checks, stated in the app's AI tab.</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IN USE</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Where could UF build its next observatory?</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22</a:t>
            </a:r>
          </a:p>
        </p:txBody>
      </p:sp>
      <p:sp>
        <p:nvSpPr>
          <p:cNvPr id="6" name="TextBox 5"/>
          <p:cNvSpPr txBox="1"/>
          <p:nvPr/>
        </p:nvSpPr>
        <p:spPr>
          <a:xfrm>
            <a:off x="548640" y="1417320"/>
            <a:ext cx="5074920" cy="4937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Requested by </a:t>
            </a:r>
            <a:r>
              <a:rPr sz="1600" b="1" i="0">
                <a:solidFill>
                  <a:srgbClr val="F6B44B"/>
                </a:solidFill>
                <a:latin typeface="Aptos"/>
              </a:rPr>
              <a:t>Dr. Elizabeth Lada</a:t>
            </a:r>
            <a:r>
              <a:rPr sz="1600" b="0" i="0">
                <a:solidFill>
                  <a:srgbClr val="D9D2BD"/>
                </a:solidFill>
                <a:latin typeface="Aptos"/>
              </a:rPr>
              <a:t>, Chair of UF Astronomy</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Every ~1 km cell of 11 counties scored: dark sky today and in </a:t>
            </a:r>
            <a:r>
              <a:rPr sz="1600" b="1" i="0">
                <a:solidFill>
                  <a:srgbClr val="F6B44B"/>
                </a:solidFill>
                <a:latin typeface="Aptos"/>
              </a:rPr>
              <a:t>2034</a:t>
            </a:r>
            <a:r>
              <a:rPr sz="1600" b="0" i="0">
                <a:solidFill>
                  <a:srgbClr val="D9D2BD"/>
                </a:solidFill>
                <a:latin typeface="Aptos"/>
              </a:rPr>
              <a:t> (LightGBM), clear air, land, access, </a:t>
            </a:r>
            <a:r>
              <a:rPr sz="1600" b="1" i="0">
                <a:solidFill>
                  <a:srgbClr val="F6B44B"/>
                </a:solidFill>
                <a:latin typeface="Aptos"/>
              </a:rPr>
              <a:t>drive time from UF</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Ruled out: </a:t>
            </a:r>
            <a:r>
              <a:rPr sz="1600" b="1" i="0">
                <a:solidFill>
                  <a:srgbClr val="F6B44B"/>
                </a:solidFill>
                <a:latin typeface="Aptos"/>
              </a:rPr>
              <a:t>water and wetland</a:t>
            </a:r>
            <a:r>
              <a:rPr sz="1600" b="0" i="0">
                <a:solidFill>
                  <a:srgbClr val="D9D2BD"/>
                </a:solidFill>
                <a:latin typeface="Aptos"/>
              </a:rPr>
              <a:t>, the coast, ground below 5 m (storm surge), </a:t>
            </a:r>
            <a:r>
              <a:rPr sz="1600" b="1" i="0">
                <a:solidFill>
                  <a:srgbClr val="F6B44B"/>
                </a:solidFill>
                <a:latin typeface="Aptos"/>
              </a:rPr>
              <a:t>2080 flood projections</a:t>
            </a:r>
            <a:r>
              <a:rPr sz="1600" b="0" i="0">
                <a:solidFill>
                  <a:srgbClr val="D9D2BD"/>
                </a:solidFill>
                <a:latin typeface="Aptos"/>
              </a:rPr>
              <a:t>, </a:t>
            </a:r>
            <a:r>
              <a:rPr sz="1600" b="1" i="0">
                <a:solidFill>
                  <a:srgbClr val="F6B44B"/>
                </a:solidFill>
                <a:latin typeface="Aptos"/>
              </a:rPr>
              <a:t>FEMA's 100-year floodplain</a:t>
            </a:r>
            <a:r>
              <a:rPr sz="1600" b="0" i="0">
                <a:solidFill>
                  <a:srgbClr val="D9D2BD"/>
                </a:solidFill>
                <a:latin typeface="Aptos"/>
              </a:rPr>
              <a:t>, over ~90 min away</a:t>
            </a:r>
          </a:p>
          <a:p>
            <a:pPr marL="256032" indent="-256032">
              <a:lnSpc>
                <a:spcPct val="100000"/>
              </a:lnSpc>
              <a:spcBef>
                <a:spcPts val="900"/>
              </a:spcBef>
              <a:spcAft>
                <a:spcPts val="0"/>
              </a:spcAft>
              <a:buClr>
                <a:srgbClr val="F6B44B"/>
              </a:buClr>
              <a:buSzPct val="100000"/>
              <a:buFont typeface="Arial"/>
              <a:buChar char="•"/>
            </a:pPr>
            <a:r>
              <a:rPr sz="1600" b="1" i="0">
                <a:solidFill>
                  <a:srgbClr val="F6B44B"/>
                </a:solidFill>
                <a:latin typeface="Aptos"/>
              </a:rPr>
              <a:t>Shortlist: Levy #1–#3</a:t>
            </a:r>
            <a:r>
              <a:rPr sz="1600" b="0" i="0">
                <a:solidFill>
                  <a:srgbClr val="D9D2BD"/>
                </a:solidFill>
                <a:latin typeface="Aptos"/>
              </a:rPr>
              <a:t>, between Chiefland and Bronson: 44–58 min from campus, Bortle 3, land </a:t>
            </a:r>
            <a:r>
              <a:rPr sz="1600" b="1" i="0">
                <a:solidFill>
                  <a:srgbClr val="F6B44B"/>
                </a:solidFill>
                <a:latin typeface="Aptos"/>
              </a:rPr>
              <a:t>$605K–806K</a:t>
            </a:r>
            <a:r>
              <a:rPr sz="1600" b="0" i="0">
                <a:solidFill>
                  <a:srgbClr val="D9D2BD"/>
                </a:solidFill>
                <a:latin typeface="Aptos"/>
              </a:rPr>
              <a:t> for 80 acres</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Telescope + building: $1–3M in published examples → </a:t>
            </a:r>
            <a:r>
              <a:rPr sz="1600" b="1" i="0">
                <a:solidFill>
                  <a:srgbClr val="F6B44B"/>
                </a:solidFill>
                <a:latin typeface="Aptos"/>
              </a:rPr>
              <a:t>≈ $1.6–3.8M</a:t>
            </a:r>
            <a:r>
              <a:rPr sz="1600" b="0" i="0">
                <a:solidFill>
                  <a:srgbClr val="D9D2BD"/>
                </a:solidFill>
                <a:latin typeface="Aptos"/>
              </a:rPr>
              <a:t> total</a:t>
            </a:r>
          </a:p>
        </p:txBody>
      </p:sp>
      <p:pic>
        <p:nvPicPr>
          <p:cNvPr id="7" name="Picture 6" descr="obs_map_markers.png"/>
          <p:cNvPicPr>
            <a:picLocks noChangeAspect="1"/>
          </p:cNvPicPr>
          <p:nvPr/>
        </p:nvPicPr>
        <p:blipFill>
          <a:blip r:embed="rId3"/>
          <a:srcRect r="6000" b="6000"/>
          <a:stretch>
            <a:fillRect/>
          </a:stretch>
        </p:blipFill>
        <p:spPr>
          <a:xfrm>
            <a:off x="5897880" y="1417320"/>
            <a:ext cx="5742432" cy="4610835"/>
          </a:xfrm>
          <a:prstGeom prst="roundRect">
            <a:avLst>
              <a:gd name="adj" fmla="val 1200"/>
            </a:avLst>
          </a:prstGeom>
          <a:ln w="9525">
            <a:solidFill>
              <a:srgbClr val="2A3A60"/>
            </a:solidFill>
          </a:ln>
        </p:spPr>
      </p:pic>
      <p:sp>
        <p:nvSpPr>
          <p:cNvPr id="8" name="TextBox 7"/>
          <p:cNvSpPr txBox="1"/>
          <p:nvPr/>
        </p:nvSpPr>
        <p:spPr>
          <a:xfrm>
            <a:off x="5897880" y="6073875"/>
            <a:ext cx="574243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Observatory tab: the top 20 sites by rank (orange = Levy shortlist; markers enlarged). Blank areas are ruled out: water, wetland, flood-prone ground or over 90 minutes away.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IN USE</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From model to policy brief</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23</a:t>
            </a:r>
          </a:p>
        </p:txBody>
      </p:sp>
      <p:sp>
        <p:nvSpPr>
          <p:cNvPr id="6" name="TextBox 5"/>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One-click </a:t>
            </a:r>
            <a:r>
              <a:rPr sz="1900" b="1" i="0">
                <a:solidFill>
                  <a:srgbClr val="F6B44B"/>
                </a:solidFill>
                <a:latin typeface="Aptos"/>
              </a:rPr>
              <a:t>PDF</a:t>
            </a:r>
            <a:r>
              <a:rPr sz="1900" b="0" i="0">
                <a:solidFill>
                  <a:srgbClr val="D9D2BD"/>
                </a:solidFill>
                <a:latin typeface="Aptos"/>
              </a:rPr>
              <a:t> for commissioners; every figure links back to its scenario</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First line: “These outputs are planning projections, not observed outcomes.”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Defensibility panel lists what's missing: sky-meter stations, utility inventories, satellite calibration</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That list is the </a:t>
            </a:r>
            <a:r>
              <a:rPr sz="1900" b="1" i="0">
                <a:solidFill>
                  <a:srgbClr val="F6B44B"/>
                </a:solidFill>
                <a:latin typeface="Aptos"/>
              </a:rPr>
              <a:t>v3 plan</a:t>
            </a:r>
          </a:p>
        </p:txBody>
      </p:sp>
      <p:pic>
        <p:nvPicPr>
          <p:cNvPr id="7" name="23_brief.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8" name="TextBox 7"/>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Brief tab: defensibility panel and the legislative brief.</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WHAT'S NEXT</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Scaling up: from projection to evidence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24</a:t>
            </a:r>
          </a:p>
        </p:txBody>
      </p:sp>
      <p:sp>
        <p:nvSpPr>
          <p:cNvPr id="6" name="TextBox 5"/>
          <p:cNvSpPr txBox="1"/>
          <p:nvPr/>
        </p:nvSpPr>
        <p:spPr>
          <a:xfrm>
            <a:off x="548640" y="1463040"/>
            <a:ext cx="758952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1" i="0">
                <a:solidFill>
                  <a:srgbClr val="F6B44B"/>
                </a:solidFill>
                <a:latin typeface="Aptos"/>
              </a:rPr>
              <a:t>Ground truth</a:t>
            </a:r>
            <a:r>
              <a:rPr sz="1700" b="0" i="0">
                <a:solidFill>
                  <a:srgbClr val="D9D2BD"/>
                </a:solidFill>
                <a:latin typeface="Aptos"/>
              </a:rPr>
              <a:t>: sky-quality meters in every county + a 50-node low-cost sensor pilot (~$5,900 hardware)</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Real inventories</a:t>
            </a:r>
            <a:r>
              <a:rPr sz="1700" b="0" i="0">
                <a:solidFill>
                  <a:srgbClr val="D9D2BD"/>
                </a:solidFill>
                <a:latin typeface="Aptos"/>
              </a:rPr>
              <a:t>: utility data-sharing agreements (GRU, Duke, Clay, CFEC)</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Computer vision</a:t>
            </a:r>
            <a:r>
              <a:rPr sz="1700" b="0" i="0">
                <a:solidFill>
                  <a:srgbClr val="D9D2BD"/>
                </a:solidFill>
                <a:latin typeface="Aptos"/>
              </a:rPr>
              <a:t>: a YOLO detector on street-level imagery to classify fixtures</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Retrofit detection</a:t>
            </a:r>
            <a:r>
              <a:rPr sz="1700" b="0" i="0">
                <a:solidFill>
                  <a:srgbClr val="D9D2BD"/>
                </a:solidFill>
                <a:latin typeface="Aptos"/>
              </a:rPr>
              <a:t>: monthly satellite data; fit the LED correction on GRU's 3000 K conversions</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Scaling</a:t>
            </a:r>
            <a:r>
              <a:rPr sz="1700" b="0" i="0">
                <a:solidFill>
                  <a:srgbClr val="D9D2BD"/>
                </a:solidFill>
                <a:latin typeface="Aptos"/>
              </a:rPr>
              <a:t>: a reusable county package (satellite data, lighting, development, policy), Levy County next</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Siting</a:t>
            </a:r>
            <a:r>
              <a:rPr sz="1700" b="0" i="0">
                <a:solidFill>
                  <a:srgbClr val="D9D2BD"/>
                </a:solidFill>
                <a:latin typeface="Aptos"/>
              </a:rPr>
              <a:t>: parcel-level flood maps and site visits; blind test with UF Astronomy</a:t>
            </a:r>
          </a:p>
          <a:p>
            <a:pPr marL="256032" indent="-256032">
              <a:lnSpc>
                <a:spcPct val="100000"/>
              </a:lnSpc>
              <a:spcBef>
                <a:spcPts val="900"/>
              </a:spcBef>
              <a:spcAft>
                <a:spcPts val="0"/>
              </a:spcAft>
              <a:buClr>
                <a:srgbClr val="F6B44B"/>
              </a:buClr>
              <a:buSzPct val="100000"/>
              <a:buFont typeface="Arial"/>
              <a:buChar char="•"/>
            </a:pPr>
            <a:r>
              <a:rPr sz="1700" b="0" i="0">
                <a:solidFill>
                  <a:srgbClr val="D9D2BD"/>
                </a:solidFill>
                <a:latin typeface="Aptos"/>
              </a:rPr>
              <a:t>Looking for collaborators in sensors, computer vision, remote sensing and policy</a:t>
            </a:r>
          </a:p>
        </p:txBody>
      </p:sp>
      <p:pic>
        <p:nvPicPr>
          <p:cNvPr id="7" name="24_phone.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8950097" y="1463040"/>
            <a:ext cx="2198317" cy="4754880"/>
          </a:xfrm>
          <a:prstGeom prst="rect">
            <a:avLst/>
          </a:prstGeom>
        </p:spPr>
      </p:pic>
      <p:sp>
        <p:nvSpPr>
          <p:cNvPr id="8" name="TextBox 7"/>
          <p:cNvSpPr txBox="1"/>
          <p:nvPr/>
        </p:nvSpPr>
        <p:spPr>
          <a:xfrm>
            <a:off x="8950097" y="6272784"/>
            <a:ext cx="2198317"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The same app on a phone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WHAT'S NEXT</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What UF can do</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25</a:t>
            </a:r>
          </a:p>
        </p:txBody>
      </p:sp>
      <p:sp>
        <p:nvSpPr>
          <p:cNvPr id="6" name="TextBox 5"/>
          <p:cNvSpPr txBox="1"/>
          <p:nvPr/>
        </p:nvSpPr>
        <p:spPr>
          <a:xfrm>
            <a:off x="548640" y="1417320"/>
            <a:ext cx="6172200" cy="4937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Alachua County is writing dark-sky lighting into its plan; </a:t>
            </a:r>
            <a:r>
              <a:rPr sz="1800" b="1" i="0">
                <a:solidFill>
                  <a:srgbClr val="F6B44B"/>
                </a:solidFill>
                <a:latin typeface="Aptos"/>
              </a:rPr>
              <a:t>UF answers to the State</a:t>
            </a:r>
            <a:r>
              <a:rPr sz="1800" b="0" i="0">
                <a:solidFill>
                  <a:srgbClr val="D9D2BD"/>
                </a:solidFill>
                <a:latin typeface="Aptos"/>
              </a:rPr>
              <a:t>, so campus lighting is UF's own decision</a:t>
            </a:r>
          </a:p>
          <a:p>
            <a:pPr marL="256032" indent="-256032">
              <a:lnSpc>
                <a:spcPct val="100000"/>
              </a:lnSpc>
              <a:spcBef>
                <a:spcPts val="1000"/>
              </a:spcBef>
              <a:spcAft>
                <a:spcPts val="0"/>
              </a:spcAft>
              <a:buClr>
                <a:srgbClr val="F6B44B"/>
              </a:buClr>
              <a:buSzPct val="100000"/>
              <a:buFont typeface="Arial"/>
              <a:buChar char="•"/>
            </a:pPr>
            <a:r>
              <a:rPr sz="1800" b="1" i="0">
                <a:solidFill>
                  <a:srgbClr val="F6B44B"/>
                </a:solidFill>
                <a:latin typeface="Aptos"/>
              </a:rPr>
              <a:t>Lead on campus</a:t>
            </a:r>
            <a:r>
              <a:rPr sz="1800" b="0" i="0">
                <a:solidFill>
                  <a:srgbClr val="D9D2BD"/>
                </a:solidFill>
                <a:latin typeface="Aptos"/>
              </a:rPr>
              <a:t>: upgrading UF's 4,100 pole lights costs about </a:t>
            </a:r>
            <a:r>
              <a:rPr sz="1800" b="1" i="0">
                <a:solidFill>
                  <a:srgbClr val="F6B44B"/>
                </a:solidFill>
                <a:latin typeface="Aptos"/>
              </a:rPr>
              <a:t>$984K</a:t>
            </a:r>
            <a:r>
              <a:rPr sz="1800" b="0" i="0">
                <a:solidFill>
                  <a:srgbClr val="D9D2BD"/>
                </a:solidFill>
                <a:latin typeface="Aptos"/>
              </a:rPr>
              <a:t> and saves about </a:t>
            </a:r>
            <a:r>
              <a:rPr sz="1800" b="1" i="0">
                <a:solidFill>
                  <a:srgbClr val="F6B44B"/>
                </a:solidFill>
                <a:latin typeface="Aptos"/>
              </a:rPr>
              <a:t>$198K</a:t>
            </a:r>
            <a:r>
              <a:rPr sz="1800" b="0" i="0">
                <a:solidFill>
                  <a:srgbClr val="D9D2BD"/>
                </a:solidFill>
                <a:latin typeface="Aptos"/>
              </a:rPr>
              <a:t> a year</a:t>
            </a:r>
          </a:p>
          <a:p>
            <a:pPr marL="256032" indent="-256032">
              <a:lnSpc>
                <a:spcPct val="100000"/>
              </a:lnSpc>
              <a:spcBef>
                <a:spcPts val="1000"/>
              </a:spcBef>
              <a:spcAft>
                <a:spcPts val="0"/>
              </a:spcAft>
              <a:buClr>
                <a:srgbClr val="F6B44B"/>
              </a:buClr>
              <a:buSzPct val="100000"/>
              <a:buFont typeface="Arial"/>
              <a:buChar char="•"/>
            </a:pPr>
            <a:r>
              <a:rPr sz="1800" b="1" i="0">
                <a:solidFill>
                  <a:srgbClr val="F6B44B"/>
                </a:solidFill>
                <a:latin typeface="Aptos"/>
              </a:rPr>
              <a:t>Protect UF's skies</a:t>
            </a:r>
            <a:r>
              <a:rPr sz="1800" b="0" i="0">
                <a:solidFill>
                  <a:srgbClr val="D9D2BD"/>
                </a:solidFill>
                <a:latin typeface="Aptos"/>
              </a:rPr>
              <a:t>: keep Rosemary Hill dark and choose a site for UF Astronomy's next observatory</a:t>
            </a:r>
          </a:p>
          <a:p>
            <a:pPr marL="256032" indent="-256032">
              <a:lnSpc>
                <a:spcPct val="100000"/>
              </a:lnSpc>
              <a:spcBef>
                <a:spcPts val="1000"/>
              </a:spcBef>
              <a:spcAft>
                <a:spcPts val="0"/>
              </a:spcAft>
              <a:buClr>
                <a:srgbClr val="F6B44B"/>
              </a:buClr>
              <a:buSzPct val="100000"/>
              <a:buFont typeface="Arial"/>
              <a:buChar char="•"/>
            </a:pPr>
            <a:r>
              <a:rPr sz="1800" b="1" i="0">
                <a:solidFill>
                  <a:srgbClr val="F6B44B"/>
                </a:solidFill>
                <a:latin typeface="Aptos"/>
              </a:rPr>
              <a:t>Measure the real sky</a:t>
            </a:r>
            <a:r>
              <a:rPr sz="1800" b="0" i="0">
                <a:solidFill>
                  <a:srgbClr val="D9D2BD"/>
                </a:solidFill>
                <a:latin typeface="Aptos"/>
              </a:rPr>
              <a:t>: a 50-sensor network (about </a:t>
            </a:r>
            <a:r>
              <a:rPr sz="1800" b="1" i="0">
                <a:solidFill>
                  <a:srgbClr val="F6B44B"/>
                </a:solidFill>
                <a:latin typeface="Aptos"/>
              </a:rPr>
              <a:t>$6,000</a:t>
            </a:r>
            <a:r>
              <a:rPr sz="1800" b="0" i="0">
                <a:solidFill>
                  <a:srgbClr val="D9D2BD"/>
                </a:solidFill>
                <a:latin typeface="Aptos"/>
              </a:rPr>
              <a:t>) to check the model against real readings</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Independent and unfunded so far: I'd like this to become a UF project</a:t>
            </a:r>
          </a:p>
        </p:txBody>
      </p:sp>
      <p:pic>
        <p:nvPicPr>
          <p:cNvPr id="7" name="Picture 6" descr="photo_rho_dome.jpg"/>
          <p:cNvPicPr>
            <a:picLocks noChangeAspect="1"/>
          </p:cNvPicPr>
          <p:nvPr/>
        </p:nvPicPr>
        <p:blipFill>
          <a:blip r:embed="rId3"/>
          <a:srcRect l="13755" r="13755"/>
          <a:stretch>
            <a:fillRect/>
          </a:stretch>
        </p:blipFill>
        <p:spPr>
          <a:xfrm>
            <a:off x="6949440" y="1417320"/>
            <a:ext cx="4690872" cy="4343400"/>
          </a:xfrm>
          <a:prstGeom prst="roundRect">
            <a:avLst>
              <a:gd name="adj" fmla="val 1200"/>
            </a:avLst>
          </a:prstGeom>
          <a:ln w="9525">
            <a:solidFill>
              <a:srgbClr val="2A3A60"/>
            </a:solidFill>
          </a:ln>
        </p:spPr>
      </p:pic>
      <p:sp>
        <p:nvSpPr>
          <p:cNvPr id="8" name="TextBox 7"/>
          <p:cNvSpPr txBox="1"/>
          <p:nvPr/>
        </p:nvSpPr>
        <p:spPr>
          <a:xfrm>
            <a:off x="6949440" y="5806440"/>
            <a:ext cx="469087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UF's Rosemary Hill Observatory. Photo: The Gainesville Sun, April 2012.</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pic>
        <p:nvPicPr>
          <p:cNvPr id="2" name="Picture 1" descr="photo_jay_telescope.jpg"/>
          <p:cNvPicPr>
            <a:picLocks noChangeAspect="1"/>
          </p:cNvPicPr>
          <p:nvPr/>
        </p:nvPicPr>
        <p:blipFill>
          <a:blip r:embed="rId3"/>
          <a:srcRect l="1" r="1"/>
          <a:stretch>
            <a:fillRect/>
          </a:stretch>
        </p:blipFill>
        <p:spPr>
          <a:xfrm>
            <a:off x="0" y="0"/>
            <a:ext cx="12191695" cy="6858000"/>
          </a:xfrm>
          <a:prstGeom prst="rect">
            <a:avLst/>
          </a:prstGeom>
        </p:spPr>
      </p:pic>
      <p:sp>
        <p:nvSpPr>
          <p:cNvPr id="3" name="Rectangle 2"/>
          <p:cNvSpPr/>
          <p:nvPr/>
        </p:nvSpPr>
        <p:spPr>
          <a:xfrm>
            <a:off x="6035040" y="0"/>
            <a:ext cx="6156655" cy="6858000"/>
          </a:xfrm>
          <a:prstGeom prst="rect">
            <a:avLst/>
          </a:prstGeom>
          <a:solidFill>
            <a:srgbClr val="05070D">
              <a:alpha val="7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0" y="822960"/>
            <a:ext cx="5394960" cy="8229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4800" b="1" i="0">
                <a:solidFill>
                  <a:srgbClr val="F5F1E6"/>
                </a:solidFill>
                <a:latin typeface="Aptos Display"/>
              </a:rPr>
              <a:t>Thank you</a:t>
            </a:r>
          </a:p>
        </p:txBody>
      </p:sp>
      <p:sp>
        <p:nvSpPr>
          <p:cNvPr id="5" name="TextBox 4"/>
          <p:cNvSpPr txBox="1"/>
          <p:nvPr/>
        </p:nvSpPr>
        <p:spPr>
          <a:xfrm>
            <a:off x="6400800" y="1691640"/>
            <a:ext cx="5394960" cy="5486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2600" b="0" i="0">
                <a:solidFill>
                  <a:srgbClr val="F6B44B"/>
                </a:solidFill>
                <a:latin typeface="Aptos Display"/>
              </a:rPr>
              <a:t>Questions?</a:t>
            </a:r>
          </a:p>
        </p:txBody>
      </p:sp>
      <p:pic>
        <p:nvPicPr>
          <p:cNvPr id="6" name="Picture 5" descr="qr_app.png"/>
          <p:cNvPicPr>
            <a:picLocks noChangeAspect="1"/>
          </p:cNvPicPr>
          <p:nvPr/>
        </p:nvPicPr>
        <p:blipFill>
          <a:blip r:embed="rId4"/>
          <a:stretch>
            <a:fillRect/>
          </a:stretch>
        </p:blipFill>
        <p:spPr>
          <a:xfrm>
            <a:off x="6400800" y="2606040"/>
            <a:ext cx="2057400" cy="2057400"/>
          </a:xfrm>
          <a:prstGeom prst="rect">
            <a:avLst/>
          </a:prstGeom>
        </p:spPr>
      </p:pic>
      <p:sp>
        <p:nvSpPr>
          <p:cNvPr id="7" name="TextBox 6"/>
          <p:cNvSpPr txBox="1"/>
          <p:nvPr/>
        </p:nvSpPr>
        <p:spPr>
          <a:xfrm>
            <a:off x="6400800" y="4736592"/>
            <a:ext cx="251460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600" b="1" i="0">
                <a:solidFill>
                  <a:srgbClr val="F5F1E6"/>
                </a:solidFill>
                <a:latin typeface="Aptos"/>
              </a:rPr>
              <a:t>Try it</a:t>
            </a:r>
          </a:p>
        </p:txBody>
      </p:sp>
      <p:sp>
        <p:nvSpPr>
          <p:cNvPr id="8" name="TextBox 7"/>
          <p:cNvSpPr txBox="1"/>
          <p:nvPr/>
        </p:nvSpPr>
        <p:spPr>
          <a:xfrm>
            <a:off x="6400800" y="5047488"/>
            <a:ext cx="2514600" cy="5486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D9D2BD"/>
                </a:solidFill>
                <a:latin typeface="Aptos"/>
              </a:rPr>
              <a:t>dark-sky-simulator-v2.vercel.app/dark-sky</a:t>
            </a:r>
          </a:p>
        </p:txBody>
      </p:sp>
      <p:pic>
        <p:nvPicPr>
          <p:cNvPr id="9" name="Picture 8" descr="qr_gh.png"/>
          <p:cNvPicPr>
            <a:picLocks noChangeAspect="1"/>
          </p:cNvPicPr>
          <p:nvPr/>
        </p:nvPicPr>
        <p:blipFill>
          <a:blip r:embed="rId5"/>
          <a:stretch>
            <a:fillRect/>
          </a:stretch>
        </p:blipFill>
        <p:spPr>
          <a:xfrm>
            <a:off x="9098280" y="2606040"/>
            <a:ext cx="2057400" cy="2057400"/>
          </a:xfrm>
          <a:prstGeom prst="rect">
            <a:avLst/>
          </a:prstGeom>
        </p:spPr>
      </p:pic>
      <p:sp>
        <p:nvSpPr>
          <p:cNvPr id="10" name="TextBox 9"/>
          <p:cNvSpPr txBox="1"/>
          <p:nvPr/>
        </p:nvSpPr>
        <p:spPr>
          <a:xfrm>
            <a:off x="9098280" y="4736592"/>
            <a:ext cx="251460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600" b="1" i="0">
                <a:solidFill>
                  <a:srgbClr val="F5F1E6"/>
                </a:solidFill>
                <a:latin typeface="Aptos"/>
              </a:rPr>
              <a:t>Code</a:t>
            </a:r>
          </a:p>
        </p:txBody>
      </p:sp>
      <p:sp>
        <p:nvSpPr>
          <p:cNvPr id="11" name="TextBox 10"/>
          <p:cNvSpPr txBox="1"/>
          <p:nvPr/>
        </p:nvSpPr>
        <p:spPr>
          <a:xfrm>
            <a:off x="9098280" y="5047488"/>
            <a:ext cx="2514600" cy="5486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D9D2BD"/>
                </a:solidFill>
                <a:latin typeface="Aptos"/>
              </a:rPr>
              <a:t>github.com/jayrosen-design/dark-sky-simulator-v2</a:t>
            </a:r>
          </a:p>
        </p:txBody>
      </p:sp>
      <p:sp>
        <p:nvSpPr>
          <p:cNvPr id="12" name="TextBox 11"/>
          <p:cNvSpPr txBox="1"/>
          <p:nvPr/>
        </p:nvSpPr>
        <p:spPr>
          <a:xfrm>
            <a:off x="6400800" y="5806440"/>
            <a:ext cx="5394960" cy="4572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600" b="1" i="0">
                <a:solidFill>
                  <a:srgbClr val="F5F1E6"/>
                </a:solidFill>
                <a:latin typeface="Aptos"/>
              </a:rPr>
              <a:t>Jay Rosen</a:t>
            </a:r>
            <a:r>
              <a:rPr sz="1600" b="0" i="0">
                <a:solidFill>
                  <a:srgbClr val="F5F1E6"/>
                </a:solidFill>
                <a:latin typeface="Aptos"/>
              </a:rPr>
              <a:t>  ·  jayrosen@ufl.edu</a:t>
            </a:r>
          </a:p>
        </p:txBody>
      </p:sp>
      <p:sp>
        <p:nvSpPr>
          <p:cNvPr id="13" name="TextBox 12"/>
          <p:cNvSpPr txBox="1"/>
          <p:nvPr/>
        </p:nvSpPr>
        <p:spPr>
          <a:xfrm>
            <a:off x="365760" y="6446520"/>
            <a:ext cx="54864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D9D2BD"/>
                </a:solidFill>
                <a:latin typeface="Aptos"/>
              </a:rPr>
              <a:t>Photo: Jay Rosen, May 2023</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SOURCES</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References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27</a:t>
            </a:r>
          </a:p>
        </p:txBody>
      </p:sp>
      <p:sp>
        <p:nvSpPr>
          <p:cNvPr id="6" name="TextBox 5"/>
          <p:cNvSpPr txBox="1"/>
          <p:nvPr/>
        </p:nvSpPr>
        <p:spPr>
          <a:xfrm>
            <a:off x="548640" y="1325880"/>
            <a:ext cx="5440680" cy="5074920"/>
          </a:xfrm>
          <a:prstGeom prst="rect">
            <a:avLst/>
          </a:prstGeom>
          <a:noFill/>
        </p:spPr>
        <p:txBody>
          <a:bodyPr wrap="square" lIns="0" tIns="0" rIns="0" bIns="0" anchor="t">
            <a:noAutofit/>
          </a:bodyPr>
          <a:lstStyle/>
          <a:p>
            <a:pPr marL="228600" indent="-228600">
              <a:lnSpc>
                <a:spcPct val="93000"/>
              </a:lnSpc>
              <a:spcBef>
                <a:spcPts val="0"/>
              </a:spcBef>
              <a:spcAft>
                <a:spcPts val="0"/>
              </a:spcAft>
              <a:buNone/>
            </a:pPr>
            <a:r>
              <a:rPr sz="900" b="0" i="0">
                <a:solidFill>
                  <a:srgbClr val="D9D2BD"/>
                </a:solidFill>
                <a:latin typeface="Aptos"/>
              </a:rPr>
              <a:t>ABC7 Los Angeles (c. 2011). Domes put in place for CSUSB's observatory.</a:t>
            </a:r>
          </a:p>
          <a:p>
            <a:pPr marL="228600" indent="-228600">
              <a:lnSpc>
                <a:spcPct val="93000"/>
              </a:lnSpc>
              <a:spcBef>
                <a:spcPts val="200"/>
              </a:spcBef>
              <a:spcAft>
                <a:spcPts val="0"/>
              </a:spcAft>
              <a:buNone/>
            </a:pPr>
            <a:r>
              <a:rPr sz="900" b="0" i="0">
                <a:solidFill>
                  <a:srgbClr val="D9D2BD"/>
                </a:solidFill>
                <a:latin typeface="Aptos"/>
              </a:rPr>
              <a:t>Alachua County (2026, February 13). Comprehensive Plan proposed evaluation and appraisal based amendments, Conservation and Open Space Element, Policy 5.3.7.</a:t>
            </a:r>
          </a:p>
          <a:p>
            <a:pPr marL="228600" indent="-228600">
              <a:lnSpc>
                <a:spcPct val="93000"/>
              </a:lnSpc>
              <a:spcBef>
                <a:spcPts val="200"/>
              </a:spcBef>
              <a:spcAft>
                <a:spcPts val="0"/>
              </a:spcAft>
              <a:buNone/>
            </a:pPr>
            <a:r>
              <a:rPr sz="900" b="0" i="0">
                <a:solidFill>
                  <a:srgbClr val="D9D2BD"/>
                </a:solidFill>
                <a:latin typeface="Aptos"/>
              </a:rPr>
              <a:t>Andrews, D. W. K. (1993). Tests for parameter instability and structural change with unknown change point. Econometrica, 61(4), 821–856.</a:t>
            </a:r>
          </a:p>
          <a:p>
            <a:pPr marL="228600" indent="-228600">
              <a:lnSpc>
                <a:spcPct val="93000"/>
              </a:lnSpc>
              <a:spcBef>
                <a:spcPts val="200"/>
              </a:spcBef>
              <a:spcAft>
                <a:spcPts val="0"/>
              </a:spcAft>
              <a:buNone/>
            </a:pPr>
            <a:r>
              <a:rPr sz="900" b="0" i="0">
                <a:solidFill>
                  <a:srgbClr val="D9D2BD"/>
                </a:solidFill>
                <a:latin typeface="Aptos"/>
              </a:rPr>
              <a:t>Bortle, J. E. (2001). Introducing the Bortle dark-sky scale. Sky &amp; Telescope, 101(2), 126–129.</a:t>
            </a:r>
          </a:p>
          <a:p>
            <a:pPr marL="228600" indent="-228600">
              <a:lnSpc>
                <a:spcPct val="93000"/>
              </a:lnSpc>
              <a:spcBef>
                <a:spcPts val="200"/>
              </a:spcBef>
              <a:spcAft>
                <a:spcPts val="0"/>
              </a:spcAft>
              <a:buNone/>
            </a:pPr>
            <a:r>
              <a:rPr sz="900" b="0" i="0">
                <a:solidFill>
                  <a:srgbClr val="D9D2BD"/>
                </a:solidFill>
                <a:latin typeface="Aptos"/>
              </a:rPr>
              <a:t>Cangialosi, J. P., &amp; Alaka, L. (2026). Tropical Cyclone Report: Hurricane Idalia (AL102023), 26–31 August 2023. National Hurricane Center (original report February 13, 2024).</a:t>
            </a:r>
          </a:p>
          <a:p>
            <a:pPr marL="228600" indent="-228600">
              <a:lnSpc>
                <a:spcPct val="93000"/>
              </a:lnSpc>
              <a:spcBef>
                <a:spcPts val="200"/>
              </a:spcBef>
              <a:spcAft>
                <a:spcPts val="0"/>
              </a:spcAft>
              <a:buNone/>
            </a:pPr>
            <a:r>
              <a:rPr sz="900" b="0" i="0">
                <a:solidFill>
                  <a:srgbClr val="D9D2BD"/>
                </a:solidFill>
                <a:latin typeface="Aptos"/>
              </a:rPr>
              <a:t>City of Groveland, Florida (2022). Ordinance 2022-26, outdoor lighting regulations.</a:t>
            </a:r>
          </a:p>
          <a:p>
            <a:pPr marL="228600" indent="-228600">
              <a:lnSpc>
                <a:spcPct val="93000"/>
              </a:lnSpc>
              <a:spcBef>
                <a:spcPts val="200"/>
              </a:spcBef>
              <a:spcAft>
                <a:spcPts val="0"/>
              </a:spcAft>
              <a:buNone/>
            </a:pPr>
            <a:r>
              <a:rPr sz="900" b="0" i="0">
                <a:solidFill>
                  <a:srgbClr val="D9D2BD"/>
                </a:solidFill>
                <a:latin typeface="Aptos"/>
              </a:rPr>
              <a:t>Dark Sky Simulator fixture catalog (2026): installed unit costs from the research reports and a retail price survey of DarkSky-compliant fixture types (September 26, 2026); DarkSky Approved luminaire search, darksky.org.</a:t>
            </a:r>
          </a:p>
          <a:p>
            <a:pPr marL="228600" indent="-228600">
              <a:lnSpc>
                <a:spcPct val="93000"/>
              </a:lnSpc>
              <a:spcBef>
                <a:spcPts val="200"/>
              </a:spcBef>
              <a:spcAft>
                <a:spcPts val="0"/>
              </a:spcAft>
              <a:buNone/>
            </a:pPr>
            <a:r>
              <a:rPr sz="900" b="0" i="0">
                <a:solidFill>
                  <a:srgbClr val="D9D2BD"/>
                </a:solidFill>
                <a:latin typeface="Aptos"/>
              </a:rPr>
              <a:t>Dark Sky Simulator research reports (2025): Gainesville Dark Sky Lighting Assessment; Streetlight Retrofit Cost-Benefit Analysis (Levy); Smart Streetlight Cost-Benefit Analysis; Street Lighting Dimming Savings Calculation (Duke LS-1, Clay Schedule L, CFEC). Unpublished.</a:t>
            </a:r>
          </a:p>
          <a:p>
            <a:pPr marL="228600" indent="-228600">
              <a:lnSpc>
                <a:spcPct val="93000"/>
              </a:lnSpc>
              <a:spcBef>
                <a:spcPts val="200"/>
              </a:spcBef>
              <a:spcAft>
                <a:spcPts val="0"/>
              </a:spcAft>
              <a:buNone/>
            </a:pPr>
            <a:r>
              <a:rPr sz="900" b="0" i="0">
                <a:solidFill>
                  <a:srgbClr val="D9D2BD"/>
                </a:solidFill>
                <a:latin typeface="Aptos"/>
              </a:rPr>
              <a:t>DarkSky International &amp; Illuminating Engineering Society (2020). Five Principles for Responsible Outdoor Lighting. darksky.org.</a:t>
            </a:r>
          </a:p>
          <a:p>
            <a:pPr marL="228600" indent="-228600">
              <a:lnSpc>
                <a:spcPct val="93000"/>
              </a:lnSpc>
              <a:spcBef>
                <a:spcPts val="200"/>
              </a:spcBef>
              <a:spcAft>
                <a:spcPts val="0"/>
              </a:spcAft>
              <a:buNone/>
            </a:pPr>
            <a:r>
              <a:rPr sz="900" b="0" i="0">
                <a:solidFill>
                  <a:srgbClr val="D9D2BD"/>
                </a:solidFill>
                <a:latin typeface="Aptos"/>
              </a:rPr>
              <a:t>DarkSky International. DarkSky Approved program and seal. darksky.org/what-we-do/darksky-approved.</a:t>
            </a:r>
          </a:p>
          <a:p>
            <a:pPr marL="228600" indent="-228600">
              <a:lnSpc>
                <a:spcPct val="93000"/>
              </a:lnSpc>
              <a:spcBef>
                <a:spcPts val="200"/>
              </a:spcBef>
              <a:spcAft>
                <a:spcPts val="0"/>
              </a:spcAft>
              <a:buNone/>
            </a:pPr>
            <a:r>
              <a:rPr sz="900" b="0" i="0">
                <a:solidFill>
                  <a:srgbClr val="D9D2BD"/>
                </a:solidFill>
                <a:latin typeface="Aptos"/>
              </a:rPr>
              <a:t>DarkSky International. International Dark Sky Places program guidelines (Dark Sky Park: sky ≥ 21.2 mag/arcsec²). darksky.org.</a:t>
            </a:r>
          </a:p>
          <a:p>
            <a:pPr marL="228600" indent="-228600">
              <a:lnSpc>
                <a:spcPct val="93000"/>
              </a:lnSpc>
              <a:spcBef>
                <a:spcPts val="200"/>
              </a:spcBef>
              <a:spcAft>
                <a:spcPts val="0"/>
              </a:spcAft>
              <a:buNone/>
            </a:pPr>
            <a:r>
              <a:rPr sz="900" b="0" i="0">
                <a:solidFill>
                  <a:srgbClr val="D9D2BD"/>
                </a:solidFill>
                <a:latin typeface="Aptos"/>
              </a:rPr>
              <a:t>Dewitz, J. (2023). National Land Cover Database (NLCD) 2021 Products. U.S. Geological Survey data release. doi:10.5066/P9JZ7AO3.</a:t>
            </a:r>
          </a:p>
          <a:p>
            <a:pPr marL="228600" indent="-228600">
              <a:lnSpc>
                <a:spcPct val="93000"/>
              </a:lnSpc>
              <a:spcBef>
                <a:spcPts val="200"/>
              </a:spcBef>
              <a:spcAft>
                <a:spcPts val="0"/>
              </a:spcAft>
              <a:buNone/>
            </a:pPr>
            <a:r>
              <a:rPr sz="900" b="0" i="0">
                <a:solidFill>
                  <a:srgbClr val="D9D2BD"/>
                </a:solidFill>
                <a:latin typeface="Aptos"/>
              </a:rPr>
              <a:t>Elvidge, C. D., Zhizhin, M., Ghosh, T., Hsu, F.-C., &amp; Taneja, J. (2021). Annual time series of global VIIRS nighttime lights derived from monthly averages: 2012 to 2019. Remote Sensing, 13(5), 922.</a:t>
            </a:r>
          </a:p>
          <a:p>
            <a:pPr marL="228600" indent="-228600">
              <a:lnSpc>
                <a:spcPct val="93000"/>
              </a:lnSpc>
              <a:spcBef>
                <a:spcPts val="200"/>
              </a:spcBef>
              <a:spcAft>
                <a:spcPts val="0"/>
              </a:spcAft>
              <a:buNone/>
            </a:pPr>
            <a:r>
              <a:rPr sz="900" b="0" i="0">
                <a:solidFill>
                  <a:srgbClr val="D9D2BD"/>
                </a:solidFill>
                <a:latin typeface="Aptos"/>
              </a:rPr>
              <a:t>EMJ Construction (2016, September 1). Two new Florida Bass Pro locations underway. emjcorp.com.</a:t>
            </a:r>
          </a:p>
          <a:p>
            <a:pPr marL="228600" indent="-228600">
              <a:lnSpc>
                <a:spcPct val="93000"/>
              </a:lnSpc>
              <a:spcBef>
                <a:spcPts val="200"/>
              </a:spcBef>
              <a:spcAft>
                <a:spcPts val="0"/>
              </a:spcAft>
              <a:buNone/>
            </a:pPr>
            <a:r>
              <a:rPr sz="900" b="0" i="0">
                <a:solidFill>
                  <a:srgbClr val="D9D2BD"/>
                </a:solidFill>
                <a:latin typeface="Aptos"/>
              </a:rPr>
              <a:t>Falchi, F., Cinzano, P., Duriscoe, D., et al. (2016). The new world atlas of artificial night sky brightness. Science Advances, 2(6), e1600377.</a:t>
            </a:r>
          </a:p>
          <a:p>
            <a:pPr marL="228600" indent="-228600">
              <a:lnSpc>
                <a:spcPct val="93000"/>
              </a:lnSpc>
              <a:spcBef>
                <a:spcPts val="200"/>
              </a:spcBef>
              <a:spcAft>
                <a:spcPts val="0"/>
              </a:spcAft>
              <a:buNone/>
            </a:pPr>
            <a:r>
              <a:rPr sz="900" b="0" i="0">
                <a:solidFill>
                  <a:srgbClr val="D9D2BD"/>
                </a:solidFill>
                <a:latin typeface="Aptos"/>
              </a:rPr>
              <a:t>Federal Emergency Management Agency (2026). National Flood Hazard Layer (NFHL): Special Flood Hazard Areas. hazards.fema.gov, accessed October 20, 2026.</a:t>
            </a:r>
          </a:p>
          <a:p>
            <a:pPr marL="228600" indent="-228600">
              <a:lnSpc>
                <a:spcPct val="93000"/>
              </a:lnSpc>
              <a:spcBef>
                <a:spcPts val="200"/>
              </a:spcBef>
              <a:spcAft>
                <a:spcPts val="0"/>
              </a:spcAft>
              <a:buNone/>
            </a:pPr>
            <a:r>
              <a:rPr sz="900" b="0" i="0">
                <a:solidFill>
                  <a:srgbClr val="D9D2BD"/>
                </a:solidFill>
                <a:latin typeface="Aptos"/>
              </a:rPr>
              <a:t>Florida Department of Revenue (2025). Tax roll and qualified sales (parcels ≥ 5 acres), via the Florida Geographic Information Office statewide parcels.</a:t>
            </a:r>
          </a:p>
          <a:p>
            <a:pPr marL="228600" indent="-228600">
              <a:lnSpc>
                <a:spcPct val="93000"/>
              </a:lnSpc>
              <a:spcBef>
                <a:spcPts val="200"/>
              </a:spcBef>
              <a:spcAft>
                <a:spcPts val="0"/>
              </a:spcAft>
              <a:buNone/>
            </a:pPr>
            <a:r>
              <a:rPr sz="900" b="0" i="0">
                <a:solidFill>
                  <a:srgbClr val="D9D2BD"/>
                </a:solidFill>
                <a:latin typeface="Aptos"/>
              </a:rPr>
              <a:t>Florida Institute of Technology (2004, August 19). Funding secured for Florida Tech telescope. Florida Tech News.</a:t>
            </a:r>
          </a:p>
        </p:txBody>
      </p:sp>
      <p:sp>
        <p:nvSpPr>
          <p:cNvPr id="7" name="TextBox 6"/>
          <p:cNvSpPr txBox="1"/>
          <p:nvPr/>
        </p:nvSpPr>
        <p:spPr>
          <a:xfrm>
            <a:off x="6217920" y="1325880"/>
            <a:ext cx="5440680" cy="5074920"/>
          </a:xfrm>
          <a:prstGeom prst="rect">
            <a:avLst/>
          </a:prstGeom>
          <a:noFill/>
        </p:spPr>
        <p:txBody>
          <a:bodyPr wrap="square" lIns="0" tIns="0" rIns="0" bIns="0" anchor="t">
            <a:noAutofit/>
          </a:bodyPr>
          <a:lstStyle/>
          <a:p>
            <a:pPr marL="228600" indent="-228600">
              <a:lnSpc>
                <a:spcPct val="93000"/>
              </a:lnSpc>
              <a:spcBef>
                <a:spcPts val="0"/>
              </a:spcBef>
              <a:spcAft>
                <a:spcPts val="0"/>
              </a:spcAft>
              <a:buNone/>
            </a:pPr>
            <a:r>
              <a:rPr sz="900" b="0" i="0">
                <a:solidFill>
                  <a:srgbClr val="D9D2BD"/>
                </a:solidFill>
                <a:latin typeface="Aptos"/>
              </a:rPr>
              <a:t>Garstang, R. H. (1986). Model for artificial night-sky illumination. Publications of the Astronomical Society of the Pacific, 98, 364–375.</a:t>
            </a:r>
          </a:p>
          <a:p>
            <a:pPr marL="228600" indent="-228600">
              <a:lnSpc>
                <a:spcPct val="93000"/>
              </a:lnSpc>
              <a:spcBef>
                <a:spcPts val="200"/>
              </a:spcBef>
              <a:spcAft>
                <a:spcPts val="0"/>
              </a:spcAft>
              <a:buNone/>
            </a:pPr>
            <a:r>
              <a:rPr sz="900" b="0" i="0">
                <a:solidFill>
                  <a:srgbClr val="D9D2BD"/>
                </a:solidFill>
                <a:latin typeface="Aptos"/>
              </a:rPr>
              <a:t>Gorelick, N., Hancher, M., Dixon, M., et al. (2017). Google Earth Engine: Planetary-scale geospatial analysis for everyone. Remote Sensing of Environment, 202, 18–27.</a:t>
            </a:r>
          </a:p>
          <a:p>
            <a:pPr marL="228600" indent="-228600">
              <a:lnSpc>
                <a:spcPct val="93000"/>
              </a:lnSpc>
              <a:spcBef>
                <a:spcPts val="200"/>
              </a:spcBef>
              <a:spcAft>
                <a:spcPts val="0"/>
              </a:spcAft>
              <a:buNone/>
            </a:pPr>
            <a:r>
              <a:rPr sz="900" b="0" i="0">
                <a:solidFill>
                  <a:srgbClr val="D9D2BD"/>
                </a:solidFill>
                <a:latin typeface="Aptos"/>
              </a:rPr>
              <a:t>Ke, G., Meng, Q., Finley, T., et al. (2017). LightGBM: A highly efficient gradient boosting decision tree. Advances in Neural Information Processing Systems, 30, 3146–3154.</a:t>
            </a:r>
          </a:p>
          <a:p>
            <a:pPr marL="228600" indent="-228600">
              <a:lnSpc>
                <a:spcPct val="93000"/>
              </a:lnSpc>
              <a:spcBef>
                <a:spcPts val="200"/>
              </a:spcBef>
              <a:spcAft>
                <a:spcPts val="0"/>
              </a:spcAft>
              <a:buNone/>
            </a:pPr>
            <a:r>
              <a:rPr sz="900" b="0" i="0">
                <a:solidFill>
                  <a:srgbClr val="D9D2BD"/>
                </a:solidFill>
                <a:latin typeface="Aptos"/>
              </a:rPr>
              <a:t>Krisciunas, K., &amp; Schaefer, B. E. (1991). A model of the brightness of moonlight. Publications of the Astronomical Society of the Pacific, 103, 1033–1039.</a:t>
            </a:r>
          </a:p>
          <a:p>
            <a:pPr marL="228600" indent="-228600">
              <a:lnSpc>
                <a:spcPct val="93000"/>
              </a:lnSpc>
              <a:spcBef>
                <a:spcPts val="200"/>
              </a:spcBef>
              <a:spcAft>
                <a:spcPts val="0"/>
              </a:spcAft>
              <a:buNone/>
            </a:pPr>
            <a:r>
              <a:rPr sz="900" b="0" i="0">
                <a:solidFill>
                  <a:srgbClr val="D9D2BD"/>
                </a:solidFill>
                <a:latin typeface="Aptos"/>
              </a:rPr>
              <a:t>Kyba, C. C. M., Altıntaş, Y. Ö., Walker, C. E., &amp; Newhouse, M. (2023). Citizen scientists report global rapid reductions in the visibility of stars from 2011 to 2022. Science, 379(6629), 265–268.</a:t>
            </a:r>
          </a:p>
          <a:p>
            <a:pPr marL="228600" indent="-228600">
              <a:lnSpc>
                <a:spcPct val="93000"/>
              </a:lnSpc>
              <a:spcBef>
                <a:spcPts val="200"/>
              </a:spcBef>
              <a:spcAft>
                <a:spcPts val="0"/>
              </a:spcAft>
              <a:buNone/>
            </a:pPr>
            <a:r>
              <a:rPr sz="900" b="0" i="0">
                <a:solidFill>
                  <a:srgbClr val="D9D2BD"/>
                </a:solidFill>
                <a:latin typeface="Aptos"/>
              </a:rPr>
              <a:t>OpenStreetMap contributors (2026). Road, street-lamp and sports-venue data. openstreetmap.org (ODbL).</a:t>
            </a:r>
          </a:p>
          <a:p>
            <a:pPr marL="228600" indent="-228600">
              <a:lnSpc>
                <a:spcPct val="93000"/>
              </a:lnSpc>
              <a:spcBef>
                <a:spcPts val="200"/>
              </a:spcBef>
              <a:spcAft>
                <a:spcPts val="0"/>
              </a:spcAft>
              <a:buNone/>
            </a:pPr>
            <a:r>
              <a:rPr sz="900" b="0" i="0">
                <a:solidFill>
                  <a:srgbClr val="D9D2BD"/>
                </a:solidFill>
                <a:latin typeface="Aptos"/>
              </a:rPr>
              <a:t>Roldán Hernández, C. (2023, January 17). Security enhancements make for a brighter, safer campus. UF News, University of Florida.</a:t>
            </a:r>
          </a:p>
          <a:p>
            <a:pPr marL="228600" indent="-228600">
              <a:lnSpc>
                <a:spcPct val="93000"/>
              </a:lnSpc>
              <a:spcBef>
                <a:spcPts val="200"/>
              </a:spcBef>
              <a:spcAft>
                <a:spcPts val="0"/>
              </a:spcAft>
              <a:buNone/>
            </a:pPr>
            <a:r>
              <a:rPr sz="900" b="0" i="0">
                <a:solidFill>
                  <a:srgbClr val="D9D2BD"/>
                </a:solidFill>
                <a:latin typeface="Aptos"/>
              </a:rPr>
              <a:t>Román, M. O., Wang, Z., Sun, Q., et al. (2018). NASA's Black Marble nighttime lights product suite. Remote Sensing of Environment, 210, 113–143.</a:t>
            </a:r>
          </a:p>
          <a:p>
            <a:pPr marL="228600" indent="-228600">
              <a:lnSpc>
                <a:spcPct val="93000"/>
              </a:lnSpc>
              <a:spcBef>
                <a:spcPts val="200"/>
              </a:spcBef>
              <a:spcAft>
                <a:spcPts val="0"/>
              </a:spcAft>
              <a:buNone/>
            </a:pPr>
            <a:r>
              <a:rPr sz="900" b="0" i="0">
                <a:solidFill>
                  <a:srgbClr val="D9D2BD"/>
                </a:solidFill>
                <a:latin typeface="Aptos"/>
              </a:rPr>
              <a:t>Rosen, J. (2025). Dark Sky Simulator (v1) [software]. Zenodo. doi:10.5281/zenodo.17252185.</a:t>
            </a:r>
          </a:p>
          <a:p>
            <a:pPr marL="228600" indent="-228600">
              <a:lnSpc>
                <a:spcPct val="93000"/>
              </a:lnSpc>
              <a:spcBef>
                <a:spcPts val="200"/>
              </a:spcBef>
              <a:spcAft>
                <a:spcPts val="0"/>
              </a:spcAft>
              <a:buNone/>
            </a:pPr>
            <a:r>
              <a:rPr sz="900" b="0" i="0">
                <a:solidFill>
                  <a:srgbClr val="D9D2BD"/>
                </a:solidFill>
                <a:latin typeface="Aptos"/>
              </a:rPr>
              <a:t>Rosen, J. (2026). Dark Sky Simulator v2 [software], incl. ADR 0013 (the 19% reconstruction). github.com/jayrosen-design/dark-sky-simulator-v2.</a:t>
            </a:r>
          </a:p>
          <a:p>
            <a:pPr marL="228600" indent="-228600">
              <a:lnSpc>
                <a:spcPct val="93000"/>
              </a:lnSpc>
              <a:spcBef>
                <a:spcPts val="200"/>
              </a:spcBef>
              <a:spcAft>
                <a:spcPts val="0"/>
              </a:spcAft>
              <a:buNone/>
            </a:pPr>
            <a:r>
              <a:rPr sz="900" b="0" i="0">
                <a:solidFill>
                  <a:srgbClr val="D9D2BD"/>
                </a:solidFill>
                <a:latin typeface="Aptos"/>
              </a:rPr>
              <a:t>Rosen, J. (2026, January 13). Preserving natural skies in Alachua County: Light pollution mitigation and economic impact. Alachua County Environmental Protection Advisory Committee.</a:t>
            </a:r>
          </a:p>
          <a:p>
            <a:pPr marL="228600" indent="-228600">
              <a:lnSpc>
                <a:spcPct val="93000"/>
              </a:lnSpc>
              <a:spcBef>
                <a:spcPts val="200"/>
              </a:spcBef>
              <a:spcAft>
                <a:spcPts val="0"/>
              </a:spcAft>
              <a:buNone/>
            </a:pPr>
            <a:r>
              <a:rPr sz="900" b="0" i="0">
                <a:solidFill>
                  <a:srgbClr val="D9D2BD"/>
                </a:solidFill>
                <a:latin typeface="Aptos"/>
              </a:rPr>
              <a:t>Smith, J. (2026, March 24). Restoring the Milky Way: Arts alumnus develops app to reduce light pollution. UF College of the Arts.</a:t>
            </a:r>
          </a:p>
          <a:p>
            <a:pPr marL="228600" indent="-228600">
              <a:lnSpc>
                <a:spcPct val="93000"/>
              </a:lnSpc>
              <a:spcBef>
                <a:spcPts val="200"/>
              </a:spcBef>
              <a:spcAft>
                <a:spcPts val="0"/>
              </a:spcAft>
              <a:buNone/>
            </a:pPr>
            <a:r>
              <a:rPr sz="900" b="0" i="0">
                <a:solidFill>
                  <a:srgbClr val="D9D2BD"/>
                </a:solidFill>
                <a:latin typeface="Aptos"/>
              </a:rPr>
              <a:t>Sweet, W. V., et al. (2022). Global and Regional Sea Level Rise Scenarios for the United States. NOAA Technical Report NOS 01. National Oceanic and Atmospheric Administration.</a:t>
            </a:r>
          </a:p>
          <a:p>
            <a:pPr marL="228600" indent="-228600">
              <a:lnSpc>
                <a:spcPct val="93000"/>
              </a:lnSpc>
              <a:spcBef>
                <a:spcPts val="200"/>
              </a:spcBef>
              <a:spcAft>
                <a:spcPts val="0"/>
              </a:spcAft>
              <a:buNone/>
            </a:pPr>
            <a:r>
              <a:rPr sz="900" b="0" i="0">
                <a:solidFill>
                  <a:srgbClr val="D9D2BD"/>
                </a:solidFill>
                <a:latin typeface="Aptos"/>
              </a:rPr>
              <a:t>The Gainesville Sun (2012, April). Photograph of the University of Florida Rosemary Hill Observatory.</a:t>
            </a:r>
          </a:p>
          <a:p>
            <a:pPr marL="228600" indent="-228600">
              <a:lnSpc>
                <a:spcPct val="93000"/>
              </a:lnSpc>
              <a:spcBef>
                <a:spcPts val="200"/>
              </a:spcBef>
              <a:spcAft>
                <a:spcPts val="0"/>
              </a:spcAft>
              <a:buNone/>
            </a:pPr>
            <a:r>
              <a:rPr sz="900" b="0" i="0">
                <a:solidFill>
                  <a:srgbClr val="D9D2BD"/>
                </a:solidFill>
                <a:latin typeface="Aptos"/>
              </a:rPr>
              <a:t>U.S. Census Bureau (2020). TIGER/Line boundaries and roads; 2020 Census housing-unit counts.</a:t>
            </a:r>
          </a:p>
          <a:p>
            <a:pPr marL="228600" indent="-228600">
              <a:lnSpc>
                <a:spcPct val="93000"/>
              </a:lnSpc>
              <a:spcBef>
                <a:spcPts val="200"/>
              </a:spcBef>
              <a:spcAft>
                <a:spcPts val="0"/>
              </a:spcAft>
              <a:buNone/>
            </a:pPr>
            <a:r>
              <a:rPr sz="900" b="0" i="0">
                <a:solidFill>
                  <a:srgbClr val="D9D2BD"/>
                </a:solidFill>
                <a:latin typeface="Aptos"/>
              </a:rPr>
              <a:t>U.S. Energy Information Administration (2023). How much electricity does an American home use? FAQ (2022 average: 10,791 kWh per residential customer). eia.gov.</a:t>
            </a:r>
          </a:p>
          <a:p>
            <a:pPr marL="228600" indent="-228600">
              <a:lnSpc>
                <a:spcPct val="93000"/>
              </a:lnSpc>
              <a:spcBef>
                <a:spcPts val="200"/>
              </a:spcBef>
              <a:spcAft>
                <a:spcPts val="0"/>
              </a:spcAft>
              <a:buNone/>
            </a:pPr>
            <a:r>
              <a:rPr sz="900" b="0" i="0">
                <a:solidFill>
                  <a:srgbClr val="D9D2BD"/>
                </a:solidFill>
                <a:latin typeface="Aptos"/>
              </a:rPr>
              <a:t>Ward, P. J., et al. (2020). Aqueduct Floods Methodology. Technical Note. World Resources Institute. Data: WRI Aqueduct Floods Hazard Maps V2 via Google Earth Engine.</a:t>
            </a:r>
          </a:p>
          <a:p>
            <a:pPr marL="228600" indent="-228600">
              <a:lnSpc>
                <a:spcPct val="93000"/>
              </a:lnSpc>
              <a:spcBef>
                <a:spcPts val="200"/>
              </a:spcBef>
              <a:spcAft>
                <a:spcPts val="0"/>
              </a:spcAft>
              <a:buNone/>
            </a:pPr>
            <a:r>
              <a:rPr sz="900" b="0" i="0">
                <a:solidFill>
                  <a:srgbClr val="D9D2BD"/>
                </a:solidFill>
                <a:latin typeface="Aptos"/>
              </a:rPr>
              <a:t>York University (2019, August 16). Installation of new telescope expected to be largest at a Canadian university. YFile.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MATH</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The step test, exactly</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28</a:t>
            </a:r>
          </a:p>
        </p:txBody>
      </p:sp>
      <p:pic>
        <p:nvPicPr>
          <p:cNvPr id="6" name="Picture 5" descr="models_light.png"/>
          <p:cNvPicPr>
            <a:picLocks noChangeAspect="1"/>
          </p:cNvPicPr>
          <p:nvPr/>
        </p:nvPicPr>
        <p:blipFill>
          <a:blip r:embed="rId3"/>
          <a:stretch>
            <a:fillRect/>
          </a:stretch>
        </p:blipFill>
        <p:spPr>
          <a:xfrm>
            <a:off x="731520" y="1554480"/>
            <a:ext cx="9420324" cy="566928"/>
          </a:xfrm>
          <a:prstGeom prst="rect">
            <a:avLst/>
          </a:prstGeom>
        </p:spPr>
      </p:pic>
      <p:pic>
        <p:nvPicPr>
          <p:cNvPr id="7" name="Picture 6" descr="fstat_light.png"/>
          <p:cNvPicPr>
            <a:picLocks noChangeAspect="1"/>
          </p:cNvPicPr>
          <p:nvPr/>
        </p:nvPicPr>
        <p:blipFill>
          <a:blip r:embed="rId4"/>
          <a:stretch>
            <a:fillRect/>
          </a:stretch>
        </p:blipFill>
        <p:spPr>
          <a:xfrm>
            <a:off x="731520" y="2514600"/>
            <a:ext cx="5799221" cy="914400"/>
          </a:xfrm>
          <a:prstGeom prst="rect">
            <a:avLst/>
          </a:prstGeom>
        </p:spPr>
      </p:pic>
      <p:pic>
        <p:nvPicPr>
          <p:cNvPr id="8" name="Picture 7" descr="fcrit_light.png"/>
          <p:cNvPicPr>
            <a:picLocks noChangeAspect="1"/>
          </p:cNvPicPr>
          <p:nvPr/>
        </p:nvPicPr>
        <p:blipFill>
          <a:blip r:embed="rId5"/>
          <a:stretch>
            <a:fillRect/>
          </a:stretch>
        </p:blipFill>
        <p:spPr>
          <a:xfrm>
            <a:off x="731520" y="3840480"/>
            <a:ext cx="6799006" cy="685800"/>
          </a:xfrm>
          <a:prstGeom prst="rect">
            <a:avLst/>
          </a:prstGeom>
        </p:spPr>
      </p:pic>
      <p:sp>
        <p:nvSpPr>
          <p:cNvPr id="9" name="TextBox 8"/>
          <p:cNvSpPr txBox="1"/>
          <p:nvPr/>
        </p:nvSpPr>
        <p:spPr>
          <a:xfrm>
            <a:off x="731520" y="4800600"/>
            <a:ext cx="1078992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z = ln radiance minus the region's shared movement; n = 13 years; flagged if F* ≥ 36.3 and |step| ≥ 20%</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F* is unchanged by shifting, tilting or rescaling a series, so one simulation of pure noise serves every cell</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Expected chance flags: 0.001 × 28,986 ≈ 29; observed 1,493 (491 rising events, 144 falling)</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MATH</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LightGBM: fit, back-test and forecast</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29</a:t>
            </a:r>
          </a:p>
        </p:txBody>
      </p:sp>
      <p:pic>
        <p:nvPicPr>
          <p:cNvPr id="6" name="Picture 5" descr="boost_light.png"/>
          <p:cNvPicPr>
            <a:picLocks noChangeAspect="1"/>
          </p:cNvPicPr>
          <p:nvPr/>
        </p:nvPicPr>
        <p:blipFill>
          <a:blip r:embed="rId3"/>
          <a:stretch>
            <a:fillRect/>
          </a:stretch>
        </p:blipFill>
        <p:spPr>
          <a:xfrm>
            <a:off x="731520" y="1508760"/>
            <a:ext cx="7354878" cy="566928"/>
          </a:xfrm>
          <a:prstGeom prst="rect">
            <a:avLst/>
          </a:prstGeom>
        </p:spPr>
      </p:pic>
      <p:pic>
        <p:nvPicPr>
          <p:cNvPr id="7" name="Picture 6" descr="backtest_light.png"/>
          <p:cNvPicPr>
            <a:picLocks noChangeAspect="1"/>
          </p:cNvPicPr>
          <p:nvPr/>
        </p:nvPicPr>
        <p:blipFill>
          <a:blip r:embed="rId4"/>
          <a:stretch>
            <a:fillRect/>
          </a:stretch>
        </p:blipFill>
        <p:spPr>
          <a:xfrm>
            <a:off x="731520" y="2331720"/>
            <a:ext cx="7707350" cy="566928"/>
          </a:xfrm>
          <a:prstGeom prst="rect">
            <a:avLst/>
          </a:prstGeom>
        </p:spPr>
      </p:pic>
      <p:pic>
        <p:nvPicPr>
          <p:cNvPr id="8" name="Picture 7" descr="mdape_light.png"/>
          <p:cNvPicPr>
            <a:picLocks noChangeAspect="1"/>
          </p:cNvPicPr>
          <p:nvPr/>
        </p:nvPicPr>
        <p:blipFill>
          <a:blip r:embed="rId5"/>
          <a:stretch>
            <a:fillRect/>
          </a:stretch>
        </p:blipFill>
        <p:spPr>
          <a:xfrm>
            <a:off x="731520" y="3154680"/>
            <a:ext cx="6946582" cy="777240"/>
          </a:xfrm>
          <a:prstGeom prst="rect">
            <a:avLst/>
          </a:prstGeom>
        </p:spPr>
      </p:pic>
      <p:pic>
        <p:nvPicPr>
          <p:cNvPr id="9" name="Picture 8" descr="forecast_light.png"/>
          <p:cNvPicPr>
            <a:picLocks noChangeAspect="1"/>
          </p:cNvPicPr>
          <p:nvPr/>
        </p:nvPicPr>
        <p:blipFill>
          <a:blip r:embed="rId6"/>
          <a:stretch>
            <a:fillRect/>
          </a:stretch>
        </p:blipFill>
        <p:spPr>
          <a:xfrm>
            <a:off x="731520" y="4206240"/>
            <a:ext cx="3912421" cy="502920"/>
          </a:xfrm>
          <a:prstGeom prst="rect">
            <a:avLst/>
          </a:prstGeom>
        </p:spPr>
      </p:pic>
      <p:sp>
        <p:nvSpPr>
          <p:cNvPr id="10" name="TextBox 9"/>
          <p:cNvSpPr txBox="1"/>
          <p:nvPr/>
        </p:nvSpPr>
        <p:spPr>
          <a:xfrm>
            <a:off x="731520" y="4937760"/>
            <a:ext cx="10789920" cy="137160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Inputs s: distance to roads and urban cores, housing density, elevation, conservation land, ln radiance at the window start</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Spatial check: 16 × 16-cell blocks in five folds → R² 0.18; forecast rate clipped to [−1%, +6%] per year</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MATH</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Skyglow physics: from a fixture to a magnitude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30</a:t>
            </a:r>
          </a:p>
        </p:txBody>
      </p:sp>
      <p:pic>
        <p:nvPicPr>
          <p:cNvPr id="6" name="Picture 5" descr="emission_light.png"/>
          <p:cNvPicPr>
            <a:picLocks noChangeAspect="1"/>
          </p:cNvPicPr>
          <p:nvPr/>
        </p:nvPicPr>
        <p:blipFill>
          <a:blip r:embed="rId3"/>
          <a:stretch>
            <a:fillRect/>
          </a:stretch>
        </p:blipFill>
        <p:spPr>
          <a:xfrm>
            <a:off x="731520" y="1508760"/>
            <a:ext cx="4915517" cy="713231"/>
          </a:xfrm>
          <a:prstGeom prst="rect">
            <a:avLst/>
          </a:prstGeom>
        </p:spPr>
      </p:pic>
      <p:pic>
        <p:nvPicPr>
          <p:cNvPr id="7" name="Picture 6" descr="kernel_light.png"/>
          <p:cNvPicPr>
            <a:picLocks noChangeAspect="1"/>
          </p:cNvPicPr>
          <p:nvPr/>
        </p:nvPicPr>
        <p:blipFill>
          <a:blip r:embed="rId4"/>
          <a:stretch>
            <a:fillRect/>
          </a:stretch>
        </p:blipFill>
        <p:spPr>
          <a:xfrm>
            <a:off x="731520" y="2423160"/>
            <a:ext cx="8398445" cy="713232"/>
          </a:xfrm>
          <a:prstGeom prst="rect">
            <a:avLst/>
          </a:prstGeom>
        </p:spPr>
      </p:pic>
      <p:pic>
        <p:nvPicPr>
          <p:cNvPr id="8" name="Picture 7" descr="basis_light.png"/>
          <p:cNvPicPr>
            <a:picLocks noChangeAspect="1"/>
          </p:cNvPicPr>
          <p:nvPr/>
        </p:nvPicPr>
        <p:blipFill>
          <a:blip r:embed="rId5"/>
          <a:stretch>
            <a:fillRect/>
          </a:stretch>
        </p:blipFill>
        <p:spPr>
          <a:xfrm>
            <a:off x="731520" y="3337560"/>
            <a:ext cx="3045758" cy="457200"/>
          </a:xfrm>
          <a:prstGeom prst="rect">
            <a:avLst/>
          </a:prstGeom>
        </p:spPr>
      </p:pic>
      <p:pic>
        <p:nvPicPr>
          <p:cNvPr id="9" name="Picture 8" descr="skysum_light.png"/>
          <p:cNvPicPr>
            <a:picLocks noChangeAspect="1"/>
          </p:cNvPicPr>
          <p:nvPr/>
        </p:nvPicPr>
        <p:blipFill>
          <a:blip r:embed="rId6"/>
          <a:stretch>
            <a:fillRect/>
          </a:stretch>
        </p:blipFill>
        <p:spPr>
          <a:xfrm>
            <a:off x="731520" y="3977639"/>
            <a:ext cx="6472009" cy="566928"/>
          </a:xfrm>
          <a:prstGeom prst="rect">
            <a:avLst/>
          </a:prstGeom>
        </p:spPr>
      </p:pic>
      <p:sp>
        <p:nvSpPr>
          <p:cNvPr id="10" name="TextBox 9"/>
          <p:cNvSpPr txBox="1"/>
          <p:nvPr/>
        </p:nvSpPr>
        <p:spPr>
          <a:xfrm>
            <a:off x="731520" y="4800600"/>
            <a:ext cx="1078992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Rayleigh + Henyey-Greenstein aerosol scattering, slant-path extinction, Earth curvature; fitted within 7.4%</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One global scale α fitted to 10 reference sites (RMSE 0.46 mag): a sanity fit, not a calibration</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53 Globe at Night SQM readings never fitted: model reads a median 0.52 mag darker (0.21 after midnight)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Q&amp;A</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Prepared answers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31</a:t>
            </a:r>
          </a:p>
        </p:txBody>
      </p:sp>
      <p:sp>
        <p:nvSpPr>
          <p:cNvPr id="6" name="TextBox 5"/>
          <p:cNvSpPr txBox="1"/>
          <p:nvPr/>
        </p:nvSpPr>
        <p:spPr>
          <a:xfrm>
            <a:off x="548640" y="1417320"/>
            <a:ext cx="11064240" cy="4937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500" b="1" i="0">
                <a:solidFill>
                  <a:srgbClr val="F6B44B"/>
                </a:solidFill>
                <a:latin typeface="Aptos"/>
              </a:rPr>
              <a:t>Ground truth for change events?</a:t>
            </a:r>
            <a:r>
              <a:rPr sz="1500" b="0" i="0">
                <a:solidFill>
                  <a:srgbClr val="D9D2BD"/>
                </a:solidFill>
                <a:latin typeface="Aptos"/>
              </a:rPr>
              <a:t> False-alarm rate set by simulation and tested; known openings line up (Celebration Pointe, Nov 2016). Next: utility work orders</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Data leakage?</a:t>
            </a:r>
            <a:r>
              <a:rPr sz="1500" b="0" i="0">
                <a:solidFill>
                  <a:srgbClr val="D9D2BD"/>
                </a:solidFill>
                <a:latin typeface="Aptos"/>
              </a:rPr>
              <a:t> Back-test trains on 2012 state and 2012–18 growth, predicts 2024 from 2018; a test feeds a 2018–24 jump and fails if the model could see it</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Is the satellite blind to LEDs?</a:t>
            </a:r>
            <a:r>
              <a:rPr sz="1500" b="0" i="0">
                <a:solidFill>
                  <a:srgbClr val="D9D2BD"/>
                </a:solidFill>
                <a:latin typeface="Aptos"/>
              </a:rPr>
              <a:t> Partly: VIIRS sees 500–900 nm. For the Groveland preset it records −24.9% where the eye sees −23.5%</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Cost?</a:t>
            </a:r>
            <a:r>
              <a:rPr sz="1500" b="0" i="0">
                <a:solidFill>
                  <a:srgbClr val="D9D2BD"/>
                </a:solidFill>
                <a:latin typeface="Aptos"/>
              </a:rPr>
              <a:t> Earth Engine's free noncommercial tier; the app is static files on free hosting</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Didn't the County find +19%?</a:t>
            </a:r>
            <a:r>
              <a:rPr sz="1500" b="0" i="0">
                <a:solidFill>
                  <a:srgbClr val="D9D2BD"/>
                </a:solidFill>
                <a:latin typeface="Aptos"/>
              </a:rPr>
              <a:t> That covered the whole 212 × 131 km map view (~20% in NOAA radiance); the county rose 3–6%</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How good is the sky model?</a:t>
            </a:r>
            <a:r>
              <a:rPr sz="1500" b="0" i="0">
                <a:solidFill>
                  <a:srgbClr val="D9D2BD"/>
                </a:solidFill>
                <a:latin typeface="Aptos"/>
              </a:rPr>
              <a:t> Scale fitted to 10 sites (RMSE 0.46 mag); 53 independent meter readings a median 0.52 mag brighter</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Do not claim</a:t>
            </a:r>
            <a:r>
              <a:rPr sz="1500" b="0" i="0">
                <a:solidFill>
                  <a:srgbClr val="D9D2BD"/>
                </a:solidFill>
                <a:latin typeface="Aptos"/>
              </a:rPr>
              <a:t>: calibrated sky brightness, a predicted 2034 sky (it is the 2018–24 pace carried forward), or that the detector finds retrofits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6895</Words>
  <Application>Microsoft Office PowerPoint</Application>
  <PresentationFormat>Widescreen</PresentationFormat>
  <Paragraphs>548</Paragraphs>
  <Slides>31</Slides>
  <Notes>31</Notes>
  <HiddenSlides>4</HiddenSlides>
  <MMClips>10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Aptos</vt:lpstr>
      <vt:lpstr>Aptos Display</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Jay Rosen</cp:lastModifiedBy>
  <cp:revision>2</cp:revision>
  <dcterms:created xsi:type="dcterms:W3CDTF">2013-01-27T09:14:16Z</dcterms:created>
  <dcterms:modified xsi:type="dcterms:W3CDTF">2026-10-21T04:04:59Z</dcterms:modified>
  <cp:category/>
</cp:coreProperties>
</file>