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Airglow background</c:v>
                </c:pt>
              </c:strCache>
            </c:strRef>
          </c:tx>
          <c:spPr>
            <a:solidFill>
              <a:srgbClr val="F6B44B"/>
            </a:solidFill>
            <a:ln>
              <a:noFill/>
            </a:ln>
          </c:spPr>
          <c:invertIfNegative val="0"/>
          <c:dLbls>
            <c:numFmt formatCode="0.00" sourceLinked="0"/>
            <c:spPr>
              <a:noFill/>
              <a:ln>
                <a:noFill/>
              </a:ln>
              <a:effectLst/>
            </c:spPr>
            <c:txPr>
              <a:bodyPr/>
              <a:lstStyle/>
              <a:p>
                <a:pPr>
                  <a:defRPr sz="12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0.26100000000000001</c:v>
                </c:pt>
                <c:pt idx="1">
                  <c:v>0.192</c:v>
                </c:pt>
                <c:pt idx="2">
                  <c:v>0.254</c:v>
                </c:pt>
                <c:pt idx="3">
                  <c:v>0.22</c:v>
                </c:pt>
                <c:pt idx="4">
                  <c:v>0.17100000000000001</c:v>
                </c:pt>
                <c:pt idx="5">
                  <c:v>0.151</c:v>
                </c:pt>
                <c:pt idx="6">
                  <c:v>0.158</c:v>
                </c:pt>
                <c:pt idx="7">
                  <c:v>0.125</c:v>
                </c:pt>
                <c:pt idx="8">
                  <c:v>0.1</c:v>
                </c:pt>
                <c:pt idx="9">
                  <c:v>0.13</c:v>
                </c:pt>
                <c:pt idx="10">
                  <c:v>0.26200000000000001</c:v>
                </c:pt>
                <c:pt idx="11">
                  <c:v>0.33100000000000002</c:v>
                </c:pt>
                <c:pt idx="12">
                  <c:v>0.26700000000000002</c:v>
                </c:pt>
              </c:numCache>
            </c:numRef>
          </c:val>
          <c:extLst>
            <c:ext xmlns:c16="http://schemas.microsoft.com/office/drawing/2014/chart" uri="{C3380CC4-5D6E-409C-BE32-E72D297353CC}">
              <c16:uniqueId val="{00000000-07F9-437C-8613-B6B7177D485B}"/>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200">
                <a:solidFill>
                  <a:srgbClr val="D9D2BD"/>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D9D2BD"/>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Detection rate</c:v>
                </c:pt>
              </c:strCache>
            </c:strRef>
          </c:tx>
          <c:spPr>
            <a:solidFill>
              <a:srgbClr val="F6B44B"/>
            </a:solidFill>
            <a:ln>
              <a:noFill/>
            </a:ln>
          </c:spPr>
          <c:invertIfNegative val="0"/>
          <c:dLbls>
            <c:numFmt formatCode="0.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step
(false alarm)</c:v>
                </c:pt>
                <c:pt idx="1">
                  <c:v>−30% step
(LED retrofit)</c:v>
                </c:pt>
                <c:pt idx="2">
                  <c:v>+50% step</c:v>
                </c:pt>
              </c:strCache>
            </c:strRef>
          </c:cat>
          <c:val>
            <c:numRef>
              <c:f>Sheet1!$B$2:$B$4</c:f>
              <c:numCache>
                <c:formatCode>General</c:formatCode>
                <c:ptCount val="3"/>
                <c:pt idx="0">
                  <c:v>5.0000000000000001E-4</c:v>
                </c:pt>
                <c:pt idx="1">
                  <c:v>5.8000000000000003E-2</c:v>
                </c:pt>
                <c:pt idx="2">
                  <c:v>9.8000000000000004E-2</c:v>
                </c:pt>
              </c:numCache>
            </c:numRef>
          </c:val>
          <c:extLst>
            <c:ext xmlns:c16="http://schemas.microsoft.com/office/drawing/2014/chart" uri="{C3380CC4-5D6E-409C-BE32-E72D297353CC}">
              <c16:uniqueId val="{00000000-C4EA-4B37-BFBC-1D67D5F783AC}"/>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1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Tenths of cells</c:v>
                </c:pt>
              </c:strCache>
            </c:strRef>
          </c:tx>
          <c:spPr>
            <a:ln w="47625">
              <a:noFill/>
            </a:ln>
          </c:spPr>
          <c:marker>
            <c:symbol val="circle"/>
            <c:size val="11"/>
            <c:spPr>
              <a:solidFill>
                <a:srgbClr val="F6B44B"/>
              </a:solidFill>
              <a:ln>
                <a:solidFill>
                  <a:srgbClr val="F6B44B"/>
                </a:solidFill>
              </a:ln>
            </c:spPr>
          </c:marker>
          <c:xVal>
            <c:numRef>
              <c:f>Sheet1!$A$2:$A$11</c:f>
              <c:numCache>
                <c:formatCode>General</c:formatCode>
                <c:ptCount val="10"/>
                <c:pt idx="0">
                  <c:v>-3.24</c:v>
                </c:pt>
                <c:pt idx="1">
                  <c:v>-2.0499999999999998</c:v>
                </c:pt>
                <c:pt idx="2">
                  <c:v>-1.55</c:v>
                </c:pt>
                <c:pt idx="3">
                  <c:v>-1.1200000000000001</c:v>
                </c:pt>
                <c:pt idx="4">
                  <c:v>-0.69</c:v>
                </c:pt>
                <c:pt idx="5">
                  <c:v>-0.2</c:v>
                </c:pt>
                <c:pt idx="6">
                  <c:v>0.34</c:v>
                </c:pt>
                <c:pt idx="7">
                  <c:v>0.98</c:v>
                </c:pt>
                <c:pt idx="8">
                  <c:v>1.8</c:v>
                </c:pt>
                <c:pt idx="9">
                  <c:v>3.93</c:v>
                </c:pt>
              </c:numCache>
            </c:numRef>
          </c:xVal>
          <c:yVal>
            <c:numRef>
              <c:f>Sheet1!$B$2:$B$11</c:f>
              <c:numCache>
                <c:formatCode>General</c:formatCode>
                <c:ptCount val="10"/>
                <c:pt idx="0">
                  <c:v>-0.05</c:v>
                </c:pt>
                <c:pt idx="1">
                  <c:v>1.05</c:v>
                </c:pt>
                <c:pt idx="2">
                  <c:v>1.78</c:v>
                </c:pt>
                <c:pt idx="3">
                  <c:v>2.4500000000000002</c:v>
                </c:pt>
                <c:pt idx="4">
                  <c:v>2.95</c:v>
                </c:pt>
                <c:pt idx="5">
                  <c:v>3.48</c:v>
                </c:pt>
                <c:pt idx="6">
                  <c:v>4.1100000000000003</c:v>
                </c:pt>
                <c:pt idx="7">
                  <c:v>4.96</c:v>
                </c:pt>
                <c:pt idx="8">
                  <c:v>5.69</c:v>
                </c:pt>
                <c:pt idx="9">
                  <c:v>8.35</c:v>
                </c:pt>
              </c:numCache>
            </c:numRef>
          </c:yVal>
          <c:smooth val="0"/>
          <c:extLst>
            <c:ext xmlns:c16="http://schemas.microsoft.com/office/drawing/2014/chart" uri="{C3380CC4-5D6E-409C-BE32-E72D297353CC}">
              <c16:uniqueId val="{00000000-F802-4347-AB0A-4A953D65FA66}"/>
            </c:ext>
          </c:extLst>
        </c:ser>
        <c:ser>
          <c:idx val="1"/>
          <c:order val="1"/>
          <c:tx>
            <c:strRef>
              <c:f>Sheet1!$B$13</c:f>
              <c:strCache>
                <c:ptCount val="1"/>
                <c:pt idx="0">
                  <c:v>Perfect forecast</c:v>
                </c:pt>
              </c:strCache>
            </c:strRef>
          </c:tx>
          <c:spPr>
            <a:ln w="22225">
              <a:solidFill>
                <a:srgbClr val="A79F88"/>
              </a:solidFill>
              <a:prstDash val="dash"/>
            </a:ln>
          </c:spPr>
          <c:marker>
            <c:symbol val="none"/>
          </c:marker>
          <c:xVal>
            <c:numRef>
              <c:f>Sheet1!$A$14:$A$15</c:f>
              <c:numCache>
                <c:formatCode>General</c:formatCode>
                <c:ptCount val="2"/>
                <c:pt idx="0">
                  <c:v>-4</c:v>
                </c:pt>
                <c:pt idx="1">
                  <c:v>9</c:v>
                </c:pt>
              </c:numCache>
            </c:numRef>
          </c:xVal>
          <c:yVal>
            <c:numRef>
              <c:f>Sheet1!$B$14:$B$15</c:f>
              <c:numCache>
                <c:formatCode>General</c:formatCode>
                <c:ptCount val="2"/>
                <c:pt idx="0">
                  <c:v>-4</c:v>
                </c:pt>
                <c:pt idx="1">
                  <c:v>9</c:v>
                </c:pt>
              </c:numCache>
            </c:numRef>
          </c:yVal>
          <c:smooth val="0"/>
          <c:extLst>
            <c:ext xmlns:c16="http://schemas.microsoft.com/office/drawing/2014/chart" uri="{C3380CC4-5D6E-409C-BE32-E72D297353CC}">
              <c16:uniqueId val="{00000001-F802-4347-AB0A-4A953D65FA66}"/>
            </c:ext>
          </c:extLst>
        </c:ser>
        <c:dLbls>
          <c:showLegendKey val="0"/>
          <c:showVal val="0"/>
          <c:showCatName val="0"/>
          <c:showSerName val="0"/>
          <c:showPercent val="0"/>
          <c:showBubbleSize val="0"/>
        </c:dLbls>
        <c:axId val="-2128940872"/>
        <c:axId val="-2129643912"/>
      </c:scatterChart>
      <c:valAx>
        <c:axId val="-2128940872"/>
        <c:scaling>
          <c:orientation val="minMax"/>
          <c:max val="5"/>
          <c:min val="-4"/>
        </c:scaling>
        <c:delete val="0"/>
        <c:axPos val="b"/>
        <c:majorGridlines>
          <c:spPr>
            <a:ln>
              <a:solidFill>
                <a:srgbClr val="1A2642"/>
              </a:solidFill>
            </a:ln>
          </c:spPr>
        </c:majorGridlines>
        <c:title>
          <c:tx>
            <c:rich>
              <a:bodyPr/>
              <a:lstStyle/>
              <a:p>
                <a:r>
                  <a:rPr sz="1300" b="0">
                    <a:solidFill>
                      <a:srgbClr val="D9D2BD"/>
                    </a:solidFill>
                    <a:latin typeface="Aptos"/>
                  </a:rPr>
                  <a:t>predicted,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9643912"/>
        <c:crosses val="autoZero"/>
        <c:crossBetween val="midCat"/>
      </c:valAx>
      <c:valAx>
        <c:axId val="-2129643912"/>
        <c:scaling>
          <c:orientation val="minMax"/>
          <c:max val="9"/>
          <c:min val="-4"/>
        </c:scaling>
        <c:delete val="0"/>
        <c:axPos val="l"/>
        <c:majorGridlines>
          <c:spPr>
            <a:ln>
              <a:solidFill>
                <a:srgbClr val="1A2642"/>
              </a:solidFill>
            </a:ln>
          </c:spPr>
        </c:majorGridlines>
        <c:title>
          <c:tx>
            <c:rich>
              <a:bodyPr/>
              <a:lstStyle/>
              <a:p>
                <a:r>
                  <a:rPr sz="1300" b="0">
                    <a:solidFill>
                      <a:srgbClr val="D9D2BD"/>
                    </a:solidFill>
                    <a:latin typeface="Aptos"/>
                  </a:rPr>
                  <a:t>observed,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8940872"/>
        <c:crosses val="autoZero"/>
        <c:crossBetween val="midCat"/>
      </c:valAx>
    </c:plotArea>
    <c:legend>
      <c:legendPos val="t"/>
      <c:overlay val="0"/>
      <c:txPr>
        <a:bodyPr/>
        <a:lstStyle/>
        <a:p>
          <a:pPr>
            <a:defRPr sz="1300">
              <a:solidFill>
                <a:srgbClr val="D9D2BD"/>
              </a:solidFill>
            </a:defRPr>
          </a:pPr>
          <a:endParaRPr lang="en-US"/>
        </a:p>
      </c:txPr>
    </c:legend>
    <c:plotVisOnly val="1"/>
    <c:dispBlanksAs val="gap"/>
    <c:showDLblsOverMax val="0"/>
  </c:chart>
  <c:txPr>
    <a:bodyPr/>
    <a:lstStyle/>
    <a:p>
      <a:pPr>
        <a:defRPr sz="1300">
          <a:solidFill>
            <a:srgbClr val="D9D2BD"/>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Importance</c:v>
                </c:pt>
              </c:strCache>
            </c:strRef>
          </c:tx>
          <c:spPr>
            <a:solidFill>
              <a:srgbClr val="F6B44B"/>
            </a:solidFill>
            <a:ln>
              <a:noFill/>
            </a:ln>
          </c:spPr>
          <c:invertIfNegative val="0"/>
          <c:dLbls>
            <c:numFmt formatCode="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Distance to urban cores</c:v>
                </c:pt>
                <c:pt idx="1">
                  <c:v>Housing density</c:v>
                </c:pt>
                <c:pt idx="2">
                  <c:v>Elevation</c:v>
                </c:pt>
                <c:pt idx="3">
                  <c:v>Current brightness</c:v>
                </c:pt>
                <c:pt idx="4">
                  <c:v>Distance to major roads</c:v>
                </c:pt>
                <c:pt idx="5">
                  <c:v>Conservation land</c:v>
                </c:pt>
              </c:strCache>
            </c:strRef>
          </c:cat>
          <c:val>
            <c:numRef>
              <c:f>Sheet1!$B$2:$B$7</c:f>
              <c:numCache>
                <c:formatCode>General</c:formatCode>
                <c:ptCount val="6"/>
                <c:pt idx="0">
                  <c:v>0.309</c:v>
                </c:pt>
                <c:pt idx="1">
                  <c:v>0.223</c:v>
                </c:pt>
                <c:pt idx="2">
                  <c:v>0.20499999999999999</c:v>
                </c:pt>
                <c:pt idx="3">
                  <c:v>0.186</c:v>
                </c:pt>
                <c:pt idx="4">
                  <c:v>6.5000000000000002E-2</c:v>
                </c:pt>
                <c:pt idx="5">
                  <c:v>1.2E-2</c:v>
                </c:pt>
              </c:numCache>
            </c:numRef>
          </c:val>
          <c:extLst>
            <c:ext xmlns:c16="http://schemas.microsoft.com/office/drawing/2014/chart" uri="{C3380CC4-5D6E-409C-BE32-E72D297353CC}">
              <c16:uniqueId val="{00000000-CBEB-4007-B80C-8E52743DF0D8}"/>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38"/>
          <c:min val="0"/>
        </c:scaling>
        <c:delete val="1"/>
        <c:axPos val="t"/>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685800" y="4572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3749040"/>
            <a:ext cx="5486400" cy="489204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39292764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[0:00–0:26]</a:t>
            </a:r>
          </a:p>
          <a:p>
            <a:r>
              <a:t>Good afternoon. I'm Jay Rosen.</a:t>
            </a:r>
          </a:p>
          <a:p>
            <a:r>
              <a:t>This is the Milky Way over Paynes Prairie, fifteen minutes from campus, and the yellow glow on the horizon is light pollution from our cities.</a:t>
            </a:r>
          </a:p>
          <a:p>
            <a:r>
              <a:t>My talk is about restoring that view: how AI-assisted satellite analysis and interactive simulation can help counties plan their lighting, and how we're scaling that across North Central Florida.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[0:26–1:31]</a:t>
            </a:r>
          </a:p>
          <a:p>
            <a:r>
              <a:t>A little about me: this talk is where my two careers meet.</a:t>
            </a:r>
          </a:p>
          <a:p>
            <a:r>
              <a:t>I'm a UF College of the Arts alumnus. My Undergraduate Scholar research was a phenomenological study of Light and Space art, including lighting technology for immersive light installations, which I studied abroad in Europe. I've worked with light art for fifteen years.</a:t>
            </a:r>
          </a:p>
          <a:p>
            <a:r>
              <a:t>Before UF, I was founder and CEO of Space Age Mining Corporation, a high-performance computing startup. Now I'm a research software engineer in the College of Education.</a:t>
            </a:r>
          </a:p>
          <a:p>
            <a:r>
              <a:t>Since 2020, astrophotography has been my newest light art: capturing light itself from the cosmos, much of it full-spectrum, like this self-portrait.</a:t>
            </a:r>
          </a:p>
          <a:p>
            <a:r>
              <a:t>I've twice won the NASA Space Apps Challenge at the Kennedy Space Center event, with a nomination for the global awards, and this year I'm one of the judges. Outside UF, I serve on the Alachua Astronomy Club board and on City of Gainesville and Alachua County boards.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[1:31–1:59]</a:t>
            </a:r>
          </a:p>
          <a:p>
            <a:r>
              <a:t>First, what is light pollution? Excessive, misdirected or obtrusive artificial light at night: skyglow, light trespass, glare, and more light than a task needs.</a:t>
            </a:r>
          </a:p>
          <a:p>
            <a:r>
              <a:t>It's not just astronomy. At places like Paynes Prairie, artificial light lures insects to their deaths, quiets frogs' breeding calls, throws night-migrating birds off course, and shrinks dark habitat for bats. It disrupts our sleep, and it wastes energy.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[1:59–2:24]</a:t>
            </a:r>
          </a:p>
          <a:p>
            <a:r>
              <a:t>Skyglow travels tens of kilometers.</a:t>
            </a:r>
          </a:p>
          <a:p>
            <a:r>
              <a:t>On the left, from Paynes Prairie, Gainesville's dome takes over half the sky; on the right, Stephen C. Foster State Park in Georgia, a Bortle 2 dark-sky park.</a:t>
            </a:r>
          </a:p>
          <a:p>
            <a:r>
              <a:t>It's preventable: shield, aim, warmer colors, less brightness, dimming late at night. What communities lack is a way to test those choices first.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[2:24–3:22]</a:t>
            </a:r>
          </a:p>
          <a:p>
            <a:r>
              <a:t>A quick backstory. In September 2025 I gave a public comment at Alachua County's Environmental Protection Advisory Committee, then built the first simulator in about a month, focused on what light pollution fixes would mean for budgets and the night sky. I debuted it at UF's Astraeus Space Research Day.</a:t>
            </a:r>
          </a:p>
          <a:p>
            <a:r>
              <a:t>In January I presented the research and the simulator to the committee, and it voted unanimously to work toward dark-sky policy.</a:t>
            </a:r>
          </a:p>
          <a:p>
            <a:r>
              <a:t>In April, during International Dark Sky Week, I took it beyond the board rooms: a guest talk in Dr. Elizabeth Lada's astrophotography course, where she asked whether it could help find a site for UF's next observatory, and a talk at the Alachua Astronomy Club, where members asked how to do this in Levy County. UF's College of the Arts covered the project that spring.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[3:22–4:04]</a:t>
            </a:r>
          </a:p>
          <a:p>
            <a:r>
              <a:t>On September 22, Alachua County commissioners unanimously adopted Comprehensive Plan amendments that included new dark-sky protections under Policy 5.3.7.</a:t>
            </a:r>
          </a:p>
          <a:p>
            <a:r>
              <a:t>The policy specifically references principles advocated by DarkSky International and the Illuminating Engineering Society of North America.</a:t>
            </a:r>
          </a:p>
          <a:p>
            <a:r>
              <a:t>It calls for protecting wildlife and the night sky while conserving energy and maintaining public safety.</a:t>
            </a:r>
          </a:p>
          <a:p>
            <a:r>
              <a:t>It establishes four principles: direct light only where needed, use the minimum necessary, favor warmer colors, and maximize energy efficiency.</a:t>
            </a:r>
          </a:p>
          <a:p>
            <a:r>
              <a:t>These are exactly the decisions our Dark Sky Simulator is designed to evaluate.</a:t>
            </a:r>
          </a:p>
          <a:p>
            <a:r>
              <a:t>The next step is translating these principles into enforceable lighting regulations.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[4:04–4:29]</a:t>
            </a:r>
          </a:p>
          <a:p>
            <a:r>
              <a:t>Version 1, on the left, was built to persuade, and it worked. Then people asked the right question: how do you know?</a:t>
            </a:r>
          </a:p>
          <a:p>
            <a:r>
              <a:t>Version 2 is my answer. The sky comes from atmospheric physics, the lights from public data, and AI is used where data can teach us something. Every number is labeled a planning projection.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[4:29–4:57]</a:t>
            </a:r>
          </a:p>
          <a:p>
            <a:r>
              <a:t>Here's version 2. It covers Alachua, Levy and six neighboring counties, with roughly 817,000 modeled light sources: streetlights, homes and businesses, and sports fields.</a:t>
            </a:r>
          </a:p>
          <a:p>
            <a:r>
              <a:t>The colors are the modeled sky brightness overhead: yellow is an urban sky, black is close to natural.</a:t>
            </a:r>
          </a:p>
          <a:p>
            <a:r>
              <a:t>You choose shielding, color limits, dimming or curfews, and compare the projected sky, Bortle class, energy, cost, savings and payback.</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[4:57–5:16]</a:t>
            </a:r>
          </a:p>
          <a:p>
            <a:r>
              <a:t>Everything heavy runs once, offline: scattering, placing fixtures, the satellite record, training.</a:t>
            </a:r>
          </a:p>
          <a:p>
            <a:r>
              <a:t>Because skyglow adds up, the browser only needs a weighted sum of precomputed layers, about 55 milliseconds per scenario. The sky itself is a published physics model, not a neural network.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[5:16–5:50]</a:t>
            </a:r>
          </a:p>
          <a:p>
            <a:r>
              <a:t>One click applies a Groveland-style ordinance; Groveland is Florida's first dark-sky city. Full shielding, a 3000-kelvin cap, and dimming to half from 10 p.m.</a:t>
            </a:r>
          </a:p>
          <a:p>
            <a:r>
              <a:t>Blue is where the sky gets darker, and it crosses county lines: skyglow is regional.</a:t>
            </a:r>
          </a:p>
          <a:p>
            <a:r>
              <a:t>If every light, public and private, complies, Paynes Prairie goes from 20.98 to 21.62, the level DarkSky uses for parks, and downtown moves one Bortle class, 7 to 6. Public lights alone get about half of that.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[5:50–6:26]</a:t>
            </a:r>
          </a:p>
          <a:p>
            <a:r>
              <a:t>The best-value package is right-sizing public streetlights: fully shielded 3000-kelvin LEDs at 30 percent lower output, with no smart controllers, which is why it pays back faster than the full ordinance.</a:t>
            </a:r>
          </a:p>
          <a:p>
            <a:r>
              <a:t>Alachua County, all public streetlights: 15.3 million dollars, saving about 2.6 million a year in energy and maintenance, paid back in about 6 years.</a:t>
            </a:r>
          </a:p>
          <a:p>
            <a:r>
              <a:t>Within that total, Gainesville's GRU streetlights: 7.2 million, 1.45 million a year; state roads under a million. Levy County and Chiefland pay back in about 8 years.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[6:26–6:47]</a:t>
            </a:r>
          </a:p>
          <a:p>
            <a:r>
              <a:t>You don't have to change a whole county. Overlay zones apply stricter rules in rings around the observatories: an amber, motion-only core and a warm-white buffer.</a:t>
            </a:r>
          </a:p>
          <a:p>
            <a:r>
              <a:t>Protecting both sites costs under a million dollars in public retrofits. That's a trade-off a commission can actually vote 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[6:47–7:18]</a:t>
            </a:r>
          </a:p>
          <a:p>
            <a:r>
              <a:t>Numbers like 20.98 and 21.62 don't mean much, so the simulator draws the sky: Paynes Prairie looking southeast in late May as the Milky Way rises, like my title photo.</a:t>
            </a:r>
          </a:p>
          <a:p>
            <a:r>
              <a:t>Today, on the left: Bortle 4, stars to about magnitude 6.1. With the ordinance, on the right: still Bortle 4, but the horizon glow fades, stars reach 6.4, and the Milky Way is clearer.</a:t>
            </a:r>
          </a:p>
          <a:p>
            <a:r>
              <a:t>It's an illustration, not a photograph.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[7:18–7:36]</a:t>
            </a:r>
          </a:p>
          <a:p>
            <a:r>
              <a:t>Build mode turns policy into hardware: 17 DarkSky-compliant fixture types with real installed costs. Equip one and the sky, the budget and the install markers update.</a:t>
            </a:r>
          </a:p>
          <a:p>
            <a:r>
              <a:t>The 3D view puts every modeled light at street level, here downtown Gainesville.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[7:36–8:01]</a:t>
            </a:r>
          </a:p>
          <a:p>
            <a:r>
              <a:t>Now the AI, and precisely where it is.</a:t>
            </a:r>
          </a:p>
          <a:p>
            <a:r>
              <a:t>Two methods read 13 years of satellite images of Florida at night: a statistical step test, calibrated by simulation rather than trained, that finds where lighting changed suddenly, and LightGBM, a trained machine-learning forecast of where light will grow.</a:t>
            </a:r>
          </a:p>
          <a:p>
            <a:r>
              <a:t>Everything else is physics or explicit rules you can inspect.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[8:01–8:23]</a:t>
            </a:r>
          </a:p>
          <a:p>
            <a:r>
              <a:t>The data is NASA's Black Marble product from the VIIRS instrument: a nightly image of Earth's lights at about 500 meters.</a:t>
            </a:r>
          </a:p>
          <a:p>
            <a:r>
              <a:t>We keep only cloud-free nights and take one median per year for every cell, 2012 to 2024, through Google Earth Engine's free tier, in about twelve minutes.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[8:23–8:52]</a:t>
            </a:r>
          </a:p>
          <a:p>
            <a:r>
              <a:t>Lesson one: check the data first.</a:t>
            </a:r>
          </a:p>
          <a:p>
            <a:r>
              <a:t>Our first pull came back ten times too dark: a scale factor applied twice.</a:t>
            </a:r>
          </a:p>
          <a:p>
            <a:r>
              <a:t>Then forests and wetlands seemed to brighten 70 to 120 percent. They didn't. That's airglow, light from the upper atmosphere that rises with solar activity. A model trained on that would have learned the Sun, not development, so we subtract it every year first.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[8:52–9:20]</a:t>
            </a:r>
          </a:p>
          <a:p>
            <a:r>
              <a:t>Version 1's AI-assisted comparison of NOAA imagery estimated about 19 percent brightening.</a:t>
            </a:r>
          </a:p>
          <a:p>
            <a:r>
              <a:t>Re-measured in calibrated radiance from 2013 to 2024, the region around the county rose about 20 percent in NOAA's product and 13 in NASA's: broadly consistent, with the size depending on the product. Inside the county it's 3 to 6 percent, Gainesville about 5.</a:t>
            </a:r>
          </a:p>
          <a:p>
            <a:r>
              <a:t>Growth concentrates along I-75 and toward Ocala.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[9:20–9:51]</a:t>
            </a:r>
          </a:p>
          <a:p>
            <a:r>
              <a:t>We test every lit cell for a sudden step; false alarms, one in a thousand. Of 28,986 lit cells, 1,493 are flagged as candidates, where chance alone would give about 29.</a:t>
            </a:r>
          </a:p>
          <a:p>
            <a:r>
              <a:t>The top event is at I-75 and Archer Road, a jump in 2016. That's Celebration Pointe; Bass Pro Shops opened there in November 2016. Nobody told the model where to look.</a:t>
            </a:r>
          </a:p>
          <a:p>
            <a:r>
              <a:t>It knows that light changed, not what was built.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[9:51–10:13]</a:t>
            </a:r>
          </a:p>
          <a:p>
            <a:r>
              <a:t>And what it can't do. Year-to-year noise is about 10 percent, so it finds large new lighting but misses most LED retrofits, which are 20 to 40 percent drops. The satellite also barely sees the blue in white LEDs.</a:t>
            </a:r>
          </a:p>
          <a:p>
            <a:r>
              <a:t>Seeing retrofits needs monthly data or utility work orders.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[10:13–10:39]</a:t>
            </a:r>
          </a:p>
          <a:p>
            <a:r>
              <a:t>The second model, LightGBM, forecasts where light will grow from six open inputs. On years it never saw, it ties "no change" on the amount: lit areas fell 4 percent, then rose 21, a reversal nothing earlier predicted.</a:t>
            </a:r>
          </a:p>
          <a:p>
            <a:r>
              <a:t>It ranks cells modestly well, a correlation of 0.35: useful for ranking sites, not for predicting one site's brightness.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[10:39–11:03]</a:t>
            </a:r>
          </a:p>
          <a:p>
            <a:r>
              <a:t>How do we keep it honest? The forecast is scored only on years it never trained on. The detector's false-alarm rate is checked on simulated noise. And the sky model is compared with 53 citizen sky-meter readings it never saw: it reads about half a magnitude darker than they do, a bias we publish.</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[11:03–11:43]</a:t>
            </a:r>
          </a:p>
          <a:p>
            <a:r>
              <a:t>Here's the application Dr. Lada asked about, a preliminary screening, not a site study. Every square kilometer of a wider, 11-county area is scored: dark today and in 2034, clear air, land, access, and drive time from campus.</a:t>
            </a:r>
          </a:p>
          <a:p>
            <a:r>
              <a:t>We rule out water and wetland, the coast, storm-surge ground, places projected to flood by 2080, FEMA's floodplain, and anything over about ninety minutes away.</a:t>
            </a:r>
          </a:p>
          <a:p>
            <a:r>
              <a:t>The shortlist: three Levy County sites between Chiefland and Bronson, 45 minutes to an hour from campus, land about six to eight hundred thousand dollars for 80 acres.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[11:43–12:01]</a:t>
            </a:r>
          </a:p>
          <a:p>
            <a:r>
              <a:t>Finally, it has to reach decision-makers. The Brief tab generates a PDF for commissioners that opens with: "These outputs are planning projections, not observed outcomes." Every figure links back to its scenario, and a defensibility panel lists what's still missing.</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[12:01–12:23]</a:t>
            </a:r>
          </a:p>
          <a:p>
            <a:r>
              <a:t>Scaling up means turning projection into evidence: sky-quality meters and a low-cost sensor network, real utility inventories, a computer-vision fixture detector, and monthly satellite data.</a:t>
            </a:r>
          </a:p>
          <a:p>
            <a:r>
              <a:t>The county package is reusable, and Levy County is next. If you work on sensors, computer vision, remote sensing or policy, let's talk.</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[12:23–13:04]</a:t>
            </a:r>
          </a:p>
          <a:p>
            <a:r>
              <a:t>Here's my ask. Alachua County has now written dark-sky lighting into its Comprehensive Plan, and UF, which plans its own campus in coordination with the county, can lead alongside it.</a:t>
            </a:r>
          </a:p>
          <a:p>
            <a:r>
              <a:t>The model projects that upgrading UF's 4,100 pole lights would cost about a million dollars and save about two hundred thousand a year, depending on real inventories and rates.</a:t>
            </a:r>
          </a:p>
          <a:p>
            <a:r>
              <a:t>And about six thousand dollars in hardware buys fifty sky-brightness sensors to check the model against real readings.</a:t>
            </a:r>
          </a:p>
          <a:p>
            <a:r>
              <a:t>So far this has been independent and unfunded. I'd like it to become a UF project.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[13:04–13:19]</a:t>
            </a:r>
          </a:p>
          <a:p>
            <a:r>
              <a:t>The simulator is live: scan the code to try it on your phone; the other code is the GitHub repository with the models and tests.</a:t>
            </a:r>
          </a:p>
          <a:p>
            <a:r>
              <a:t>Thank you. I'm happy to take questions.</a:t>
            </a:r>
          </a:p>
          <a:p>
            <a:r>
              <a:t>[The 70-second supercut loops on this slide during questions. Prepared answers are on the hidden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[Hidden. To show it during the slide show, type 28 and press Enter.]</a:t>
            </a:r>
          </a:p>
          <a:p>
            <a:r>
              <a:t>These are the sources behind the talk and the poster, in alphabetical order; the poster numbers them in the order cited.</a:t>
            </a:r>
          </a:p>
          <a:p>
            <a:r>
              <a:t>If someone asks where a piece comes from: the sky physics is Garstang's 1986 skyglow model. The satellite record is the annual VIIRS night-lights series from Elvidge and colleagues, pulled through Google Earth Engine. The step test is a test for a break at an unknown year, after Andrews, 1993. The forecast uses LightGBM, from Ke and colleagues, 2017. The sky classes are Bortle's 2001 scale, the preset is Groveland's 2022 ordinance, and the policy is Alachua County's Policy 5.3.7 amendment.</a:t>
            </a:r>
          </a:p>
          <a:p>
            <a:r>
              <a:t>Every source is also linked from the GitHub repository on the closing slide.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To show it, type 29 and press Enter during the slide show.]</a:t>
            </a:r>
          </a:p>
          <a:p>
            <a:r>
              <a:t>To find where lighting changed, we test every lit cell with two explanations of its 13 yearly values: a steady trend, or a trend with a sudden step. On the left, a cell in Chiefland: a slow decline, no step. On the right, a cell that jumped in 2016.</a:t>
            </a:r>
          </a:p>
          <a:p>
            <a:r>
              <a:t>An F-test measures how much the step helps, at the best of eight possible years. Picking the best year inflates the statistic, so the cutoff can't come from a textbook table.</a:t>
            </a:r>
          </a:p>
          <a:p>
            <a:r>
              <a:t>Our first detector flagged two-thirds of all lit cells. In simulation it flagged 2,000 out of 2,000 cells that had nothing but a steady trend. A detector that flags everything tells you nothing.</a:t>
            </a:r>
          </a:p>
          <a:p>
            <a:r>
              <a:t>So the cutoff now comes from simulating 200,000 cells of pure noise: F of at least 36.3, a false alarm one time in a thousand. The region's shared movement comes out first, so a cell is flagged for what happened there, and a step must be at least 20 percent.</a:t>
            </a:r>
          </a:p>
          <a:p>
            <a:r>
              <a:t>[Reading the formulas, if asked]</a:t>
            </a:r>
          </a:p>
          <a:p>
            <a:r>
              <a:t>Top, read: "F sub k equals R-S-S one minus R-S-S two, over R-S-S two divided by n minus three. F star is the maximum of F sub k." RSS is the error left after a fit: model one is the line, model two the line plus a step in year k. So F is how much error the step removes compared with the noise that's left, and F star is the best of the split years 2015 to 2022.</a:t>
            </a:r>
          </a:p>
          <a:p>
            <a:r>
              <a:t>Bottom, read: "F star must be at least F crit: the 99.9th percentile of F star when the series is pure random noise, 36.3." Slide 31 has the full version.</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To show it, type 30 and press Enter during the slide show.]</a:t>
            </a:r>
          </a:p>
          <a:p>
            <a:r>
              <a:t>The second model forecasts growth. LightGBM, gradient-boosted decision trees, learns how fast each one-kilometer cell brightened over six years from what the cell looked like at the start, using six open inputs: distance to urban cores and major roads, housing density, elevation, conservation land, and current brightness.</a:t>
            </a:r>
          </a:p>
          <a:p>
            <a:r>
              <a:t>It leans most on distance to urban cores, then housing density, elevation and current brightness.</a:t>
            </a:r>
          </a:p>
          <a:p>
            <a:r>
              <a:t>Why not deep learning? About 30,000 cells, six tabular features, one number per cell. Boosted trees fit that well, train in seconds on a laptop with no GPU, and tell you what they rely on.</a:t>
            </a:r>
          </a:p>
          <a:p>
            <a:r>
              <a:t>[Reading the formula, if asked]</a:t>
            </a:r>
          </a:p>
          <a:p>
            <a:r>
              <a:t>Read: "F sub m of s equals F sub m minus one of s, plus eta times f sub m of s, where f sub m is the tree that minimizes the sum of squared leftovers." s is a cell's six inputs and r its growth rate. Each new tree is fitted to what the trees so far still get wrong, then added in at a learning rate, eta, of 0.05. After 300 trees, F is the model. Each tree has at most 31 leaves and at least 40 cells per leaf, which keeps it from fitting single cells.</a:t>
            </a:r>
          </a:p>
          <a:p>
            <a:r>
              <a:t>The chart is each input's share of split gain: how much of the total error reduction came from splits on that input. Urban cores about 31 percent, housing density 22, elevation 21, current brightness 19, major roads 7, conservation land 1.</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change detector. To show it, type 31 and press Enter during the slide show.]</a:t>
            </a:r>
          </a:p>
          <a:p>
            <a:r>
              <a:t>Line one, two models for one cell. z sub t is the cell's log radiance in year t, minus the region's shared movement. Read: "Model one: z sub t equals a plus b t plus epsilon." A straight line plus noise. "Model two, for split year k: the same line, plus d times one if t is at least k." The indicator is zero before year k and one from then on, so d is the step, in log units.</a:t>
            </a:r>
          </a:p>
          <a:p>
            <a:r>
              <a:t>Line two, read: "F sub k equals R-S-S one minus R-S-S two k, divided by R-S-S two k over n minus three." RSS, the residual sum of squares, is the error left after each fit. The top is the error the step removes; the bottom is the noise left in model two, per degree of freedom: 13 years minus the three fitted numbers a, b and d. "F star is the maximum of F sub k over 2015 to 2022."</a:t>
            </a:r>
          </a:p>
          <a:p>
            <a:r>
              <a:t>Line three, read: "F star must be at least F crit, the 0.999 quantile of F star when z is independent standard normal noise, which is 36.3." We simulated 200,000 noise-only series and took the value only one in a thousand exceeds.</a:t>
            </a:r>
          </a:p>
          <a:p>
            <a:r>
              <a:t>One simulation serves every cell: both models contain a line, so shifting or tilting a series doesn't change F, and rescaling it scales the top and bottom alike.</a:t>
            </a:r>
          </a:p>
          <a:p>
            <a:r>
              <a:t>A flagged step must also be at least 20 percent, up or down: e to the d, minus one. Results: 28,986 lit cells tested; about 29 would be flagged by chance; 1,493 were flagged, grouped into 635 events: 491 rises and 144 drops.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forecast. To show it, type 32 and press Enter during the slide show.]</a:t>
            </a:r>
          </a:p>
          <a:p>
            <a:r>
              <a:t>Line one, the boosting step, read: "F sub m of s equals F sub m minus one of s, plus eta f sub m of s." s is a cell's inputs at the start of the window and r its average yearly growth in log radiance. Each tree fixes part of what the trees before it still get wrong: 300 trees, eta 0.05.</a:t>
            </a:r>
          </a:p>
          <a:p>
            <a:r>
              <a:t>Line two, the back-test, read: "F hat is fitted from s 2012 to r, 2012 to 2018. L hat 2024 equals L 2018 times e to the six F hat of s 2018." Train on how each cell looked in 2012 and how fast it grew to 2018. Then give it the 2018 state, grow the 2018 brightness at the predicted yearly rate for six years, and compare with the real 2024, which the model never saw.</a:t>
            </a:r>
          </a:p>
          <a:p>
            <a:r>
              <a:t>Line three, the scores, read: "M-D-A-P-E is the median of the absolute value of predicted over observed 2024, minus one. Rho is the correlation of the predicted rate with the real 2018 to 2024 growth." Results: 21.2 percent median error, the same as assuming no change, and a correlation of 0.35. It can't beat no change on totals, because lit areas fell 2012 to 2018 and rose 2018 to 2024, but it does rank where growth concentrates.</a:t>
            </a:r>
          </a:p>
          <a:p>
            <a:r>
              <a:t>Line four, the forecast, read: "L 2034 equals L 2024 times e to the ten r hat." Refit on 2018 to 2024, apply to 2024, and carry that pace ten years, with the rate held between minus 1 and plus 6 percent a year. It's the recent pace carried forward, not a prediction.</a:t>
            </a:r>
          </a:p>
          <a:p>
            <a:r>
              <a:t>Spatial check: hide 16-by-16-cell blocks in five folds and predict each from a model that never saw it: R squared 0.18.</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sky model. To show it, type 33 and press Enter during the slide show.]</a:t>
            </a:r>
          </a:p>
          <a:p>
            <a:r>
              <a:t>Line one, how a fixture sends light up, read: "I direct of theta equals 0.554 theta to the fourth over two pi; I reflected equals cosine theta over pi." Theta is the angle from straight up. Direct uplight grows as theta to the fourth, so most of it leaves near the horizon and travels far: that's why shielding matters most for distant skies. Light reflected off the ground spreads as cosine theta. The constants make each one sum to one over the sky.</a:t>
            </a:r>
          </a:p>
          <a:p>
            <a:r>
              <a:t>Line two, the kernel: K of D is the zenith brightness from one lumen at distance D. Read: "the integral, up the line of sight, of I of theta times e to the minus tau r over h prime, over r squared; times beta R e to the minus h over H R times P R of psi, plus beta M e to the minus h over H M times P H G of psi; times e to the minus tau." In words: the light reaching height h, dimmed along its slant path and spread by the inverse square; scattered toward the observer by air molecules, the Rayleigh term, and by haze, the Henyey-Greenstein term, each thinning with height; then dimmed again on the way down. h prime adds Earth's curvature. A smooth curve fits the integral within 7.4 percent.</a:t>
            </a:r>
          </a:p>
          <a:p>
            <a:r>
              <a:t>Line three, read: "B c t equals K t convolved with P c." Each layer is the kernel spread over where one group of lights sits, computed once, offline.</a:t>
            </a:r>
          </a:p>
          <a:p>
            <a:r>
              <a:t>Line four, read: "L equals alpha times the sum of phi times B; m equals 12.6 minus 2.5 log ten of artificial plus natural brightness." The browser only re-weights the stored layers, and m converts candela per square meter to magnitudes per square arcsecond; the natural sky is 22.0.</a:t>
            </a:r>
          </a:p>
          <a:p>
            <a:r>
              <a:t>Alpha is one scale fitted to 10 sites, error 0.46 magnitudes; 53 readings it never saw put the model a median 0.52 magnitudes darker.</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with prepared answers. To show it, type 34 and press Enter during the slide show.]</a:t>
            </a:r>
          </a:p>
          <a:p>
            <a:r>
              <a:t>Ground truth for the change events? The false-alarm rate is set by simulation and checked in tests, and known openings line up, like Celebration Pointe in November 2016. The next step is ground truth from utility work orders and Gainesville's streetlight records.</a:t>
            </a:r>
          </a:p>
          <a:p>
            <a:r>
              <a:t>Data leakage? The back-test trains on 2012 conditions and 2012 to 2018 growth, then predicts 2024 from 2018. A test feeds it a 2018 to 2024 jump and fails if the model could see it.</a:t>
            </a:r>
          </a:p>
          <a:p>
            <a:r>
              <a:t>Isn't the satellite blind to LEDs? Partly. VIIRS sees 500 to 900 nanometers, so it misses most of a white LED's blue. For the Groveland preset the satellite would record minus 24.9 percent where the eye sees minus 23.5.</a:t>
            </a:r>
          </a:p>
          <a:p>
            <a:r>
              <a:t>What does it cost? The satellite pull runs on Earth Engine's free noncommercial tier, and the app is static files on free hosting.</a:t>
            </a:r>
          </a:p>
          <a:p>
            <a:r>
              <a:t>Didn't the County find 19 percent growth? That came from two map screenshots covering the whole map view, from Perry to the St. Johns River, where NOAA's radiance rose about 20 percent. On the county boundary it rose 3 to 6 percent, and about 5 around Gainesville.</a:t>
            </a:r>
          </a:p>
          <a:p>
            <a:r>
              <a:t>How good is the sky model? One brightness scale is fitted to 10 reference sites, error 0.46 magnitudes. Against 53 meter readings never used in any fit, readings are a median 0.52 magnitudes brighter than the model, 0.21 after midnight.</a:t>
            </a:r>
          </a:p>
          <a:p>
            <a:r>
              <a:t>[Do not claim: a calibrated sky brightness; a predicted 2034 sky, since it is the 2018 to 2024 pace carried forward; or that the detector finds retrofits, since it misses most 20 to 40 percent drops.]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jpg"/><Relationship Id="rId4" Type="http://schemas.openxmlformats.org/officeDocument/2006/relationships/image" Target="../media/image15.jp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notesSlide" Target="../notesSlides/notesSlide8.xml"/><Relationship Id="rId5" Type="http://schemas.openxmlformats.org/officeDocument/2006/relationships/image" Target="../media/image16.jpg"/><Relationship Id="rId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10.xml"/><Relationship Id="rId5" Type="http://schemas.openxmlformats.org/officeDocument/2006/relationships/image" Target="../media/image18.jpg"/><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7.xml"/><Relationship Id="rId4" Type="http://schemas.openxmlformats.org/officeDocument/2006/relationships/notesSlide" Target="../notesSlides/notesSlide12.xml"/><Relationship Id="rId5" Type="http://schemas.openxmlformats.org/officeDocument/2006/relationships/image" Target="../media/image19.jpg"/><Relationship Id="rId6"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slideLayout" Target="../slideLayouts/slideLayout7.xml"/><Relationship Id="rId6" Type="http://schemas.openxmlformats.org/officeDocument/2006/relationships/notesSlide" Target="../notesSlides/notesSlide13.xml"/><Relationship Id="rId7" Type="http://schemas.openxmlformats.org/officeDocument/2006/relationships/image" Target="../media/image20.jpg"/><Relationship Id="rId8" Type="http://schemas.openxmlformats.org/officeDocument/2006/relationships/image" Target="../media/image21.jpg"/><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slideLayout" Target="../slideLayouts/slideLayout7.xml"/><Relationship Id="rId6" Type="http://schemas.openxmlformats.org/officeDocument/2006/relationships/notesSlide" Target="../notesSlides/notesSlide14.xml"/><Relationship Id="rId7" Type="http://schemas.openxmlformats.org/officeDocument/2006/relationships/image" Target="../media/image22.jpg"/><Relationship Id="rId8" Type="http://schemas.openxmlformats.org/officeDocument/2006/relationships/image" Target="../media/image23.jpg"/><Relationship Id="rId9"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microsoft.com/office/2007/relationships/media" Target="../media/media8.mp4"/><Relationship Id="rId2" Type="http://schemas.openxmlformats.org/officeDocument/2006/relationships/video" Target="../media/media8.mp4"/><Relationship Id="rId3" Type="http://schemas.openxmlformats.org/officeDocument/2006/relationships/slideLayout" Target="../slideLayouts/slideLayout7.xml"/><Relationship Id="rId4" Type="http://schemas.openxmlformats.org/officeDocument/2006/relationships/notesSlide" Target="../notesSlides/notesSlide16.xml"/><Relationship Id="rId5" Type="http://schemas.openxmlformats.org/officeDocument/2006/relationships/image" Target="../media/image24.jpg"/><Relationship Id="rId6"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chart" Target="../charts/chart1.xml"/><Relationship Id="rId4" Type="http://schemas.openxmlformats.org/officeDocument/2006/relationships/image" Target="../media/image25.png"/><Relationship Id="rId5"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openxmlformats.org/officeDocument/2006/relationships/slideLayout" Target="../slideLayouts/slideLayout7.xml"/><Relationship Id="rId4" Type="http://schemas.openxmlformats.org/officeDocument/2006/relationships/notesSlide" Target="../notesSlides/notesSlide18.xml"/><Relationship Id="rId5" Type="http://schemas.openxmlformats.org/officeDocument/2006/relationships/image" Target="../media/image26.jpg"/><Relationship Id="rId6"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microsoft.com/office/2007/relationships/media" Target="../media/media10.mp4"/><Relationship Id="rId2" Type="http://schemas.openxmlformats.org/officeDocument/2006/relationships/video" Target="../media/media10.mp4"/><Relationship Id="rId3" Type="http://schemas.openxmlformats.org/officeDocument/2006/relationships/slideLayout" Target="../slideLayouts/slideLayout7.xml"/><Relationship Id="rId4" Type="http://schemas.openxmlformats.org/officeDocument/2006/relationships/notesSlide" Target="../notesSlides/notesSlide19.xml"/><Relationship Id="rId5" Type="http://schemas.openxmlformats.org/officeDocument/2006/relationships/image" Target="../media/image27.jpg"/><Relationship Id="rId6"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chart" Target="../charts/chart2.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chart" Target="../charts/chart3.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jp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9.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microsoft.com/office/2007/relationships/media" Target="../media/media11.mp4"/><Relationship Id="rId2" Type="http://schemas.openxmlformats.org/officeDocument/2006/relationships/video" Target="../media/media11.mp4"/><Relationship Id="rId3" Type="http://schemas.openxmlformats.org/officeDocument/2006/relationships/slideLayout" Target="../slideLayouts/slideLayout7.xml"/><Relationship Id="rId4" Type="http://schemas.openxmlformats.org/officeDocument/2006/relationships/notesSlide" Target="../notesSlides/notesSlide24.xml"/><Relationship Id="rId5" Type="http://schemas.openxmlformats.org/officeDocument/2006/relationships/image" Target="../media/image30.jpg"/><Relationship Id="rId6"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microsoft.com/office/2007/relationships/media" Target="../media/media12.mp4"/><Relationship Id="rId2" Type="http://schemas.openxmlformats.org/officeDocument/2006/relationships/video" Target="../media/media12.mp4"/><Relationship Id="rId3" Type="http://schemas.openxmlformats.org/officeDocument/2006/relationships/slideLayout" Target="../slideLayouts/slideLayout7.xml"/><Relationship Id="rId4" Type="http://schemas.openxmlformats.org/officeDocument/2006/relationships/notesSlide" Target="../notesSlides/notesSlide25.xml"/><Relationship Id="rId5" Type="http://schemas.openxmlformats.org/officeDocument/2006/relationships/image" Target="../media/image31.jpg"/><Relationship Id="rId6"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jp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microsoft.com/office/2007/relationships/media" Target="../media/media13.mp4"/><Relationship Id="rId2" Type="http://schemas.openxmlformats.org/officeDocument/2006/relationships/video" Target="../media/media13.mp4"/><Relationship Id="rId3" Type="http://schemas.openxmlformats.org/officeDocument/2006/relationships/slideLayout" Target="../slideLayouts/slideLayout7.xml"/><Relationship Id="rId4" Type="http://schemas.openxmlformats.org/officeDocument/2006/relationships/notesSlide" Target="../notesSlides/notesSlide27.xml"/><Relationship Id="rId5" Type="http://schemas.openxmlformats.org/officeDocument/2006/relationships/image" Target="../media/image33.jp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6.jpg"/><Relationship Id="rId4" Type="http://schemas.openxmlformats.org/officeDocument/2006/relationships/image" Target="../media/image37.jp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0.png"/><Relationship Id="rId4" Type="http://schemas.openxmlformats.org/officeDocument/2006/relationships/chart" Target="../charts/chart4.xml"/><Relationship Id="rId5"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1.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0.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17.png"/><Relationship Id="rId7"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prairie_milkyway_rising.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85800" y="502920"/>
            <a:ext cx="73152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6B44B"/>
                </a:solidFill>
                <a:latin typeface="Aptos"/>
              </a:rPr>
              <a:t>UF AI DAYS  ·  OCT. 27, 2026</a:t>
            </a:r>
          </a:p>
        </p:txBody>
      </p:sp>
      <p:sp>
        <p:nvSpPr>
          <p:cNvPr id="4" name="TextBox 3"/>
          <p:cNvSpPr txBox="1"/>
          <p:nvPr/>
        </p:nvSpPr>
        <p:spPr>
          <a:xfrm>
            <a:off x="685800" y="795528"/>
            <a:ext cx="73152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D9D2BD"/>
                </a:solidFill>
                <a:latin typeface="Aptos"/>
              </a:rPr>
              <a:t>AI Research, Teaching, and Learning Day</a:t>
            </a:r>
          </a:p>
        </p:txBody>
      </p:sp>
      <p:sp>
        <p:nvSpPr>
          <p:cNvPr id="5" name="TextBox 4"/>
          <p:cNvSpPr txBox="1"/>
          <p:nvPr/>
        </p:nvSpPr>
        <p:spPr>
          <a:xfrm>
            <a:off x="685800" y="1143000"/>
            <a:ext cx="10058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400" b="1" i="0">
                <a:solidFill>
                  <a:srgbClr val="F5F1E6"/>
                </a:solidFill>
                <a:latin typeface="Aptos Display"/>
              </a:rPr>
              <a:t>Restoring the Milky Way</a:t>
            </a:r>
          </a:p>
        </p:txBody>
      </p:sp>
      <p:sp>
        <p:nvSpPr>
          <p:cNvPr id="6" name="TextBox 5"/>
          <p:cNvSpPr txBox="1"/>
          <p:nvPr/>
        </p:nvSpPr>
        <p:spPr>
          <a:xfrm>
            <a:off x="685800" y="1901952"/>
            <a:ext cx="1051560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200" b="0" i="0">
                <a:solidFill>
                  <a:srgbClr val="D9D2BD"/>
                </a:solidFill>
                <a:latin typeface="Aptos Display"/>
              </a:rPr>
              <a:t>Scaling AI-assisted light pollution planning across North Central Florida</a:t>
            </a:r>
          </a:p>
        </p:txBody>
      </p:sp>
      <p:sp>
        <p:nvSpPr>
          <p:cNvPr id="7" name="TextBox 6"/>
          <p:cNvSpPr txBox="1"/>
          <p:nvPr/>
        </p:nvSpPr>
        <p:spPr>
          <a:xfrm>
            <a:off x="685800" y="5943600"/>
            <a:ext cx="7680960" cy="548640"/>
          </a:xfrm>
          <a:prstGeom prst="rect">
            <a:avLst/>
          </a:prstGeom>
          <a:noFill/>
        </p:spPr>
        <p:txBody>
          <a:bodyPr wrap="square" lIns="0" tIns="0" rIns="0" bIns="0" anchor="t">
            <a:noAutofit/>
          </a:bodyPr>
          <a:lstStyle/>
          <a:p>
            <a:pPr marL="0" indent="0" algn="l">
              <a:lnSpc>
                <a:spcPct val="110000"/>
              </a:lnSpc>
              <a:spcBef>
                <a:spcPts val="0"/>
              </a:spcBef>
              <a:spcAft>
                <a:spcPts val="0"/>
              </a:spcAft>
              <a:buNone/>
            </a:pPr>
            <a:r>
              <a:rPr sz="1300" b="1" i="0">
                <a:solidFill>
                  <a:srgbClr val="F5F1E6"/>
                </a:solidFill>
                <a:latin typeface="Aptos"/>
              </a:rPr>
              <a:t>Jay Rosen</a:t>
            </a:r>
            <a:r>
              <a:rPr sz="1300" b="0" i="0">
                <a:solidFill>
                  <a:srgbClr val="F5F1E6"/>
                </a:solidFill>
                <a:latin typeface="Aptos"/>
              </a:rPr>
              <a:t>  ·  jayrosen@ufl.edu</a:t>
            </a:r>
          </a:p>
          <a:p>
            <a:pPr marL="0" indent="0" algn="l">
              <a:lnSpc>
                <a:spcPct val="110000"/>
              </a:lnSpc>
              <a:spcBef>
                <a:spcPts val="0"/>
              </a:spcBef>
              <a:spcAft>
                <a:spcPts val="0"/>
              </a:spcAft>
              <a:buNone/>
            </a:pPr>
            <a:r>
              <a:rPr sz="1300" b="0" i="0">
                <a:solidFill>
                  <a:srgbClr val="F5F1E6"/>
                </a:solidFill>
                <a:latin typeface="Aptos"/>
              </a:rPr>
              <a:t>Research Software Engineer III, University of Florida College of Education</a:t>
            </a:r>
          </a:p>
        </p:txBody>
      </p:sp>
      <p:sp>
        <p:nvSpPr>
          <p:cNvPr id="8" name="TextBox 7"/>
          <p:cNvSpPr txBox="1"/>
          <p:nvPr/>
        </p:nvSpPr>
        <p:spPr>
          <a:xfrm>
            <a:off x="685800" y="6510528"/>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50" b="0" i="0">
                <a:solidFill>
                  <a:srgbClr val="D9D2BD"/>
                </a:solidFill>
                <a:latin typeface="Aptos"/>
              </a:rPr>
              <a:t>Photo: Milky Way and urban skyglow over Paynes Prairie, 2022.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INTRODUCTION</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About me: from light art to light pollution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a:t>
            </a:r>
          </a:p>
        </p:txBody>
      </p:sp>
      <p:sp>
        <p:nvSpPr>
          <p:cNvPr id="6" name="TextBox 5"/>
          <p:cNvSpPr txBox="1"/>
          <p:nvPr/>
        </p:nvSpPr>
        <p:spPr>
          <a:xfrm>
            <a:off x="548640" y="1463040"/>
            <a:ext cx="720821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Light art, 15 years</a:t>
            </a:r>
            <a:r>
              <a:rPr sz="1600" b="0" i="0">
                <a:solidFill>
                  <a:srgbClr val="D9D2BD"/>
                </a:solidFill>
                <a:latin typeface="Aptos"/>
              </a:rPr>
              <a:t>: light, mirrors, and increasingly technological media</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Before UF</a:t>
            </a:r>
            <a:r>
              <a:rPr sz="1600" b="0" i="0">
                <a:solidFill>
                  <a:srgbClr val="D9D2BD"/>
                </a:solidFill>
                <a:latin typeface="Aptos"/>
              </a:rPr>
              <a:t>: founder and CEO, Space Age Mining Corp. (HPC)</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At UF</a:t>
            </a:r>
            <a:r>
              <a:rPr sz="1600" b="0" i="0">
                <a:solidFill>
                  <a:srgbClr val="D9D2BD"/>
                </a:solidFill>
                <a:latin typeface="Aptos"/>
              </a:rPr>
              <a:t>: Research Software Engineer III, College of Education</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Astrophotography since 2020</a:t>
            </a:r>
            <a:r>
              <a:rPr sz="1600" b="0" i="0">
                <a:solidFill>
                  <a:srgbClr val="D9D2BD"/>
                </a:solidFill>
                <a:latin typeface="Aptos"/>
              </a:rPr>
              <a:t>: photos on state park websites</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NASA Space Apps</a:t>
            </a:r>
            <a:r>
              <a:rPr sz="1600" b="0" i="0">
                <a:solidFill>
                  <a:srgbClr val="D9D2BD"/>
                </a:solidFill>
                <a:latin typeface="Aptos"/>
              </a:rPr>
              <a:t>: 2× Kennedy Space Center winner, global nominee, judge</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Outside UF</a:t>
            </a:r>
            <a:r>
              <a:rPr sz="1600" b="0" i="0">
                <a:solidFill>
                  <a:srgbClr val="D9D2BD"/>
                </a:solidFill>
                <a:latin typeface="Aptos"/>
              </a:rPr>
              <a:t>: Board of Directors, Alachua Astronomy Club</a:t>
            </a:r>
          </a:p>
          <a:p>
            <a:pPr marL="256032" indent="-256032">
              <a:lnSpc>
                <a:spcPct val="100000"/>
              </a:lnSpc>
              <a:spcBef>
                <a:spcPts val="1400"/>
              </a:spcBef>
              <a:spcAft>
                <a:spcPts val="0"/>
              </a:spcAft>
              <a:buClr>
                <a:srgbClr val="F6B44B"/>
              </a:buClr>
              <a:buSzPct val="100000"/>
              <a:buFont typeface="Arial"/>
              <a:buChar char="•"/>
            </a:pPr>
            <a:r>
              <a:rPr sz="1600" b="0" i="0">
                <a:solidFill>
                  <a:srgbClr val="D9D2BD"/>
                </a:solidFill>
                <a:latin typeface="Aptos"/>
              </a:rPr>
              <a:t>Civic service on </a:t>
            </a:r>
            <a:r>
              <a:rPr sz="1600" b="1" i="0">
                <a:solidFill>
                  <a:srgbClr val="F6B44B"/>
                </a:solidFill>
                <a:latin typeface="Aptos"/>
              </a:rPr>
              <a:t>City of Gainesville</a:t>
            </a:r>
            <a:r>
              <a:rPr sz="1600" b="0" i="0">
                <a:solidFill>
                  <a:srgbClr val="D9D2BD"/>
                </a:solidFill>
                <a:latin typeface="Aptos"/>
              </a:rPr>
              <a:t> and </a:t>
            </a:r>
            <a:r>
              <a:rPr sz="1600" b="1" i="0">
                <a:solidFill>
                  <a:srgbClr val="F6B44B"/>
                </a:solidFill>
                <a:latin typeface="Aptos"/>
              </a:rPr>
              <a:t>Alachua County</a:t>
            </a:r>
            <a:r>
              <a:rPr sz="1600" b="0" i="0">
                <a:solidFill>
                  <a:srgbClr val="D9D2BD"/>
                </a:solidFill>
                <a:latin typeface="Aptos"/>
              </a:rPr>
              <a:t> boards</a:t>
            </a:r>
          </a:p>
        </p:txBody>
      </p:sp>
      <p:pic>
        <p:nvPicPr>
          <p:cNvPr id="7" name="Picture 6" descr="photo_jay_telescope_portrait.jpg"/>
          <p:cNvPicPr>
            <a:picLocks noChangeAspect="1"/>
          </p:cNvPicPr>
          <p:nvPr/>
        </p:nvPicPr>
        <p:blipFill>
          <a:blip r:embed="rId3"/>
          <a:stretch>
            <a:fillRect/>
          </a:stretch>
        </p:blipFill>
        <p:spPr>
          <a:xfrm>
            <a:off x="8259775" y="1508760"/>
            <a:ext cx="3383280" cy="4257028"/>
          </a:xfrm>
          <a:prstGeom prst="roundRect">
            <a:avLst>
              <a:gd name="adj" fmla="val 1500"/>
            </a:avLst>
          </a:prstGeom>
          <a:ln w="9525">
            <a:solidFill>
              <a:srgbClr val="2A3A60"/>
            </a:solidFill>
          </a:ln>
        </p:spPr>
      </p:pic>
      <p:sp>
        <p:nvSpPr>
          <p:cNvPr id="8" name="TextBox 7"/>
          <p:cNvSpPr txBox="1"/>
          <p:nvPr/>
        </p:nvSpPr>
        <p:spPr>
          <a:xfrm>
            <a:off x="8259775" y="5820652"/>
            <a:ext cx="33832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Full-spectrum self-portrait at the Chiefland Astronomy Village, April 2024. Photo: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is light pollution?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a:t>
            </a:r>
          </a:p>
        </p:txBody>
      </p:sp>
      <p:sp>
        <p:nvSpPr>
          <p:cNvPr id="6" name="TextBox 5"/>
          <p:cNvSpPr txBox="1"/>
          <p:nvPr/>
        </p:nvSpPr>
        <p:spPr>
          <a:xfrm>
            <a:off x="548640" y="1325880"/>
            <a:ext cx="5486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000" b="1" i="0">
                <a:solidFill>
                  <a:srgbClr val="F6B44B"/>
                </a:solidFill>
                <a:latin typeface="Aptos"/>
              </a:rPr>
              <a:t>Light pollution</a:t>
            </a:r>
            <a:r>
              <a:rPr sz="2000" b="0" i="0">
                <a:solidFill>
                  <a:srgbClr val="F5F1E6"/>
                </a:solidFill>
                <a:latin typeface="Aptos"/>
              </a:rPr>
              <a:t>: excessive, misdirected or obtrusive </a:t>
            </a:r>
            <a:r>
              <a:rPr sz="2000" b="1" i="0">
                <a:solidFill>
                  <a:srgbClr val="F6B44B"/>
                </a:solidFill>
                <a:latin typeface="Aptos"/>
              </a:rPr>
              <a:t>artificial light at night</a:t>
            </a:r>
            <a:r>
              <a:rPr sz="2000" b="0" i="0">
                <a:solidFill>
                  <a:srgbClr val="F5F1E6"/>
                </a:solidFill>
                <a:latin typeface="Aptos"/>
              </a:rPr>
              <a:t> (ALAN)</a:t>
            </a:r>
          </a:p>
        </p:txBody>
      </p:sp>
      <p:pic>
        <p:nvPicPr>
          <p:cNvPr id="7" name="Picture 6" descr="lp_types_leeds.png"/>
          <p:cNvPicPr>
            <a:picLocks noChangeAspect="1"/>
          </p:cNvPicPr>
          <p:nvPr/>
        </p:nvPicPr>
        <p:blipFill>
          <a:blip r:embed="rId3"/>
          <a:stretch>
            <a:fillRect/>
          </a:stretch>
        </p:blipFill>
        <p:spPr>
          <a:xfrm>
            <a:off x="548640" y="2301395"/>
            <a:ext cx="2514600" cy="2483808"/>
          </a:xfrm>
          <a:prstGeom prst="roundRect">
            <a:avLst>
              <a:gd name="adj" fmla="val 2000"/>
            </a:avLst>
          </a:prstGeom>
          <a:ln w="9525">
            <a:solidFill>
              <a:srgbClr val="2A3A60"/>
            </a:solidFill>
          </a:ln>
        </p:spPr>
      </p:pic>
      <p:sp>
        <p:nvSpPr>
          <p:cNvPr id="8" name="TextBox 7"/>
          <p:cNvSpPr txBox="1"/>
          <p:nvPr/>
        </p:nvSpPr>
        <p:spPr>
          <a:xfrm>
            <a:off x="548640" y="4830924"/>
            <a:ext cx="2514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Image: Leeds Astronomical Society</a:t>
            </a:r>
          </a:p>
        </p:txBody>
      </p:sp>
      <p:sp>
        <p:nvSpPr>
          <p:cNvPr id="9" name="TextBox 8"/>
          <p:cNvSpPr txBox="1"/>
          <p:nvPr/>
        </p:nvSpPr>
        <p:spPr>
          <a:xfrm>
            <a:off x="3291840" y="2240280"/>
            <a:ext cx="2743200" cy="32918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Skyglow</a:t>
            </a:r>
            <a:r>
              <a:rPr sz="1500" b="0" i="0">
                <a:solidFill>
                  <a:srgbClr val="D9D2BD"/>
                </a:solidFill>
                <a:latin typeface="Aptos"/>
              </a:rPr>
              <a:t>: the dome over a city that washes out the stars</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Light trespass</a:t>
            </a:r>
            <a:r>
              <a:rPr sz="1500" b="0" i="0">
                <a:solidFill>
                  <a:srgbClr val="D9D2BD"/>
                </a:solidFill>
                <a:latin typeface="Aptos"/>
              </a:rPr>
              <a:t>: spill onto neighbors and habitat</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Glare</a:t>
            </a:r>
            <a:r>
              <a:rPr sz="1500" b="0" i="0">
                <a:solidFill>
                  <a:srgbClr val="D9D2BD"/>
                </a:solidFill>
                <a:latin typeface="Aptos"/>
              </a:rPr>
              <a:t>: brightness that hurts visibility</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Excessive brightness</a:t>
            </a:r>
            <a:r>
              <a:rPr sz="1500" b="0" i="0">
                <a:solidFill>
                  <a:srgbClr val="D9D2BD"/>
                </a:solidFill>
                <a:latin typeface="Aptos"/>
              </a:rPr>
              <a:t>: more light than the task needs</a:t>
            </a:r>
          </a:p>
        </p:txBody>
      </p:sp>
      <p:sp>
        <p:nvSpPr>
          <p:cNvPr id="10" name="TextBox 9"/>
          <p:cNvSpPr txBox="1"/>
          <p:nvPr/>
        </p:nvSpPr>
        <p:spPr>
          <a:xfrm>
            <a:off x="6400800" y="1325880"/>
            <a:ext cx="5239512"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800" b="1" i="0">
                <a:solidFill>
                  <a:srgbClr val="F6B44B"/>
                </a:solidFill>
                <a:latin typeface="Aptos"/>
              </a:rPr>
              <a:t>Why it matters</a:t>
            </a:r>
          </a:p>
        </p:txBody>
      </p:sp>
      <p:sp>
        <p:nvSpPr>
          <p:cNvPr id="11" name="TextBox 10"/>
          <p:cNvSpPr txBox="1"/>
          <p:nvPr/>
        </p:nvSpPr>
        <p:spPr>
          <a:xfrm>
            <a:off x="6400800" y="1737360"/>
            <a:ext cx="5239512" cy="2468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Wildlife</a:t>
            </a:r>
            <a:r>
              <a:rPr sz="1500" b="0" i="0">
                <a:solidFill>
                  <a:srgbClr val="D9D2BD"/>
                </a:solidFill>
                <a:latin typeface="Aptos"/>
              </a:rPr>
              <a:t>, as at Paynes Prairie: insects drawn to their deaths, frogs calling less, night-migrating birds thrown off course, bats losing dark habitat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People</a:t>
            </a:r>
            <a:r>
              <a:rPr sz="1500" b="0" i="0">
                <a:solidFill>
                  <a:srgbClr val="D9D2BD"/>
                </a:solidFill>
                <a:latin typeface="Aptos"/>
              </a:rPr>
              <a:t>: blue-rich light at night suppresses melatonin and disrupts sleep</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Energy</a:t>
            </a:r>
            <a:r>
              <a:rPr sz="1500" b="0" i="0">
                <a:solidFill>
                  <a:srgbClr val="D9D2BD"/>
                </a:solidFill>
                <a:latin typeface="Aptos"/>
              </a:rPr>
              <a:t>: light sent into the sky is paid for and wasted</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The night sky</a:t>
            </a:r>
            <a:r>
              <a:rPr sz="1500" b="0" i="0">
                <a:solidFill>
                  <a:srgbClr val="D9D2BD"/>
                </a:solidFill>
                <a:latin typeface="Aptos"/>
              </a:rPr>
              <a:t>: skyglow hides the Milky Way, even at UF's observatories</a:t>
            </a:r>
          </a:p>
        </p:txBody>
      </p:sp>
      <p:pic>
        <p:nvPicPr>
          <p:cNvPr id="12" name="Picture 11" descr="fireflies_ufifas.jpg"/>
          <p:cNvPicPr>
            <a:picLocks noChangeAspect="1"/>
          </p:cNvPicPr>
          <p:nvPr/>
        </p:nvPicPr>
        <p:blipFill>
          <a:blip r:embed="rId4"/>
          <a:srcRect l="27212" r="27212"/>
          <a:stretch>
            <a:fillRect/>
          </a:stretch>
        </p:blipFill>
        <p:spPr>
          <a:xfrm>
            <a:off x="6400800" y="4343400"/>
            <a:ext cx="2560320" cy="1600200"/>
          </a:xfrm>
          <a:prstGeom prst="roundRect">
            <a:avLst>
              <a:gd name="adj" fmla="val 2000"/>
            </a:avLst>
          </a:prstGeom>
          <a:ln w="9525">
            <a:solidFill>
              <a:srgbClr val="2A3A60"/>
            </a:solidFill>
          </a:ln>
        </p:spPr>
      </p:pic>
      <p:sp>
        <p:nvSpPr>
          <p:cNvPr id="13" name="TextBox 12"/>
          <p:cNvSpPr txBox="1"/>
          <p:nvPr/>
        </p:nvSpPr>
        <p:spPr>
          <a:xfrm>
            <a:off x="6400800"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Fireflies. Photo: UF IFAS</a:t>
            </a:r>
          </a:p>
        </p:txBody>
      </p:sp>
      <p:pic>
        <p:nvPicPr>
          <p:cNvPr id="14" name="Picture 13" descr="bats_ufifas.jpg"/>
          <p:cNvPicPr>
            <a:picLocks noChangeAspect="1"/>
          </p:cNvPicPr>
          <p:nvPr/>
        </p:nvPicPr>
        <p:blipFill>
          <a:blip r:embed="rId5"/>
          <a:srcRect t="2830" b="2830"/>
          <a:stretch>
            <a:fillRect/>
          </a:stretch>
        </p:blipFill>
        <p:spPr>
          <a:xfrm>
            <a:off x="9079992" y="4343400"/>
            <a:ext cx="2560320" cy="1600200"/>
          </a:xfrm>
          <a:prstGeom prst="roundRect">
            <a:avLst>
              <a:gd name="adj" fmla="val 2000"/>
            </a:avLst>
          </a:prstGeom>
          <a:ln w="9525">
            <a:solidFill>
              <a:srgbClr val="2A3A60"/>
            </a:solidFill>
          </a:ln>
        </p:spPr>
      </p:pic>
      <p:sp>
        <p:nvSpPr>
          <p:cNvPr id="15" name="TextBox 14"/>
          <p:cNvSpPr txBox="1"/>
          <p:nvPr/>
        </p:nvSpPr>
        <p:spPr>
          <a:xfrm>
            <a:off x="9079992"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Bats at dusk. Photo: UF IFAS</a:t>
            </a:r>
          </a:p>
        </p:txBody>
      </p:sp>
      <p:pic>
        <p:nvPicPr>
          <p:cNvPr id="16" name="Picture 15"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travels: one city's lights wash out a whole region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4</a:t>
            </a:r>
          </a:p>
        </p:txBody>
      </p:sp>
      <p:pic>
        <p:nvPicPr>
          <p:cNvPr id="6" name="Picture 5" descr="photo_gnv_skyglow.jpg"/>
          <p:cNvPicPr>
            <a:picLocks noChangeAspect="1"/>
          </p:cNvPicPr>
          <p:nvPr/>
        </p:nvPicPr>
        <p:blipFill>
          <a:blip r:embed="rId3"/>
          <a:srcRect l="47" r="47"/>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Paynes Prairie  ·  Bortle 4, Gainesville dome.</a:t>
            </a:r>
            <a:r>
              <a:rPr sz="1100" b="0" i="0">
                <a:solidFill>
                  <a:srgbClr val="A79F88"/>
                </a:solidFill>
                <a:latin typeface="Aptos"/>
              </a:rPr>
              <a:t> Gainesville's skyglow and Comet NEOWISE from Paynes Prairie, July 2020. Photo: Jay Rosen</a:t>
            </a:r>
          </a:p>
        </p:txBody>
      </p:sp>
      <p:pic>
        <p:nvPicPr>
          <p:cNvPr id="8" name="Picture 7" descr="photo_scfoster.jpg"/>
          <p:cNvPicPr>
            <a:picLocks noChangeAspect="1"/>
          </p:cNvPicPr>
          <p:nvPr/>
        </p:nvPicPr>
        <p:blipFill>
          <a:blip r:embed="rId4"/>
          <a:srcRect l="47" r="47"/>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Stephen C. Foster State Park, GA  ·  Bortle 2.</a:t>
            </a:r>
            <a:r>
              <a:rPr sz="1100" b="0" i="0">
                <a:solidFill>
                  <a:srgbClr val="A79F88"/>
                </a:solidFill>
                <a:latin typeface="Aptos"/>
              </a:rPr>
              <a:t> International Dark Sky Park, October 2020. Photo: Jay Rosen</a:t>
            </a:r>
          </a:p>
        </p:txBody>
      </p:sp>
      <p:sp>
        <p:nvSpPr>
          <p:cNvPr id="10" name="TextBox 9"/>
          <p:cNvSpPr txBox="1"/>
          <p:nvPr/>
        </p:nvSpPr>
        <p:spPr>
          <a:xfrm>
            <a:off x="548640"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Light scattered by air and haze brightens the sky </a:t>
            </a:r>
            <a:r>
              <a:rPr sz="1800" b="1" i="0">
                <a:solidFill>
                  <a:srgbClr val="F6B44B"/>
                </a:solidFill>
                <a:latin typeface="Aptos"/>
              </a:rPr>
              <a:t>tens of km</a:t>
            </a:r>
            <a:r>
              <a:rPr sz="1800" b="0" i="0">
                <a:solidFill>
                  <a:srgbClr val="D9D2BD"/>
                </a:solidFill>
                <a:latin typeface="Aptos"/>
              </a:rPr>
              <a:t> away</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Harms wildlife, sleep and health, and wastes energy</a:t>
            </a:r>
          </a:p>
        </p:txBody>
      </p:sp>
      <p:sp>
        <p:nvSpPr>
          <p:cNvPr id="11" name="TextBox 10"/>
          <p:cNvSpPr txBox="1"/>
          <p:nvPr/>
        </p:nvSpPr>
        <p:spPr>
          <a:xfrm>
            <a:off x="6199632"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Threatens UF's dark sites: </a:t>
            </a:r>
            <a:r>
              <a:rPr sz="1800" b="1" i="0">
                <a:solidFill>
                  <a:srgbClr val="F6B44B"/>
                </a:solidFill>
                <a:latin typeface="Aptos"/>
              </a:rPr>
              <a:t>Rosemary Hill Observatory</a:t>
            </a:r>
            <a:r>
              <a:rPr sz="1800" b="0" i="0">
                <a:solidFill>
                  <a:srgbClr val="D9D2BD"/>
                </a:solidFill>
                <a:latin typeface="Aptos"/>
              </a:rPr>
              <a:t> and </a:t>
            </a:r>
            <a:r>
              <a:rPr sz="1800" b="1" i="0">
                <a:solidFill>
                  <a:srgbClr val="F6B44B"/>
                </a:solidFill>
                <a:latin typeface="Aptos"/>
              </a:rPr>
              <a:t>Chiefland Astronomy Village</a:t>
            </a:r>
          </a:p>
          <a:p>
            <a:pPr marL="256032" indent="-256032">
              <a:lnSpc>
                <a:spcPct val="100000"/>
              </a:lnSpc>
              <a:spcBef>
                <a:spcPts val="600"/>
              </a:spcBef>
              <a:spcAft>
                <a:spcPts val="0"/>
              </a:spcAft>
              <a:buClr>
                <a:srgbClr val="F6B44B"/>
              </a:buClr>
              <a:buSzPct val="100000"/>
              <a:buFont typeface="Arial"/>
              <a:buChar char="•"/>
            </a:pPr>
            <a:r>
              <a:rPr sz="1800" b="1" i="0">
                <a:solidFill>
                  <a:srgbClr val="F6B44B"/>
                </a:solidFill>
                <a:latin typeface="Aptos"/>
              </a:rPr>
              <a:t>Preventable</a:t>
            </a:r>
            <a:r>
              <a:rPr sz="1800" b="0" i="0">
                <a:solidFill>
                  <a:srgbClr val="D9D2BD"/>
                </a:solidFill>
                <a:latin typeface="Aptos"/>
              </a:rPr>
              <a:t>: shield, aim, warmer color, less brightness, dim late at night</a:t>
            </a:r>
          </a:p>
        </p:txBody>
      </p:sp>
      <p:pic>
        <p:nvPicPr>
          <p:cNvPr id="12" name="Picture 11"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astrophotography to county policy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5</a:t>
            </a:r>
          </a:p>
        </p:txBody>
      </p:sp>
      <p:sp>
        <p:nvSpPr>
          <p:cNvPr id="6" name="TextBox 5"/>
          <p:cNvSpPr txBox="1"/>
          <p:nvPr/>
        </p:nvSpPr>
        <p:spPr>
          <a:xfrm>
            <a:off x="548640" y="1463040"/>
            <a:ext cx="49377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2020–25</a:t>
            </a:r>
            <a:r>
              <a:rPr sz="1500" b="0" i="0">
                <a:solidFill>
                  <a:srgbClr val="D9D2BD"/>
                </a:solidFill>
                <a:latin typeface="Aptos"/>
              </a:rPr>
              <a:t>  Photographing the night sky under Gainesville's light dome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2025</a:t>
            </a:r>
            <a:r>
              <a:rPr sz="1500" b="0" i="0">
                <a:solidFill>
                  <a:srgbClr val="D9D2BD"/>
                </a:solidFill>
                <a:latin typeface="Aptos"/>
              </a:rPr>
              <a:t>  Public comment at Alachua County's advisory committee (EPAC)</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Oct 2025</a:t>
            </a:r>
            <a:r>
              <a:rPr sz="1500" b="0" i="0">
                <a:solidFill>
                  <a:srgbClr val="D9D2BD"/>
                </a:solidFill>
                <a:latin typeface="Aptos"/>
              </a:rPr>
              <a:t>  v1 simulator, built in a month: mitigations' economic and night-sky impact; debuted at UF Astraeus Space Research Day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Jan 2026</a:t>
            </a:r>
            <a:r>
              <a:rPr sz="1500" b="0" i="0">
                <a:solidFill>
                  <a:srgbClr val="D9D2BD"/>
                </a:solidFill>
                <a:latin typeface="Aptos"/>
              </a:rPr>
              <a:t>  Presented the research and v1 simulator to EPAC; unanimous vote to pursue dark-sky policy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Feb–May 2026</a:t>
            </a:r>
            <a:r>
              <a:rPr sz="1500" b="0" i="0">
                <a:solidFill>
                  <a:srgbClr val="D9D2BD"/>
                </a:solidFill>
                <a:latin typeface="Aptos"/>
              </a:rPr>
              <a:t>  Policy 5.3.7 amendment heard and sent to the state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Apr 2026</a:t>
            </a:r>
            <a:r>
              <a:rPr sz="1500" b="0" i="0">
                <a:solidFill>
                  <a:srgbClr val="D9D2BD"/>
                </a:solidFill>
                <a:latin typeface="Aptos"/>
              </a:rPr>
              <a:t>  Dark Sky Week talks: Dr. Lada's UF class asks about a next observatory; the Alachua Astronomy Club asks about Levy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22, 2026</a:t>
            </a:r>
            <a:r>
              <a:rPr sz="1500" b="0" i="0">
                <a:solidFill>
                  <a:srgbClr val="D9D2BD"/>
                </a:solidFill>
                <a:latin typeface="Aptos"/>
              </a:rPr>
              <a:t>  County Commission </a:t>
            </a:r>
            <a:r>
              <a:rPr sz="1500" b="1" i="0">
                <a:solidFill>
                  <a:srgbClr val="F6B44B"/>
                </a:solidFill>
                <a:latin typeface="Aptos"/>
              </a:rPr>
              <a:t>adopts</a:t>
            </a:r>
            <a:r>
              <a:rPr sz="1500" b="0" i="0">
                <a:solidFill>
                  <a:srgbClr val="D9D2BD"/>
                </a:solidFill>
                <a:latin typeface="Aptos"/>
              </a:rPr>
              <a:t> it, unanimously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Now</a:t>
            </a:r>
            <a:r>
              <a:rPr sz="1500" b="0" i="0">
                <a:solidFill>
                  <a:srgbClr val="D9D2BD"/>
                </a:solidFill>
                <a:latin typeface="Aptos"/>
              </a:rPr>
              <a:t>  Expanding into </a:t>
            </a:r>
            <a:r>
              <a:rPr sz="1500" b="1" i="0">
                <a:solidFill>
                  <a:srgbClr val="F6B44B"/>
                </a:solidFill>
                <a:latin typeface="Aptos"/>
              </a:rPr>
              <a:t>Levy County</a:t>
            </a:r>
            <a:r>
              <a:rPr sz="1500" b="0" i="0">
                <a:solidFill>
                  <a:srgbClr val="D9D2BD"/>
                </a:solidFill>
                <a:latin typeface="Aptos"/>
              </a:rPr>
              <a:t>; screening sites for UF's next observatory</a:t>
            </a:r>
          </a:p>
        </p:txBody>
      </p:sp>
      <p:pic>
        <p:nvPicPr>
          <p:cNvPr id="7" name="Picture 6" descr="v1_poster.jpg"/>
          <p:cNvPicPr>
            <a:picLocks noChangeAspect="1"/>
          </p:cNvPicPr>
          <p:nvPr/>
        </p:nvPicPr>
        <p:blipFill>
          <a:blip r:embed="rId3"/>
          <a:stretch>
            <a:fillRect/>
          </a:stretch>
        </p:blipFill>
        <p:spPr>
          <a:xfrm>
            <a:off x="5809187" y="1463040"/>
            <a:ext cx="3560665" cy="2679192"/>
          </a:xfrm>
          <a:prstGeom prst="roundRect">
            <a:avLst>
              <a:gd name="adj" fmla="val 1000"/>
            </a:avLst>
          </a:prstGeom>
          <a:ln w="9525">
            <a:solidFill>
              <a:srgbClr val="2A3A60"/>
            </a:solidFill>
          </a:ln>
        </p:spPr>
      </p:pic>
      <p:pic>
        <p:nvPicPr>
          <p:cNvPr id="8" name="Picture 7" descr="news_ufarts.jpg"/>
          <p:cNvPicPr>
            <a:picLocks noChangeAspect="1"/>
          </p:cNvPicPr>
          <p:nvPr/>
        </p:nvPicPr>
        <p:blipFill>
          <a:blip r:embed="rId4"/>
          <a:stretch>
            <a:fillRect/>
          </a:stretch>
        </p:blipFill>
        <p:spPr>
          <a:xfrm>
            <a:off x="9509873" y="1463040"/>
            <a:ext cx="2130324" cy="2459736"/>
          </a:xfrm>
          <a:prstGeom prst="roundRect">
            <a:avLst>
              <a:gd name="adj" fmla="val 1000"/>
            </a:avLst>
          </a:prstGeom>
          <a:ln w="9525">
            <a:solidFill>
              <a:srgbClr val="2A3A60"/>
            </a:solidFill>
          </a:ln>
        </p:spPr>
      </p:pic>
      <p:pic>
        <p:nvPicPr>
          <p:cNvPr id="9" name="Picture 8" descr="policy_537.jpg"/>
          <p:cNvPicPr>
            <a:picLocks noChangeAspect="1"/>
          </p:cNvPicPr>
          <p:nvPr/>
        </p:nvPicPr>
        <p:blipFill>
          <a:blip r:embed="rId5"/>
          <a:srcRect t="34255" b="18255"/>
          <a:stretch>
            <a:fillRect/>
          </a:stretch>
        </p:blipFill>
        <p:spPr>
          <a:xfrm>
            <a:off x="5806440" y="4389120"/>
            <a:ext cx="3566160" cy="1920240"/>
          </a:xfrm>
          <a:prstGeom prst="roundRect">
            <a:avLst>
              <a:gd name="adj" fmla="val 1000"/>
            </a:avLst>
          </a:prstGeom>
          <a:ln w="9525">
            <a:solidFill>
              <a:srgbClr val="2A3A60"/>
            </a:solidFill>
          </a:ln>
        </p:spPr>
      </p:pic>
      <p:pic>
        <p:nvPicPr>
          <p:cNvPr id="10" name="Picture 9" descr="news_invadingsea.jpg"/>
          <p:cNvPicPr>
            <a:picLocks noChangeAspect="1"/>
          </p:cNvPicPr>
          <p:nvPr/>
        </p:nvPicPr>
        <p:blipFill>
          <a:blip r:embed="rId6"/>
          <a:stretch>
            <a:fillRect/>
          </a:stretch>
        </p:blipFill>
        <p:spPr>
          <a:xfrm>
            <a:off x="9563573" y="4160520"/>
            <a:ext cx="2022924" cy="2148840"/>
          </a:xfrm>
          <a:prstGeom prst="roundRect">
            <a:avLst>
              <a:gd name="adj" fmla="val 1000"/>
            </a:avLst>
          </a:prstGeom>
          <a:ln w="9525">
            <a:solidFill>
              <a:srgbClr val="2A3A60"/>
            </a:solidFill>
          </a:ln>
        </p:spPr>
      </p:pic>
      <p:sp>
        <p:nvSpPr>
          <p:cNvPr id="11" name="TextBox 10"/>
          <p:cNvSpPr txBox="1"/>
          <p:nvPr/>
        </p:nvSpPr>
        <p:spPr>
          <a:xfrm>
            <a:off x="9509760" y="3941063"/>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UF College of the Arts, Mar 2026</a:t>
            </a:r>
          </a:p>
        </p:txBody>
      </p:sp>
      <p:sp>
        <p:nvSpPr>
          <p:cNvPr id="12" name="TextBox 11"/>
          <p:cNvSpPr txBox="1"/>
          <p:nvPr/>
        </p:nvSpPr>
        <p:spPr>
          <a:xfrm>
            <a:off x="9509760" y="6327648"/>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The Invading Sea, Jan 2026</a:t>
            </a:r>
          </a:p>
        </p:txBody>
      </p:sp>
      <p:sp>
        <p:nvSpPr>
          <p:cNvPr id="13" name="TextBox 12"/>
          <p:cNvSpPr txBox="1"/>
          <p:nvPr/>
        </p:nvSpPr>
        <p:spPr>
          <a:xfrm>
            <a:off x="5806440" y="4160520"/>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v1 poster, UF Astraeus Space Research Day, Oct 2025</a:t>
            </a:r>
          </a:p>
        </p:txBody>
      </p:sp>
      <p:sp>
        <p:nvSpPr>
          <p:cNvPr id="14" name="TextBox 13"/>
          <p:cNvSpPr txBox="1"/>
          <p:nvPr/>
        </p:nvSpPr>
        <p:spPr>
          <a:xfrm>
            <a:off x="5806440" y="6327648"/>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Policy 5.3.7 language, Feb 2026</a:t>
            </a:r>
          </a:p>
        </p:txBody>
      </p:sp>
      <p:pic>
        <p:nvPicPr>
          <p:cNvPr id="15" name="Picture 14"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September 2026: dark-sky principles adopted</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6</a:t>
            </a:r>
          </a:p>
        </p:txBody>
      </p:sp>
      <p:sp>
        <p:nvSpPr>
          <p:cNvPr id="6" name="TextBox 5"/>
          <p:cNvSpPr txBox="1"/>
          <p:nvPr/>
        </p:nvSpPr>
        <p:spPr>
          <a:xfrm>
            <a:off x="548640" y="1463040"/>
            <a:ext cx="428213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Alachua County's Comprehensive Plan update, </a:t>
            </a:r>
            <a:r>
              <a:rPr sz="1600" b="1" i="0">
                <a:solidFill>
                  <a:srgbClr val="F6B44B"/>
                </a:solidFill>
                <a:latin typeface="Aptos"/>
              </a:rPr>
              <a:t>Policy 5.3.7</a:t>
            </a:r>
            <a:r>
              <a:rPr sz="1600" b="0" i="0">
                <a:solidFill>
                  <a:srgbClr val="D9D2BD"/>
                </a:solidFill>
                <a:latin typeface="Aptos"/>
              </a:rPr>
              <a:t> (Conservation and Open Space Element)</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Lighting standards must </a:t>
            </a:r>
            <a:r>
              <a:rPr sz="1600" b="1" i="0">
                <a:solidFill>
                  <a:srgbClr val="F6B44B"/>
                </a:solidFill>
                <a:latin typeface="Aptos"/>
              </a:rPr>
              <a:t>conserve energy, avoid harm to wildlife and protect the night sky</a:t>
            </a:r>
            <a:r>
              <a:rPr sz="1600" b="0" i="0">
                <a:solidFill>
                  <a:srgbClr val="D9D2BD"/>
                </a:solidFill>
                <a:latin typeface="Aptos"/>
              </a:rPr>
              <a:t>, balanced with public safety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Based on principles from </a:t>
            </a:r>
            <a:r>
              <a:rPr sz="1600" b="1" i="0">
                <a:solidFill>
                  <a:srgbClr val="F6B44B"/>
                </a:solidFill>
                <a:latin typeface="Aptos"/>
              </a:rPr>
              <a:t>Dark Sky International</a:t>
            </a:r>
            <a:r>
              <a:rPr sz="1600" b="0" i="0">
                <a:solidFill>
                  <a:srgbClr val="D9D2BD"/>
                </a:solidFill>
                <a:latin typeface="Aptos"/>
              </a:rPr>
              <a:t> and the </a:t>
            </a:r>
            <a:r>
              <a:rPr sz="1600" b="1" i="0">
                <a:solidFill>
                  <a:srgbClr val="F6B44B"/>
                </a:solidFill>
                <a:latin typeface="Aptos"/>
              </a:rPr>
              <a:t>Illuminating Engineering Society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 only where and when needed, at the lowest level; </a:t>
            </a:r>
            <a:r>
              <a:rPr sz="1600" b="1" i="0">
                <a:solidFill>
                  <a:srgbClr val="F6B44B"/>
                </a:solidFill>
                <a:latin typeface="Aptos"/>
              </a:rPr>
              <a:t>warmer colors</a:t>
            </a:r>
            <a:r>
              <a:rPr sz="1600" b="0" i="0">
                <a:solidFill>
                  <a:srgbClr val="D9D2BD"/>
                </a:solidFill>
                <a:latin typeface="Aptos"/>
              </a:rPr>
              <a:t>; energy and cost efficiency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Each one is a control in the simulator: shielding, dimming, the 3000 K cap, costs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Next: the land development code; in effect once the state finds it in compliance</a:t>
            </a:r>
          </a:p>
        </p:txBody>
      </p:sp>
      <p:pic>
        <p:nvPicPr>
          <p:cNvPr id="7" name="Picture 6" descr="policy_537_adopted.png"/>
          <p:cNvPicPr>
            <a:picLocks noChangeAspect="1"/>
          </p:cNvPicPr>
          <p:nvPr/>
        </p:nvPicPr>
        <p:blipFill>
          <a:blip r:embed="rId3"/>
          <a:stretch>
            <a:fillRect/>
          </a:stretch>
        </p:blipFill>
        <p:spPr>
          <a:xfrm>
            <a:off x="5333695" y="1508760"/>
            <a:ext cx="6309360" cy="3555208"/>
          </a:xfrm>
          <a:prstGeom prst="roundRect">
            <a:avLst>
              <a:gd name="adj" fmla="val 1500"/>
            </a:avLst>
          </a:prstGeom>
          <a:ln w="9525">
            <a:solidFill>
              <a:srgbClr val="2A3A60"/>
            </a:solidFill>
          </a:ln>
        </p:spPr>
      </p:pic>
      <p:sp>
        <p:nvSpPr>
          <p:cNvPr id="8" name="TextBox 7"/>
          <p:cNvSpPr txBox="1"/>
          <p:nvPr/>
        </p:nvSpPr>
        <p:spPr>
          <a:xfrm>
            <a:off x="5333695" y="5118832"/>
            <a:ext cx="63093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Policy 5.3.7 as adopted: underlined text added, struck text removed. Alachua County ordinance amending the Comprehensive Plan (Evaluation &amp; Appraisal amendments), September 2026, p. 162.</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WHY A VERSION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v1 told a story. v2 has to answer “How do you know?”</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7</a:t>
            </a:r>
          </a:p>
        </p:txBody>
      </p:sp>
      <p:pic>
        <p:nvPicPr>
          <p:cNvPr id="6" name="Picture 5" descr="v1_app.jpg"/>
          <p:cNvPicPr>
            <a:picLocks noChangeAspect="1"/>
          </p:cNvPicPr>
          <p:nvPr/>
        </p:nvPicPr>
        <p:blipFill>
          <a:blip r:embed="rId3"/>
          <a:srcRect l="7117" r="7117" b="5000"/>
          <a:stretch>
            <a:fillRect/>
          </a:stretch>
        </p:blipFill>
        <p:spPr>
          <a:xfrm>
            <a:off x="548640" y="1371600"/>
            <a:ext cx="5440680" cy="3063240"/>
          </a:xfrm>
          <a:prstGeom prst="roundRect">
            <a:avLst>
              <a:gd name="adj" fmla="val 1500"/>
            </a:avLst>
          </a:prstGeom>
          <a:ln w="9525">
            <a:solidFill>
              <a:srgbClr val="2A3A60"/>
            </a:solidFill>
          </a:ln>
        </p:spPr>
      </p:pic>
      <p:sp>
        <p:nvSpPr>
          <p:cNvPr id="7" name="TextBox 6"/>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v1  ·  2025</a:t>
            </a:r>
          </a:p>
        </p:txBody>
      </p:sp>
      <p:pic>
        <p:nvPicPr>
          <p:cNvPr id="8" name="Picture 7" descr="overview.jpg"/>
          <p:cNvPicPr>
            <a:picLocks noChangeAspect="1"/>
          </p:cNvPicPr>
          <p:nvPr/>
        </p:nvPicPr>
        <p:blipFill>
          <a:blip r:embed="rId4"/>
          <a:srcRect l="26" r="26"/>
          <a:stretch>
            <a:fillRect/>
          </a:stretch>
        </p:blipFill>
        <p:spPr>
          <a:xfrm>
            <a:off x="6199632" y="1371600"/>
            <a:ext cx="5440680" cy="3063240"/>
          </a:xfrm>
          <a:prstGeom prst="roundRect">
            <a:avLst>
              <a:gd name="adj" fmla="val 1500"/>
            </a:avLst>
          </a:prstGeom>
          <a:ln w="9525">
            <a:solidFill>
              <a:srgbClr val="2A3A60"/>
            </a:solidFill>
          </a:ln>
        </p:spPr>
      </p:pic>
      <p:sp>
        <p:nvSpPr>
          <p:cNvPr id="9" name="TextBox 8"/>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v2  ·  2026</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Hand-tuned multipliers, built in a month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Persuasive headline numbers (“$1.9M a year saved”) that nobody could audit</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Physics for the sky, public data for the lights, </a:t>
            </a:r>
            <a:r>
              <a:rPr sz="1800" b="1" i="0">
                <a:solidFill>
                  <a:srgbClr val="F6B44B"/>
                </a:solidFill>
                <a:latin typeface="Aptos"/>
              </a:rPr>
              <a:t>AI only where data can teach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Every number labeled a planning projection; runs on a phone, no server</a:t>
            </a:r>
          </a:p>
        </p:txBody>
      </p:sp>
      <p:pic>
        <p:nvPicPr>
          <p:cNvPr id="12" name="Picture 11"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SIMULATOR</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v2 at a glance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8</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1" i="0">
                <a:solidFill>
                  <a:srgbClr val="F6B44B"/>
                </a:solidFill>
                <a:latin typeface="Aptos"/>
              </a:rPr>
              <a:t>8 counties</a:t>
            </a:r>
            <a:r>
              <a:rPr sz="1900" b="0" i="0">
                <a:solidFill>
                  <a:srgbClr val="D9D2BD"/>
                </a:solidFill>
                <a:latin typeface="Aptos"/>
              </a:rPr>
              <a:t>: Alachua, Levy and six neighbors, ~0.4 km cells</a:t>
            </a:r>
          </a:p>
          <a:p>
            <a:pPr marL="256032" indent="-256032">
              <a:lnSpc>
                <a:spcPct val="100000"/>
              </a:lnSpc>
              <a:spcBef>
                <a:spcPts val="1200"/>
              </a:spcBef>
              <a:spcAft>
                <a:spcPts val="0"/>
              </a:spcAft>
              <a:buClr>
                <a:srgbClr val="F6B44B"/>
              </a:buClr>
              <a:buSzPct val="100000"/>
              <a:buFont typeface="Arial"/>
              <a:buChar char="•"/>
            </a:pPr>
            <a:r>
              <a:rPr sz="1900" b="1" i="0">
                <a:solidFill>
                  <a:srgbClr val="F6B44B"/>
                </a:solidFill>
                <a:latin typeface="Aptos"/>
              </a:rPr>
              <a:t>~817,000</a:t>
            </a:r>
            <a:r>
              <a:rPr sz="1900" b="0" i="0">
                <a:solidFill>
                  <a:srgbClr val="D9D2BD"/>
                </a:solidFill>
                <a:latin typeface="Aptos"/>
              </a:rPr>
              <a:t> modeled light sources: streetlights, homes and businesses, sports fields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Map: modeled zenith sky brightness (mag/arcsec²); yellow = urban, black = near natural</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Seven tabs: Scenario · Sites · Costs · Observatory · Stargaze · </a:t>
            </a:r>
            <a:r>
              <a:rPr sz="1900" b="1" i="0">
                <a:solidFill>
                  <a:srgbClr val="F6B44B"/>
                </a:solidFill>
                <a:latin typeface="Aptos"/>
              </a:rPr>
              <a:t>AI</a:t>
            </a:r>
            <a:r>
              <a:rPr sz="1900" b="0" i="0">
                <a:solidFill>
                  <a:srgbClr val="D9D2BD"/>
                </a:solidFill>
                <a:latin typeface="Aptos"/>
              </a:rPr>
              <a:t> · Brief</a:t>
            </a:r>
          </a:p>
        </p:txBody>
      </p:sp>
      <p:pic>
        <p:nvPicPr>
          <p:cNvPr id="7" name="08_over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with today's modeled sky. Amber badge on every screen: “Uncalibrated planning projection”.</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HOW IT WORKS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Heavy work offline, instant scenarios in the browser</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9</a:t>
            </a:r>
          </a:p>
        </p:txBody>
      </p:sp>
      <p:sp>
        <p:nvSpPr>
          <p:cNvPr id="6" name="Rectangle 5"/>
          <p:cNvSpPr/>
          <p:nvPr/>
        </p:nvSpPr>
        <p:spPr>
          <a:xfrm>
            <a:off x="548640"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Public data</a:t>
            </a:r>
          </a:p>
        </p:txBody>
      </p:sp>
      <p:sp>
        <p:nvSpPr>
          <p:cNvPr id="7" name="Rectangle 6"/>
          <p:cNvSpPr/>
          <p:nvPr/>
        </p:nvSpPr>
        <p:spPr>
          <a:xfrm>
            <a:off x="548640"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NASA VIIRS night lights</a:t>
            </a:r>
          </a:p>
          <a:p>
            <a:pPr marL="0" indent="0" algn="ctr">
              <a:lnSpc>
                <a:spcPct val="110000"/>
              </a:lnSpc>
              <a:spcBef>
                <a:spcPts val="0"/>
              </a:spcBef>
              <a:spcAft>
                <a:spcPts val="0"/>
              </a:spcAft>
              <a:buNone/>
            </a:pPr>
            <a:r>
              <a:rPr sz="1500" b="0" i="0">
                <a:solidFill>
                  <a:srgbClr val="F5F1E6"/>
                </a:solidFill>
                <a:latin typeface="Aptos"/>
              </a:rPr>
              <a:t>(Google Earth Engine)</a:t>
            </a:r>
          </a:p>
          <a:p>
            <a:pPr marL="0" indent="0" algn="ctr">
              <a:lnSpc>
                <a:spcPct val="110000"/>
              </a:lnSpc>
              <a:spcBef>
                <a:spcPts val="0"/>
              </a:spcBef>
              <a:spcAft>
                <a:spcPts val="0"/>
              </a:spcAft>
              <a:buNone/>
            </a:pPr>
            <a:r>
              <a:rPr sz="1500" b="0" i="0">
                <a:solidFill>
                  <a:srgbClr val="F5F1E6"/>
                </a:solidFill>
                <a:latin typeface="Aptos"/>
              </a:rPr>
              <a:t>Census · OpenStreetMap</a:t>
            </a:r>
          </a:p>
          <a:p>
            <a:pPr marL="0" indent="0" algn="ctr">
              <a:lnSpc>
                <a:spcPct val="110000"/>
              </a:lnSpc>
              <a:spcBef>
                <a:spcPts val="0"/>
              </a:spcBef>
              <a:spcAft>
                <a:spcPts val="0"/>
              </a:spcAft>
              <a:buNone/>
            </a:pPr>
            <a:r>
              <a:rPr sz="1500" b="0" i="0">
                <a:solidFill>
                  <a:srgbClr val="F5F1E6"/>
                </a:solidFill>
                <a:latin typeface="Aptos"/>
              </a:rPr>
              <a:t>streetlight inventories</a:t>
            </a:r>
          </a:p>
          <a:p>
            <a:pPr marL="0" indent="0" algn="ctr">
              <a:lnSpc>
                <a:spcPct val="110000"/>
              </a:lnSpc>
              <a:spcBef>
                <a:spcPts val="0"/>
              </a:spcBef>
              <a:spcAft>
                <a:spcPts val="0"/>
              </a:spcAft>
              <a:buNone/>
            </a:pPr>
            <a:r>
              <a:rPr sz="1500" b="0" i="0">
                <a:solidFill>
                  <a:srgbClr val="F5F1E6"/>
                </a:solidFill>
                <a:latin typeface="Aptos"/>
              </a:rPr>
              <a:t>parcels · elevation</a:t>
            </a:r>
          </a:p>
          <a:p>
            <a:pPr marL="0" indent="0" algn="ctr">
              <a:lnSpc>
                <a:spcPct val="110000"/>
              </a:lnSpc>
              <a:spcBef>
                <a:spcPts val="0"/>
              </a:spcBef>
              <a:spcAft>
                <a:spcPts val="0"/>
              </a:spcAft>
              <a:buNone/>
            </a:pPr>
            <a:r>
              <a:rPr sz="1500" b="0" i="0">
                <a:solidFill>
                  <a:srgbClr val="F5F1E6"/>
                </a:solidFill>
                <a:latin typeface="Aptos"/>
              </a:rPr>
              <a:t>Globe at Night meters</a:t>
            </a:r>
          </a:p>
        </p:txBody>
      </p:sp>
      <p:cxnSp>
        <p:nvCxnSpPr>
          <p:cNvPr id="8" name="Connector 7"/>
          <p:cNvCxnSpPr/>
          <p:nvPr/>
        </p:nvCxnSpPr>
        <p:spPr>
          <a:xfrm>
            <a:off x="3072384"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419856"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Offline pipeline · Python</a:t>
            </a:r>
          </a:p>
        </p:txBody>
      </p:sp>
      <p:sp>
        <p:nvSpPr>
          <p:cNvPr id="10" name="Rectangle 9"/>
          <p:cNvSpPr/>
          <p:nvPr/>
        </p:nvSpPr>
        <p:spPr>
          <a:xfrm>
            <a:off x="3419856"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Atmospheric scattering</a:t>
            </a:r>
          </a:p>
          <a:p>
            <a:pPr marL="0" indent="0" algn="ctr">
              <a:lnSpc>
                <a:spcPct val="110000"/>
              </a:lnSpc>
              <a:spcBef>
                <a:spcPts val="0"/>
              </a:spcBef>
              <a:spcAft>
                <a:spcPts val="0"/>
              </a:spcAft>
              <a:buNone/>
            </a:pPr>
            <a:r>
              <a:rPr sz="1500" b="0" i="0">
                <a:solidFill>
                  <a:srgbClr val="F5F1E6"/>
                </a:solidFill>
                <a:latin typeface="Aptos"/>
              </a:rPr>
              <a:t>kernels (Garstang)</a:t>
            </a:r>
          </a:p>
          <a:p>
            <a:pPr marL="0" indent="0" algn="ctr">
              <a:lnSpc>
                <a:spcPct val="110000"/>
              </a:lnSpc>
              <a:spcBef>
                <a:spcPts val="0"/>
              </a:spcBef>
              <a:spcAft>
                <a:spcPts val="0"/>
              </a:spcAft>
              <a:buNone/>
            </a:pPr>
            <a:r>
              <a:rPr sz="1500" b="0" i="0">
                <a:solidFill>
                  <a:srgbClr val="F5F1E6"/>
                </a:solidFill>
                <a:latin typeface="Aptos"/>
              </a:rPr>
              <a:t>place every fixture</a:t>
            </a:r>
          </a:p>
          <a:p>
            <a:pPr marL="0" indent="0" algn="ctr">
              <a:lnSpc>
                <a:spcPct val="110000"/>
              </a:lnSpc>
              <a:spcBef>
                <a:spcPts val="0"/>
              </a:spcBef>
              <a:spcAft>
                <a:spcPts val="0"/>
              </a:spcAft>
              <a:buNone/>
            </a:pPr>
            <a:r>
              <a:rPr sz="1500" b="0" i="0">
                <a:solidFill>
                  <a:srgbClr val="F5F1E6"/>
                </a:solidFill>
                <a:latin typeface="Aptos"/>
              </a:rPr>
              <a:t>AI: change detector</a:t>
            </a:r>
          </a:p>
          <a:p>
            <a:pPr marL="0" indent="0" algn="ctr">
              <a:lnSpc>
                <a:spcPct val="110000"/>
              </a:lnSpc>
              <a:spcBef>
                <a:spcPts val="0"/>
              </a:spcBef>
              <a:spcAft>
                <a:spcPts val="0"/>
              </a:spcAft>
              <a:buNone/>
            </a:pPr>
            <a:r>
              <a:rPr sz="1500" b="0" i="0">
                <a:solidFill>
                  <a:srgbClr val="F5F1E6"/>
                </a:solidFill>
                <a:latin typeface="Aptos"/>
              </a:rPr>
              <a:t>+ LightGBM forecast</a:t>
            </a:r>
          </a:p>
        </p:txBody>
      </p:sp>
      <p:cxnSp>
        <p:nvCxnSpPr>
          <p:cNvPr id="11" name="Connector 10"/>
          <p:cNvCxnSpPr/>
          <p:nvPr/>
        </p:nvCxnSpPr>
        <p:spPr>
          <a:xfrm>
            <a:off x="5943600"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91072"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Static data package</a:t>
            </a:r>
          </a:p>
        </p:txBody>
      </p:sp>
      <p:sp>
        <p:nvSpPr>
          <p:cNvPr id="13" name="Rectangle 12"/>
          <p:cNvSpPr/>
          <p:nvPr/>
        </p:nvSpPr>
        <p:spPr>
          <a:xfrm>
            <a:off x="6291072"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16-bit grids + JSON</a:t>
            </a:r>
          </a:p>
          <a:p>
            <a:pPr marL="0" indent="0" algn="ctr">
              <a:lnSpc>
                <a:spcPct val="110000"/>
              </a:lnSpc>
              <a:spcBef>
                <a:spcPts val="0"/>
              </a:spcBef>
              <a:spcAft>
                <a:spcPts val="0"/>
              </a:spcAft>
              <a:buNone/>
            </a:pPr>
            <a:r>
              <a:rPr sz="1500" b="0" i="0">
                <a:solidFill>
                  <a:srgbClr val="F5F1E6"/>
                </a:solidFill>
                <a:latin typeface="Aptos"/>
              </a:rPr>
              <a:t>one layer per</a:t>
            </a:r>
          </a:p>
          <a:p>
            <a:pPr marL="0" indent="0" algn="ctr">
              <a:lnSpc>
                <a:spcPct val="110000"/>
              </a:lnSpc>
              <a:spcBef>
                <a:spcPts val="0"/>
              </a:spcBef>
              <a:spcAft>
                <a:spcPts val="0"/>
              </a:spcAft>
              <a:buNone/>
            </a:pPr>
            <a:r>
              <a:rPr sz="1500" b="0" i="0">
                <a:solidFill>
                  <a:srgbClr val="F5F1E6"/>
                </a:solidFill>
                <a:latin typeface="Aptos"/>
              </a:rPr>
              <a:t>fixture group × county</a:t>
            </a:r>
          </a:p>
          <a:p>
            <a:pPr marL="0" indent="0" algn="ctr">
              <a:lnSpc>
                <a:spcPct val="110000"/>
              </a:lnSpc>
              <a:spcBef>
                <a:spcPts val="0"/>
              </a:spcBef>
              <a:spcAft>
                <a:spcPts val="0"/>
              </a:spcAft>
              <a:buNone/>
            </a:pPr>
            <a:r>
              <a:rPr sz="1500" b="0" i="0">
                <a:solidFill>
                  <a:srgbClr val="F5F1E6"/>
                </a:solidFill>
                <a:latin typeface="Aptos"/>
              </a:rPr>
              <a:t>(basis layers)</a:t>
            </a:r>
          </a:p>
        </p:txBody>
      </p:sp>
      <p:cxnSp>
        <p:nvCxnSpPr>
          <p:cNvPr id="14" name="Connector 13"/>
          <p:cNvCxnSpPr/>
          <p:nvPr/>
        </p:nvCxnSpPr>
        <p:spPr>
          <a:xfrm>
            <a:off x="8814815" y="3200400"/>
            <a:ext cx="310897"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162288"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Browser · React + MapLibre</a:t>
            </a:r>
          </a:p>
        </p:txBody>
      </p:sp>
      <p:sp>
        <p:nvSpPr>
          <p:cNvPr id="16" name="Rectangle 15"/>
          <p:cNvSpPr/>
          <p:nvPr/>
        </p:nvSpPr>
        <p:spPr>
          <a:xfrm>
            <a:off x="9162288"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sky = weighted sum</a:t>
            </a:r>
          </a:p>
          <a:p>
            <a:pPr marL="0" indent="0" algn="ctr">
              <a:lnSpc>
                <a:spcPct val="110000"/>
              </a:lnSpc>
              <a:spcBef>
                <a:spcPts val="0"/>
              </a:spcBef>
              <a:spcAft>
                <a:spcPts val="0"/>
              </a:spcAft>
              <a:buNone/>
            </a:pPr>
            <a:r>
              <a:rPr sz="1500" b="0" i="0">
                <a:solidFill>
                  <a:srgbClr val="F5F1E6"/>
                </a:solidFill>
                <a:latin typeface="Aptos"/>
              </a:rPr>
              <a:t>of basis layers</a:t>
            </a:r>
          </a:p>
          <a:p>
            <a:pPr marL="0" indent="0" algn="ctr">
              <a:lnSpc>
                <a:spcPct val="110000"/>
              </a:lnSpc>
              <a:spcBef>
                <a:spcPts val="0"/>
              </a:spcBef>
              <a:spcAft>
                <a:spcPts val="0"/>
              </a:spcAft>
              <a:buNone/>
            </a:pPr>
            <a:r>
              <a:rPr sz="1500" b="0" i="0">
                <a:solidFill>
                  <a:srgbClr val="F5F1E6"/>
                </a:solidFill>
                <a:latin typeface="Aptos"/>
              </a:rPr>
              <a:t>~55 ms per scenario</a:t>
            </a:r>
          </a:p>
          <a:p>
            <a:pPr marL="0" indent="0" algn="ctr">
              <a:lnSpc>
                <a:spcPct val="110000"/>
              </a:lnSpc>
              <a:spcBef>
                <a:spcPts val="0"/>
              </a:spcBef>
              <a:spcAft>
                <a:spcPts val="0"/>
              </a:spcAft>
              <a:buNone/>
            </a:pPr>
            <a:r>
              <a:rPr sz="1500" b="0" i="0">
                <a:solidFill>
                  <a:srgbClr val="F5F1E6"/>
                </a:solidFill>
                <a:latin typeface="Aptos"/>
              </a:rPr>
              <a:t>map · 3D · charts · PDF</a:t>
            </a:r>
          </a:p>
        </p:txBody>
      </p:sp>
      <p:pic>
        <p:nvPicPr>
          <p:cNvPr id="17" name="Picture 16" descr="skysum_light.png"/>
          <p:cNvPicPr>
            <a:picLocks noChangeAspect="1"/>
          </p:cNvPicPr>
          <p:nvPr/>
        </p:nvPicPr>
        <p:blipFill>
          <a:blip r:embed="rId3"/>
          <a:stretch>
            <a:fillRect/>
          </a:stretch>
        </p:blipFill>
        <p:spPr>
          <a:xfrm>
            <a:off x="548640" y="4572000"/>
            <a:ext cx="6472009" cy="566928"/>
          </a:xfrm>
          <a:prstGeom prst="rect">
            <a:avLst/>
          </a:prstGeom>
        </p:spPr>
      </p:pic>
      <p:sp>
        <p:nvSpPr>
          <p:cNvPr id="18" name="TextBox 17"/>
          <p:cNvSpPr txBox="1"/>
          <p:nvPr/>
        </p:nvSpPr>
        <p:spPr>
          <a:xfrm>
            <a:off x="548640" y="5303520"/>
            <a:ext cx="11064240" cy="10972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Skyglow adds linearly, so any ordinance is a re-weighting of precomputed layers: a phone can explore it instantly</a:t>
            </a:r>
          </a:p>
          <a:p>
            <a:pPr marL="256032" indent="-256032">
              <a:lnSpc>
                <a:spcPct val="100000"/>
              </a:lnSpc>
              <a:spcBef>
                <a:spcPts val="400"/>
              </a:spcBef>
              <a:spcAft>
                <a:spcPts val="0"/>
              </a:spcAft>
              <a:buClr>
                <a:srgbClr val="F6B44B"/>
              </a:buClr>
              <a:buSzPct val="100000"/>
              <a:buFont typeface="Arial"/>
              <a:buChar char="•"/>
            </a:pPr>
            <a:r>
              <a:rPr sz="1700" b="0" i="0">
                <a:solidFill>
                  <a:srgbClr val="D9D2BD"/>
                </a:solidFill>
                <a:latin typeface="Aptos"/>
              </a:rPr>
              <a:t>The sky is a published single-scattering model (Garstang 1986), </a:t>
            </a:r>
            <a:r>
              <a:rPr sz="1700" b="1" i="0">
                <a:solidFill>
                  <a:srgbClr val="F6B44B"/>
                </a:solidFill>
                <a:latin typeface="Aptos"/>
              </a:rPr>
              <a:t>not</a:t>
            </a:r>
            <a:r>
              <a:rPr sz="1700" b="0" i="0">
                <a:solidFill>
                  <a:srgbClr val="D9D2BD"/>
                </a:solidFill>
                <a:latin typeface="Aptos"/>
              </a:rPr>
              <a:t> a neural network</a:t>
            </a:r>
          </a:p>
        </p:txBody>
      </p:sp>
      <p:pic>
        <p:nvPicPr>
          <p:cNvPr id="19" name="Picture 1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One click: a Groveland-style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10</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Groveland: Florida's first dark-sky city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Full shielding (U0), </a:t>
            </a:r>
            <a:r>
              <a:rPr sz="1900" b="1" i="0">
                <a:solidFill>
                  <a:srgbClr val="F6B44B"/>
                </a:solidFill>
                <a:latin typeface="Aptos"/>
              </a:rPr>
              <a:t>3000 K</a:t>
            </a:r>
            <a:r>
              <a:rPr sz="1900" b="0" i="0">
                <a:solidFill>
                  <a:srgbClr val="D9D2BD"/>
                </a:solidFill>
                <a:latin typeface="Aptos"/>
              </a:rPr>
              <a:t> cap, dim to 50% from 22:00 to 06:30</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Paynes Prairie: </a:t>
            </a:r>
            <a:r>
              <a:rPr sz="1900" b="1" i="0">
                <a:solidFill>
                  <a:srgbClr val="F6B44B"/>
                </a:solidFill>
                <a:latin typeface="Aptos"/>
              </a:rPr>
              <a:t>20.98 → 21.62</a:t>
            </a:r>
            <a:r>
              <a:rPr sz="1900" b="0" i="0">
                <a:solidFill>
                  <a:srgbClr val="D9D2BD"/>
                </a:solidFill>
                <a:latin typeface="Aptos"/>
              </a:rPr>
              <a:t> mag/arcsec² if every light complies; </a:t>
            </a:r>
            <a:r>
              <a:rPr sz="1900" b="1" i="0">
                <a:solidFill>
                  <a:srgbClr val="F6B44B"/>
                </a:solidFill>
                <a:latin typeface="Aptos"/>
              </a:rPr>
              <a:t>21.30</a:t>
            </a:r>
            <a:r>
              <a:rPr sz="1900" b="0" i="0">
                <a:solidFill>
                  <a:srgbClr val="D9D2BD"/>
                </a:solidFill>
                <a:latin typeface="Aptos"/>
              </a:rPr>
              <a:t> with public lights alone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Blue = darker sky, and it crosses county lines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Public cost: </a:t>
            </a:r>
            <a:r>
              <a:rPr sz="1900" b="1" i="0">
                <a:solidFill>
                  <a:srgbClr val="F6B44B"/>
                </a:solidFill>
                <a:latin typeface="Aptos"/>
              </a:rPr>
              <a:t>$26.6M</a:t>
            </a:r>
            <a:r>
              <a:rPr sz="1900" b="0" i="0">
                <a:solidFill>
                  <a:srgbClr val="D9D2BD"/>
                </a:solidFill>
                <a:latin typeface="Aptos"/>
              </a:rPr>
              <a:t>, $1.43M/yr saved, 18.6-yr payback</a:t>
            </a:r>
          </a:p>
        </p:txBody>
      </p:sp>
      <p:pic>
        <p:nvPicPr>
          <p:cNvPr id="7" name="10_ordinanc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Change layer: where the sky gets darker (blue) under the ordinance; Budget card at top right.</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  ·  COSTS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each government pays, and saves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11</a:t>
            </a:r>
          </a:p>
        </p:txBody>
      </p:sp>
      <p:sp>
        <p:nvSpPr>
          <p:cNvPr id="6" name="TextBox 5"/>
          <p:cNvSpPr txBox="1"/>
          <p:nvPr/>
        </p:nvSpPr>
        <p:spPr>
          <a:xfrm>
            <a:off x="548640" y="1280160"/>
            <a:ext cx="1106424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0" i="0">
                <a:solidFill>
                  <a:srgbClr val="D9D2BD"/>
                </a:solidFill>
                <a:latin typeface="Aptos"/>
              </a:rPr>
              <a:t>Right-sized public streetlights: </a:t>
            </a:r>
            <a:r>
              <a:rPr sz="1600" b="1" i="0">
                <a:solidFill>
                  <a:srgbClr val="F6B44B"/>
                </a:solidFill>
                <a:latin typeface="Aptos"/>
              </a:rPr>
              <a:t>fully shielded 3000 K LEDs at 30% lower output</a:t>
            </a:r>
            <a:r>
              <a:rPr sz="1600" b="0" i="0">
                <a:solidFill>
                  <a:srgbClr val="D9D2BD"/>
                </a:solidFill>
                <a:latin typeface="Aptos"/>
              </a:rPr>
              <a:t>, no smart controllers. Savings = energy + avoided maintenance, at each utility's rates.</a:t>
            </a:r>
          </a:p>
        </p:txBody>
      </p:sp>
      <p:sp>
        <p:nvSpPr>
          <p:cNvPr id="7" name="Rectangle 6"/>
          <p:cNvSpPr/>
          <p:nvPr/>
        </p:nvSpPr>
        <p:spPr>
          <a:xfrm>
            <a:off x="548640" y="178308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731520"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Alachua County</a:t>
            </a:r>
          </a:p>
        </p:txBody>
      </p:sp>
      <p:sp>
        <p:nvSpPr>
          <p:cNvPr id="9" name="TextBox 8"/>
          <p:cNvSpPr txBox="1"/>
          <p:nvPr/>
        </p:nvSpPr>
        <p:spPr>
          <a:xfrm>
            <a:off x="731520"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(43,517)</a:t>
            </a:r>
          </a:p>
        </p:txBody>
      </p:sp>
      <p:sp>
        <p:nvSpPr>
          <p:cNvPr id="10" name="TextBox 9"/>
          <p:cNvSpPr txBox="1"/>
          <p:nvPr/>
        </p:nvSpPr>
        <p:spPr>
          <a:xfrm>
            <a:off x="64008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$15.3M</a:t>
            </a:r>
          </a:p>
        </p:txBody>
      </p:sp>
      <p:sp>
        <p:nvSpPr>
          <p:cNvPr id="11" name="TextBox 10"/>
          <p:cNvSpPr txBox="1"/>
          <p:nvPr/>
        </p:nvSpPr>
        <p:spPr>
          <a:xfrm>
            <a:off x="64008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12" name="TextBox 11"/>
          <p:cNvSpPr txBox="1"/>
          <p:nvPr/>
        </p:nvSpPr>
        <p:spPr>
          <a:xfrm>
            <a:off x="196596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$2.55M</a:t>
            </a:r>
          </a:p>
        </p:txBody>
      </p:sp>
      <p:sp>
        <p:nvSpPr>
          <p:cNvPr id="13" name="TextBox 12"/>
          <p:cNvSpPr txBox="1"/>
          <p:nvPr/>
        </p:nvSpPr>
        <p:spPr>
          <a:xfrm>
            <a:off x="196596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14" name="TextBox 13"/>
          <p:cNvSpPr txBox="1"/>
          <p:nvPr/>
        </p:nvSpPr>
        <p:spPr>
          <a:xfrm>
            <a:off x="3291839"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6.0 yr</a:t>
            </a:r>
          </a:p>
        </p:txBody>
      </p:sp>
      <p:sp>
        <p:nvSpPr>
          <p:cNvPr id="15" name="TextBox 14"/>
          <p:cNvSpPr txBox="1"/>
          <p:nvPr/>
        </p:nvSpPr>
        <p:spPr>
          <a:xfrm>
            <a:off x="3291839"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16" name="TextBox 15"/>
          <p:cNvSpPr txBox="1"/>
          <p:nvPr/>
        </p:nvSpPr>
        <p:spPr>
          <a:xfrm>
            <a:off x="461772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+$23.0M</a:t>
            </a:r>
          </a:p>
        </p:txBody>
      </p:sp>
      <p:sp>
        <p:nvSpPr>
          <p:cNvPr id="17" name="TextBox 16"/>
          <p:cNvSpPr txBox="1"/>
          <p:nvPr/>
        </p:nvSpPr>
        <p:spPr>
          <a:xfrm>
            <a:off x="461772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18" name="Rectangle 17"/>
          <p:cNvSpPr/>
          <p:nvPr/>
        </p:nvSpPr>
        <p:spPr>
          <a:xfrm>
            <a:off x="6199631" y="1783080"/>
            <a:ext cx="5440680" cy="1325880"/>
          </a:xfrm>
          <a:prstGeom prst="roundRect">
            <a:avLst>
              <a:gd name="adj" fmla="val 6000"/>
            </a:avLst>
          </a:prstGeom>
          <a:solidFill>
            <a:srgbClr val="1A2642"/>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382512"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University of Florida*</a:t>
            </a:r>
          </a:p>
        </p:txBody>
      </p:sp>
      <p:sp>
        <p:nvSpPr>
          <p:cNvPr id="20" name="TextBox 19"/>
          <p:cNvSpPr txBox="1"/>
          <p:nvPr/>
        </p:nvSpPr>
        <p:spPr>
          <a:xfrm>
            <a:off x="6382512"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4,100 campus pole lights</a:t>
            </a:r>
          </a:p>
        </p:txBody>
      </p:sp>
      <p:sp>
        <p:nvSpPr>
          <p:cNvPr id="21" name="TextBox 20"/>
          <p:cNvSpPr txBox="1"/>
          <p:nvPr/>
        </p:nvSpPr>
        <p:spPr>
          <a:xfrm>
            <a:off x="629107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$984K</a:t>
            </a:r>
          </a:p>
        </p:txBody>
      </p:sp>
      <p:sp>
        <p:nvSpPr>
          <p:cNvPr id="22" name="TextBox 21"/>
          <p:cNvSpPr txBox="1"/>
          <p:nvPr/>
        </p:nvSpPr>
        <p:spPr>
          <a:xfrm>
            <a:off x="629107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23" name="TextBox 22"/>
          <p:cNvSpPr txBox="1"/>
          <p:nvPr/>
        </p:nvSpPr>
        <p:spPr>
          <a:xfrm>
            <a:off x="761695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$198K</a:t>
            </a:r>
          </a:p>
        </p:txBody>
      </p:sp>
      <p:sp>
        <p:nvSpPr>
          <p:cNvPr id="24" name="TextBox 23"/>
          <p:cNvSpPr txBox="1"/>
          <p:nvPr/>
        </p:nvSpPr>
        <p:spPr>
          <a:xfrm>
            <a:off x="761695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25" name="TextBox 24"/>
          <p:cNvSpPr txBox="1"/>
          <p:nvPr/>
        </p:nvSpPr>
        <p:spPr>
          <a:xfrm>
            <a:off x="8942832"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26" name="TextBox 25"/>
          <p:cNvSpPr txBox="1"/>
          <p:nvPr/>
        </p:nvSpPr>
        <p:spPr>
          <a:xfrm>
            <a:off x="8942832"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27" name="TextBox 26"/>
          <p:cNvSpPr txBox="1"/>
          <p:nvPr/>
        </p:nvSpPr>
        <p:spPr>
          <a:xfrm>
            <a:off x="1026871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+$2.0M</a:t>
            </a:r>
          </a:p>
        </p:txBody>
      </p:sp>
      <p:sp>
        <p:nvSpPr>
          <p:cNvPr id="28" name="TextBox 27"/>
          <p:cNvSpPr txBox="1"/>
          <p:nvPr/>
        </p:nvSpPr>
        <p:spPr>
          <a:xfrm>
            <a:off x="1026871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29" name="Rectangle 28"/>
          <p:cNvSpPr/>
          <p:nvPr/>
        </p:nvSpPr>
        <p:spPr>
          <a:xfrm>
            <a:off x="548640"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31520"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Gainesville</a:t>
            </a:r>
          </a:p>
        </p:txBody>
      </p:sp>
      <p:sp>
        <p:nvSpPr>
          <p:cNvPr id="31" name="TextBox 30"/>
          <p:cNvSpPr txBox="1"/>
          <p:nvPr/>
        </p:nvSpPr>
        <p:spPr>
          <a:xfrm>
            <a:off x="731520"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GRU streetlights (30,000)</a:t>
            </a:r>
          </a:p>
        </p:txBody>
      </p:sp>
      <p:sp>
        <p:nvSpPr>
          <p:cNvPr id="32" name="TextBox 31"/>
          <p:cNvSpPr txBox="1"/>
          <p:nvPr/>
        </p:nvSpPr>
        <p:spPr>
          <a:xfrm>
            <a:off x="64008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$7.20M</a:t>
            </a:r>
          </a:p>
        </p:txBody>
      </p:sp>
      <p:sp>
        <p:nvSpPr>
          <p:cNvPr id="33" name="TextBox 32"/>
          <p:cNvSpPr txBox="1"/>
          <p:nvPr/>
        </p:nvSpPr>
        <p:spPr>
          <a:xfrm>
            <a:off x="64008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34" name="TextBox 33"/>
          <p:cNvSpPr txBox="1"/>
          <p:nvPr/>
        </p:nvSpPr>
        <p:spPr>
          <a:xfrm>
            <a:off x="196596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$1.45M</a:t>
            </a:r>
          </a:p>
        </p:txBody>
      </p:sp>
      <p:sp>
        <p:nvSpPr>
          <p:cNvPr id="35" name="TextBox 34"/>
          <p:cNvSpPr txBox="1"/>
          <p:nvPr/>
        </p:nvSpPr>
        <p:spPr>
          <a:xfrm>
            <a:off x="196596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36" name="TextBox 35"/>
          <p:cNvSpPr txBox="1"/>
          <p:nvPr/>
        </p:nvSpPr>
        <p:spPr>
          <a:xfrm>
            <a:off x="3291839"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37" name="TextBox 36"/>
          <p:cNvSpPr txBox="1"/>
          <p:nvPr/>
        </p:nvSpPr>
        <p:spPr>
          <a:xfrm>
            <a:off x="3291839"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38" name="TextBox 37"/>
          <p:cNvSpPr txBox="1"/>
          <p:nvPr/>
        </p:nvSpPr>
        <p:spPr>
          <a:xfrm>
            <a:off x="461772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+$14.6M</a:t>
            </a:r>
          </a:p>
        </p:txBody>
      </p:sp>
      <p:sp>
        <p:nvSpPr>
          <p:cNvPr id="39" name="TextBox 38"/>
          <p:cNvSpPr txBox="1"/>
          <p:nvPr/>
        </p:nvSpPr>
        <p:spPr>
          <a:xfrm>
            <a:off x="461772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40" name="Rectangle 39"/>
          <p:cNvSpPr/>
          <p:nvPr/>
        </p:nvSpPr>
        <p:spPr>
          <a:xfrm>
            <a:off x="6199631"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382512"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State roads (FDOT), Alachua</a:t>
            </a:r>
          </a:p>
        </p:txBody>
      </p:sp>
      <p:sp>
        <p:nvSpPr>
          <p:cNvPr id="42" name="TextBox 41"/>
          <p:cNvSpPr txBox="1"/>
          <p:nvPr/>
        </p:nvSpPr>
        <p:spPr>
          <a:xfrm>
            <a:off x="6382512"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1,500 state-road lights</a:t>
            </a:r>
          </a:p>
        </p:txBody>
      </p:sp>
      <p:sp>
        <p:nvSpPr>
          <p:cNvPr id="43" name="TextBox 42"/>
          <p:cNvSpPr txBox="1"/>
          <p:nvPr/>
        </p:nvSpPr>
        <p:spPr>
          <a:xfrm>
            <a:off x="629107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$900K</a:t>
            </a:r>
          </a:p>
        </p:txBody>
      </p:sp>
      <p:sp>
        <p:nvSpPr>
          <p:cNvPr id="44" name="TextBox 43"/>
          <p:cNvSpPr txBox="1"/>
          <p:nvPr/>
        </p:nvSpPr>
        <p:spPr>
          <a:xfrm>
            <a:off x="629107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45" name="TextBox 44"/>
          <p:cNvSpPr txBox="1"/>
          <p:nvPr/>
        </p:nvSpPr>
        <p:spPr>
          <a:xfrm>
            <a:off x="761695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$113K</a:t>
            </a:r>
          </a:p>
        </p:txBody>
      </p:sp>
      <p:sp>
        <p:nvSpPr>
          <p:cNvPr id="46" name="TextBox 45"/>
          <p:cNvSpPr txBox="1"/>
          <p:nvPr/>
        </p:nvSpPr>
        <p:spPr>
          <a:xfrm>
            <a:off x="761695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47" name="TextBox 46"/>
          <p:cNvSpPr txBox="1"/>
          <p:nvPr/>
        </p:nvSpPr>
        <p:spPr>
          <a:xfrm>
            <a:off x="8942832"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48" name="TextBox 47"/>
          <p:cNvSpPr txBox="1"/>
          <p:nvPr/>
        </p:nvSpPr>
        <p:spPr>
          <a:xfrm>
            <a:off x="8942832"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49" name="TextBox 48"/>
          <p:cNvSpPr txBox="1"/>
          <p:nvPr/>
        </p:nvSpPr>
        <p:spPr>
          <a:xfrm>
            <a:off x="1026871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+$795K</a:t>
            </a:r>
          </a:p>
        </p:txBody>
      </p:sp>
      <p:sp>
        <p:nvSpPr>
          <p:cNvPr id="50" name="TextBox 49"/>
          <p:cNvSpPr txBox="1"/>
          <p:nvPr/>
        </p:nvSpPr>
        <p:spPr>
          <a:xfrm>
            <a:off x="1026871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51" name="Rectangle 50"/>
          <p:cNvSpPr/>
          <p:nvPr/>
        </p:nvSpPr>
        <p:spPr>
          <a:xfrm>
            <a:off x="548640"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731520"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Levy County</a:t>
            </a:r>
          </a:p>
        </p:txBody>
      </p:sp>
      <p:sp>
        <p:nvSpPr>
          <p:cNvPr id="53" name="TextBox 52"/>
          <p:cNvSpPr txBox="1"/>
          <p:nvPr/>
        </p:nvSpPr>
        <p:spPr>
          <a:xfrm>
            <a:off x="731520"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(3,135)</a:t>
            </a:r>
          </a:p>
        </p:txBody>
      </p:sp>
      <p:sp>
        <p:nvSpPr>
          <p:cNvPr id="54" name="TextBox 53"/>
          <p:cNvSpPr txBox="1"/>
          <p:nvPr/>
        </p:nvSpPr>
        <p:spPr>
          <a:xfrm>
            <a:off x="64008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$1.88M</a:t>
            </a:r>
          </a:p>
        </p:txBody>
      </p:sp>
      <p:sp>
        <p:nvSpPr>
          <p:cNvPr id="55" name="TextBox 54"/>
          <p:cNvSpPr txBox="1"/>
          <p:nvPr/>
        </p:nvSpPr>
        <p:spPr>
          <a:xfrm>
            <a:off x="64008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56" name="TextBox 55"/>
          <p:cNvSpPr txBox="1"/>
          <p:nvPr/>
        </p:nvSpPr>
        <p:spPr>
          <a:xfrm>
            <a:off x="196596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$228K</a:t>
            </a:r>
          </a:p>
        </p:txBody>
      </p:sp>
      <p:sp>
        <p:nvSpPr>
          <p:cNvPr id="57" name="TextBox 56"/>
          <p:cNvSpPr txBox="1"/>
          <p:nvPr/>
        </p:nvSpPr>
        <p:spPr>
          <a:xfrm>
            <a:off x="196596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58" name="TextBox 57"/>
          <p:cNvSpPr txBox="1"/>
          <p:nvPr/>
        </p:nvSpPr>
        <p:spPr>
          <a:xfrm>
            <a:off x="3291839"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8.3 yr</a:t>
            </a:r>
          </a:p>
        </p:txBody>
      </p:sp>
      <p:sp>
        <p:nvSpPr>
          <p:cNvPr id="59" name="TextBox 58"/>
          <p:cNvSpPr txBox="1"/>
          <p:nvPr/>
        </p:nvSpPr>
        <p:spPr>
          <a:xfrm>
            <a:off x="3291839"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60" name="TextBox 59"/>
          <p:cNvSpPr txBox="1"/>
          <p:nvPr/>
        </p:nvSpPr>
        <p:spPr>
          <a:xfrm>
            <a:off x="461772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+$1.54M</a:t>
            </a:r>
          </a:p>
        </p:txBody>
      </p:sp>
      <p:sp>
        <p:nvSpPr>
          <p:cNvPr id="61" name="TextBox 60"/>
          <p:cNvSpPr txBox="1"/>
          <p:nvPr/>
        </p:nvSpPr>
        <p:spPr>
          <a:xfrm>
            <a:off x="461772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62" name="Rectangle 61"/>
          <p:cNvSpPr/>
          <p:nvPr/>
        </p:nvSpPr>
        <p:spPr>
          <a:xfrm>
            <a:off x="6199631"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6382512"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Chiefland</a:t>
            </a:r>
          </a:p>
        </p:txBody>
      </p:sp>
      <p:sp>
        <p:nvSpPr>
          <p:cNvPr id="64" name="TextBox 63"/>
          <p:cNvSpPr txBox="1"/>
          <p:nvPr/>
        </p:nvSpPr>
        <p:spPr>
          <a:xfrm>
            <a:off x="6382512"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285 city streetlights</a:t>
            </a:r>
          </a:p>
        </p:txBody>
      </p:sp>
      <p:sp>
        <p:nvSpPr>
          <p:cNvPr id="65" name="TextBox 64"/>
          <p:cNvSpPr txBox="1"/>
          <p:nvPr/>
        </p:nvSpPr>
        <p:spPr>
          <a:xfrm>
            <a:off x="629107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$171K</a:t>
            </a:r>
          </a:p>
        </p:txBody>
      </p:sp>
      <p:sp>
        <p:nvSpPr>
          <p:cNvPr id="66" name="TextBox 65"/>
          <p:cNvSpPr txBox="1"/>
          <p:nvPr/>
        </p:nvSpPr>
        <p:spPr>
          <a:xfrm>
            <a:off x="629107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67" name="TextBox 66"/>
          <p:cNvSpPr txBox="1"/>
          <p:nvPr/>
        </p:nvSpPr>
        <p:spPr>
          <a:xfrm>
            <a:off x="761695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$21.5K</a:t>
            </a:r>
          </a:p>
        </p:txBody>
      </p:sp>
      <p:sp>
        <p:nvSpPr>
          <p:cNvPr id="68" name="TextBox 67"/>
          <p:cNvSpPr txBox="1"/>
          <p:nvPr/>
        </p:nvSpPr>
        <p:spPr>
          <a:xfrm>
            <a:off x="761695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69" name="TextBox 68"/>
          <p:cNvSpPr txBox="1"/>
          <p:nvPr/>
        </p:nvSpPr>
        <p:spPr>
          <a:xfrm>
            <a:off x="8942832"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70" name="TextBox 69"/>
          <p:cNvSpPr txBox="1"/>
          <p:nvPr/>
        </p:nvSpPr>
        <p:spPr>
          <a:xfrm>
            <a:off x="8942832"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71" name="TextBox 70"/>
          <p:cNvSpPr txBox="1"/>
          <p:nvPr/>
        </p:nvSpPr>
        <p:spPr>
          <a:xfrm>
            <a:off x="1026871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+$152K</a:t>
            </a:r>
          </a:p>
        </p:txBody>
      </p:sp>
      <p:sp>
        <p:nvSpPr>
          <p:cNvPr id="72" name="TextBox 71"/>
          <p:cNvSpPr txBox="1"/>
          <p:nvPr/>
        </p:nvSpPr>
        <p:spPr>
          <a:xfrm>
            <a:off x="1026871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73" name="TextBox 72"/>
          <p:cNvSpPr txBox="1"/>
          <p:nvPr/>
        </p:nvSpPr>
        <p:spPr>
          <a:xfrm>
            <a:off x="548640" y="614476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*UF: 4,100 campus pole lights, about 60% already LED (UF News, 2023), run through the simulator's cost engine at GRU rates. Gainesville and FDOT are within Alachua's total.</a:t>
            </a:r>
          </a:p>
        </p:txBody>
      </p:sp>
      <p:pic>
        <p:nvPicPr>
          <p:cNvPr id="74" name="Picture 73"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Or protect just the observatories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12</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Overlay zones: stricter rules in rings around </a:t>
            </a:r>
            <a:r>
              <a:rPr sz="1900" b="1" i="0">
                <a:solidFill>
                  <a:srgbClr val="F6B44B"/>
                </a:solidFill>
                <a:latin typeface="Aptos"/>
              </a:rPr>
              <a:t>Rosemary Hill</a:t>
            </a:r>
            <a:r>
              <a:rPr sz="1900" b="0" i="0">
                <a:solidFill>
                  <a:srgbClr val="D9D2BD"/>
                </a:solidFill>
                <a:latin typeface="Aptos"/>
              </a:rPr>
              <a:t> and </a:t>
            </a:r>
            <a:r>
              <a:rPr sz="1900" b="1" i="0">
                <a:solidFill>
                  <a:srgbClr val="F6B44B"/>
                </a:solidFill>
                <a:latin typeface="Aptos"/>
              </a:rPr>
              <a:t>Chiefland Astronomy Village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LZ0 core: shielded, amber, motion-only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LZ1 buffer: shielded, ≤ 2700 K</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Flagstaff-style preset: about </a:t>
            </a:r>
            <a:r>
              <a:rPr sz="1900" b="1" i="0">
                <a:solidFill>
                  <a:srgbClr val="F6B44B"/>
                </a:solidFill>
                <a:latin typeface="Aptos"/>
              </a:rPr>
              <a:t>$0.79M</a:t>
            </a:r>
            <a:r>
              <a:rPr sz="1900" b="0" i="0">
                <a:solidFill>
                  <a:srgbClr val="D9D2BD"/>
                </a:solidFill>
                <a:latin typeface="Aptos"/>
              </a:rPr>
              <a:t> in public retrofits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 trade-off a commission can actually vote on</a:t>
            </a:r>
          </a:p>
        </p:txBody>
      </p:sp>
      <p:pic>
        <p:nvPicPr>
          <p:cNvPr id="7" name="12_overlay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Flagstaff LZ1 overlay preset (3-mile core, 5-mile buffer) on the Change layer.</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SEE IT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Paynes Prairie, today and with the ordinance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13</a:t>
            </a:r>
          </a:p>
        </p:txBody>
      </p:sp>
      <p:pic>
        <p:nvPicPr>
          <p:cNvPr id="6" name="13_allsky_pp_toda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7279"/>
            <a:ext cx="5440680" cy="3051881"/>
          </a:xfrm>
          <a:prstGeom prst="rect">
            <a:avLst/>
          </a:prstGeom>
        </p:spPr>
      </p:pic>
      <p:sp>
        <p:nvSpPr>
          <p:cNvPr id="7" name="TextBox 6"/>
          <p:cNvSpPr txBox="1"/>
          <p:nvPr/>
        </p:nvSpPr>
        <p:spPr>
          <a:xfrm>
            <a:off x="548640"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Today</a:t>
            </a:r>
          </a:p>
        </p:txBody>
      </p:sp>
      <p:pic>
        <p:nvPicPr>
          <p:cNvPr id="8" name="13_allsky_pp_grove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7279"/>
            <a:ext cx="5440680" cy="3051881"/>
          </a:xfrm>
          <a:prstGeom prst="rect">
            <a:avLst/>
          </a:prstGeom>
        </p:spPr>
      </p:pic>
      <p:sp>
        <p:nvSpPr>
          <p:cNvPr id="9" name="TextBox 8"/>
          <p:cNvSpPr txBox="1"/>
          <p:nvPr/>
        </p:nvSpPr>
        <p:spPr>
          <a:xfrm>
            <a:off x="6199632"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With a Groveland-style ordinance</a:t>
            </a:r>
            <a:r>
              <a:rPr sz="1100" b="0" i="0">
                <a:solidFill>
                  <a:srgbClr val="A79F88"/>
                </a:solidFill>
                <a:latin typeface="Aptos"/>
              </a:rPr>
              <a:t> (every light, public and private, complies)</a:t>
            </a:r>
          </a:p>
        </p:txBody>
      </p:sp>
      <p:sp>
        <p:nvSpPr>
          <p:cNvPr id="10" name="TextBox 9"/>
          <p:cNvSpPr txBox="1"/>
          <p:nvPr/>
        </p:nvSpPr>
        <p:spPr>
          <a:xfrm>
            <a:off x="548640" y="4754880"/>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All-sky view from Paynes Prairie Overlook, looking southeast as the Milky Way rises: May 28, 2022, from 1:30 AM, no Moon. Illustrative, not a photograph.</a:t>
            </a:r>
          </a:p>
        </p:txBody>
      </p:sp>
      <p:sp>
        <p:nvSpPr>
          <p:cNvPr id="11" name="TextBox 10"/>
          <p:cNvSpPr txBox="1"/>
          <p:nvPr/>
        </p:nvSpPr>
        <p:spPr>
          <a:xfrm>
            <a:off x="548640"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20.98</a:t>
            </a:r>
            <a:r>
              <a:rPr sz="1800" b="0" i="0">
                <a:solidFill>
                  <a:srgbClr val="D9D2BD"/>
                </a:solidFill>
                <a:latin typeface="Aptos"/>
              </a:rPr>
              <a:t> mag/arcsec² ·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naked-eye stars ≈ magnitude 6.1</a:t>
            </a:r>
          </a:p>
        </p:txBody>
      </p:sp>
      <p:sp>
        <p:nvSpPr>
          <p:cNvPr id="12" name="TextBox 11"/>
          <p:cNvSpPr txBox="1"/>
          <p:nvPr/>
        </p:nvSpPr>
        <p:spPr>
          <a:xfrm>
            <a:off x="6199632"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21.62</a:t>
            </a:r>
            <a:r>
              <a:rPr sz="1800" b="0" i="0">
                <a:solidFill>
                  <a:srgbClr val="D9D2BD"/>
                </a:solidFill>
                <a:latin typeface="Aptos"/>
              </a:rPr>
              <a:t> mag/arcsec² (+0.64) · still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stars ≈ 6.4: a clearer Milky Way</a:t>
            </a:r>
          </a:p>
        </p:txBody>
      </p:sp>
      <p:pic>
        <p:nvPicPr>
          <p:cNvPr id="13" name="Picture 12" descr="ai_days_logo_sticker.png"/>
          <p:cNvPicPr>
            <a:picLocks noChangeAspect="1"/>
          </p:cNvPicPr>
          <p:nvPr/>
        </p:nvPicPr>
        <p:blipFill>
          <a:blip r:embed="rId9"/>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Build mode and 3D streets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14</a:t>
            </a:r>
          </a:p>
        </p:txBody>
      </p:sp>
      <p:pic>
        <p:nvPicPr>
          <p:cNvPr id="6" name="14_buil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3028"/>
            <a:ext cx="5440680" cy="3060382"/>
          </a:xfrm>
          <a:prstGeom prst="rect">
            <a:avLst/>
          </a:prstGeom>
        </p:spPr>
      </p:pic>
      <p:sp>
        <p:nvSpPr>
          <p:cNvPr id="7" name="TextBox 6"/>
          <p:cNvSpPr txBox="1"/>
          <p:nvPr/>
        </p:nvSpPr>
        <p:spPr>
          <a:xfrm>
            <a:off x="548640"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Build mode</a:t>
            </a:r>
          </a:p>
        </p:txBody>
      </p:sp>
      <p:pic>
        <p:nvPicPr>
          <p:cNvPr id="8" name="14_3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3028"/>
            <a:ext cx="5440680" cy="3060382"/>
          </a:xfrm>
          <a:prstGeom prst="rect">
            <a:avLst/>
          </a:prstGeom>
        </p:spPr>
      </p:pic>
      <p:sp>
        <p:nvSpPr>
          <p:cNvPr id="9" name="TextBox 8"/>
          <p:cNvSpPr txBox="1"/>
          <p:nvPr/>
        </p:nvSpPr>
        <p:spPr>
          <a:xfrm>
            <a:off x="6199632" y="4479131"/>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3D: downtown Gainesville</a:t>
            </a:r>
          </a:p>
        </p:txBody>
      </p:sp>
      <p:sp>
        <p:nvSpPr>
          <p:cNvPr id="10" name="TextBox 9"/>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Catalog of </a:t>
            </a:r>
            <a:r>
              <a:rPr sz="1800" b="1" i="0">
                <a:solidFill>
                  <a:srgbClr val="F6B44B"/>
                </a:solidFill>
                <a:latin typeface="Aptos"/>
              </a:rPr>
              <a:t>17 DarkSky-compliant fixture types</a:t>
            </a:r>
            <a:r>
              <a:rPr sz="1800" b="0" i="0">
                <a:solidFill>
                  <a:srgbClr val="D9D2BD"/>
                </a:solidFill>
                <a:latin typeface="Aptos"/>
              </a:rPr>
              <a:t>: spectrum, uplight rating, watts, installed cost</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Equip one: sky, budget, brief and install markers update</a:t>
            </a:r>
          </a:p>
        </p:txBody>
      </p:sp>
      <p:sp>
        <p:nvSpPr>
          <p:cNvPr id="11" name="TextBox 10"/>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Terrain, buildings and every modeled light at street level</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Mapped streetlights where they stand; modeled ones along the roads of their cell</a:t>
            </a:r>
          </a:p>
        </p:txBody>
      </p:sp>
      <p:pic>
        <p:nvPicPr>
          <p:cNvPr id="12" name="Picture 11" descr="ai_days_logo_sticker.png"/>
          <p:cNvPicPr>
            <a:picLocks noChangeAspect="1"/>
          </p:cNvPicPr>
          <p:nvPr/>
        </p:nvPicPr>
        <p:blipFill>
          <a:blip r:embed="rId9"/>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6"/>
                                        </p:tgtEl>
                                      </p:cBhvr>
                                    </p:cmd>
                                  </p:childTnLst>
                                </p:cTn>
                              </p:par>
                              <p:par>
                                <p:cTn id="7" presetID="1" presetClass="mediacall" presetSubtype="0" fill="hold" nodeType="withEffect">
                                  <p:stCondLst>
                                    <p:cond delay="0"/>
                                  </p:stCondLst>
                                  <p:childTnLst>
                                    <p:cmd type="call" cmd="playFrom(0.0)">
                                      <p:cBhvr>
                                        <p:cTn id="8"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6"/>
                </p:tgtEl>
              </p:cMediaNode>
            </p:video>
            <p:seq concurrent="1" nextAc="seek">
              <p:cTn id="10" restart="whenNotActive" fill="hold" evtFilter="cancelBubble" nodeType="interactiveSeq">
                <p:stCondLst>
                  <p:cond evt="onClick" delay="0">
                    <p:tgtEl>
                      <p:spTgt spid="6"/>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6"/>
                                        </p:tgtEl>
                                      </p:cBhvr>
                                    </p:cmd>
                                  </p:childTnLst>
                                </p:cTn>
                              </p:par>
                            </p:childTnLst>
                          </p:cTn>
                        </p:par>
                      </p:childTnLst>
                    </p:cTn>
                  </p:par>
                </p:childTnLst>
              </p:cTn>
              <p:nextCondLst>
                <p:cond evt="onClick" delay="0">
                  <p:tgtEl>
                    <p:spTgt spid="6"/>
                  </p:tgtEl>
                </p:cond>
              </p:nextCondLst>
            </p:seq>
            <p:video>
              <p:cMediaNode vol="80000">
                <p:cTn id="15" repeatCount="indefinite" fill="remove" display="0">
                  <p:stCondLst>
                    <p:cond delay="indefinite"/>
                  </p:stCondLst>
                </p:cTn>
                <p:tgtEl>
                  <p:spTgt spid="8"/>
                </p:tgtEl>
              </p:cMediaNode>
            </p:video>
            <p:seq concurrent="1" nextAc="seek">
              <p:cTn id="16" restart="whenNotActive" fill="hold" evtFilter="cancelBubble" nodeType="interactiveSeq">
                <p:stCondLst>
                  <p:cond evt="onClick" delay="0">
                    <p:tgtEl>
                      <p:spTgt spid="8"/>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AI is used, and where it isn't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15</a:t>
            </a:r>
          </a:p>
        </p:txBody>
      </p:sp>
      <p:sp>
        <p:nvSpPr>
          <p:cNvPr id="6" name="Rectangle 5"/>
          <p:cNvSpPr/>
          <p:nvPr/>
        </p:nvSpPr>
        <p:spPr>
          <a:xfrm>
            <a:off x="548640"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1 · Data</a:t>
            </a:r>
          </a:p>
          <a:p>
            <a:pPr marL="0" indent="0" algn="ctr">
              <a:lnSpc>
                <a:spcPct val="110000"/>
              </a:lnSpc>
              <a:spcBef>
                <a:spcPts val="0"/>
              </a:spcBef>
              <a:spcAft>
                <a:spcPts val="0"/>
              </a:spcAft>
              <a:buNone/>
            </a:pPr>
            <a:r>
              <a:rPr sz="1600" b="0" i="0">
                <a:solidFill>
                  <a:srgbClr val="F5F1E6"/>
                </a:solidFill>
                <a:latin typeface="Aptos"/>
              </a:rPr>
              <a:t>NASA Black Marble</a:t>
            </a:r>
          </a:p>
          <a:p>
            <a:pPr marL="0" indent="0" algn="ctr">
              <a:lnSpc>
                <a:spcPct val="110000"/>
              </a:lnSpc>
              <a:spcBef>
                <a:spcPts val="0"/>
              </a:spcBef>
              <a:spcAft>
                <a:spcPts val="0"/>
              </a:spcAft>
              <a:buNone/>
            </a:pPr>
            <a:r>
              <a:rPr sz="1600" b="0" i="0">
                <a:solidFill>
                  <a:srgbClr val="F5F1E6"/>
                </a:solidFill>
                <a:latin typeface="Aptos"/>
              </a:rPr>
              <a:t>13 years, 2012–2024</a:t>
            </a:r>
          </a:p>
        </p:txBody>
      </p:sp>
      <p:cxnSp>
        <p:nvCxnSpPr>
          <p:cNvPr id="7" name="Connector 6"/>
          <p:cNvCxnSpPr/>
          <p:nvPr/>
        </p:nvCxnSpPr>
        <p:spPr>
          <a:xfrm>
            <a:off x="3054096"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0712"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2 · Cleaning</a:t>
            </a:r>
          </a:p>
          <a:p>
            <a:pPr marL="0" indent="0" algn="ctr">
              <a:lnSpc>
                <a:spcPct val="110000"/>
              </a:lnSpc>
              <a:spcBef>
                <a:spcPts val="0"/>
              </a:spcBef>
              <a:spcAft>
                <a:spcPts val="0"/>
              </a:spcAft>
              <a:buNone/>
            </a:pPr>
            <a:r>
              <a:rPr sz="1600" b="0" i="0">
                <a:solidFill>
                  <a:srgbClr val="F5F1E6"/>
                </a:solidFill>
                <a:latin typeface="Aptos"/>
              </a:rPr>
              <a:t>remove the</a:t>
            </a:r>
          </a:p>
          <a:p>
            <a:pPr marL="0" indent="0" algn="ctr">
              <a:lnSpc>
                <a:spcPct val="110000"/>
              </a:lnSpc>
              <a:spcBef>
                <a:spcPts val="0"/>
              </a:spcBef>
              <a:spcAft>
                <a:spcPts val="0"/>
              </a:spcAft>
              <a:buNone/>
            </a:pPr>
            <a:r>
              <a:rPr sz="1600" b="0" i="0">
                <a:solidFill>
                  <a:srgbClr val="F5F1E6"/>
                </a:solidFill>
                <a:latin typeface="Aptos"/>
              </a:rPr>
              <a:t>solar-cycle airglow</a:t>
            </a:r>
          </a:p>
        </p:txBody>
      </p:sp>
      <p:cxnSp>
        <p:nvCxnSpPr>
          <p:cNvPr id="9" name="Connector 8"/>
          <p:cNvCxnSpPr/>
          <p:nvPr/>
        </p:nvCxnSpPr>
        <p:spPr>
          <a:xfrm>
            <a:off x="5916168"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272784"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3 · Statistics</a:t>
            </a:r>
          </a:p>
          <a:p>
            <a:pPr marL="0" indent="0" algn="ctr">
              <a:lnSpc>
                <a:spcPct val="110000"/>
              </a:lnSpc>
              <a:spcBef>
                <a:spcPts val="0"/>
              </a:spcBef>
              <a:spcAft>
                <a:spcPts val="0"/>
              </a:spcAft>
              <a:buNone/>
            </a:pPr>
            <a:r>
              <a:rPr sz="1600" b="0" i="0">
                <a:solidFill>
                  <a:srgbClr val="F5F1E6"/>
                </a:solidFill>
                <a:latin typeface="Aptos"/>
              </a:rPr>
              <a:t>step test on every</a:t>
            </a:r>
          </a:p>
          <a:p>
            <a:pPr marL="0" indent="0" algn="ctr">
              <a:lnSpc>
                <a:spcPct val="110000"/>
              </a:lnSpc>
              <a:spcBef>
                <a:spcPts val="0"/>
              </a:spcBef>
              <a:spcAft>
                <a:spcPts val="0"/>
              </a:spcAft>
              <a:buNone/>
            </a:pPr>
            <a:r>
              <a:rPr sz="1600" b="0" i="0">
                <a:solidFill>
                  <a:srgbClr val="F5F1E6"/>
                </a:solidFill>
                <a:latin typeface="Aptos"/>
              </a:rPr>
              <a:t>lit cell → change events</a:t>
            </a:r>
          </a:p>
        </p:txBody>
      </p:sp>
      <p:cxnSp>
        <p:nvCxnSpPr>
          <p:cNvPr id="11" name="Connector 10"/>
          <p:cNvCxnSpPr/>
          <p:nvPr/>
        </p:nvCxnSpPr>
        <p:spPr>
          <a:xfrm>
            <a:off x="8778240"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9134856"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4 · Machine learning</a:t>
            </a:r>
          </a:p>
          <a:p>
            <a:pPr marL="0" indent="0" algn="ctr">
              <a:lnSpc>
                <a:spcPct val="110000"/>
              </a:lnSpc>
              <a:spcBef>
                <a:spcPts val="0"/>
              </a:spcBef>
              <a:spcAft>
                <a:spcPts val="0"/>
              </a:spcAft>
              <a:buNone/>
            </a:pPr>
            <a:r>
              <a:rPr sz="1600" b="0" i="0">
                <a:solidFill>
                  <a:srgbClr val="F5F1E6"/>
                </a:solidFill>
                <a:latin typeface="Aptos"/>
              </a:rPr>
              <a:t>LightGBM forecast</a:t>
            </a:r>
          </a:p>
          <a:p>
            <a:pPr marL="0" indent="0" algn="ctr">
              <a:lnSpc>
                <a:spcPct val="110000"/>
              </a:lnSpc>
              <a:spcBef>
                <a:spcPts val="0"/>
              </a:spcBef>
              <a:spcAft>
                <a:spcPts val="0"/>
              </a:spcAft>
              <a:buNone/>
            </a:pPr>
            <a:r>
              <a:rPr sz="1600" b="0" i="0">
                <a:solidFill>
                  <a:srgbClr val="F5F1E6"/>
                </a:solidFill>
                <a:latin typeface="Aptos"/>
              </a:rPr>
              <a:t>of where light grows</a:t>
            </a:r>
          </a:p>
        </p:txBody>
      </p:sp>
      <p:sp>
        <p:nvSpPr>
          <p:cNvPr id="13" name="Rectangle 12"/>
          <p:cNvSpPr/>
          <p:nvPr/>
        </p:nvSpPr>
        <p:spPr>
          <a:xfrm>
            <a:off x="6400800" y="3703320"/>
            <a:ext cx="5239512"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2034 sky and observatory site ranking</a:t>
            </a:r>
          </a:p>
        </p:txBody>
      </p:sp>
      <p:sp>
        <p:nvSpPr>
          <p:cNvPr id="14" name="Rectangle 13"/>
          <p:cNvSpPr/>
          <p:nvPr/>
        </p:nvSpPr>
        <p:spPr>
          <a:xfrm>
            <a:off x="3520440" y="3703320"/>
            <a:ext cx="2651760"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change-events map</a:t>
            </a:r>
          </a:p>
        </p:txBody>
      </p:sp>
      <p:sp>
        <p:nvSpPr>
          <p:cNvPr id="15" name="Rectangle 14"/>
          <p:cNvSpPr/>
          <p:nvPr/>
        </p:nvSpPr>
        <p:spPr>
          <a:xfrm>
            <a:off x="548640" y="4617720"/>
            <a:ext cx="11091672" cy="1691640"/>
          </a:xfrm>
          <a:prstGeom prst="roundRect">
            <a:avLst>
              <a:gd name="adj" fmla="val 4000"/>
            </a:avLst>
          </a:prstGeom>
          <a:solidFill>
            <a:srgbClr val="0A0F1C"/>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7240" y="4709160"/>
            <a:ext cx="100584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1" i="0">
                <a:solidFill>
                  <a:srgbClr val="F6B44B"/>
                </a:solidFill>
                <a:latin typeface="Aptos"/>
              </a:rPr>
              <a:t>NOT AI: physics and explicit rules you can inspect</a:t>
            </a:r>
          </a:p>
        </p:txBody>
      </p:sp>
      <p:sp>
        <p:nvSpPr>
          <p:cNvPr id="17" name="TextBox 16"/>
          <p:cNvSpPr txBox="1"/>
          <p:nvPr/>
        </p:nvSpPr>
        <p:spPr>
          <a:xfrm>
            <a:off x="77724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Sky brightness</a:t>
            </a:r>
            <a:r>
              <a:rPr sz="1700" b="0" i="0">
                <a:solidFill>
                  <a:srgbClr val="D9D2BD"/>
                </a:solidFill>
                <a:latin typeface="Aptos"/>
              </a:rPr>
              <a:t>: atmospheric scattering physics</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Scenario effects</a:t>
            </a:r>
            <a:r>
              <a:rPr sz="1700" b="0" i="0">
                <a:solidFill>
                  <a:srgbClr val="D9D2BD"/>
                </a:solidFill>
                <a:latin typeface="Aptos"/>
              </a:rPr>
              <a:t>: published fixture rules</a:t>
            </a:r>
          </a:p>
        </p:txBody>
      </p:sp>
      <p:sp>
        <p:nvSpPr>
          <p:cNvPr id="18" name="TextBox 17"/>
          <p:cNvSpPr txBox="1"/>
          <p:nvPr/>
        </p:nvSpPr>
        <p:spPr>
          <a:xfrm>
            <a:off x="630936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Site ranking</a:t>
            </a:r>
            <a:r>
              <a:rPr sz="1700" b="0" i="0">
                <a:solidFill>
                  <a:srgbClr val="D9D2BD"/>
                </a:solidFill>
                <a:latin typeface="Aptos"/>
              </a:rPr>
              <a:t>: weighted sum, weights you set</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Costs</a:t>
            </a:r>
            <a:r>
              <a:rPr sz="1700" b="0" i="0">
                <a:solidFill>
                  <a:srgbClr val="D9D2BD"/>
                </a:solidFill>
                <a:latin typeface="Aptos"/>
              </a:rPr>
              <a:t>: unit prices × fixture counts</a:t>
            </a:r>
          </a:p>
        </p:txBody>
      </p:sp>
      <p:pic>
        <p:nvPicPr>
          <p:cNvPr id="19" name="Picture 18"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data: 13 years of NASA night lights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16</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NASA Black Marble (</a:t>
            </a:r>
            <a:r>
              <a:rPr sz="1900" b="1" i="0">
                <a:solidFill>
                  <a:srgbClr val="F6B44B"/>
                </a:solidFill>
                <a:latin typeface="Aptos"/>
              </a:rPr>
              <a:t>VIIRS VNP46A2</a:t>
            </a:r>
            <a:r>
              <a:rPr sz="1900" b="0" i="0">
                <a:solidFill>
                  <a:srgbClr val="D9D2BD"/>
                </a:solidFill>
                <a:latin typeface="Aptos"/>
              </a:rPr>
              <a:t>): nightly, moonlight- and angle-corrected, ~500 m</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Keep cloud-free, high-quality nights; </a:t>
            </a:r>
            <a:r>
              <a:rPr sz="1900" b="1" i="0">
                <a:solidFill>
                  <a:srgbClr val="F6B44B"/>
                </a:solidFill>
                <a:latin typeface="Aptos"/>
              </a:rPr>
              <a:t>one median per year</a:t>
            </a:r>
            <a:r>
              <a:rPr sz="1900" b="0" i="0">
                <a:solidFill>
                  <a:srgbClr val="D9D2BD"/>
                </a:solidFill>
                <a:latin typeface="Aptos"/>
              </a:rPr>
              <a:t> per cell, 2012–2024</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Pulled through </a:t>
            </a:r>
            <a:r>
              <a:rPr sz="1900" b="1" i="0">
                <a:solidFill>
                  <a:srgbClr val="F6B44B"/>
                </a:solidFill>
                <a:latin typeface="Aptos"/>
              </a:rPr>
              <a:t>Google Earth Engine</a:t>
            </a:r>
            <a:r>
              <a:rPr sz="1900" b="0" i="0">
                <a:solidFill>
                  <a:srgbClr val="D9D2BD"/>
                </a:solidFill>
                <a:latin typeface="Aptos"/>
              </a:rPr>
              <a:t>'s free noncommercial tier in ~12 minutes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 2024 layer also tells the physics model where private lighting is</a:t>
            </a:r>
          </a:p>
        </p:txBody>
      </p:sp>
      <p:pic>
        <p:nvPicPr>
          <p:cNvPr id="7" name="16_viir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VIIRS layer: yearly median radiance with the airglow background removed; the slider steps through 2012–2024.</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3</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Lesson 1: check the data before the model</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17</a:t>
            </a:r>
          </a:p>
        </p:txBody>
      </p:sp>
      <p:sp>
        <p:nvSpPr>
          <p:cNvPr id="6" name="TextBox 5"/>
          <p:cNvSpPr txBox="1"/>
          <p:nvPr/>
        </p:nvSpPr>
        <p:spPr>
          <a:xfrm>
            <a:off x="548640" y="1463040"/>
            <a:ext cx="475488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First pull came back </a:t>
            </a:r>
            <a:r>
              <a:rPr sz="1900" b="1" i="0">
                <a:solidFill>
                  <a:srgbClr val="F6B44B"/>
                </a:solidFill>
                <a:latin typeface="Aptos"/>
              </a:rPr>
              <a:t>10× too dark</a:t>
            </a:r>
            <a:r>
              <a:rPr sz="1900" b="0" i="0">
                <a:solidFill>
                  <a:srgbClr val="D9D2BD"/>
                </a:solidFill>
                <a:latin typeface="Aptos"/>
              </a:rPr>
              <a:t>: a scale factor applied twice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Then forests and wetlands “brightened” </a:t>
            </a:r>
            <a:r>
              <a:rPr sz="1900" b="1" i="0">
                <a:solidFill>
                  <a:srgbClr val="F6B44B"/>
                </a:solidFill>
                <a:latin typeface="Aptos"/>
              </a:rPr>
              <a:t>70–120%</a:t>
            </a:r>
            <a:r>
              <a:rPr sz="1900" b="0" i="0">
                <a:solidFill>
                  <a:srgbClr val="D9D2BD"/>
                </a:solidFill>
                <a:latin typeface="Aptos"/>
              </a:rPr>
              <a:t> from 2020 to 2023</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Cause: </a:t>
            </a:r>
            <a:r>
              <a:rPr sz="1900" b="1" i="0">
                <a:solidFill>
                  <a:srgbClr val="F6B44B"/>
                </a:solidFill>
                <a:latin typeface="Aptos"/>
              </a:rPr>
              <a:t>airglow</a:t>
            </a:r>
            <a:r>
              <a:rPr sz="1900" b="0" i="0">
                <a:solidFill>
                  <a:srgbClr val="D9D2BD"/>
                </a:solidFill>
                <a:latin typeface="Aptos"/>
              </a:rPr>
              <a:t>, upper-atmosphere light that follows the 11-year solar cycle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Fix: subtract each year's background, the median of the darkest fifth of the region, before any model sees the data</a:t>
            </a:r>
          </a:p>
        </p:txBody>
      </p:sp>
      <p:sp>
        <p:nvSpPr>
          <p:cNvPr id="7" name="TextBox 6"/>
          <p:cNvSpPr txBox="1"/>
          <p:nvPr/>
        </p:nvSpPr>
        <p:spPr>
          <a:xfrm>
            <a:off x="5760720" y="1417320"/>
            <a:ext cx="5852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Background glow over unlit land, nW cm⁻² sr⁻¹</a:t>
            </a:r>
          </a:p>
        </p:txBody>
      </p:sp>
      <p:graphicFrame>
        <p:nvGraphicFramePr>
          <p:cNvPr id="8" name="Chart 7"/>
          <p:cNvGraphicFramePr>
            <a:graphicFrameLocks noGrp="1"/>
          </p:cNvGraphicFramePr>
          <p:nvPr/>
        </p:nvGraphicFramePr>
        <p:xfrm>
          <a:off x="5669280" y="1691640"/>
          <a:ext cx="59893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760720" y="4892040"/>
            <a:ext cx="5852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Solar minimum 2019–20: 0.10 · rising solar activity 2023: 0.33</a:t>
            </a:r>
          </a:p>
        </p:txBody>
      </p:sp>
      <p:pic>
        <p:nvPicPr>
          <p:cNvPr id="10" name="Picture 9" descr="airglow_light.png"/>
          <p:cNvPicPr>
            <a:picLocks noChangeAspect="1"/>
          </p:cNvPicPr>
          <p:nvPr/>
        </p:nvPicPr>
        <p:blipFill>
          <a:blip r:embed="rId4"/>
          <a:stretch>
            <a:fillRect/>
          </a:stretch>
        </p:blipFill>
        <p:spPr>
          <a:xfrm>
            <a:off x="5760720" y="5303520"/>
            <a:ext cx="5852160" cy="385151"/>
          </a:xfrm>
          <a:prstGeom prst="rect">
            <a:avLst/>
          </a:prstGeom>
        </p:spPr>
      </p:pic>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4</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Revisiting the 19% estimate with calibrated satellite data</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18</a:t>
            </a:r>
          </a:p>
        </p:txBody>
      </p:sp>
      <p:sp>
        <p:nvSpPr>
          <p:cNvPr id="6" name="TextBox 5"/>
          <p:cNvSpPr txBox="1"/>
          <p:nvPr/>
        </p:nvSpPr>
        <p:spPr>
          <a:xfrm>
            <a:off x="548640" y="1463040"/>
            <a:ext cx="4846320" cy="2651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AI analysis of NOAA night imagery, 2012 → 2024: </a:t>
            </a:r>
            <a:r>
              <a:rPr sz="1700" b="1" i="0">
                <a:solidFill>
                  <a:srgbClr val="F6B44B"/>
                </a:solidFill>
                <a:latin typeface="Aptos"/>
              </a:rPr>
              <a:t>≈19% brighter</a:t>
            </a:r>
            <a:r>
              <a:rPr sz="1700" b="0" i="0">
                <a:solidFill>
                  <a:srgbClr val="D9D2BD"/>
                </a:solidFill>
                <a:latin typeface="Aptos"/>
              </a:rPr>
              <a:t> (v1)</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Re-measured in calibrated radiance, 2013–24: the </a:t>
            </a:r>
            <a:r>
              <a:rPr sz="1700" b="1" i="0">
                <a:solidFill>
                  <a:srgbClr val="F6B44B"/>
                </a:solidFill>
                <a:latin typeface="Aptos"/>
              </a:rPr>
              <a:t>region around Alachua County rose ~20%</a:t>
            </a:r>
            <a:r>
              <a:rPr sz="1700" b="0" i="0">
                <a:solidFill>
                  <a:srgbClr val="D9D2BD"/>
                </a:solidFill>
                <a:latin typeface="Aptos"/>
              </a:rPr>
              <a:t> (NOAA) or </a:t>
            </a:r>
            <a:r>
              <a:rPr sz="1700" b="1" i="0">
                <a:solidFill>
                  <a:srgbClr val="F6B44B"/>
                </a:solidFill>
                <a:latin typeface="Aptos"/>
              </a:rPr>
              <a:t>~13%</a:t>
            </a:r>
            <a:r>
              <a:rPr sz="1700" b="0" i="0">
                <a:solidFill>
                  <a:srgbClr val="D9D2BD"/>
                </a:solidFill>
                <a:latin typeface="Aptos"/>
              </a:rPr>
              <a:t> (NASA)</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Inside the county line: </a:t>
            </a:r>
            <a:r>
              <a:rPr sz="1700" b="1" i="0">
                <a:solidFill>
                  <a:srgbClr val="F6B44B"/>
                </a:solidFill>
                <a:latin typeface="Aptos"/>
              </a:rPr>
              <a:t>3–6%</a:t>
            </a:r>
            <a:r>
              <a:rPr sz="1700" b="0" i="0">
                <a:solidFill>
                  <a:srgbClr val="D9D2BD"/>
                </a:solidFill>
                <a:latin typeface="Aptos"/>
              </a:rPr>
              <a:t>; around Gainesville ≈5%. Growth concentrates along I-75 and around Ocala</a:t>
            </a:r>
          </a:p>
        </p:txBody>
      </p:sp>
      <p:graphicFrame>
        <p:nvGraphicFramePr>
          <p:cNvPr id="7" name="Table 6"/>
          <p:cNvGraphicFramePr>
            <a:graphicFrameLocks noGrp="1"/>
          </p:cNvGraphicFramePr>
          <p:nvPr/>
        </p:nvGraphicFramePr>
        <p:xfrm>
          <a:off x="548640" y="4160520"/>
          <a:ext cx="4846320" cy="2057400"/>
        </p:xfrm>
        <a:graphic>
          <a:graphicData uri="http://schemas.openxmlformats.org/drawingml/2006/table">
            <a:tbl>
              <a:tblPr>
                <a:tableStyleId>{5940675A-B579-460E-94D1-54222C63F5DA}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14350">
                <a:tc>
                  <a:txBody>
                    <a:bodyPr/>
                    <a:lstStyle/>
                    <a:p>
                      <a:pPr algn="l"/>
                      <a:r>
                        <a:rPr sz="1400" b="1" i="0">
                          <a:solidFill>
                            <a:srgbClr val="F6B44B"/>
                          </a:solidFill>
                          <a:latin typeface="Aptos"/>
                        </a:rPr>
                        <a:t>Calibrated radiance, 2013 → 2024</a:t>
                      </a:r>
                    </a:p>
                  </a:txBody>
                  <a:tcPr marL="73152" marR="73152" marT="27432" marB="27432" anchor="ctr">
                    <a:solidFill>
                      <a:srgbClr val="1A2642"/>
                    </a:solidFill>
                  </a:tcPr>
                </a:tc>
                <a:tc>
                  <a:txBody>
                    <a:bodyPr/>
                    <a:lstStyle/>
                    <a:p>
                      <a:pPr algn="r"/>
                      <a:r>
                        <a:rPr sz="1400" b="1" i="0">
                          <a:solidFill>
                            <a:srgbClr val="F6B44B"/>
                          </a:solidFill>
                          <a:latin typeface="Aptos"/>
                        </a:rPr>
                        <a:t>NOAA EOG</a:t>
                      </a:r>
                    </a:p>
                  </a:txBody>
                  <a:tcPr marL="73152" marR="73152" marT="27432" marB="27432" anchor="ctr">
                    <a:solidFill>
                      <a:srgbClr val="1A2642"/>
                    </a:solidFill>
                  </a:tcPr>
                </a:tc>
                <a:tc>
                  <a:txBody>
                    <a:bodyPr/>
                    <a:lstStyle/>
                    <a:p>
                      <a:pPr algn="r"/>
                      <a:r>
                        <a:rPr sz="1400" b="1" i="0">
                          <a:solidFill>
                            <a:srgbClr val="F6B44B"/>
                          </a:solidFill>
                          <a:latin typeface="Aptos"/>
                        </a:rPr>
                        <a:t>NASA BM</a:t>
                      </a:r>
                    </a:p>
                  </a:txBody>
                  <a:tcPr marL="73152" marR="73152" marT="27432" marB="27432" anchor="ctr">
                    <a:solidFill>
                      <a:srgbClr val="1A2642"/>
                    </a:solidFill>
                  </a:tcPr>
                </a:tc>
                <a:extLst>
                  <a:ext uri="{0D108BD9-81ED-4DB2-BD59-A6C34878D82A}">
                    <a16:rowId xmlns:a16="http://schemas.microsoft.com/office/drawing/2014/main" val="10000"/>
                  </a:ext>
                </a:extLst>
              </a:tr>
              <a:tr h="514350">
                <a:tc>
                  <a:txBody>
                    <a:bodyPr/>
                    <a:lstStyle/>
                    <a:p>
                      <a:pPr algn="l"/>
                      <a:r>
                        <a:rPr sz="1400" b="1" i="0">
                          <a:solidFill>
                            <a:srgbClr val="F6B44B"/>
                          </a:solidFill>
                          <a:latin typeface="Aptos"/>
                        </a:rPr>
                        <a:t>Region around the county</a:t>
                      </a:r>
                    </a:p>
                  </a:txBody>
                  <a:tcPr marL="73152" marR="73152" marT="27432" marB="27432" anchor="ctr">
                    <a:solidFill>
                      <a:srgbClr val="0A0F1C"/>
                    </a:solidFill>
                  </a:tcPr>
                </a:tc>
                <a:tc>
                  <a:txBody>
                    <a:bodyPr/>
                    <a:lstStyle/>
                    <a:p>
                      <a:pPr algn="r"/>
                      <a:r>
                        <a:rPr sz="1400" b="1" i="0">
                          <a:solidFill>
                            <a:srgbClr val="F6B44B"/>
                          </a:solidFill>
                          <a:latin typeface="Aptos"/>
                        </a:rPr>
                        <a:t>+20.5%</a:t>
                      </a:r>
                    </a:p>
                  </a:txBody>
                  <a:tcPr marL="73152" marR="73152" marT="27432" marB="27432" anchor="ctr">
                    <a:solidFill>
                      <a:srgbClr val="0A0F1C"/>
                    </a:solidFill>
                  </a:tcPr>
                </a:tc>
                <a:tc>
                  <a:txBody>
                    <a:bodyPr/>
                    <a:lstStyle/>
                    <a:p>
                      <a:pPr algn="r"/>
                      <a:r>
                        <a:rPr sz="1400" b="1" i="0">
                          <a:solidFill>
                            <a:srgbClr val="F6B44B"/>
                          </a:solidFill>
                          <a:latin typeface="Aptos"/>
                        </a:rPr>
                        <a:t>+12.8%</a:t>
                      </a:r>
                    </a:p>
                  </a:txBody>
                  <a:tcPr marL="73152" marR="73152" marT="27432" marB="27432" anchor="ctr">
                    <a:solidFill>
                      <a:srgbClr val="0A0F1C"/>
                    </a:solidFill>
                  </a:tcPr>
                </a:tc>
                <a:extLst>
                  <a:ext uri="{0D108BD9-81ED-4DB2-BD59-A6C34878D82A}">
                    <a16:rowId xmlns:a16="http://schemas.microsoft.com/office/drawing/2014/main" val="10001"/>
                  </a:ext>
                </a:extLst>
              </a:tr>
              <a:tr h="514350">
                <a:tc>
                  <a:txBody>
                    <a:bodyPr/>
                    <a:lstStyle/>
                    <a:p>
                      <a:pPr algn="l"/>
                      <a:r>
                        <a:rPr sz="1400" b="0" i="0">
                          <a:solidFill>
                            <a:srgbClr val="F5F1E6"/>
                          </a:solidFill>
                          <a:latin typeface="Aptos"/>
                        </a:rPr>
                        <a:t>Alachua County</a:t>
                      </a:r>
                    </a:p>
                  </a:txBody>
                  <a:tcPr marL="73152" marR="73152" marT="27432" marB="27432" anchor="ctr">
                    <a:solidFill>
                      <a:srgbClr val="0A0F1C"/>
                    </a:solidFill>
                  </a:tcPr>
                </a:tc>
                <a:tc>
                  <a:txBody>
                    <a:bodyPr/>
                    <a:lstStyle/>
                    <a:p>
                      <a:pPr algn="r"/>
                      <a:r>
                        <a:rPr sz="1400" b="0" i="0">
                          <a:solidFill>
                            <a:srgbClr val="F5F1E6"/>
                          </a:solidFill>
                          <a:latin typeface="Aptos"/>
                        </a:rPr>
                        <a:t>+6.1%</a:t>
                      </a:r>
                    </a:p>
                  </a:txBody>
                  <a:tcPr marL="73152" marR="73152" marT="27432" marB="27432" anchor="ctr">
                    <a:solidFill>
                      <a:srgbClr val="0A0F1C"/>
                    </a:solidFill>
                  </a:tcPr>
                </a:tc>
                <a:tc>
                  <a:txBody>
                    <a:bodyPr/>
                    <a:lstStyle/>
                    <a:p>
                      <a:pPr algn="r"/>
                      <a:r>
                        <a:rPr sz="1400" b="0" i="0">
                          <a:solidFill>
                            <a:srgbClr val="F5F1E6"/>
                          </a:solidFill>
                          <a:latin typeface="Aptos"/>
                        </a:rPr>
                        <a:t>+2.9%</a:t>
                      </a:r>
                    </a:p>
                  </a:txBody>
                  <a:tcPr marL="73152" marR="73152" marT="27432" marB="27432" anchor="ctr">
                    <a:solidFill>
                      <a:srgbClr val="0A0F1C"/>
                    </a:solidFill>
                  </a:tcPr>
                </a:tc>
                <a:extLst>
                  <a:ext uri="{0D108BD9-81ED-4DB2-BD59-A6C34878D82A}">
                    <a16:rowId xmlns:a16="http://schemas.microsoft.com/office/drawing/2014/main" val="10002"/>
                  </a:ext>
                </a:extLst>
              </a:tr>
              <a:tr h="514350">
                <a:tc>
                  <a:txBody>
                    <a:bodyPr/>
                    <a:lstStyle/>
                    <a:p>
                      <a:pPr algn="l"/>
                      <a:r>
                        <a:rPr sz="1400" b="0" i="0">
                          <a:solidFill>
                            <a:srgbClr val="F5F1E6"/>
                          </a:solidFill>
                          <a:latin typeface="Aptos"/>
                        </a:rPr>
                        <a:t>Gainesville</a:t>
                      </a:r>
                    </a:p>
                  </a:txBody>
                  <a:tcPr marL="73152" marR="73152" marT="27432" marB="27432" anchor="ctr">
                    <a:solidFill>
                      <a:srgbClr val="0A0F1C"/>
                    </a:solidFill>
                  </a:tcPr>
                </a:tc>
                <a:tc>
                  <a:txBody>
                    <a:bodyPr/>
                    <a:lstStyle/>
                    <a:p>
                      <a:pPr algn="r"/>
                      <a:r>
                        <a:rPr sz="1400" b="0" i="0">
                          <a:solidFill>
                            <a:srgbClr val="F5F1E6"/>
                          </a:solidFill>
                          <a:latin typeface="Aptos"/>
                        </a:rPr>
                        <a:t>+5.0%</a:t>
                      </a:r>
                    </a:p>
                  </a:txBody>
                  <a:tcPr marL="73152" marR="73152" marT="27432" marB="27432" anchor="ctr">
                    <a:solidFill>
                      <a:srgbClr val="0A0F1C"/>
                    </a:solidFill>
                  </a:tcPr>
                </a:tc>
                <a:tc>
                  <a:txBody>
                    <a:bodyPr/>
                    <a:lstStyle/>
                    <a:p>
                      <a:pPr algn="r"/>
                      <a:r>
                        <a:rPr sz="1400" b="0" i="0">
                          <a:solidFill>
                            <a:srgbClr val="F5F1E6"/>
                          </a:solidFill>
                          <a:latin typeface="Aptos"/>
                        </a:rPr>
                        <a:t>+4.8%</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pic>
        <p:nvPicPr>
          <p:cNvPr id="8" name="18_tren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715000" y="2059686"/>
            <a:ext cx="5925312" cy="3332988"/>
          </a:xfrm>
          <a:prstGeom prst="rect">
            <a:avLst/>
          </a:prstGeom>
        </p:spPr>
      </p:pic>
      <p:sp>
        <p:nvSpPr>
          <p:cNvPr id="9" name="TextBox 8"/>
          <p:cNvSpPr txBox="1"/>
          <p:nvPr/>
        </p:nvSpPr>
        <p:spPr>
          <a:xfrm>
            <a:off x="5715000" y="5447538"/>
            <a:ext cx="592531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Trend 2012–24 layer: change from 2012–14 to 2022–24 for lit cells; growth along I-75 and around Ocala.</a:t>
            </a:r>
          </a:p>
        </p:txBody>
      </p:sp>
      <p:pic>
        <p:nvPicPr>
          <p:cNvPr id="10" name="Picture 9"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5</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It found new development on its own</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19</a:t>
            </a:r>
          </a:p>
        </p:txBody>
      </p:sp>
      <p:sp>
        <p:nvSpPr>
          <p:cNvPr id="6" name="TextBox 5"/>
          <p:cNvSpPr txBox="1"/>
          <p:nvPr/>
        </p:nvSpPr>
        <p:spPr>
          <a:xfrm>
            <a:off x="548640" y="1463040"/>
            <a:ext cx="387065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28,986</a:t>
            </a:r>
            <a:r>
              <a:rPr sz="1800" b="0" i="0">
                <a:solidFill>
                  <a:srgbClr val="D9D2BD"/>
                </a:solidFill>
                <a:latin typeface="Aptos"/>
              </a:rPr>
              <a:t> lit cells tested for a sudden step · </a:t>
            </a:r>
            <a:r>
              <a:rPr sz="1800" b="1" i="0">
                <a:solidFill>
                  <a:srgbClr val="F6B44B"/>
                </a:solidFill>
                <a:latin typeface="Aptos"/>
              </a:rPr>
              <a:t>1,493</a:t>
            </a:r>
            <a:r>
              <a:rPr sz="1800" b="0" i="0">
                <a:solidFill>
                  <a:srgbClr val="D9D2BD"/>
                </a:solidFill>
                <a:latin typeface="Aptos"/>
              </a:rPr>
              <a:t> flagged as candidates · ≈ 29 expected by chance</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#1 event, near I-75 and Archer Road: </a:t>
            </a:r>
            <a:r>
              <a:rPr sz="1800" b="1" i="0">
                <a:solidFill>
                  <a:srgbClr val="F6B44B"/>
                </a:solidFill>
                <a:latin typeface="Aptos"/>
              </a:rPr>
              <a:t>28 → 91 nW</a:t>
            </a:r>
            <a:r>
              <a:rPr sz="1800" b="0" i="0">
                <a:solidFill>
                  <a:srgbClr val="D9D2BD"/>
                </a:solidFill>
                <a:latin typeface="Aptos"/>
              </a:rPr>
              <a:t>, step in 2016 (F = 176.8)</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That's </a:t>
            </a:r>
            <a:r>
              <a:rPr sz="1800" b="1" i="0">
                <a:solidFill>
                  <a:srgbClr val="F6B44B"/>
                </a:solidFill>
                <a:latin typeface="Aptos"/>
              </a:rPr>
              <a:t>Celebration Pointe</a:t>
            </a:r>
            <a:r>
              <a:rPr sz="1800" b="0" i="0">
                <a:solidFill>
                  <a:srgbClr val="D9D2BD"/>
                </a:solidFill>
                <a:latin typeface="Aptos"/>
              </a:rPr>
              <a:t>: Bass Pro Shops opened there in November 2016</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#2: dark land west of Ocala lit up in 2021 (0.5 → 53.5 nW)</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Nobody told the model where to look; it knows light changed, not what was built</a:t>
            </a:r>
          </a:p>
        </p:txBody>
      </p:sp>
      <p:pic>
        <p:nvPicPr>
          <p:cNvPr id="7" name="19_ai_event1.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922215" y="1508760"/>
            <a:ext cx="6720840" cy="3780472"/>
          </a:xfrm>
          <a:prstGeom prst="rect">
            <a:avLst/>
          </a:prstGeom>
        </p:spPr>
      </p:pic>
      <p:sp>
        <p:nvSpPr>
          <p:cNvPr id="8" name="TextBox 7"/>
          <p:cNvSpPr txBox="1"/>
          <p:nvPr/>
        </p:nvSpPr>
        <p:spPr>
          <a:xfrm>
            <a:off x="4922215" y="5344096"/>
            <a:ext cx="67208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AI tab: clicking the top event flies the map to it and shows the cell's 13 years with the fitted step.</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6</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detector can't see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20</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A lit cell's yearly values scatter </a:t>
            </a:r>
            <a:r>
              <a:rPr sz="1900" b="1" i="0">
                <a:solidFill>
                  <a:srgbClr val="F6B44B"/>
                </a:solidFill>
                <a:latin typeface="Aptos"/>
              </a:rPr>
              <a:t>≈ 10%</a:t>
            </a:r>
            <a:r>
              <a:rPr sz="1900" b="0" i="0">
                <a:solidFill>
                  <a:srgbClr val="D9D2BD"/>
                </a:solidFill>
                <a:latin typeface="Aptos"/>
              </a:rPr>
              <a:t> around its trend</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At that noise a +50% step is caught </a:t>
            </a:r>
            <a:r>
              <a:rPr sz="1900" b="1" i="0">
                <a:solidFill>
                  <a:srgbClr val="F6B44B"/>
                </a:solidFill>
                <a:latin typeface="Aptos"/>
              </a:rPr>
              <a:t>10%</a:t>
            </a:r>
            <a:r>
              <a:rPr sz="1900" b="0" i="0">
                <a:solidFill>
                  <a:srgbClr val="D9D2BD"/>
                </a:solidFill>
                <a:latin typeface="Aptos"/>
              </a:rPr>
              <a:t> of the time, a −30% step </a:t>
            </a:r>
            <a:r>
              <a:rPr sz="1900" b="1" i="0">
                <a:solidFill>
                  <a:srgbClr val="F6B44B"/>
                </a:solidFill>
                <a:latin typeface="Aptos"/>
              </a:rPr>
              <a:t>6%</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So it finds large new lighting and </a:t>
            </a:r>
            <a:r>
              <a:rPr sz="1900" b="1" i="0">
                <a:solidFill>
                  <a:srgbClr val="F6B44B"/>
                </a:solidFill>
                <a:latin typeface="Aptos"/>
              </a:rPr>
              <a:t>misses most LED retrofits</a:t>
            </a:r>
            <a:r>
              <a:rPr sz="1900" b="0" i="0">
                <a:solidFill>
                  <a:srgbClr val="D9D2BD"/>
                </a:solidFill>
                <a:latin typeface="Aptos"/>
              </a:rPr>
              <a:t> (20–40% drops)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VIIRS is nearly blind below 500 nm: it misses most of a white LED's blue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Next: monthly data and utility work orders</a:t>
            </a:r>
          </a:p>
        </p:txBody>
      </p:sp>
      <p:sp>
        <p:nvSpPr>
          <p:cNvPr id="7" name="TextBox 6"/>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Chance a step is flagged, at the median noise (9.7%)</a:t>
            </a:r>
          </a:p>
        </p:txBody>
      </p:sp>
      <p:graphicFrame>
        <p:nvGraphicFramePr>
          <p:cNvPr id="8" name="Chart 7"/>
          <p:cNvGraphicFramePr>
            <a:graphicFrameLocks noGrp="1"/>
          </p:cNvGraphicFramePr>
          <p:nvPr/>
        </p:nvGraphicFramePr>
        <p:xfrm>
          <a:off x="5760720" y="1737360"/>
          <a:ext cx="58978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p:cNvSpPr txBox="1"/>
          <p:nvPr/>
        </p:nvSpPr>
        <p:spPr>
          <a:xfrm>
            <a:off x="5852160" y="5760720"/>
            <a:ext cx="5760720" cy="5029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From 20,000 simulated series per case with a step in 2019. Large new development (+100% and more) is what it reliably finds.</a:t>
            </a:r>
          </a:p>
        </p:txBody>
      </p:sp>
      <p:pic>
        <p:nvPicPr>
          <p:cNvPr id="10" name="Picture 9"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7</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back-test: did it beat “no change”?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21</a:t>
            </a:r>
          </a:p>
        </p:txBody>
      </p:sp>
      <p:sp>
        <p:nvSpPr>
          <p:cNvPr id="6" name="TextBox 5"/>
          <p:cNvSpPr txBox="1"/>
          <p:nvPr/>
        </p:nvSpPr>
        <p:spPr>
          <a:xfrm>
            <a:off x="548640" y="1463040"/>
            <a:ext cx="4892040" cy="2560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Trained on 2012 → 2018, asked for </a:t>
            </a:r>
            <a:r>
              <a:rPr sz="1800" b="1" i="0">
                <a:solidFill>
                  <a:srgbClr val="F6B44B"/>
                </a:solidFill>
                <a:latin typeface="Aptos"/>
              </a:rPr>
              <a:t>2024</a:t>
            </a:r>
            <a:r>
              <a:rPr sz="1800" b="0" i="0">
                <a:solidFill>
                  <a:srgbClr val="D9D2BD"/>
                </a:solidFill>
                <a:latin typeface="Aptos"/>
              </a:rPr>
              <a:t>: years it never saw</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Ties “no change” on brightness: lit areas fell </a:t>
            </a:r>
            <a:r>
              <a:rPr sz="1800" b="1" i="0">
                <a:solidFill>
                  <a:srgbClr val="F6B44B"/>
                </a:solidFill>
                <a:latin typeface="Aptos"/>
              </a:rPr>
              <a:t>3.7%</a:t>
            </a:r>
            <a:r>
              <a:rPr sz="1800" b="0" i="0">
                <a:solidFill>
                  <a:srgbClr val="D9D2BD"/>
                </a:solidFill>
                <a:latin typeface="Aptos"/>
              </a:rPr>
              <a:t> (2012–18), then rose </a:t>
            </a:r>
            <a:r>
              <a:rPr sz="1800" b="1" i="0">
                <a:solidFill>
                  <a:srgbClr val="F6B44B"/>
                </a:solidFill>
                <a:latin typeface="Aptos"/>
              </a:rPr>
              <a:t>20.6%</a:t>
            </a:r>
            <a:r>
              <a:rPr sz="1800" b="0" i="0">
                <a:solidFill>
                  <a:srgbClr val="D9D2BD"/>
                </a:solidFill>
                <a:latin typeface="Aptos"/>
              </a:rPr>
              <a:t> (2018–24)</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It ranks cells modestly well: correlation </a:t>
            </a:r>
            <a:r>
              <a:rPr sz="1800" b="1" i="0">
                <a:solidFill>
                  <a:srgbClr val="F6B44B"/>
                </a:solidFill>
                <a:latin typeface="Aptos"/>
              </a:rPr>
              <a:t>0.35</a:t>
            </a:r>
            <a:r>
              <a:rPr sz="1800" b="0" i="0">
                <a:solidFill>
                  <a:srgbClr val="D9D2BD"/>
                </a:solidFill>
                <a:latin typeface="Aptos"/>
              </a:rPr>
              <a:t>; R² </a:t>
            </a:r>
            <a:r>
              <a:rPr sz="1800" b="1" i="0">
                <a:solidFill>
                  <a:srgbClr val="F6B44B"/>
                </a:solidFill>
                <a:latin typeface="Aptos"/>
              </a:rPr>
              <a:t>0.18</a:t>
            </a:r>
            <a:r>
              <a:rPr sz="1800" b="0" i="0">
                <a:solidFill>
                  <a:srgbClr val="D9D2BD"/>
                </a:solidFill>
                <a:latin typeface="Aptos"/>
              </a:rPr>
              <a:t> on held-out areas</a:t>
            </a:r>
          </a:p>
        </p:txBody>
      </p:sp>
      <p:graphicFrame>
        <p:nvGraphicFramePr>
          <p:cNvPr id="7" name="Table 6"/>
          <p:cNvGraphicFramePr>
            <a:graphicFrameLocks noGrp="1"/>
          </p:cNvGraphicFramePr>
          <p:nvPr/>
        </p:nvGraphicFramePr>
        <p:xfrm>
          <a:off x="548640" y="4206240"/>
          <a:ext cx="4892040" cy="1828800"/>
        </p:xfrm>
        <a:graphic>
          <a:graphicData uri="http://schemas.openxmlformats.org/drawingml/2006/table">
            <a:tbl>
              <a:tblPr>
                <a:tableStyleId>{5940675A-B579-460E-94D1-54222C63F5DA}</a:tableStyleId>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r>
                        <a:rPr sz="1400" b="1" i="0">
                          <a:solidFill>
                            <a:srgbClr val="F6B44B"/>
                          </a:solidFill>
                          <a:latin typeface="Aptos"/>
                        </a:rPr>
                        <a:t>Prediction of 2024</a:t>
                      </a:r>
                    </a:p>
                  </a:txBody>
                  <a:tcPr marL="73152" marR="73152" marT="27432" marB="27432" anchor="ctr">
                    <a:solidFill>
                      <a:srgbClr val="1A2642"/>
                    </a:solidFill>
                  </a:tcPr>
                </a:tc>
                <a:tc>
                  <a:txBody>
                    <a:bodyPr/>
                    <a:lstStyle/>
                    <a:p>
                      <a:pPr algn="r"/>
                      <a:r>
                        <a:rPr sz="1400" b="1" i="0">
                          <a:solidFill>
                            <a:srgbClr val="F6B44B"/>
                          </a:solidFill>
                          <a:latin typeface="Aptos"/>
                        </a:rPr>
                        <a:t>Median error</a:t>
                      </a:r>
                    </a:p>
                  </a:txBody>
                  <a:tcPr marL="73152" marR="73152" marT="27432" marB="27432" anchor="ctr">
                    <a:solidFill>
                      <a:srgbClr val="1A2642"/>
                    </a:solidFill>
                  </a:tcPr>
                </a:tc>
                <a:tc>
                  <a:txBody>
                    <a:bodyPr/>
                    <a:lstStyle/>
                    <a:p>
                      <a:pPr algn="r"/>
                      <a:r>
                        <a:rPr sz="1400" b="1" i="0">
                          <a:solidFill>
                            <a:srgbClr val="F6B44B"/>
                          </a:solidFill>
                          <a:latin typeface="Aptos"/>
                        </a:rPr>
                        <a:t>Log error</a:t>
                      </a:r>
                    </a:p>
                  </a:txBody>
                  <a:tcPr marL="73152" marR="73152" marT="27432" marB="27432" anchor="ctr">
                    <a:solidFill>
                      <a:srgbClr val="1A2642"/>
                    </a:solidFill>
                  </a:tcPr>
                </a:tc>
                <a:extLst>
                  <a:ext uri="{0D108BD9-81ED-4DB2-BD59-A6C34878D82A}">
                    <a16:rowId xmlns:a16="http://schemas.microsoft.com/office/drawing/2014/main" val="10000"/>
                  </a:ext>
                </a:extLst>
              </a:tr>
              <a:tr h="457200">
                <a:tc>
                  <a:txBody>
                    <a:bodyPr/>
                    <a:lstStyle/>
                    <a:p>
                      <a:pPr algn="l"/>
                      <a:r>
                        <a:rPr sz="1400" b="1" i="0">
                          <a:solidFill>
                            <a:srgbClr val="F6B44B"/>
                          </a:solidFill>
                          <a:latin typeface="Aptos"/>
                        </a:rPr>
                        <a:t>LightGBM</a:t>
                      </a:r>
                    </a:p>
                  </a:txBody>
                  <a:tcPr marL="73152" marR="73152" marT="27432" marB="27432" anchor="ctr">
                    <a:solidFill>
                      <a:srgbClr val="0A0F1C"/>
                    </a:solidFill>
                  </a:tcPr>
                </a:tc>
                <a:tc>
                  <a:txBody>
                    <a:bodyPr/>
                    <a:lstStyle/>
                    <a:p>
                      <a:pPr algn="r"/>
                      <a:r>
                        <a:rPr sz="1400" b="1" i="0">
                          <a:solidFill>
                            <a:srgbClr val="F6B44B"/>
                          </a:solidFill>
                          <a:latin typeface="Aptos"/>
                        </a:rPr>
                        <a:t>21.2%</a:t>
                      </a:r>
                    </a:p>
                  </a:txBody>
                  <a:tcPr marL="73152" marR="73152" marT="27432" marB="27432" anchor="ctr">
                    <a:solidFill>
                      <a:srgbClr val="0A0F1C"/>
                    </a:solidFill>
                  </a:tcPr>
                </a:tc>
                <a:tc>
                  <a:txBody>
                    <a:bodyPr/>
                    <a:lstStyle/>
                    <a:p>
                      <a:pPr algn="r"/>
                      <a:r>
                        <a:rPr sz="1400" b="1" i="0">
                          <a:solidFill>
                            <a:srgbClr val="F6B44B"/>
                          </a:solidFill>
                          <a:latin typeface="Aptos"/>
                        </a:rPr>
                        <a:t>0.449</a:t>
                      </a:r>
                    </a:p>
                  </a:txBody>
                  <a:tcPr marL="73152" marR="73152" marT="27432" marB="27432" anchor="ctr">
                    <a:solidFill>
                      <a:srgbClr val="0A0F1C"/>
                    </a:solidFill>
                  </a:tcPr>
                </a:tc>
                <a:extLst>
                  <a:ext uri="{0D108BD9-81ED-4DB2-BD59-A6C34878D82A}">
                    <a16:rowId xmlns:a16="http://schemas.microsoft.com/office/drawing/2014/main" val="10001"/>
                  </a:ext>
                </a:extLst>
              </a:tr>
              <a:tr h="457200">
                <a:tc>
                  <a:txBody>
                    <a:bodyPr/>
                    <a:lstStyle/>
                    <a:p>
                      <a:pPr algn="l"/>
                      <a:r>
                        <a:rPr sz="1400" b="0" i="0">
                          <a:solidFill>
                            <a:srgbClr val="F5F1E6"/>
                          </a:solidFill>
                          <a:latin typeface="Aptos"/>
                        </a:rPr>
                        <a:t>No change (2024 = 2018)</a:t>
                      </a:r>
                    </a:p>
                  </a:txBody>
                  <a:tcPr marL="73152" marR="73152" marT="27432" marB="27432" anchor="ctr">
                    <a:solidFill>
                      <a:srgbClr val="0A0F1C"/>
                    </a:solidFill>
                  </a:tcPr>
                </a:tc>
                <a:tc>
                  <a:txBody>
                    <a:bodyPr/>
                    <a:lstStyle/>
                    <a:p>
                      <a:pPr algn="r"/>
                      <a:r>
                        <a:rPr sz="1400" b="0" i="0">
                          <a:solidFill>
                            <a:srgbClr val="F5F1E6"/>
                          </a:solidFill>
                          <a:latin typeface="Aptos"/>
                        </a:rPr>
                        <a:t>21.2%</a:t>
                      </a:r>
                    </a:p>
                  </a:txBody>
                  <a:tcPr marL="73152" marR="73152" marT="27432" marB="27432" anchor="ctr">
                    <a:solidFill>
                      <a:srgbClr val="0A0F1C"/>
                    </a:solidFill>
                  </a:tcPr>
                </a:tc>
                <a:tc>
                  <a:txBody>
                    <a:bodyPr/>
                    <a:lstStyle/>
                    <a:p>
                      <a:pPr algn="r"/>
                      <a:r>
                        <a:rPr sz="1400" b="0" i="0">
                          <a:solidFill>
                            <a:srgbClr val="F5F1E6"/>
                          </a:solidFill>
                          <a:latin typeface="Aptos"/>
                        </a:rPr>
                        <a:t>0.467</a:t>
                      </a:r>
                    </a:p>
                  </a:txBody>
                  <a:tcPr marL="73152" marR="73152" marT="27432" marB="27432" anchor="ctr">
                    <a:solidFill>
                      <a:srgbClr val="0A0F1C"/>
                    </a:solidFill>
                  </a:tcPr>
                </a:tc>
                <a:extLst>
                  <a:ext uri="{0D108BD9-81ED-4DB2-BD59-A6C34878D82A}">
                    <a16:rowId xmlns:a16="http://schemas.microsoft.com/office/drawing/2014/main" val="10002"/>
                  </a:ext>
                </a:extLst>
              </a:tr>
              <a:tr h="457200">
                <a:tc>
                  <a:txBody>
                    <a:bodyPr/>
                    <a:lstStyle/>
                    <a:p>
                      <a:pPr algn="l"/>
                      <a:r>
                        <a:rPr sz="1400" b="0" i="0">
                          <a:solidFill>
                            <a:srgbClr val="F5F1E6"/>
                          </a:solidFill>
                          <a:latin typeface="Aptos"/>
                        </a:rPr>
                        <a:t>Each cell's own past trend</a:t>
                      </a:r>
                    </a:p>
                  </a:txBody>
                  <a:tcPr marL="73152" marR="73152" marT="27432" marB="27432" anchor="ctr">
                    <a:solidFill>
                      <a:srgbClr val="0A0F1C"/>
                    </a:solidFill>
                  </a:tcPr>
                </a:tc>
                <a:tc>
                  <a:txBody>
                    <a:bodyPr/>
                    <a:lstStyle/>
                    <a:p>
                      <a:pPr algn="r"/>
                      <a:r>
                        <a:rPr sz="1400" b="0" i="0">
                          <a:solidFill>
                            <a:srgbClr val="F5F1E6"/>
                          </a:solidFill>
                          <a:latin typeface="Aptos"/>
                        </a:rPr>
                        <a:t>25.4%</a:t>
                      </a:r>
                    </a:p>
                  </a:txBody>
                  <a:tcPr marL="73152" marR="73152" marT="27432" marB="27432" anchor="ctr">
                    <a:solidFill>
                      <a:srgbClr val="0A0F1C"/>
                    </a:solidFill>
                  </a:tcPr>
                </a:tc>
                <a:tc>
                  <a:txBody>
                    <a:bodyPr/>
                    <a:lstStyle/>
                    <a:p>
                      <a:pPr algn="r"/>
                      <a:r>
                        <a:rPr sz="1400" b="0" i="0">
                          <a:solidFill>
                            <a:srgbClr val="F5F1E6"/>
                          </a:solidFill>
                          <a:latin typeface="Aptos"/>
                        </a:rPr>
                        <a:t>–</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sp>
        <p:nvSpPr>
          <p:cNvPr id="8" name="TextBox 7"/>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Predicted vs observed growth, 2018–24, by tenth of cells</a:t>
            </a:r>
          </a:p>
        </p:txBody>
      </p:sp>
      <p:graphicFrame>
        <p:nvGraphicFramePr>
          <p:cNvPr id="9" name="Chart 8"/>
          <p:cNvGraphicFramePr>
            <a:graphicFrameLocks noGrp="1"/>
          </p:cNvGraphicFramePr>
          <p:nvPr/>
        </p:nvGraphicFramePr>
        <p:xfrm>
          <a:off x="5760720" y="1737360"/>
          <a:ext cx="5897880" cy="4343400"/>
        </p:xfrm>
        <a:graphic>
          <a:graphicData uri="http://schemas.openxmlformats.org/drawingml/2006/chart">
            <c:chart xmlns:c="http://schemas.openxmlformats.org/drawingml/2006/chart" xmlns:r="http://schemas.openxmlformats.org/officeDocument/2006/relationships" r:id="rId3"/>
          </a:graphicData>
        </a:graphic>
      </p:graphicFrame>
      <p:pic>
        <p:nvPicPr>
          <p:cNvPr id="10" name="Picture 9"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8</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How the AI is kept honest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22</a:t>
            </a:r>
          </a:p>
        </p:txBody>
      </p:sp>
      <p:sp>
        <p:nvSpPr>
          <p:cNvPr id="6" name="TextBox 5"/>
          <p:cNvSpPr txBox="1"/>
          <p:nvPr/>
        </p:nvSpPr>
        <p:spPr>
          <a:xfrm>
            <a:off x="548640" y="1463040"/>
            <a:ext cx="51206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Forecast scored only on years it never trained on; a </a:t>
            </a:r>
            <a:r>
              <a:rPr sz="1800" b="1" i="0">
                <a:solidFill>
                  <a:srgbClr val="F6B44B"/>
                </a:solidFill>
                <a:latin typeface="Aptos"/>
              </a:rPr>
              <a:t>unit test fails</a:t>
            </a:r>
            <a:r>
              <a:rPr sz="1800" b="0" i="0">
                <a:solidFill>
                  <a:srgbClr val="D9D2BD"/>
                </a:solidFill>
                <a:latin typeface="Aptos"/>
              </a:rPr>
              <a:t> if they leak into training</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Detector's false-alarm rate checked on simulated noise; steady trends must not count as steps</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The web page </a:t>
            </a:r>
            <a:r>
              <a:rPr sz="1800" b="1" i="0">
                <a:solidFill>
                  <a:srgbClr val="F6B44B"/>
                </a:solidFill>
                <a:latin typeface="Aptos"/>
              </a:rPr>
              <a:t>re-runs the step test</a:t>
            </a:r>
            <a:r>
              <a:rPr sz="1800" b="0" i="0">
                <a:solidFill>
                  <a:srgbClr val="D9D2BD"/>
                </a:solidFill>
                <a:latin typeface="Aptos"/>
              </a:rPr>
              <a:t> for any cell you click; it must match the pipeline on every lit cell</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Sky model vs </a:t>
            </a:r>
            <a:r>
              <a:rPr sz="1800" b="1" i="0">
                <a:solidFill>
                  <a:srgbClr val="F6B44B"/>
                </a:solidFill>
                <a:latin typeface="Aptos"/>
              </a:rPr>
              <a:t>53</a:t>
            </a:r>
            <a:r>
              <a:rPr sz="1800" b="0" i="0">
                <a:solidFill>
                  <a:srgbClr val="D9D2BD"/>
                </a:solidFill>
                <a:latin typeface="Aptos"/>
              </a:rPr>
              <a:t> Globe at Night meter readings never used in any fit: median 0.52 mag</a:t>
            </a:r>
          </a:p>
        </p:txBody>
      </p:sp>
      <p:pic>
        <p:nvPicPr>
          <p:cNvPr id="7" name="Picture 6" descr="crop_honest.jpg"/>
          <p:cNvPicPr>
            <a:picLocks noChangeAspect="1"/>
          </p:cNvPicPr>
          <p:nvPr/>
        </p:nvPicPr>
        <p:blipFill>
          <a:blip r:embed="rId3"/>
          <a:stretch>
            <a:fillRect/>
          </a:stretch>
        </p:blipFill>
        <p:spPr>
          <a:xfrm>
            <a:off x="6035040" y="1508760"/>
            <a:ext cx="5605272" cy="3221257"/>
          </a:xfrm>
          <a:prstGeom prst="roundRect">
            <a:avLst>
              <a:gd name="adj" fmla="val 2000"/>
            </a:avLst>
          </a:prstGeom>
          <a:ln w="9525">
            <a:solidFill>
              <a:srgbClr val="2A3A60"/>
            </a:solidFill>
          </a:ln>
        </p:spPr>
      </p:pic>
      <p:sp>
        <p:nvSpPr>
          <p:cNvPr id="8" name="TextBox 7"/>
          <p:cNvSpPr txBox="1"/>
          <p:nvPr/>
        </p:nvSpPr>
        <p:spPr>
          <a:xfrm>
            <a:off x="6035040" y="4803169"/>
            <a:ext cx="56052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The same checks, stated in the app's AI tab.</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could UF build its next observatory?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23</a:t>
            </a:r>
          </a:p>
        </p:txBody>
      </p:sp>
      <p:sp>
        <p:nvSpPr>
          <p:cNvPr id="6" name="TextBox 5"/>
          <p:cNvSpPr txBox="1"/>
          <p:nvPr/>
        </p:nvSpPr>
        <p:spPr>
          <a:xfrm>
            <a:off x="548640" y="1417320"/>
            <a:ext cx="507492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Requested by </a:t>
            </a:r>
            <a:r>
              <a:rPr sz="1600" b="1" i="0">
                <a:solidFill>
                  <a:srgbClr val="F6B44B"/>
                </a:solidFill>
                <a:latin typeface="Aptos"/>
              </a:rPr>
              <a:t>Dr. Elizabeth Lada</a:t>
            </a:r>
            <a:r>
              <a:rPr sz="1600" b="0" i="0">
                <a:solidFill>
                  <a:srgbClr val="D9D2BD"/>
                </a:solidFill>
                <a:latin typeface="Aptos"/>
              </a:rPr>
              <a:t>, Chair of UF Astronomy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Every ~1 km cell of 11 counties scored: dark sky today and in </a:t>
            </a:r>
            <a:r>
              <a:rPr sz="1600" b="1" i="0">
                <a:solidFill>
                  <a:srgbClr val="F6B44B"/>
                </a:solidFill>
                <a:latin typeface="Aptos"/>
              </a:rPr>
              <a:t>2034</a:t>
            </a:r>
            <a:r>
              <a:rPr sz="1600" b="0" i="0">
                <a:solidFill>
                  <a:srgbClr val="D9D2BD"/>
                </a:solidFill>
                <a:latin typeface="Aptos"/>
              </a:rPr>
              <a:t> (LightGBM), clear air, land, access, </a:t>
            </a:r>
            <a:r>
              <a:rPr sz="1600" b="1" i="0">
                <a:solidFill>
                  <a:srgbClr val="F6B44B"/>
                </a:solidFill>
                <a:latin typeface="Aptos"/>
              </a:rPr>
              <a:t>drive time from UF</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Ruled out: </a:t>
            </a:r>
            <a:r>
              <a:rPr sz="1600" b="1" i="0">
                <a:solidFill>
                  <a:srgbClr val="F6B44B"/>
                </a:solidFill>
                <a:latin typeface="Aptos"/>
              </a:rPr>
              <a:t>water and wetland</a:t>
            </a:r>
            <a:r>
              <a:rPr sz="1600" b="0" i="0">
                <a:solidFill>
                  <a:srgbClr val="D9D2BD"/>
                </a:solidFill>
                <a:latin typeface="Aptos"/>
              </a:rPr>
              <a:t>, the coast, ground below 5 m (storm surge), </a:t>
            </a:r>
            <a:r>
              <a:rPr sz="1600" b="1" i="0">
                <a:solidFill>
                  <a:srgbClr val="F6B44B"/>
                </a:solidFill>
                <a:latin typeface="Aptos"/>
              </a:rPr>
              <a:t>2080 flood projections</a:t>
            </a:r>
            <a:r>
              <a:rPr sz="1600" b="0" i="0">
                <a:solidFill>
                  <a:srgbClr val="D9D2BD"/>
                </a:solidFill>
                <a:latin typeface="Aptos"/>
              </a:rPr>
              <a:t>, </a:t>
            </a:r>
            <a:r>
              <a:rPr sz="1600" b="1" i="0">
                <a:solidFill>
                  <a:srgbClr val="F6B44B"/>
                </a:solidFill>
                <a:latin typeface="Aptos"/>
              </a:rPr>
              <a:t>FEMA's 100-year floodplain</a:t>
            </a:r>
            <a:r>
              <a:rPr sz="1600" b="0" i="0">
                <a:solidFill>
                  <a:srgbClr val="D9D2BD"/>
                </a:solidFill>
                <a:latin typeface="Aptos"/>
              </a:rPr>
              <a:t>, over ~90 min away</a:t>
            </a:r>
          </a:p>
          <a:p>
            <a:pPr marL="256032" indent="-256032">
              <a:lnSpc>
                <a:spcPct val="100000"/>
              </a:lnSpc>
              <a:spcBef>
                <a:spcPts val="900"/>
              </a:spcBef>
              <a:spcAft>
                <a:spcPts val="0"/>
              </a:spcAft>
              <a:buClr>
                <a:srgbClr val="F6B44B"/>
              </a:buClr>
              <a:buSzPct val="100000"/>
              <a:buFont typeface="Arial"/>
              <a:buChar char="•"/>
            </a:pPr>
            <a:r>
              <a:rPr sz="1600" b="1" i="0">
                <a:solidFill>
                  <a:srgbClr val="F6B44B"/>
                </a:solidFill>
                <a:latin typeface="Aptos"/>
              </a:rPr>
              <a:t>Shortlist: Levy #1–#3</a:t>
            </a:r>
            <a:r>
              <a:rPr sz="1600" b="0" i="0">
                <a:solidFill>
                  <a:srgbClr val="D9D2BD"/>
                </a:solidFill>
                <a:latin typeface="Aptos"/>
              </a:rPr>
              <a:t>, between Chiefland and Bronson: 44–58 min from campus, Bortle 3, land </a:t>
            </a:r>
            <a:r>
              <a:rPr sz="1600" b="1" i="0">
                <a:solidFill>
                  <a:srgbClr val="F6B44B"/>
                </a:solidFill>
                <a:latin typeface="Aptos"/>
              </a:rPr>
              <a:t>$605K–806K</a:t>
            </a:r>
            <a:r>
              <a:rPr sz="1600" b="0" i="0">
                <a:solidFill>
                  <a:srgbClr val="D9D2BD"/>
                </a:solidFill>
                <a:latin typeface="Aptos"/>
              </a:rPr>
              <a:t> for 80 acres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Telescope + building: $1–3M in published examples → </a:t>
            </a:r>
            <a:r>
              <a:rPr sz="1600" b="1" i="0">
                <a:solidFill>
                  <a:srgbClr val="F6B44B"/>
                </a:solidFill>
                <a:latin typeface="Aptos"/>
              </a:rPr>
              <a:t>≈ $1.6–3.8M</a:t>
            </a:r>
            <a:r>
              <a:rPr sz="1600" b="0" i="0">
                <a:solidFill>
                  <a:srgbClr val="D9D2BD"/>
                </a:solidFill>
                <a:latin typeface="Aptos"/>
              </a:rPr>
              <a:t> total</a:t>
            </a:r>
          </a:p>
        </p:txBody>
      </p:sp>
      <p:pic>
        <p:nvPicPr>
          <p:cNvPr id="7" name="Picture 6" descr="obs_map_markers.png"/>
          <p:cNvPicPr>
            <a:picLocks noChangeAspect="1"/>
          </p:cNvPicPr>
          <p:nvPr/>
        </p:nvPicPr>
        <p:blipFill>
          <a:blip r:embed="rId3"/>
          <a:srcRect r="6000" b="6000"/>
          <a:stretch>
            <a:fillRect/>
          </a:stretch>
        </p:blipFill>
        <p:spPr>
          <a:xfrm>
            <a:off x="5897880" y="1417320"/>
            <a:ext cx="5742432" cy="4610835"/>
          </a:xfrm>
          <a:prstGeom prst="roundRect">
            <a:avLst>
              <a:gd name="adj" fmla="val 1200"/>
            </a:avLst>
          </a:prstGeom>
          <a:ln w="9525">
            <a:solidFill>
              <a:srgbClr val="2A3A60"/>
            </a:solidFill>
          </a:ln>
        </p:spPr>
      </p:pic>
      <p:sp>
        <p:nvSpPr>
          <p:cNvPr id="8" name="TextBox 7"/>
          <p:cNvSpPr txBox="1"/>
          <p:nvPr/>
        </p:nvSpPr>
        <p:spPr>
          <a:xfrm>
            <a:off x="5897880" y="6073875"/>
            <a:ext cx="574243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Observatory tab: the top 20 sites by rank (orange = Levy shortlist; markers enlarged). Blank areas are ruled out: water, wetland, flood-prone ground or over 90 minutes away.</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model to policy brief</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24</a:t>
            </a:r>
          </a:p>
        </p:txBody>
      </p:sp>
      <p:sp>
        <p:nvSpPr>
          <p:cNvPr id="6" name="TextBox 5"/>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One-click </a:t>
            </a:r>
            <a:r>
              <a:rPr sz="1900" b="1" i="0">
                <a:solidFill>
                  <a:srgbClr val="F6B44B"/>
                </a:solidFill>
                <a:latin typeface="Aptos"/>
              </a:rPr>
              <a:t>PDF</a:t>
            </a:r>
            <a:r>
              <a:rPr sz="1900" b="0" i="0">
                <a:solidFill>
                  <a:srgbClr val="D9D2BD"/>
                </a:solidFill>
                <a:latin typeface="Aptos"/>
              </a:rPr>
              <a:t> for commissioners; every figure links back to its scenario</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First line: “These outputs are planning projections, not observed outcomes.”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Defensibility panel lists what's missing: sky-meter stations, utility inventories, satellite calibration</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That list is the </a:t>
            </a:r>
            <a:r>
              <a:rPr sz="1900" b="1" i="0">
                <a:solidFill>
                  <a:srgbClr val="F6B44B"/>
                </a:solidFill>
                <a:latin typeface="Aptos"/>
              </a:rPr>
              <a:t>v3 plan</a:t>
            </a:r>
          </a:p>
        </p:txBody>
      </p:sp>
      <p:pic>
        <p:nvPicPr>
          <p:cNvPr id="7" name="24_brief.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8" name="TextBox 7"/>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Brief tab: defensibility panel and the legislative brief.</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Scaling up: from projection to evidence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25</a:t>
            </a:r>
          </a:p>
        </p:txBody>
      </p:sp>
      <p:sp>
        <p:nvSpPr>
          <p:cNvPr id="6" name="TextBox 5"/>
          <p:cNvSpPr txBox="1"/>
          <p:nvPr/>
        </p:nvSpPr>
        <p:spPr>
          <a:xfrm>
            <a:off x="548640" y="1463040"/>
            <a:ext cx="758952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Ground truth</a:t>
            </a:r>
            <a:r>
              <a:rPr sz="1700" b="0" i="0">
                <a:solidFill>
                  <a:srgbClr val="D9D2BD"/>
                </a:solidFill>
                <a:latin typeface="Aptos"/>
              </a:rPr>
              <a:t>: sky-quality meters in every county + a 50-node low-cost sensor pilot (~$5,900 hardware)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Real inventories</a:t>
            </a:r>
            <a:r>
              <a:rPr sz="1700" b="0" i="0">
                <a:solidFill>
                  <a:srgbClr val="D9D2BD"/>
                </a:solidFill>
                <a:latin typeface="Aptos"/>
              </a:rPr>
              <a:t>: utility data-sharing agreements (GRU, Duke, Clay, CFEC)</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Computer vision</a:t>
            </a:r>
            <a:r>
              <a:rPr sz="1700" b="0" i="0">
                <a:solidFill>
                  <a:srgbClr val="D9D2BD"/>
                </a:solidFill>
                <a:latin typeface="Aptos"/>
              </a:rPr>
              <a:t>: a YOLO detector on street-level imagery to classify fixtures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Retrofit detection</a:t>
            </a:r>
            <a:r>
              <a:rPr sz="1700" b="0" i="0">
                <a:solidFill>
                  <a:srgbClr val="D9D2BD"/>
                </a:solidFill>
                <a:latin typeface="Aptos"/>
              </a:rPr>
              <a:t>: monthly satellite data; fit the LED correction on GRU's 3000 K conversions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Scaling</a:t>
            </a:r>
            <a:r>
              <a:rPr sz="1700" b="0" i="0">
                <a:solidFill>
                  <a:srgbClr val="D9D2BD"/>
                </a:solidFill>
                <a:latin typeface="Aptos"/>
              </a:rPr>
              <a:t>: a reusable county package (satellite data, lighting, development, policy), Levy County next</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Siting</a:t>
            </a:r>
            <a:r>
              <a:rPr sz="1700" b="0" i="0">
                <a:solidFill>
                  <a:srgbClr val="D9D2BD"/>
                </a:solidFill>
                <a:latin typeface="Aptos"/>
              </a:rPr>
              <a:t>: parcel-level flood maps and site visits; blind test with UF Astronomy</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Looking for collaborators in sensors, computer vision, remote sensing and policy</a:t>
            </a:r>
          </a:p>
        </p:txBody>
      </p:sp>
      <p:pic>
        <p:nvPicPr>
          <p:cNvPr id="7" name="25_phon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950097" y="1463040"/>
            <a:ext cx="2198317" cy="4754880"/>
          </a:xfrm>
          <a:prstGeom prst="rect">
            <a:avLst/>
          </a:prstGeom>
        </p:spPr>
      </p:pic>
      <p:sp>
        <p:nvSpPr>
          <p:cNvPr id="8" name="TextBox 7"/>
          <p:cNvSpPr txBox="1"/>
          <p:nvPr/>
        </p:nvSpPr>
        <p:spPr>
          <a:xfrm>
            <a:off x="8950097" y="6272784"/>
            <a:ext cx="2198317"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The same app on a phone</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UF can do</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26</a:t>
            </a:r>
          </a:p>
        </p:txBody>
      </p:sp>
      <p:sp>
        <p:nvSpPr>
          <p:cNvPr id="6" name="TextBox 5"/>
          <p:cNvSpPr txBox="1"/>
          <p:nvPr/>
        </p:nvSpPr>
        <p:spPr>
          <a:xfrm>
            <a:off x="548640" y="1417320"/>
            <a:ext cx="617220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Alachua County has </a:t>
            </a:r>
            <a:r>
              <a:rPr sz="1800" b="1" i="0">
                <a:solidFill>
                  <a:srgbClr val="F6B44B"/>
                </a:solidFill>
                <a:latin typeface="Aptos"/>
              </a:rPr>
              <a:t>adopted</a:t>
            </a:r>
            <a:r>
              <a:rPr sz="1800" b="0" i="0">
                <a:solidFill>
                  <a:srgbClr val="D9D2BD"/>
                </a:solidFill>
                <a:latin typeface="Aptos"/>
              </a:rPr>
              <a:t> dark-sky principles; </a:t>
            </a:r>
            <a:r>
              <a:rPr sz="1800" b="1" i="0">
                <a:solidFill>
                  <a:srgbClr val="F6B44B"/>
                </a:solidFill>
                <a:latin typeface="Aptos"/>
              </a:rPr>
              <a:t>UF plans its own campus</a:t>
            </a:r>
            <a:r>
              <a:rPr sz="1800" b="0" i="0">
                <a:solidFill>
                  <a:srgbClr val="D9D2BD"/>
                </a:solidFill>
                <a:latin typeface="Aptos"/>
              </a:rPr>
              <a:t>, coordinated with the county, so it can lead</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Lead on campus</a:t>
            </a:r>
            <a:r>
              <a:rPr sz="1800" b="0" i="0">
                <a:solidFill>
                  <a:srgbClr val="D9D2BD"/>
                </a:solidFill>
                <a:latin typeface="Aptos"/>
              </a:rPr>
              <a:t>: the model projects about </a:t>
            </a:r>
            <a:r>
              <a:rPr sz="1800" b="1" i="0">
                <a:solidFill>
                  <a:srgbClr val="F6B44B"/>
                </a:solidFill>
                <a:latin typeface="Aptos"/>
              </a:rPr>
              <a:t>$984K</a:t>
            </a:r>
            <a:r>
              <a:rPr sz="1800" b="0" i="0">
                <a:solidFill>
                  <a:srgbClr val="D9D2BD"/>
                </a:solidFill>
                <a:latin typeface="Aptos"/>
              </a:rPr>
              <a:t> to upgrade UF's 4,100 pole lights, saving about </a:t>
            </a:r>
            <a:r>
              <a:rPr sz="1800" b="1" i="0">
                <a:solidFill>
                  <a:srgbClr val="F6B44B"/>
                </a:solidFill>
                <a:latin typeface="Aptos"/>
              </a:rPr>
              <a:t>$198K</a:t>
            </a:r>
            <a:r>
              <a:rPr sz="1800" b="0" i="0">
                <a:solidFill>
                  <a:srgbClr val="D9D2BD"/>
                </a:solidFill>
                <a:latin typeface="Aptos"/>
              </a:rPr>
              <a:t> a year</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Protect UF's skies</a:t>
            </a:r>
            <a:r>
              <a:rPr sz="1800" b="0" i="0">
                <a:solidFill>
                  <a:srgbClr val="D9D2BD"/>
                </a:solidFill>
                <a:latin typeface="Aptos"/>
              </a:rPr>
              <a:t>: keep Rosemary Hill dark and choose a site for UF Astronomy's next observatory</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Measure the real sky</a:t>
            </a:r>
            <a:r>
              <a:rPr sz="1800" b="0" i="0">
                <a:solidFill>
                  <a:srgbClr val="D9D2BD"/>
                </a:solidFill>
                <a:latin typeface="Aptos"/>
              </a:rPr>
              <a:t>: a 50-sensor network (about </a:t>
            </a:r>
            <a:r>
              <a:rPr sz="1800" b="1" i="0">
                <a:solidFill>
                  <a:srgbClr val="F6B44B"/>
                </a:solidFill>
                <a:latin typeface="Aptos"/>
              </a:rPr>
              <a:t>$6,000</a:t>
            </a:r>
            <a:r>
              <a:rPr sz="1800" b="0" i="0">
                <a:solidFill>
                  <a:srgbClr val="D9D2BD"/>
                </a:solidFill>
                <a:latin typeface="Aptos"/>
              </a:rPr>
              <a:t> in hardware) to check the model against real readings</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Independent and unfunded so far: I'd like this to become a UF project</a:t>
            </a:r>
          </a:p>
        </p:txBody>
      </p:sp>
      <p:pic>
        <p:nvPicPr>
          <p:cNvPr id="7" name="Picture 6" descr="photo_rho_dome.jpg"/>
          <p:cNvPicPr>
            <a:picLocks noChangeAspect="1"/>
          </p:cNvPicPr>
          <p:nvPr/>
        </p:nvPicPr>
        <p:blipFill>
          <a:blip r:embed="rId3"/>
          <a:srcRect l="13755" r="13755"/>
          <a:stretch>
            <a:fillRect/>
          </a:stretch>
        </p:blipFill>
        <p:spPr>
          <a:xfrm>
            <a:off x="6949440" y="1417320"/>
            <a:ext cx="4690872" cy="4343400"/>
          </a:xfrm>
          <a:prstGeom prst="roundRect">
            <a:avLst>
              <a:gd name="adj" fmla="val 1200"/>
            </a:avLst>
          </a:prstGeom>
          <a:ln w="9525">
            <a:solidFill>
              <a:srgbClr val="2A3A60"/>
            </a:solidFill>
          </a:ln>
        </p:spPr>
      </p:pic>
      <p:sp>
        <p:nvSpPr>
          <p:cNvPr id="8" name="TextBox 7"/>
          <p:cNvSpPr txBox="1"/>
          <p:nvPr/>
        </p:nvSpPr>
        <p:spPr>
          <a:xfrm>
            <a:off x="6949440" y="5806440"/>
            <a:ext cx="46908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UF's Rosemary Hill Observatory. Photo: The Gainesville Sun, April 2012.</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27_supercu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04951" y="1325880"/>
            <a:ext cx="7494016" cy="4215384"/>
          </a:xfrm>
          <a:prstGeom prst="rect">
            <a:avLst/>
          </a:prstGeom>
        </p:spPr>
      </p:pic>
      <p:sp>
        <p:nvSpPr>
          <p:cNvPr id="3" name="TextBox 2"/>
          <p:cNvSpPr txBox="1"/>
          <p:nvPr/>
        </p:nvSpPr>
        <p:spPr>
          <a:xfrm>
            <a:off x="8412480" y="1188720"/>
            <a:ext cx="338328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000" b="1" i="0">
                <a:solidFill>
                  <a:srgbClr val="F5F1E6"/>
                </a:solidFill>
                <a:latin typeface="Aptos Display"/>
              </a:rPr>
              <a:t>Thank you</a:t>
            </a:r>
          </a:p>
        </p:txBody>
      </p:sp>
      <p:sp>
        <p:nvSpPr>
          <p:cNvPr id="4" name="TextBox 3"/>
          <p:cNvSpPr txBox="1"/>
          <p:nvPr/>
        </p:nvSpPr>
        <p:spPr>
          <a:xfrm>
            <a:off x="8412480" y="1874519"/>
            <a:ext cx="338328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400" b="0" i="0">
                <a:solidFill>
                  <a:srgbClr val="F6B44B"/>
                </a:solidFill>
                <a:latin typeface="Aptos Display"/>
              </a:rPr>
              <a:t>Questions?</a:t>
            </a:r>
          </a:p>
        </p:txBody>
      </p:sp>
      <p:pic>
        <p:nvPicPr>
          <p:cNvPr id="5" name="Picture 4" descr="qr_app.png"/>
          <p:cNvPicPr>
            <a:picLocks noChangeAspect="1"/>
          </p:cNvPicPr>
          <p:nvPr/>
        </p:nvPicPr>
        <p:blipFill>
          <a:blip r:embed="rId6"/>
          <a:stretch>
            <a:fillRect/>
          </a:stretch>
        </p:blipFill>
        <p:spPr>
          <a:xfrm>
            <a:off x="8412480" y="2606040"/>
            <a:ext cx="1554480" cy="1554480"/>
          </a:xfrm>
          <a:prstGeom prst="rect">
            <a:avLst/>
          </a:prstGeom>
        </p:spPr>
      </p:pic>
      <p:sp>
        <p:nvSpPr>
          <p:cNvPr id="6" name="TextBox 5"/>
          <p:cNvSpPr txBox="1"/>
          <p:nvPr/>
        </p:nvSpPr>
        <p:spPr>
          <a:xfrm>
            <a:off x="8412480"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Try it</a:t>
            </a:r>
          </a:p>
        </p:txBody>
      </p:sp>
      <p:sp>
        <p:nvSpPr>
          <p:cNvPr id="7" name="TextBox 6"/>
          <p:cNvSpPr txBox="1"/>
          <p:nvPr/>
        </p:nvSpPr>
        <p:spPr>
          <a:xfrm>
            <a:off x="8412480"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dark-sky-simulator-v2.vercel.app/dark-sky</a:t>
            </a:r>
          </a:p>
        </p:txBody>
      </p:sp>
      <p:pic>
        <p:nvPicPr>
          <p:cNvPr id="8" name="Picture 7" descr="qr_gh.png"/>
          <p:cNvPicPr>
            <a:picLocks noChangeAspect="1"/>
          </p:cNvPicPr>
          <p:nvPr/>
        </p:nvPicPr>
        <p:blipFill>
          <a:blip r:embed="rId7"/>
          <a:stretch>
            <a:fillRect/>
          </a:stretch>
        </p:blipFill>
        <p:spPr>
          <a:xfrm>
            <a:off x="10195559" y="2606040"/>
            <a:ext cx="1554480" cy="1554480"/>
          </a:xfrm>
          <a:prstGeom prst="rect">
            <a:avLst/>
          </a:prstGeom>
        </p:spPr>
      </p:pic>
      <p:sp>
        <p:nvSpPr>
          <p:cNvPr id="9" name="TextBox 8"/>
          <p:cNvSpPr txBox="1"/>
          <p:nvPr/>
        </p:nvSpPr>
        <p:spPr>
          <a:xfrm>
            <a:off x="10195559"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Code</a:t>
            </a:r>
          </a:p>
        </p:txBody>
      </p:sp>
      <p:sp>
        <p:nvSpPr>
          <p:cNvPr id="10" name="TextBox 9"/>
          <p:cNvSpPr txBox="1"/>
          <p:nvPr/>
        </p:nvSpPr>
        <p:spPr>
          <a:xfrm>
            <a:off x="10195559"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github.com/jayrosen-design/dark-sky-simulator-v2</a:t>
            </a:r>
          </a:p>
        </p:txBody>
      </p:sp>
      <p:sp>
        <p:nvSpPr>
          <p:cNvPr id="11" name="TextBox 10"/>
          <p:cNvSpPr txBox="1"/>
          <p:nvPr/>
        </p:nvSpPr>
        <p:spPr>
          <a:xfrm>
            <a:off x="8412480" y="5257800"/>
            <a:ext cx="3566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Jay Rosen</a:t>
            </a:r>
            <a:r>
              <a:rPr sz="1400" b="0" i="0">
                <a:solidFill>
                  <a:srgbClr val="F5F1E6"/>
                </a:solidFill>
                <a:latin typeface="Aptos"/>
              </a:rPr>
              <a:t>  ·  jayrosen@ufl.edu</a:t>
            </a:r>
          </a:p>
        </p:txBody>
      </p:sp>
      <p:pic>
        <p:nvPicPr>
          <p:cNvPr id="12" name="Picture 11" descr="ai_days_logo_sticker.png"/>
          <p:cNvPicPr>
            <a:picLocks noChangeAspect="1"/>
          </p:cNvPicPr>
          <p:nvPr/>
        </p:nvPicPr>
        <p:blipFill>
          <a:blip r:embed="rId8"/>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SOURCES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References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28</a:t>
            </a:r>
          </a:p>
        </p:txBody>
      </p:sp>
      <p:sp>
        <p:nvSpPr>
          <p:cNvPr id="6" name="TextBox 5"/>
          <p:cNvSpPr txBox="1"/>
          <p:nvPr/>
        </p:nvSpPr>
        <p:spPr>
          <a:xfrm>
            <a:off x="54864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ABC7 Los Angeles (c. 2011). Domes put in place for CSUSB's observatory.</a:t>
            </a:r>
          </a:p>
          <a:p>
            <a:pPr marL="228600" indent="-228600">
              <a:lnSpc>
                <a:spcPct val="93000"/>
              </a:lnSpc>
              <a:spcBef>
                <a:spcPts val="200"/>
              </a:spcBef>
              <a:spcAft>
                <a:spcPts val="0"/>
              </a:spcAft>
              <a:buNone/>
            </a:pPr>
            <a:r>
              <a:rPr sz="900" b="0" i="0">
                <a:solidFill>
                  <a:srgbClr val="D9D2BD"/>
                </a:solidFill>
                <a:latin typeface="Aptos"/>
              </a:rPr>
              <a:t>Alachua County (2026, February 13). Comprehensive Plan proposed evaluation and appraisal based amendments, Conservation and Open Space Element, Policy 5.3.7.</a:t>
            </a:r>
          </a:p>
          <a:p>
            <a:pPr marL="228600" indent="-228600">
              <a:lnSpc>
                <a:spcPct val="93000"/>
              </a:lnSpc>
              <a:spcBef>
                <a:spcPts val="200"/>
              </a:spcBef>
              <a:spcAft>
                <a:spcPts val="0"/>
              </a:spcAft>
              <a:buNone/>
            </a:pPr>
            <a:r>
              <a:rPr sz="900" b="0" i="0">
                <a:solidFill>
                  <a:srgbClr val="D9D2BD"/>
                </a:solidFill>
                <a:latin typeface="Aptos"/>
              </a:rPr>
              <a:t>Andrews, D. W. K. (1993). Tests for parameter instability and structural change with unknown change point. Econometrica, 61(4), 821–856.</a:t>
            </a:r>
          </a:p>
          <a:p>
            <a:pPr marL="228600" indent="-228600">
              <a:lnSpc>
                <a:spcPct val="93000"/>
              </a:lnSpc>
              <a:spcBef>
                <a:spcPts val="200"/>
              </a:spcBef>
              <a:spcAft>
                <a:spcPts val="0"/>
              </a:spcAft>
              <a:buNone/>
            </a:pPr>
            <a:r>
              <a:rPr sz="900" b="0" i="0">
                <a:solidFill>
                  <a:srgbClr val="D9D2BD"/>
                </a:solidFill>
                <a:latin typeface="Aptos"/>
              </a:rPr>
              <a:t>Bortle, J. E. (2001). Introducing the Bortle dark-sky scale. Sky &amp; Telescope, 101(2), 126–129.</a:t>
            </a:r>
          </a:p>
          <a:p>
            <a:pPr marL="228600" indent="-228600">
              <a:lnSpc>
                <a:spcPct val="93000"/>
              </a:lnSpc>
              <a:spcBef>
                <a:spcPts val="200"/>
              </a:spcBef>
              <a:spcAft>
                <a:spcPts val="0"/>
              </a:spcAft>
              <a:buNone/>
            </a:pPr>
            <a:r>
              <a:rPr sz="900" b="0" i="0">
                <a:solidFill>
                  <a:srgbClr val="D9D2BD"/>
                </a:solidFill>
                <a:latin typeface="Aptos"/>
              </a:rPr>
              <a:t>Cangialosi, J. P., &amp; Alaka, L. (2026). Tropical Cyclone Report: Hurricane Idalia (AL102023), 26–31 August 2023. National Hurricane Center (original report February 13, 2024).</a:t>
            </a:r>
          </a:p>
          <a:p>
            <a:pPr marL="228600" indent="-228600">
              <a:lnSpc>
                <a:spcPct val="93000"/>
              </a:lnSpc>
              <a:spcBef>
                <a:spcPts val="200"/>
              </a:spcBef>
              <a:spcAft>
                <a:spcPts val="0"/>
              </a:spcAft>
              <a:buNone/>
            </a:pPr>
            <a:r>
              <a:rPr sz="900" b="0" i="0">
                <a:solidFill>
                  <a:srgbClr val="D9D2BD"/>
                </a:solidFill>
                <a:latin typeface="Aptos"/>
              </a:rPr>
              <a:t>City of Groveland, Florida (2022). Ordinance 2022-26, outdoor lighting regulations.</a:t>
            </a:r>
          </a:p>
          <a:p>
            <a:pPr marL="228600" indent="-228600">
              <a:lnSpc>
                <a:spcPct val="93000"/>
              </a:lnSpc>
              <a:spcBef>
                <a:spcPts val="200"/>
              </a:spcBef>
              <a:spcAft>
                <a:spcPts val="0"/>
              </a:spcAft>
              <a:buNone/>
            </a:pPr>
            <a:r>
              <a:rPr sz="900" b="0" i="0">
                <a:solidFill>
                  <a:srgbClr val="D9D2BD"/>
                </a:solidFill>
                <a:latin typeface="Aptos"/>
              </a:rPr>
              <a:t>Dark Sky Simulator fixture catalog (2026): installed unit costs from the research reports and a retail price survey of DarkSky-compliant fixture types (September 26, 2026); DarkSky Approved luminaire search, darksky.org.</a:t>
            </a:r>
          </a:p>
          <a:p>
            <a:pPr marL="228600" indent="-228600">
              <a:lnSpc>
                <a:spcPct val="93000"/>
              </a:lnSpc>
              <a:spcBef>
                <a:spcPts val="200"/>
              </a:spcBef>
              <a:spcAft>
                <a:spcPts val="0"/>
              </a:spcAft>
              <a:buNone/>
            </a:pPr>
            <a:r>
              <a:rPr sz="900" b="0" i="0">
                <a:solidFill>
                  <a:srgbClr val="D9D2BD"/>
                </a:solidFill>
                <a:latin typeface="Aptos"/>
              </a:rPr>
              <a:t>Dark Sky Simulator research reports (2025): Gainesville Dark Sky Lighting Assessment; Streetlight Retrofit Cost-Benefit Analysis (Levy); Smart Streetlight Cost-Benefit Analysis; Street Lighting Dimming Savings Calculation (Duke LS-1, Clay Schedule L, CFEC). Unpublished.</a:t>
            </a:r>
          </a:p>
          <a:p>
            <a:pPr marL="228600" indent="-228600">
              <a:lnSpc>
                <a:spcPct val="93000"/>
              </a:lnSpc>
              <a:spcBef>
                <a:spcPts val="200"/>
              </a:spcBef>
              <a:spcAft>
                <a:spcPts val="0"/>
              </a:spcAft>
              <a:buNone/>
            </a:pPr>
            <a:r>
              <a:rPr sz="900" b="0" i="0">
                <a:solidFill>
                  <a:srgbClr val="D9D2BD"/>
                </a:solidFill>
                <a:latin typeface="Aptos"/>
              </a:rPr>
              <a:t>DarkSky International &amp; Illuminating Engineering Society (2020). Five Principles for Responsible Outdoor Lighting. darksky.org.</a:t>
            </a:r>
          </a:p>
          <a:p>
            <a:pPr marL="228600" indent="-228600">
              <a:lnSpc>
                <a:spcPct val="93000"/>
              </a:lnSpc>
              <a:spcBef>
                <a:spcPts val="200"/>
              </a:spcBef>
              <a:spcAft>
                <a:spcPts val="0"/>
              </a:spcAft>
              <a:buNone/>
            </a:pPr>
            <a:r>
              <a:rPr sz="900" b="0" i="0">
                <a:solidFill>
                  <a:srgbClr val="D9D2BD"/>
                </a:solidFill>
                <a:latin typeface="Aptos"/>
              </a:rPr>
              <a:t>DarkSky International. DarkSky Approved program and seal. darksky.org/what-we-do/darksky-approved.</a:t>
            </a:r>
          </a:p>
          <a:p>
            <a:pPr marL="228600" indent="-228600">
              <a:lnSpc>
                <a:spcPct val="93000"/>
              </a:lnSpc>
              <a:spcBef>
                <a:spcPts val="200"/>
              </a:spcBef>
              <a:spcAft>
                <a:spcPts val="0"/>
              </a:spcAft>
              <a:buNone/>
            </a:pPr>
            <a:r>
              <a:rPr sz="900" b="0" i="0">
                <a:solidFill>
                  <a:srgbClr val="D9D2BD"/>
                </a:solidFill>
                <a:latin typeface="Aptos"/>
              </a:rPr>
              <a:t>DarkSky International. International Dark Sky Places program guidelines (Dark Sky Park: sky ≥ 21.2 mag/arcsec²). darksky.org.</a:t>
            </a:r>
          </a:p>
          <a:p>
            <a:pPr marL="228600" indent="-228600">
              <a:lnSpc>
                <a:spcPct val="93000"/>
              </a:lnSpc>
              <a:spcBef>
                <a:spcPts val="200"/>
              </a:spcBef>
              <a:spcAft>
                <a:spcPts val="0"/>
              </a:spcAft>
              <a:buNone/>
            </a:pPr>
            <a:r>
              <a:rPr sz="900" b="0" i="0">
                <a:solidFill>
                  <a:srgbClr val="D9D2BD"/>
                </a:solidFill>
                <a:latin typeface="Aptos"/>
              </a:rPr>
              <a:t>Dewitz, J. (2023). National Land Cover Database (NLCD) 2021 Products. U.S. Geological Survey data release. doi:10.5066/P9JZ7AO3.</a:t>
            </a:r>
          </a:p>
          <a:p>
            <a:pPr marL="228600" indent="-228600">
              <a:lnSpc>
                <a:spcPct val="93000"/>
              </a:lnSpc>
              <a:spcBef>
                <a:spcPts val="200"/>
              </a:spcBef>
              <a:spcAft>
                <a:spcPts val="0"/>
              </a:spcAft>
              <a:buNone/>
            </a:pPr>
            <a:r>
              <a:rPr sz="900" b="0" i="0">
                <a:solidFill>
                  <a:srgbClr val="D9D2BD"/>
                </a:solidFill>
                <a:latin typeface="Aptos"/>
              </a:rPr>
              <a:t>Elvidge, C. D., Zhizhin, M., Ghosh, T., Hsu, F.-C., &amp; Taneja, J. (2021). Annual time series of global VIIRS nighttime lights derived from monthly averages: 2012 to 2019. Remote Sensing, 13(5), 922.</a:t>
            </a:r>
          </a:p>
          <a:p>
            <a:pPr marL="228600" indent="-228600">
              <a:lnSpc>
                <a:spcPct val="93000"/>
              </a:lnSpc>
              <a:spcBef>
                <a:spcPts val="200"/>
              </a:spcBef>
              <a:spcAft>
                <a:spcPts val="0"/>
              </a:spcAft>
              <a:buNone/>
            </a:pPr>
            <a:r>
              <a:rPr sz="900" b="0" i="0">
                <a:solidFill>
                  <a:srgbClr val="D9D2BD"/>
                </a:solidFill>
                <a:latin typeface="Aptos"/>
              </a:rPr>
              <a:t>EMJ Construction (2016, September 1). Two new Florida Bass Pro locations underway. emjcorp.com.</a:t>
            </a:r>
          </a:p>
          <a:p>
            <a:pPr marL="228600" indent="-228600">
              <a:lnSpc>
                <a:spcPct val="93000"/>
              </a:lnSpc>
              <a:spcBef>
                <a:spcPts val="200"/>
              </a:spcBef>
              <a:spcAft>
                <a:spcPts val="0"/>
              </a:spcAft>
              <a:buNone/>
            </a:pPr>
            <a:r>
              <a:rPr sz="900" b="0" i="0">
                <a:solidFill>
                  <a:srgbClr val="D9D2BD"/>
                </a:solidFill>
                <a:latin typeface="Aptos"/>
              </a:rPr>
              <a:t>Falchi, F., Cinzano, P., Duriscoe, D., et al. (2016). The new world atlas of artificial night sky brightness. Science Advances, 2(6), e1600377.</a:t>
            </a:r>
          </a:p>
          <a:p>
            <a:pPr marL="228600" indent="-228600">
              <a:lnSpc>
                <a:spcPct val="93000"/>
              </a:lnSpc>
              <a:spcBef>
                <a:spcPts val="200"/>
              </a:spcBef>
              <a:spcAft>
                <a:spcPts val="0"/>
              </a:spcAft>
              <a:buNone/>
            </a:pPr>
            <a:r>
              <a:rPr sz="900" b="0" i="0">
                <a:solidFill>
                  <a:srgbClr val="D9D2BD"/>
                </a:solidFill>
                <a:latin typeface="Aptos"/>
              </a:rPr>
              <a:t>Federal Emergency Management Agency (2026). National Flood Hazard Layer (NFHL): Special Flood Hazard Areas. hazards.fema.gov, accessed October 20, 2026.</a:t>
            </a:r>
          </a:p>
          <a:p>
            <a:pPr marL="228600" indent="-228600">
              <a:lnSpc>
                <a:spcPct val="93000"/>
              </a:lnSpc>
              <a:spcBef>
                <a:spcPts val="200"/>
              </a:spcBef>
              <a:spcAft>
                <a:spcPts val="0"/>
              </a:spcAft>
              <a:buNone/>
            </a:pPr>
            <a:r>
              <a:rPr sz="900" b="0" i="0">
                <a:solidFill>
                  <a:srgbClr val="D9D2BD"/>
                </a:solidFill>
                <a:latin typeface="Aptos"/>
              </a:rPr>
              <a:t>Florida Department of Revenue (2025). Tax roll and qualified sales (parcels ≥ 5 acres), via the Florida Geographic Information Office statewide parcels.</a:t>
            </a:r>
          </a:p>
          <a:p>
            <a:pPr marL="228600" indent="-228600">
              <a:lnSpc>
                <a:spcPct val="93000"/>
              </a:lnSpc>
              <a:spcBef>
                <a:spcPts val="200"/>
              </a:spcBef>
              <a:spcAft>
                <a:spcPts val="0"/>
              </a:spcAft>
              <a:buNone/>
            </a:pPr>
            <a:r>
              <a:rPr sz="900" b="0" i="0">
                <a:solidFill>
                  <a:srgbClr val="D9D2BD"/>
                </a:solidFill>
                <a:latin typeface="Aptos"/>
              </a:rPr>
              <a:t>Florida Institute of Technology (2004, August 19). Funding secured for Florida Tech telescope. Florida Tech News.</a:t>
            </a:r>
          </a:p>
        </p:txBody>
      </p:sp>
      <p:sp>
        <p:nvSpPr>
          <p:cNvPr id="7" name="TextBox 6"/>
          <p:cNvSpPr txBox="1"/>
          <p:nvPr/>
        </p:nvSpPr>
        <p:spPr>
          <a:xfrm>
            <a:off x="621792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Garstang, R. H. (1986). Model for artificial night-sky illumination. Publications of the Astronomical Society of the Pacific, 98, 364–375.</a:t>
            </a:r>
          </a:p>
          <a:p>
            <a:pPr marL="228600" indent="-228600">
              <a:lnSpc>
                <a:spcPct val="93000"/>
              </a:lnSpc>
              <a:spcBef>
                <a:spcPts val="200"/>
              </a:spcBef>
              <a:spcAft>
                <a:spcPts val="0"/>
              </a:spcAft>
              <a:buNone/>
            </a:pPr>
            <a:r>
              <a:rPr sz="900" b="0" i="0">
                <a:solidFill>
                  <a:srgbClr val="D9D2BD"/>
                </a:solidFill>
                <a:latin typeface="Aptos"/>
              </a:rPr>
              <a:t>Gorelick, N., Hancher, M., Dixon, M., et al. (2017). Google Earth Engine: Planetary-scale geospatial analysis for everyone. Remote Sensing of Environment, 202, 18–27.</a:t>
            </a:r>
          </a:p>
          <a:p>
            <a:pPr marL="228600" indent="-228600">
              <a:lnSpc>
                <a:spcPct val="93000"/>
              </a:lnSpc>
              <a:spcBef>
                <a:spcPts val="200"/>
              </a:spcBef>
              <a:spcAft>
                <a:spcPts val="0"/>
              </a:spcAft>
              <a:buNone/>
            </a:pPr>
            <a:r>
              <a:rPr sz="900" b="0" i="0">
                <a:solidFill>
                  <a:srgbClr val="D9D2BD"/>
                </a:solidFill>
                <a:latin typeface="Aptos"/>
              </a:rPr>
              <a:t>Ke, G., Meng, Q., Finley, T., et al. (2017). LightGBM: A highly efficient gradient boosting decision tree. Advances in Neural Information Processing Systems, 30, 3146–3154.</a:t>
            </a:r>
          </a:p>
          <a:p>
            <a:pPr marL="228600" indent="-228600">
              <a:lnSpc>
                <a:spcPct val="93000"/>
              </a:lnSpc>
              <a:spcBef>
                <a:spcPts val="200"/>
              </a:spcBef>
              <a:spcAft>
                <a:spcPts val="0"/>
              </a:spcAft>
              <a:buNone/>
            </a:pPr>
            <a:r>
              <a:rPr sz="900" b="0" i="0">
                <a:solidFill>
                  <a:srgbClr val="D9D2BD"/>
                </a:solidFill>
                <a:latin typeface="Aptos"/>
              </a:rPr>
              <a:t>Krisciunas, K., &amp; Schaefer, B. E. (1991). A model of the brightness of moonlight. Publications of the Astronomical Society of the Pacific, 103, 1033–1039.</a:t>
            </a:r>
          </a:p>
          <a:p>
            <a:pPr marL="228600" indent="-228600">
              <a:lnSpc>
                <a:spcPct val="93000"/>
              </a:lnSpc>
              <a:spcBef>
                <a:spcPts val="200"/>
              </a:spcBef>
              <a:spcAft>
                <a:spcPts val="0"/>
              </a:spcAft>
              <a:buNone/>
            </a:pPr>
            <a:r>
              <a:rPr sz="900" b="0" i="0">
                <a:solidFill>
                  <a:srgbClr val="D9D2BD"/>
                </a:solidFill>
                <a:latin typeface="Aptos"/>
              </a:rPr>
              <a:t>Kyba, C. C. M., Altıntaş, Y. Ö., Walker, C. E., &amp; Newhouse, M. (2023). Citizen scientists report global rapid reductions in the visibility of stars from 2011 to 2022. Science, 379(6629), 265–268.</a:t>
            </a:r>
          </a:p>
          <a:p>
            <a:pPr marL="228600" indent="-228600">
              <a:lnSpc>
                <a:spcPct val="93000"/>
              </a:lnSpc>
              <a:spcBef>
                <a:spcPts val="200"/>
              </a:spcBef>
              <a:spcAft>
                <a:spcPts val="0"/>
              </a:spcAft>
              <a:buNone/>
            </a:pPr>
            <a:r>
              <a:rPr sz="900" b="0" i="0">
                <a:solidFill>
                  <a:srgbClr val="D9D2BD"/>
                </a:solidFill>
                <a:latin typeface="Aptos"/>
              </a:rPr>
              <a:t>OpenStreetMap contributors (2026). Road, street-lamp and sports-venue data. openstreetmap.org (ODbL).</a:t>
            </a:r>
          </a:p>
          <a:p>
            <a:pPr marL="228600" indent="-228600">
              <a:lnSpc>
                <a:spcPct val="93000"/>
              </a:lnSpc>
              <a:spcBef>
                <a:spcPts val="200"/>
              </a:spcBef>
              <a:spcAft>
                <a:spcPts val="0"/>
              </a:spcAft>
              <a:buNone/>
            </a:pPr>
            <a:r>
              <a:rPr sz="900" b="0" i="0">
                <a:solidFill>
                  <a:srgbClr val="D9D2BD"/>
                </a:solidFill>
                <a:latin typeface="Aptos"/>
              </a:rPr>
              <a:t>Roldán Hernández, C. (2023, January 17). Security enhancements make for a brighter, safer campus. UF News, University of Florida.</a:t>
            </a:r>
          </a:p>
          <a:p>
            <a:pPr marL="228600" indent="-228600">
              <a:lnSpc>
                <a:spcPct val="93000"/>
              </a:lnSpc>
              <a:spcBef>
                <a:spcPts val="200"/>
              </a:spcBef>
              <a:spcAft>
                <a:spcPts val="0"/>
              </a:spcAft>
              <a:buNone/>
            </a:pPr>
            <a:r>
              <a:rPr sz="900" b="0" i="0">
                <a:solidFill>
                  <a:srgbClr val="D9D2BD"/>
                </a:solidFill>
                <a:latin typeface="Aptos"/>
              </a:rPr>
              <a:t>Román, M. O., Wang, Z., Sun, Q., et al. (2018). NASA's Black Marble nighttime lights product suite. Remote Sensing of Environment, 210, 113–143.</a:t>
            </a:r>
          </a:p>
          <a:p>
            <a:pPr marL="228600" indent="-228600">
              <a:lnSpc>
                <a:spcPct val="93000"/>
              </a:lnSpc>
              <a:spcBef>
                <a:spcPts val="200"/>
              </a:spcBef>
              <a:spcAft>
                <a:spcPts val="0"/>
              </a:spcAft>
              <a:buNone/>
            </a:pPr>
            <a:r>
              <a:rPr sz="900" b="0" i="0">
                <a:solidFill>
                  <a:srgbClr val="D9D2BD"/>
                </a:solidFill>
                <a:latin typeface="Aptos"/>
              </a:rPr>
              <a:t>Rosen, J. (2025). Dark Sky Simulator (v1) [software]. Zenodo. doi:10.5281/zenodo.17252185.</a:t>
            </a:r>
          </a:p>
          <a:p>
            <a:pPr marL="228600" indent="-228600">
              <a:lnSpc>
                <a:spcPct val="93000"/>
              </a:lnSpc>
              <a:spcBef>
                <a:spcPts val="200"/>
              </a:spcBef>
              <a:spcAft>
                <a:spcPts val="0"/>
              </a:spcAft>
              <a:buNone/>
            </a:pPr>
            <a:r>
              <a:rPr sz="900" b="0" i="0">
                <a:solidFill>
                  <a:srgbClr val="D9D2BD"/>
                </a:solidFill>
                <a:latin typeface="Aptos"/>
              </a:rPr>
              <a:t>Rosen, J. (2026). Dark Sky Simulator v2 [software], incl. ADR 0013 (the 19% reconstruction). github.com/jayrosen-design/dark-sky-simulator-v2.</a:t>
            </a:r>
          </a:p>
          <a:p>
            <a:pPr marL="228600" indent="-228600">
              <a:lnSpc>
                <a:spcPct val="93000"/>
              </a:lnSpc>
              <a:spcBef>
                <a:spcPts val="200"/>
              </a:spcBef>
              <a:spcAft>
                <a:spcPts val="0"/>
              </a:spcAft>
              <a:buNone/>
            </a:pPr>
            <a:r>
              <a:rPr sz="900" b="0" i="0">
                <a:solidFill>
                  <a:srgbClr val="D9D2BD"/>
                </a:solidFill>
                <a:latin typeface="Aptos"/>
              </a:rPr>
              <a:t>Rosen, J. (2026, January 13). Preserving natural skies in Alachua County: Light pollution mitigation and economic impact. Alachua County Environmental Protection Advisory Committee.</a:t>
            </a:r>
          </a:p>
          <a:p>
            <a:pPr marL="228600" indent="-228600">
              <a:lnSpc>
                <a:spcPct val="93000"/>
              </a:lnSpc>
              <a:spcBef>
                <a:spcPts val="200"/>
              </a:spcBef>
              <a:spcAft>
                <a:spcPts val="0"/>
              </a:spcAft>
              <a:buNone/>
            </a:pPr>
            <a:r>
              <a:rPr sz="900" b="0" i="0">
                <a:solidFill>
                  <a:srgbClr val="D9D2BD"/>
                </a:solidFill>
                <a:latin typeface="Aptos"/>
              </a:rPr>
              <a:t>Smith, J. (2026, March 24). Restoring the Milky Way: Arts alumnus develops app to reduce light pollution. UF College of the Arts.</a:t>
            </a:r>
          </a:p>
          <a:p>
            <a:pPr marL="228600" indent="-228600">
              <a:lnSpc>
                <a:spcPct val="93000"/>
              </a:lnSpc>
              <a:spcBef>
                <a:spcPts val="200"/>
              </a:spcBef>
              <a:spcAft>
                <a:spcPts val="0"/>
              </a:spcAft>
              <a:buNone/>
            </a:pPr>
            <a:r>
              <a:rPr sz="900" b="0" i="0">
                <a:solidFill>
                  <a:srgbClr val="D9D2BD"/>
                </a:solidFill>
                <a:latin typeface="Aptos"/>
              </a:rPr>
              <a:t>Sweet, W. V., et al. (2022). Global and Regional Sea Level Rise Scenarios for the United States. NOAA Technical Report NOS 01. National Oceanic and Atmospheric Administration.</a:t>
            </a:r>
          </a:p>
          <a:p>
            <a:pPr marL="228600" indent="-228600">
              <a:lnSpc>
                <a:spcPct val="93000"/>
              </a:lnSpc>
              <a:spcBef>
                <a:spcPts val="200"/>
              </a:spcBef>
              <a:spcAft>
                <a:spcPts val="0"/>
              </a:spcAft>
              <a:buNone/>
            </a:pPr>
            <a:r>
              <a:rPr sz="900" b="0" i="0">
                <a:solidFill>
                  <a:srgbClr val="D9D2BD"/>
                </a:solidFill>
                <a:latin typeface="Aptos"/>
              </a:rPr>
              <a:t>The Gainesville Sun (2012, April). Photograph of the University of Florida Rosemary Hill Observatory.</a:t>
            </a:r>
          </a:p>
          <a:p>
            <a:pPr marL="228600" indent="-228600">
              <a:lnSpc>
                <a:spcPct val="93000"/>
              </a:lnSpc>
              <a:spcBef>
                <a:spcPts val="200"/>
              </a:spcBef>
              <a:spcAft>
                <a:spcPts val="0"/>
              </a:spcAft>
              <a:buNone/>
            </a:pPr>
            <a:r>
              <a:rPr sz="900" b="0" i="0">
                <a:solidFill>
                  <a:srgbClr val="D9D2BD"/>
                </a:solidFill>
                <a:latin typeface="Aptos"/>
              </a:rPr>
              <a:t>U.S. Census Bureau (2020). TIGER/Line boundaries and roads; 2020 Census housing-unit counts.</a:t>
            </a:r>
          </a:p>
          <a:p>
            <a:pPr marL="228600" indent="-228600">
              <a:lnSpc>
                <a:spcPct val="93000"/>
              </a:lnSpc>
              <a:spcBef>
                <a:spcPts val="200"/>
              </a:spcBef>
              <a:spcAft>
                <a:spcPts val="0"/>
              </a:spcAft>
              <a:buNone/>
            </a:pPr>
            <a:r>
              <a:rPr sz="900" b="0" i="0">
                <a:solidFill>
                  <a:srgbClr val="D9D2BD"/>
                </a:solidFill>
                <a:latin typeface="Aptos"/>
              </a:rPr>
              <a:t>U.S. Energy Information Administration (2023). How much electricity does an American home use? FAQ (2022 average: 10,791 kWh per residential customer). eia.gov.</a:t>
            </a:r>
          </a:p>
          <a:p>
            <a:pPr marL="228600" indent="-228600">
              <a:lnSpc>
                <a:spcPct val="93000"/>
              </a:lnSpc>
              <a:spcBef>
                <a:spcPts val="200"/>
              </a:spcBef>
              <a:spcAft>
                <a:spcPts val="0"/>
              </a:spcAft>
              <a:buNone/>
            </a:pPr>
            <a:r>
              <a:rPr sz="900" b="0" i="0">
                <a:solidFill>
                  <a:srgbClr val="D9D2BD"/>
                </a:solidFill>
                <a:latin typeface="Aptos"/>
              </a:rPr>
              <a:t>Ward, P. J., et al. (2020). Aqueduct Floods Methodology. Technical Note. World Resources Institute. Data: WRI Aqueduct Floods Hazard Maps V2 via Google Earth Engine.</a:t>
            </a:r>
          </a:p>
          <a:p>
            <a:pPr marL="228600" indent="-228600">
              <a:lnSpc>
                <a:spcPct val="93000"/>
              </a:lnSpc>
              <a:spcBef>
                <a:spcPts val="200"/>
              </a:spcBef>
              <a:spcAft>
                <a:spcPts val="0"/>
              </a:spcAft>
              <a:buNone/>
            </a:pPr>
            <a:r>
              <a:rPr sz="900" b="0" i="0">
                <a:solidFill>
                  <a:srgbClr val="D9D2BD"/>
                </a:solidFill>
                <a:latin typeface="Aptos"/>
              </a:rPr>
              <a:t>York University (2019, August 16). Installation of new telescope expected to be largest at a Canadian university. YFile.</a:t>
            </a:r>
          </a:p>
        </p:txBody>
      </p:sp>
      <p:pic>
        <p:nvPicPr>
          <p:cNvPr id="8" name="Picture 7"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Finding where lighting changed: trend or step?</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29</a:t>
            </a:r>
          </a:p>
        </p:txBody>
      </p:sp>
      <p:sp>
        <p:nvSpPr>
          <p:cNvPr id="6" name="TextBox 5"/>
          <p:cNvSpPr txBox="1"/>
          <p:nvPr/>
        </p:nvSpPr>
        <p:spPr>
          <a:xfrm>
            <a:off x="548640" y="1463040"/>
            <a:ext cx="47091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 every lit cell: is a steady trend enough, or was there a </a:t>
            </a:r>
            <a:r>
              <a:rPr sz="1800" b="1" i="0">
                <a:solidFill>
                  <a:srgbClr val="F6B44B"/>
                </a:solidFill>
                <a:latin typeface="Aptos"/>
              </a:rPr>
              <a:t>sudden step</a:t>
            </a:r>
            <a:r>
              <a:rPr sz="1800" b="0" i="0">
                <a:solidFill>
                  <a:srgbClr val="D9D2BD"/>
                </a:solidFill>
                <a:latin typeface="Aptos"/>
              </a:rPr>
              <a:t>?</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F-test of line vs line + step, at the best of 8 split years (2015–2022)</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Cutoff from simulating </a:t>
            </a:r>
            <a:r>
              <a:rPr sz="1800" b="1" i="0">
                <a:solidFill>
                  <a:srgbClr val="F6B44B"/>
                </a:solidFill>
                <a:latin typeface="Aptos"/>
              </a:rPr>
              <a:t>200,000</a:t>
            </a:r>
            <a:r>
              <a:rPr sz="1800" b="0" i="0">
                <a:solidFill>
                  <a:srgbClr val="D9D2BD"/>
                </a:solidFill>
                <a:latin typeface="Aptos"/>
              </a:rPr>
              <a:t> noise-only cells: F ≥ 36.3, a false alarm </a:t>
            </a:r>
            <a:r>
              <a:rPr sz="1800" b="1" i="0">
                <a:solidFill>
                  <a:srgbClr val="F6B44B"/>
                </a:solidFill>
                <a:latin typeface="Aptos"/>
              </a:rPr>
              <a:t>1 in 1,000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Region's shared movement removed first; steps must be ≥ 20%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Our first detector flagged </a:t>
            </a:r>
            <a:r>
              <a:rPr sz="1800" b="1" i="0">
                <a:solidFill>
                  <a:srgbClr val="F6B44B"/>
                </a:solidFill>
                <a:latin typeface="Aptos"/>
              </a:rPr>
              <a:t>2,000 of 2,000</a:t>
            </a:r>
            <a:r>
              <a:rPr sz="1800" b="0" i="0">
                <a:solidFill>
                  <a:srgbClr val="D9D2BD"/>
                </a:solidFill>
                <a:latin typeface="Aptos"/>
              </a:rPr>
              <a:t> simulated steady trends</a:t>
            </a:r>
          </a:p>
        </p:txBody>
      </p:sp>
      <p:pic>
        <p:nvPicPr>
          <p:cNvPr id="7" name="Picture 6" descr="crop_inspector_chiefland.jpg"/>
          <p:cNvPicPr>
            <a:picLocks noChangeAspect="1"/>
          </p:cNvPicPr>
          <p:nvPr/>
        </p:nvPicPr>
        <p:blipFill>
          <a:blip r:embed="rId3"/>
          <a:stretch>
            <a:fillRect/>
          </a:stretch>
        </p:blipFill>
        <p:spPr>
          <a:xfrm>
            <a:off x="5623560" y="1463040"/>
            <a:ext cx="2926080" cy="1522513"/>
          </a:xfrm>
          <a:prstGeom prst="roundRect">
            <a:avLst>
              <a:gd name="adj" fmla="val 3000"/>
            </a:avLst>
          </a:prstGeom>
          <a:ln w="9525">
            <a:solidFill>
              <a:srgbClr val="2A3A60"/>
            </a:solidFill>
          </a:ln>
        </p:spPr>
      </p:pic>
      <p:sp>
        <p:nvSpPr>
          <p:cNvPr id="8" name="TextBox 7"/>
          <p:cNvSpPr txBox="1"/>
          <p:nvPr/>
        </p:nvSpPr>
        <p:spPr>
          <a:xfrm>
            <a:off x="5623560"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Steady trend:</a:t>
            </a:r>
            <a:r>
              <a:rPr sz="1100" b="0" i="0">
                <a:solidFill>
                  <a:srgbClr val="A79F88"/>
                </a:solidFill>
                <a:latin typeface="Aptos"/>
              </a:rPr>
              <a:t> not flagged (Chiefland)</a:t>
            </a:r>
          </a:p>
        </p:txBody>
      </p:sp>
      <p:pic>
        <p:nvPicPr>
          <p:cNvPr id="9" name="Picture 8" descr="crop_inspector1.jpg"/>
          <p:cNvPicPr>
            <a:picLocks noChangeAspect="1"/>
          </p:cNvPicPr>
          <p:nvPr/>
        </p:nvPicPr>
        <p:blipFill>
          <a:blip r:embed="rId4"/>
          <a:stretch>
            <a:fillRect/>
          </a:stretch>
        </p:blipFill>
        <p:spPr>
          <a:xfrm>
            <a:off x="8714232" y="1463040"/>
            <a:ext cx="2926080" cy="1522513"/>
          </a:xfrm>
          <a:prstGeom prst="roundRect">
            <a:avLst>
              <a:gd name="adj" fmla="val 3000"/>
            </a:avLst>
          </a:prstGeom>
          <a:ln w="9525">
            <a:solidFill>
              <a:srgbClr val="2A3A60"/>
            </a:solidFill>
          </a:ln>
        </p:spPr>
      </p:pic>
      <p:sp>
        <p:nvSpPr>
          <p:cNvPr id="10" name="TextBox 9"/>
          <p:cNvSpPr txBox="1"/>
          <p:nvPr/>
        </p:nvSpPr>
        <p:spPr>
          <a:xfrm>
            <a:off x="8714232"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a:t>
            </a:r>
            <a:r>
              <a:rPr sz="1100" b="0" i="0">
                <a:solidFill>
                  <a:srgbClr val="A79F88"/>
                </a:solidFill>
                <a:latin typeface="Aptos"/>
              </a:rPr>
              <a:t> flagged (I-75 &amp; Archer Rd)</a:t>
            </a:r>
          </a:p>
        </p:txBody>
      </p:sp>
      <p:pic>
        <p:nvPicPr>
          <p:cNvPr id="11" name="Picture 10" descr="fstat_light.png"/>
          <p:cNvPicPr>
            <a:picLocks noChangeAspect="1"/>
          </p:cNvPicPr>
          <p:nvPr/>
        </p:nvPicPr>
        <p:blipFill>
          <a:blip r:embed="rId5"/>
          <a:stretch>
            <a:fillRect/>
          </a:stretch>
        </p:blipFill>
        <p:spPr>
          <a:xfrm>
            <a:off x="5669280" y="3520440"/>
            <a:ext cx="5897879" cy="929956"/>
          </a:xfrm>
          <a:prstGeom prst="rect">
            <a:avLst/>
          </a:prstGeom>
        </p:spPr>
      </p:pic>
      <p:pic>
        <p:nvPicPr>
          <p:cNvPr id="12" name="Picture 11" descr="fcrit_light.png"/>
          <p:cNvPicPr>
            <a:picLocks noChangeAspect="1"/>
          </p:cNvPicPr>
          <p:nvPr/>
        </p:nvPicPr>
        <p:blipFill>
          <a:blip r:embed="rId6"/>
          <a:stretch>
            <a:fillRect/>
          </a:stretch>
        </p:blipFill>
        <p:spPr>
          <a:xfrm>
            <a:off x="5669280" y="4572000"/>
            <a:ext cx="5897880" cy="594905"/>
          </a:xfrm>
          <a:prstGeom prst="rect">
            <a:avLst/>
          </a:prstGeom>
        </p:spPr>
      </p:pic>
      <p:pic>
        <p:nvPicPr>
          <p:cNvPr id="13" name="Picture 12"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Forecasting growth with LightGBM</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30</a:t>
            </a:r>
          </a:p>
        </p:txBody>
      </p:sp>
      <p:sp>
        <p:nvSpPr>
          <p:cNvPr id="6" name="TextBox 5"/>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Gradient-boosted decision trees on </a:t>
            </a:r>
            <a:r>
              <a:rPr sz="1900" b="1" i="0">
                <a:solidFill>
                  <a:srgbClr val="F6B44B"/>
                </a:solidFill>
                <a:latin typeface="Aptos"/>
              </a:rPr>
              <a:t>~30,000</a:t>
            </a:r>
            <a:r>
              <a:rPr sz="1900" b="0" i="0">
                <a:solidFill>
                  <a:srgbClr val="D9D2BD"/>
                </a:solidFill>
                <a:latin typeface="Aptos"/>
              </a:rPr>
              <a:t> one-km cells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Learns how fast a cell brightened over 6 years from </a:t>
            </a:r>
            <a:r>
              <a:rPr sz="1900" b="1" i="0">
                <a:solidFill>
                  <a:srgbClr val="F6B44B"/>
                </a:solidFill>
                <a:latin typeface="Aptos"/>
              </a:rPr>
              <a:t>6 open inputs</a:t>
            </a:r>
            <a:r>
              <a:rPr sz="1900" b="0" i="0">
                <a:solidFill>
                  <a:srgbClr val="D9D2BD"/>
                </a:solidFill>
                <a:latin typeface="Aptos"/>
              </a:rPr>
              <a:t> describing it at the start</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Why not deep learning? Small tabular data: trains in </a:t>
            </a:r>
            <a:r>
              <a:rPr sz="1900" b="1" i="0">
                <a:solidFill>
                  <a:srgbClr val="F6B44B"/>
                </a:solidFill>
                <a:latin typeface="Aptos"/>
              </a:rPr>
              <a:t>seconds</a:t>
            </a:r>
            <a:r>
              <a:rPr sz="1900" b="0" i="0">
                <a:solidFill>
                  <a:srgbClr val="D9D2BD"/>
                </a:solidFill>
                <a:latin typeface="Aptos"/>
              </a:rPr>
              <a:t> on a laptop, no GPU, reports what it relies on</a:t>
            </a:r>
          </a:p>
        </p:txBody>
      </p:sp>
      <p:pic>
        <p:nvPicPr>
          <p:cNvPr id="7" name="Picture 6" descr="boost_light.png"/>
          <p:cNvPicPr>
            <a:picLocks noChangeAspect="1"/>
          </p:cNvPicPr>
          <p:nvPr/>
        </p:nvPicPr>
        <p:blipFill>
          <a:blip r:embed="rId3"/>
          <a:stretch>
            <a:fillRect/>
          </a:stretch>
        </p:blipFill>
        <p:spPr>
          <a:xfrm>
            <a:off x="548640" y="4892040"/>
            <a:ext cx="4892040" cy="377087"/>
          </a:xfrm>
          <a:prstGeom prst="rect">
            <a:avLst/>
          </a:prstGeom>
        </p:spPr>
      </p:pic>
      <p:sp>
        <p:nvSpPr>
          <p:cNvPr id="8" name="TextBox 7"/>
          <p:cNvSpPr txBox="1"/>
          <p:nvPr/>
        </p:nvSpPr>
        <p:spPr>
          <a:xfrm>
            <a:off x="548640" y="5715000"/>
            <a:ext cx="489204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300 trees · learning rate 0.05 · ≤ 31 leaves · ≥ 40 cells per leaf</a:t>
            </a:r>
          </a:p>
        </p:txBody>
      </p:sp>
      <p:sp>
        <p:nvSpPr>
          <p:cNvPr id="9" name="TextBox 8"/>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What the model relies on (share of split gain)</a:t>
            </a:r>
          </a:p>
        </p:txBody>
      </p:sp>
      <p:graphicFrame>
        <p:nvGraphicFramePr>
          <p:cNvPr id="10" name="Chart 9"/>
          <p:cNvGraphicFramePr>
            <a:graphicFrameLocks noGrp="1"/>
          </p:cNvGraphicFramePr>
          <p:nvPr/>
        </p:nvGraphicFramePr>
        <p:xfrm>
          <a:off x="5760720" y="1737360"/>
          <a:ext cx="5897880" cy="4297680"/>
        </p:xfrm>
        <a:graphic>
          <a:graphicData uri="http://schemas.openxmlformats.org/drawingml/2006/chart">
            <c:chart xmlns:c="http://schemas.openxmlformats.org/drawingml/2006/chart" xmlns:r="http://schemas.openxmlformats.org/officeDocument/2006/relationships" r:id="rId4"/>
          </a:graphicData>
        </a:graphic>
      </p:graphicFrame>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step test, exactly</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31</a:t>
            </a:r>
          </a:p>
        </p:txBody>
      </p:sp>
      <p:pic>
        <p:nvPicPr>
          <p:cNvPr id="6" name="Picture 5" descr="models_light.png"/>
          <p:cNvPicPr>
            <a:picLocks noChangeAspect="1"/>
          </p:cNvPicPr>
          <p:nvPr/>
        </p:nvPicPr>
        <p:blipFill>
          <a:blip r:embed="rId3"/>
          <a:stretch>
            <a:fillRect/>
          </a:stretch>
        </p:blipFill>
        <p:spPr>
          <a:xfrm>
            <a:off x="731520" y="1554480"/>
            <a:ext cx="9420324" cy="566928"/>
          </a:xfrm>
          <a:prstGeom prst="rect">
            <a:avLst/>
          </a:prstGeom>
        </p:spPr>
      </p:pic>
      <p:pic>
        <p:nvPicPr>
          <p:cNvPr id="7" name="Picture 6" descr="fstat_light.png"/>
          <p:cNvPicPr>
            <a:picLocks noChangeAspect="1"/>
          </p:cNvPicPr>
          <p:nvPr/>
        </p:nvPicPr>
        <p:blipFill>
          <a:blip r:embed="rId4"/>
          <a:stretch>
            <a:fillRect/>
          </a:stretch>
        </p:blipFill>
        <p:spPr>
          <a:xfrm>
            <a:off x="731520" y="2514600"/>
            <a:ext cx="5799221" cy="914400"/>
          </a:xfrm>
          <a:prstGeom prst="rect">
            <a:avLst/>
          </a:prstGeom>
        </p:spPr>
      </p:pic>
      <p:pic>
        <p:nvPicPr>
          <p:cNvPr id="8" name="Picture 7" descr="fcrit_light.png"/>
          <p:cNvPicPr>
            <a:picLocks noChangeAspect="1"/>
          </p:cNvPicPr>
          <p:nvPr/>
        </p:nvPicPr>
        <p:blipFill>
          <a:blip r:embed="rId5"/>
          <a:stretch>
            <a:fillRect/>
          </a:stretch>
        </p:blipFill>
        <p:spPr>
          <a:xfrm>
            <a:off x="731520" y="3840480"/>
            <a:ext cx="6799006" cy="685800"/>
          </a:xfrm>
          <a:prstGeom prst="rect">
            <a:avLst/>
          </a:prstGeom>
        </p:spPr>
      </p:pic>
      <p:sp>
        <p:nvSpPr>
          <p:cNvPr id="9" name="TextBox 8"/>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z = ln radiance minus the region's shared movement; n = 13 years; flagged if F* ≥ 36.3 and |step| ≥ 20%</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F* is unchanged by shifting, tilting or rescaling a series, so one simulation of pure noise serves every cell</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Expected chance flags: 0.001 × 28,986 ≈ 29; observed 1,493 (491 rising events, 144 falling)</a:t>
            </a:r>
          </a:p>
        </p:txBody>
      </p:sp>
      <p:pic>
        <p:nvPicPr>
          <p:cNvPr id="10" name="Picture 9"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LightGBM: fit, back-test and forecast</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32</a:t>
            </a:r>
          </a:p>
        </p:txBody>
      </p:sp>
      <p:pic>
        <p:nvPicPr>
          <p:cNvPr id="6" name="Picture 5" descr="boost_light.png"/>
          <p:cNvPicPr>
            <a:picLocks noChangeAspect="1"/>
          </p:cNvPicPr>
          <p:nvPr/>
        </p:nvPicPr>
        <p:blipFill>
          <a:blip r:embed="rId3"/>
          <a:stretch>
            <a:fillRect/>
          </a:stretch>
        </p:blipFill>
        <p:spPr>
          <a:xfrm>
            <a:off x="731520" y="1508760"/>
            <a:ext cx="7354878" cy="566928"/>
          </a:xfrm>
          <a:prstGeom prst="rect">
            <a:avLst/>
          </a:prstGeom>
        </p:spPr>
      </p:pic>
      <p:pic>
        <p:nvPicPr>
          <p:cNvPr id="7" name="Picture 6" descr="backtest_light.png"/>
          <p:cNvPicPr>
            <a:picLocks noChangeAspect="1"/>
          </p:cNvPicPr>
          <p:nvPr/>
        </p:nvPicPr>
        <p:blipFill>
          <a:blip r:embed="rId4"/>
          <a:stretch>
            <a:fillRect/>
          </a:stretch>
        </p:blipFill>
        <p:spPr>
          <a:xfrm>
            <a:off x="731520" y="2331720"/>
            <a:ext cx="7707350" cy="566928"/>
          </a:xfrm>
          <a:prstGeom prst="rect">
            <a:avLst/>
          </a:prstGeom>
        </p:spPr>
      </p:pic>
      <p:pic>
        <p:nvPicPr>
          <p:cNvPr id="8" name="Picture 7" descr="mdape_light.png"/>
          <p:cNvPicPr>
            <a:picLocks noChangeAspect="1"/>
          </p:cNvPicPr>
          <p:nvPr/>
        </p:nvPicPr>
        <p:blipFill>
          <a:blip r:embed="rId5"/>
          <a:stretch>
            <a:fillRect/>
          </a:stretch>
        </p:blipFill>
        <p:spPr>
          <a:xfrm>
            <a:off x="731520" y="3154680"/>
            <a:ext cx="6946582" cy="777240"/>
          </a:xfrm>
          <a:prstGeom prst="rect">
            <a:avLst/>
          </a:prstGeom>
        </p:spPr>
      </p:pic>
      <p:pic>
        <p:nvPicPr>
          <p:cNvPr id="9" name="Picture 8" descr="forecast_light.png"/>
          <p:cNvPicPr>
            <a:picLocks noChangeAspect="1"/>
          </p:cNvPicPr>
          <p:nvPr/>
        </p:nvPicPr>
        <p:blipFill>
          <a:blip r:embed="rId6"/>
          <a:stretch>
            <a:fillRect/>
          </a:stretch>
        </p:blipFill>
        <p:spPr>
          <a:xfrm>
            <a:off x="731520" y="4206240"/>
            <a:ext cx="3912421" cy="502920"/>
          </a:xfrm>
          <a:prstGeom prst="rect">
            <a:avLst/>
          </a:prstGeom>
        </p:spPr>
      </p:pic>
      <p:sp>
        <p:nvSpPr>
          <p:cNvPr id="10" name="TextBox 9"/>
          <p:cNvSpPr txBox="1"/>
          <p:nvPr/>
        </p:nvSpPr>
        <p:spPr>
          <a:xfrm>
            <a:off x="731520" y="4937760"/>
            <a:ext cx="10789920" cy="137160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Inputs s: distance to roads and urban cores, housing density, elevation, conservation land, ln radiance at the window start</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Spatial check: 16 × 16-cell blocks in five folds → R² 0.18; forecast rate clipped to [−1%, +6%] per year</a:t>
            </a:r>
          </a:p>
        </p:txBody>
      </p:sp>
      <p:pic>
        <p:nvPicPr>
          <p:cNvPr id="11" name="Picture 10"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physics: from a fixture to a magnitude</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33</a:t>
            </a:r>
          </a:p>
        </p:txBody>
      </p:sp>
      <p:pic>
        <p:nvPicPr>
          <p:cNvPr id="6" name="Picture 5" descr="emission_light.png"/>
          <p:cNvPicPr>
            <a:picLocks noChangeAspect="1"/>
          </p:cNvPicPr>
          <p:nvPr/>
        </p:nvPicPr>
        <p:blipFill>
          <a:blip r:embed="rId3"/>
          <a:stretch>
            <a:fillRect/>
          </a:stretch>
        </p:blipFill>
        <p:spPr>
          <a:xfrm>
            <a:off x="731520" y="1508760"/>
            <a:ext cx="4915517" cy="713231"/>
          </a:xfrm>
          <a:prstGeom prst="rect">
            <a:avLst/>
          </a:prstGeom>
        </p:spPr>
      </p:pic>
      <p:pic>
        <p:nvPicPr>
          <p:cNvPr id="7" name="Picture 6" descr="kernel_light.png"/>
          <p:cNvPicPr>
            <a:picLocks noChangeAspect="1"/>
          </p:cNvPicPr>
          <p:nvPr/>
        </p:nvPicPr>
        <p:blipFill>
          <a:blip r:embed="rId4"/>
          <a:stretch>
            <a:fillRect/>
          </a:stretch>
        </p:blipFill>
        <p:spPr>
          <a:xfrm>
            <a:off x="731520" y="2423160"/>
            <a:ext cx="8398445" cy="713232"/>
          </a:xfrm>
          <a:prstGeom prst="rect">
            <a:avLst/>
          </a:prstGeom>
        </p:spPr>
      </p:pic>
      <p:pic>
        <p:nvPicPr>
          <p:cNvPr id="8" name="Picture 7" descr="basis_light.png"/>
          <p:cNvPicPr>
            <a:picLocks noChangeAspect="1"/>
          </p:cNvPicPr>
          <p:nvPr/>
        </p:nvPicPr>
        <p:blipFill>
          <a:blip r:embed="rId5"/>
          <a:stretch>
            <a:fillRect/>
          </a:stretch>
        </p:blipFill>
        <p:spPr>
          <a:xfrm>
            <a:off x="731520" y="3337560"/>
            <a:ext cx="3045758" cy="457200"/>
          </a:xfrm>
          <a:prstGeom prst="rect">
            <a:avLst/>
          </a:prstGeom>
        </p:spPr>
      </p:pic>
      <p:pic>
        <p:nvPicPr>
          <p:cNvPr id="9" name="Picture 8" descr="skysum_light.png"/>
          <p:cNvPicPr>
            <a:picLocks noChangeAspect="1"/>
          </p:cNvPicPr>
          <p:nvPr/>
        </p:nvPicPr>
        <p:blipFill>
          <a:blip r:embed="rId6"/>
          <a:stretch>
            <a:fillRect/>
          </a:stretch>
        </p:blipFill>
        <p:spPr>
          <a:xfrm>
            <a:off x="731520" y="3977639"/>
            <a:ext cx="6472009" cy="566928"/>
          </a:xfrm>
          <a:prstGeom prst="rect">
            <a:avLst/>
          </a:prstGeom>
        </p:spPr>
      </p:pic>
      <p:sp>
        <p:nvSpPr>
          <p:cNvPr id="10" name="TextBox 9"/>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Rayleigh + Henyey-Greenstein aerosol scattering, slant-path extinction, Earth curvature; fitted within 7.4%</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One global scale α fitted to 10 reference sites (RMSE 0.46 mag): a sanity fit, not a calibration</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53 Globe at Night SQM readings never fitted: model reads a median 0.52 mag darker (0.21 after midnight)</a:t>
            </a:r>
          </a:p>
        </p:txBody>
      </p:sp>
      <p:pic>
        <p:nvPicPr>
          <p:cNvPr id="11" name="Picture 10" descr="ai_days_logo_sticker.png"/>
          <p:cNvPicPr>
            <a:picLocks noChangeAspect="1"/>
          </p:cNvPicPr>
          <p:nvPr/>
        </p:nvPicPr>
        <p:blipFill>
          <a:blip r:embed="rId7"/>
          <a:stretch>
            <a:fillRect/>
          </a:stretch>
        </p:blipFill>
        <p:spPr>
          <a:xfrm>
            <a:off x="10408615" y="201168"/>
            <a:ext cx="1371600" cy="798271"/>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Q&amp;A</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Prepared answers</a:t>
            </a:r>
          </a:p>
        </p:txBody>
      </p:sp>
      <p:sp>
        <p:nvSpPr>
          <p:cNvPr id="4" name="TextBox 3"/>
          <p:cNvSpPr txBox="1"/>
          <p:nvPr/>
        </p:nvSpPr>
        <p:spPr>
          <a:xfrm>
            <a:off x="548640" y="6473952"/>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Jay Rosen  ·  Restoring the Milky Way  ·  UF AI Days  ·  October 27, 2026</a:t>
            </a:r>
          </a:p>
        </p:txBody>
      </p:sp>
      <p:sp>
        <p:nvSpPr>
          <p:cNvPr id="5" name="TextBox 4"/>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34</a:t>
            </a:r>
          </a:p>
        </p:txBody>
      </p:sp>
      <p:sp>
        <p:nvSpPr>
          <p:cNvPr id="6" name="TextBox 5"/>
          <p:cNvSpPr txBox="1"/>
          <p:nvPr/>
        </p:nvSpPr>
        <p:spPr>
          <a:xfrm>
            <a:off x="548640" y="1417320"/>
            <a:ext cx="1106424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Ground truth for change events?</a:t>
            </a:r>
            <a:r>
              <a:rPr sz="1500" b="0" i="0">
                <a:solidFill>
                  <a:srgbClr val="D9D2BD"/>
                </a:solidFill>
                <a:latin typeface="Aptos"/>
              </a:rPr>
              <a:t> False-alarm rate set by simulation and tested; known openings line up (Celebration Pointe, Nov 2016). Next: utility work orders</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Data leakage?</a:t>
            </a:r>
            <a:r>
              <a:rPr sz="1500" b="0" i="0">
                <a:solidFill>
                  <a:srgbClr val="D9D2BD"/>
                </a:solidFill>
                <a:latin typeface="Aptos"/>
              </a:rPr>
              <a:t> Back-test trains on 2012 state and 2012–18 growth, predicts 2024 from 2018; a test feeds a 2018–24 jump and fails if the model could see it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Is the satellite blind to LEDs?</a:t>
            </a:r>
            <a:r>
              <a:rPr sz="1500" b="0" i="0">
                <a:solidFill>
                  <a:srgbClr val="D9D2BD"/>
                </a:solidFill>
                <a:latin typeface="Aptos"/>
              </a:rPr>
              <a:t> Partly: VIIRS sees 500–900 nm. For the Groveland preset it records −24.9% where the eye sees −23.5%</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Cost?</a:t>
            </a:r>
            <a:r>
              <a:rPr sz="1500" b="0" i="0">
                <a:solidFill>
                  <a:srgbClr val="D9D2BD"/>
                </a:solidFill>
                <a:latin typeface="Aptos"/>
              </a:rPr>
              <a:t> Earth Engine's free noncommercial tier; the app is static files on free hosting</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Didn't the County find +19%?</a:t>
            </a:r>
            <a:r>
              <a:rPr sz="1500" b="0" i="0">
                <a:solidFill>
                  <a:srgbClr val="D9D2BD"/>
                </a:solidFill>
                <a:latin typeface="Aptos"/>
              </a:rPr>
              <a:t> That covered the whole 212 × 131 km map view (~20% in NOAA radiance); the county rose 3–6%</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How good is the sky model?</a:t>
            </a:r>
            <a:r>
              <a:rPr sz="1500" b="0" i="0">
                <a:solidFill>
                  <a:srgbClr val="D9D2BD"/>
                </a:solidFill>
                <a:latin typeface="Aptos"/>
              </a:rPr>
              <a:t> Scale fitted to 10 sites (RMSE 0.46 mag); 53 independent meter readings a median 0.52 mag brighter</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Do not claim</a:t>
            </a:r>
            <a:r>
              <a:rPr sz="1500" b="0" i="0">
                <a:solidFill>
                  <a:srgbClr val="D9D2BD"/>
                </a:solidFill>
                <a:latin typeface="Aptos"/>
              </a:rPr>
              <a:t>: calibrated sky brightness, a predicted 2034 sky (it is the 2018–24 pace carried forward), or that the detector finds retrofits</a:t>
            </a:r>
          </a:p>
        </p:txBody>
      </p:sp>
      <p:pic>
        <p:nvPicPr>
          <p:cNvPr id="7" name="Picture 6"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9599</Words>
  <Application>Microsoft Office PowerPoint</Application>
  <PresentationFormat>Widescreen</PresentationFormat>
  <Paragraphs>627</Paragraphs>
  <Slides>34</Slides>
  <Notes>34</Notes>
  <HiddenSlides>7</HiddenSlides>
  <MMClips>13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34</vt:i4>
      </vt:variant>
    </vt:vector>
  </HeadingPairs>
  <TitlesOfParts>
    <vt:vector size="39"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Rosen</cp:lastModifiedBy>
  <cp:revision>2</cp:revision>
  <dcterms:created xsi:type="dcterms:W3CDTF">2013-01-27T09:14:16Z</dcterms:created>
  <dcterms:modified xsi:type="dcterms:W3CDTF">2026-10-26T02:32:39Z</dcterms:modified>
  <cp:category/>
</cp:coreProperties>
</file>