
<file path=[Content_Types].xml><?xml version="1.0" encoding="utf-8"?>
<Types xmlns="http://schemas.openxmlformats.org/package/2006/content-types">
  <Default Extension="jpeg" ContentType="image/jpeg"/>
  <Default Extension="jp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Airglow background</c:v>
                </c:pt>
              </c:strCache>
            </c:strRef>
          </c:tx>
          <c:spPr>
            <a:solidFill>
              <a:srgbClr val="F6B44B"/>
            </a:solidFill>
            <a:ln>
              <a:noFill/>
            </a:ln>
          </c:spPr>
          <c:invertIfNegative val="0"/>
          <c:dLbls>
            <c:numFmt formatCode="0.00" sourceLinked="0"/>
            <c:spPr>
              <a:noFill/>
              <a:ln>
                <a:noFill/>
              </a:ln>
              <a:effectLst/>
            </c:spPr>
            <c:txPr>
              <a:bodyPr/>
              <a:lstStyle/>
              <a:p>
                <a:pPr>
                  <a:defRPr sz="12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Sheet1!$A$2:$A$14</c:f>
              <c:strCache>
                <c:ptCount val="13"/>
                <c:pt idx="0">
                  <c:v>2012</c:v>
                </c:pt>
                <c:pt idx="1">
                  <c:v>2013</c:v>
                </c:pt>
                <c:pt idx="2">
                  <c:v>2014</c:v>
                </c:pt>
                <c:pt idx="3">
                  <c:v>2015</c:v>
                </c:pt>
                <c:pt idx="4">
                  <c:v>2016</c:v>
                </c:pt>
                <c:pt idx="5">
                  <c:v>2017</c:v>
                </c:pt>
                <c:pt idx="6">
                  <c:v>2018</c:v>
                </c:pt>
                <c:pt idx="7">
                  <c:v>2019</c:v>
                </c:pt>
                <c:pt idx="8">
                  <c:v>2020</c:v>
                </c:pt>
                <c:pt idx="9">
                  <c:v>2021</c:v>
                </c:pt>
                <c:pt idx="10">
                  <c:v>2022</c:v>
                </c:pt>
                <c:pt idx="11">
                  <c:v>2023</c:v>
                </c:pt>
                <c:pt idx="12">
                  <c:v>2024</c:v>
                </c:pt>
              </c:strCache>
            </c:strRef>
          </c:cat>
          <c:val>
            <c:numRef>
              <c:f>Sheet1!$B$2:$B$14</c:f>
              <c:numCache>
                <c:formatCode>General</c:formatCode>
                <c:ptCount val="13"/>
                <c:pt idx="0">
                  <c:v>0.26100000000000001</c:v>
                </c:pt>
                <c:pt idx="1">
                  <c:v>0.192</c:v>
                </c:pt>
                <c:pt idx="2">
                  <c:v>0.254</c:v>
                </c:pt>
                <c:pt idx="3">
                  <c:v>0.22</c:v>
                </c:pt>
                <c:pt idx="4">
                  <c:v>0.17100000000000001</c:v>
                </c:pt>
                <c:pt idx="5">
                  <c:v>0.151</c:v>
                </c:pt>
                <c:pt idx="6">
                  <c:v>0.158</c:v>
                </c:pt>
                <c:pt idx="7">
                  <c:v>0.125</c:v>
                </c:pt>
                <c:pt idx="8">
                  <c:v>0.1</c:v>
                </c:pt>
                <c:pt idx="9">
                  <c:v>0.13</c:v>
                </c:pt>
                <c:pt idx="10">
                  <c:v>0.26200000000000001</c:v>
                </c:pt>
                <c:pt idx="11">
                  <c:v>0.33100000000000002</c:v>
                </c:pt>
                <c:pt idx="12">
                  <c:v>0.26700000000000002</c:v>
                </c:pt>
              </c:numCache>
            </c:numRef>
          </c:val>
          <c:extLst>
            <c:ext xmlns:c16="http://schemas.microsoft.com/office/drawing/2014/chart" uri="{C3380CC4-5D6E-409C-BE32-E72D297353CC}">
              <c16:uniqueId val="{00000000-AA0E-4AC5-A990-C2AD419B9055}"/>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200">
                <a:solidFill>
                  <a:srgbClr val="D9D2BD"/>
                </a:solidFill>
              </a:defRPr>
            </a:pPr>
            <a:endParaRPr lang="en-US"/>
          </a:p>
        </c:txPr>
        <c:crossAx val="-2113994440"/>
        <c:crosses val="autoZero"/>
        <c:auto val="1"/>
        <c:lblAlgn val="ctr"/>
        <c:lblOffset val="100"/>
        <c:noMultiLvlLbl val="0"/>
      </c:catAx>
      <c:valAx>
        <c:axId val="-2113994440"/>
        <c:scaling>
          <c:orientation val="minMax"/>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200">
          <a:solidFill>
            <a:srgbClr val="D9D2BD"/>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1"/>
        <c:ser>
          <c:idx val="0"/>
          <c:order val="0"/>
          <c:tx>
            <c:strRef>
              <c:f>Sheet1!$B$1</c:f>
              <c:strCache>
                <c:ptCount val="1"/>
                <c:pt idx="0">
                  <c:v>Detection rate</c:v>
                </c:pt>
              </c:strCache>
            </c:strRef>
          </c:tx>
          <c:spPr>
            <a:solidFill>
              <a:srgbClr val="F6B44B"/>
            </a:solidFill>
            <a:ln>
              <a:noFill/>
            </a:ln>
          </c:spPr>
          <c:invertIfNegative val="0"/>
          <c:dLbls>
            <c:numFmt formatCode="0.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No step
(false alarm)</c:v>
                </c:pt>
                <c:pt idx="1">
                  <c:v>−30% step
(LED retrofit)</c:v>
                </c:pt>
                <c:pt idx="2">
                  <c:v>+50% step</c:v>
                </c:pt>
              </c:strCache>
            </c:strRef>
          </c:cat>
          <c:val>
            <c:numRef>
              <c:f>Sheet1!$B$2:$B$4</c:f>
              <c:numCache>
                <c:formatCode>General</c:formatCode>
                <c:ptCount val="3"/>
                <c:pt idx="0">
                  <c:v>5.0000000000000001E-4</c:v>
                </c:pt>
                <c:pt idx="1">
                  <c:v>5.8000000000000003E-2</c:v>
                </c:pt>
                <c:pt idx="2">
                  <c:v>9.8000000000000004E-2</c:v>
                </c:pt>
              </c:numCache>
            </c:numRef>
          </c:val>
          <c:extLst>
            <c:ext xmlns:c16="http://schemas.microsoft.com/office/drawing/2014/chart" uri="{C3380CC4-5D6E-409C-BE32-E72D297353CC}">
              <c16:uniqueId val="{00000000-9010-46AC-BF05-E67470B6AE7F}"/>
            </c:ext>
          </c:extLst>
        </c:ser>
        <c:dLbls>
          <c:dLblPos val="outEnd"/>
          <c:showLegendKey val="0"/>
          <c:showVal val="1"/>
          <c:showCatName val="0"/>
          <c:showSerName val="0"/>
          <c:showPercent val="0"/>
          <c:showBubbleSize val="0"/>
        </c:dLbls>
        <c:gapWidth val="7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12"/>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Tenths of cells</c:v>
                </c:pt>
              </c:strCache>
            </c:strRef>
          </c:tx>
          <c:spPr>
            <a:ln w="47625">
              <a:noFill/>
            </a:ln>
          </c:spPr>
          <c:marker>
            <c:symbol val="circle"/>
            <c:size val="11"/>
            <c:spPr>
              <a:solidFill>
                <a:srgbClr val="F6B44B"/>
              </a:solidFill>
              <a:ln>
                <a:solidFill>
                  <a:srgbClr val="F6B44B"/>
                </a:solidFill>
              </a:ln>
            </c:spPr>
          </c:marker>
          <c:xVal>
            <c:numRef>
              <c:f>Sheet1!$A$2:$A$11</c:f>
              <c:numCache>
                <c:formatCode>General</c:formatCode>
                <c:ptCount val="10"/>
                <c:pt idx="0">
                  <c:v>-3.24</c:v>
                </c:pt>
                <c:pt idx="1">
                  <c:v>-2.0499999999999998</c:v>
                </c:pt>
                <c:pt idx="2">
                  <c:v>-1.55</c:v>
                </c:pt>
                <c:pt idx="3">
                  <c:v>-1.1200000000000001</c:v>
                </c:pt>
                <c:pt idx="4">
                  <c:v>-0.69</c:v>
                </c:pt>
                <c:pt idx="5">
                  <c:v>-0.2</c:v>
                </c:pt>
                <c:pt idx="6">
                  <c:v>0.34</c:v>
                </c:pt>
                <c:pt idx="7">
                  <c:v>0.98</c:v>
                </c:pt>
                <c:pt idx="8">
                  <c:v>1.8</c:v>
                </c:pt>
                <c:pt idx="9">
                  <c:v>3.93</c:v>
                </c:pt>
              </c:numCache>
            </c:numRef>
          </c:xVal>
          <c:yVal>
            <c:numRef>
              <c:f>Sheet1!$B$2:$B$11</c:f>
              <c:numCache>
                <c:formatCode>General</c:formatCode>
                <c:ptCount val="10"/>
                <c:pt idx="0">
                  <c:v>-0.05</c:v>
                </c:pt>
                <c:pt idx="1">
                  <c:v>1.05</c:v>
                </c:pt>
                <c:pt idx="2">
                  <c:v>1.78</c:v>
                </c:pt>
                <c:pt idx="3">
                  <c:v>2.4500000000000002</c:v>
                </c:pt>
                <c:pt idx="4">
                  <c:v>2.95</c:v>
                </c:pt>
                <c:pt idx="5">
                  <c:v>3.48</c:v>
                </c:pt>
                <c:pt idx="6">
                  <c:v>4.1100000000000003</c:v>
                </c:pt>
                <c:pt idx="7">
                  <c:v>4.96</c:v>
                </c:pt>
                <c:pt idx="8">
                  <c:v>5.69</c:v>
                </c:pt>
                <c:pt idx="9">
                  <c:v>8.35</c:v>
                </c:pt>
              </c:numCache>
            </c:numRef>
          </c:yVal>
          <c:smooth val="0"/>
          <c:extLst>
            <c:ext xmlns:c16="http://schemas.microsoft.com/office/drawing/2014/chart" uri="{C3380CC4-5D6E-409C-BE32-E72D297353CC}">
              <c16:uniqueId val="{00000000-C4DA-459A-A7F4-E75B627A0A30}"/>
            </c:ext>
          </c:extLst>
        </c:ser>
        <c:ser>
          <c:idx val="1"/>
          <c:order val="1"/>
          <c:tx>
            <c:strRef>
              <c:f>Sheet1!$B$13</c:f>
              <c:strCache>
                <c:ptCount val="1"/>
                <c:pt idx="0">
                  <c:v>Perfect forecast</c:v>
                </c:pt>
              </c:strCache>
            </c:strRef>
          </c:tx>
          <c:spPr>
            <a:ln w="22225">
              <a:solidFill>
                <a:srgbClr val="A79F88"/>
              </a:solidFill>
              <a:prstDash val="dash"/>
            </a:ln>
          </c:spPr>
          <c:marker>
            <c:symbol val="none"/>
          </c:marker>
          <c:xVal>
            <c:numRef>
              <c:f>Sheet1!$A$14:$A$15</c:f>
              <c:numCache>
                <c:formatCode>General</c:formatCode>
                <c:ptCount val="2"/>
                <c:pt idx="0">
                  <c:v>-4</c:v>
                </c:pt>
                <c:pt idx="1">
                  <c:v>9</c:v>
                </c:pt>
              </c:numCache>
            </c:numRef>
          </c:xVal>
          <c:yVal>
            <c:numRef>
              <c:f>Sheet1!$B$14:$B$15</c:f>
              <c:numCache>
                <c:formatCode>General</c:formatCode>
                <c:ptCount val="2"/>
                <c:pt idx="0">
                  <c:v>-4</c:v>
                </c:pt>
                <c:pt idx="1">
                  <c:v>9</c:v>
                </c:pt>
              </c:numCache>
            </c:numRef>
          </c:yVal>
          <c:smooth val="0"/>
          <c:extLst>
            <c:ext xmlns:c16="http://schemas.microsoft.com/office/drawing/2014/chart" uri="{C3380CC4-5D6E-409C-BE32-E72D297353CC}">
              <c16:uniqueId val="{00000001-C4DA-459A-A7F4-E75B627A0A30}"/>
            </c:ext>
          </c:extLst>
        </c:ser>
        <c:dLbls>
          <c:showLegendKey val="0"/>
          <c:showVal val="0"/>
          <c:showCatName val="0"/>
          <c:showSerName val="0"/>
          <c:showPercent val="0"/>
          <c:showBubbleSize val="0"/>
        </c:dLbls>
        <c:axId val="-2128940872"/>
        <c:axId val="-2129643912"/>
      </c:scatterChart>
      <c:valAx>
        <c:axId val="-2128940872"/>
        <c:scaling>
          <c:orientation val="minMax"/>
          <c:max val="5"/>
          <c:min val="-4"/>
        </c:scaling>
        <c:delete val="0"/>
        <c:axPos val="b"/>
        <c:majorGridlines>
          <c:spPr>
            <a:ln>
              <a:solidFill>
                <a:srgbClr val="1A2642"/>
              </a:solidFill>
            </a:ln>
          </c:spPr>
        </c:majorGridlines>
        <c:title>
          <c:tx>
            <c:rich>
              <a:bodyPr/>
              <a:lstStyle/>
              <a:p>
                <a:r>
                  <a:rPr sz="1300" b="0">
                    <a:solidFill>
                      <a:srgbClr val="D9D2BD"/>
                    </a:solidFill>
                    <a:latin typeface="Aptos"/>
                  </a:rPr>
                  <a:t>predicted,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9643912"/>
        <c:crosses val="autoZero"/>
        <c:crossBetween val="midCat"/>
      </c:valAx>
      <c:valAx>
        <c:axId val="-2129643912"/>
        <c:scaling>
          <c:orientation val="minMax"/>
          <c:max val="9"/>
          <c:min val="-4"/>
        </c:scaling>
        <c:delete val="0"/>
        <c:axPos val="l"/>
        <c:majorGridlines>
          <c:spPr>
            <a:ln>
              <a:solidFill>
                <a:srgbClr val="1A2642"/>
              </a:solidFill>
            </a:ln>
          </c:spPr>
        </c:majorGridlines>
        <c:title>
          <c:tx>
            <c:rich>
              <a:bodyPr/>
              <a:lstStyle/>
              <a:p>
                <a:r>
                  <a:rPr sz="1300" b="0">
                    <a:solidFill>
                      <a:srgbClr val="D9D2BD"/>
                    </a:solidFill>
                    <a:latin typeface="Aptos"/>
                  </a:rPr>
                  <a:t>observed, % per year</a:t>
                </a:r>
              </a:p>
            </c:rich>
          </c:tx>
          <c:overlay val="0"/>
        </c:title>
        <c:numFmt formatCode="General" sourceLinked="1"/>
        <c:majorTickMark val="out"/>
        <c:minorTickMark val="none"/>
        <c:tickLblPos val="low"/>
        <c:spPr>
          <a:ln>
            <a:solidFill>
              <a:srgbClr val="2A3A60"/>
            </a:solidFill>
          </a:ln>
        </c:spPr>
        <c:txPr>
          <a:bodyPr/>
          <a:lstStyle/>
          <a:p>
            <a:pPr>
              <a:defRPr sz="1300">
                <a:solidFill>
                  <a:srgbClr val="D9D2BD"/>
                </a:solidFill>
              </a:defRPr>
            </a:pPr>
            <a:endParaRPr lang="en-US"/>
          </a:p>
        </c:txPr>
        <c:crossAx val="-2128940872"/>
        <c:crosses val="autoZero"/>
        <c:crossBetween val="midCat"/>
      </c:valAx>
    </c:plotArea>
    <c:legend>
      <c:legendPos val="t"/>
      <c:overlay val="0"/>
      <c:txPr>
        <a:bodyPr/>
        <a:lstStyle/>
        <a:p>
          <a:pPr>
            <a:defRPr sz="1300">
              <a:solidFill>
                <a:srgbClr val="D9D2BD"/>
              </a:solidFill>
            </a:defRPr>
          </a:pPr>
          <a:endParaRPr lang="en-US"/>
        </a:p>
      </c:txPr>
    </c:legend>
    <c:plotVisOnly val="1"/>
    <c:dispBlanksAs val="gap"/>
    <c:showDLblsOverMax val="0"/>
  </c:chart>
  <c:txPr>
    <a:bodyPr/>
    <a:lstStyle/>
    <a:p>
      <a:pPr>
        <a:defRPr sz="1300">
          <a:solidFill>
            <a:srgbClr val="D9D2BD"/>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Importance</c:v>
                </c:pt>
              </c:strCache>
            </c:strRef>
          </c:tx>
          <c:spPr>
            <a:solidFill>
              <a:srgbClr val="F6B44B"/>
            </a:solidFill>
            <a:ln>
              <a:noFill/>
            </a:ln>
          </c:spPr>
          <c:invertIfNegative val="0"/>
          <c:dLbls>
            <c:numFmt formatCode="0%" sourceLinked="0"/>
            <c:spPr>
              <a:noFill/>
              <a:ln>
                <a:noFill/>
              </a:ln>
              <a:effectLst/>
            </c:spPr>
            <c:txPr>
              <a:bodyPr/>
              <a:lstStyle/>
              <a:p>
                <a:pPr>
                  <a:defRPr sz="1400">
                    <a:solidFill>
                      <a:srgbClr val="D9D2BD"/>
                    </a:solidFill>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Distance to urban cores</c:v>
                </c:pt>
                <c:pt idx="1">
                  <c:v>Housing density</c:v>
                </c:pt>
                <c:pt idx="2">
                  <c:v>Elevation</c:v>
                </c:pt>
                <c:pt idx="3">
                  <c:v>Current brightness</c:v>
                </c:pt>
                <c:pt idx="4">
                  <c:v>Distance to major roads</c:v>
                </c:pt>
                <c:pt idx="5">
                  <c:v>Conservation land</c:v>
                </c:pt>
              </c:strCache>
            </c:strRef>
          </c:cat>
          <c:val>
            <c:numRef>
              <c:f>Sheet1!$B$2:$B$7</c:f>
              <c:numCache>
                <c:formatCode>General</c:formatCode>
                <c:ptCount val="6"/>
                <c:pt idx="0">
                  <c:v>0.309</c:v>
                </c:pt>
                <c:pt idx="1">
                  <c:v>0.223</c:v>
                </c:pt>
                <c:pt idx="2">
                  <c:v>0.20499999999999999</c:v>
                </c:pt>
                <c:pt idx="3">
                  <c:v>0.186</c:v>
                </c:pt>
                <c:pt idx="4">
                  <c:v>6.5000000000000002E-2</c:v>
                </c:pt>
                <c:pt idx="5">
                  <c:v>1.2E-2</c:v>
                </c:pt>
              </c:numCache>
            </c:numRef>
          </c:val>
          <c:extLst>
            <c:ext xmlns:c16="http://schemas.microsoft.com/office/drawing/2014/chart" uri="{C3380CC4-5D6E-409C-BE32-E72D297353CC}">
              <c16:uniqueId val="{00000000-F4B6-4897-A6C1-6084240C254C}"/>
            </c:ext>
          </c:extLst>
        </c:ser>
        <c:dLbls>
          <c:dLblPos val="outEnd"/>
          <c:showLegendKey val="0"/>
          <c:showVal val="1"/>
          <c:showCatName val="0"/>
          <c:showSerName val="0"/>
          <c:showPercent val="0"/>
          <c:showBubbleSize val="0"/>
        </c:dLbls>
        <c:gapWidth val="45"/>
        <c:axId val="-2068027336"/>
        <c:axId val="-2113994440"/>
      </c:barChart>
      <c:catAx>
        <c:axId val="-2068027336"/>
        <c:scaling>
          <c:orientation val="maxMin"/>
        </c:scaling>
        <c:delete val="0"/>
        <c:axPos val="l"/>
        <c:numFmt formatCode="General" sourceLinked="0"/>
        <c:majorTickMark val="out"/>
        <c:minorTickMark val="none"/>
        <c:tickLblPos val="nextTo"/>
        <c:spPr>
          <a:ln>
            <a:solidFill>
              <a:srgbClr val="2A3A60"/>
            </a:solidFill>
          </a:ln>
        </c:spPr>
        <c:txPr>
          <a:bodyPr/>
          <a:lstStyle/>
          <a:p>
            <a:pPr>
              <a:defRPr sz="1400">
                <a:solidFill>
                  <a:srgbClr val="D9D2BD"/>
                </a:solidFill>
              </a:defRPr>
            </a:pPr>
            <a:endParaRPr lang="en-US"/>
          </a:p>
        </c:txPr>
        <c:crossAx val="-2113994440"/>
        <c:crosses val="autoZero"/>
        <c:auto val="1"/>
        <c:lblAlgn val="ctr"/>
        <c:lblOffset val="100"/>
        <c:noMultiLvlLbl val="0"/>
      </c:catAx>
      <c:valAx>
        <c:axId val="-2113994440"/>
        <c:scaling>
          <c:orientation val="minMax"/>
          <c:max val="0.38"/>
          <c:min val="0"/>
        </c:scaling>
        <c:delete val="1"/>
        <c:axPos val="t"/>
        <c:numFmt formatCode="General" sourceLinked="1"/>
        <c:majorTickMark val="out"/>
        <c:minorTickMark val="none"/>
        <c:tickLblPos val="none"/>
        <c:crossAx val="-2068027336"/>
        <c:crosses val="autoZero"/>
        <c:crossBetween val="between"/>
      </c:valAx>
    </c:plotArea>
    <c:plotVisOnly val="1"/>
    <c:dispBlanksAs val="gap"/>
    <c:showDLblsOverMax val="1"/>
  </c:chart>
  <c:txPr>
    <a:bodyPr/>
    <a:lstStyle/>
    <a:p>
      <a:pPr>
        <a:defRPr sz="1400">
          <a:solidFill>
            <a:srgbClr val="D9D2BD"/>
          </a:solidFill>
          <a:latin typeface="Apto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685800" y="4572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3749040"/>
            <a:ext cx="5486400" cy="489204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78276841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[0:00–0:25]</a:t>
            </a:r>
          </a:p>
          <a:p>
            <a:r>
              <a:t>Good afternoon, I'm Jay Rosen. I took this photograph at Paynes Prairie, about fifteen minutes from campus. You can see the Milky Way, and the yellow glow of our cities on the horizon.</a:t>
            </a:r>
          </a:p>
          <a:p>
            <a:r>
              <a:t>Today I'll show how satellite data, AI, and simulation can help communities make choices that bring darker skies back to North Central Florida.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[0:25–1:16]</a:t>
            </a:r>
          </a:p>
          <a:p>
            <a:r>
              <a:t>A little background on how I got here. I'm a UF College of the Arts alumnus, and I've spent about fifteen years working with light as an artist; as an Undergraduate Scholar I studied Light and Space art, including abroad in Europe.</a:t>
            </a:r>
          </a:p>
          <a:p>
            <a:r>
              <a:t>Before UF, I founded Space Age Mining, a high-performance computing company. Now I'm a research software engineer in the College of Education.</a:t>
            </a:r>
          </a:p>
          <a:p>
            <a:r>
              <a:t>Astrophotography brought it together: light art made with light from the cosmos, much of it full-spectrum, like this self-portrait.</a:t>
            </a:r>
          </a:p>
          <a:p>
            <a:r>
              <a:t>I've had two NASA Space Apps wins at Kennedy Space Center and a global nomination, and this year I'm a judge. I also serve on the Alachua Astronomy Club board and on city and county boards.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[1:16–1:45]</a:t>
            </a:r>
          </a:p>
          <a:p>
            <a:r>
              <a:t>When I say light pollution, I don't just mean a city looks bright at night. I mean light going where it isn't needed: skyglow, glare, light trespass, or more brightness than a task requires.</a:t>
            </a:r>
          </a:p>
          <a:p>
            <a:r>
              <a:t>And it affects more than astronomy. Artificial lighting can disrupt insects, birds, frogs, and bats in habitats like Paynes Prairie. Blue-rich light can affect sleep, and wasted light costs energy.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[1:45–2:17]</a:t>
            </a:r>
          </a:p>
          <a:p>
            <a:r>
              <a:t>These are two of my photographs from 2020. On the left, Gainesville's light dome stretches over Paynes Prairie. On the right, Stephen C. Foster State Park in Georgia, an International Dark Sky Park, has a dramatically darker sky.</a:t>
            </a:r>
          </a:p>
          <a:p>
            <a:r>
              <a:t>Skyglow travels tens of kilometers and crosses county lines, reaching observatories and rural communities far away. The fixes are known: shielding, warmer lights, dimming. But how does a community compare them before spending public money?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[2:17–3:00]</a:t>
            </a:r>
          </a:p>
          <a:p>
            <a:r>
              <a:t>For me, this started as an independent project. In September 2025, I spoke to Alachua County's Environmental Protection Advisory Committee about the light pollution I was photographing, then spent a month building a simulator of sky impacts and costs.</a:t>
            </a:r>
          </a:p>
          <a:p>
            <a:r>
              <a:t>I debuted it at UF's Astraeus Space Research Day and took it back to the committee in January. They voted unanimously to pursue dark-sky policy.</a:t>
            </a:r>
          </a:p>
          <a:p>
            <a:r>
              <a:t>During Dark Sky Week in April, I spoke to Dr. Elizabeth Lada's astrophotography class and the Alachua Astronomy Club. That raised two questions: where could UF build another observatory, and could this work in Levy County?</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[3:00–3:40]</a:t>
            </a:r>
          </a:p>
          <a:p>
            <a:r>
              <a:t>Last month brought a milestone. On September 22, county commissioners unanimously adopted a broader Comprehensive Plan amendment package that included new dark-sky language under Policy 5.3.7.</a:t>
            </a:r>
          </a:p>
          <a:p>
            <a:r>
              <a:t>The policy draws on DarkSky International and the Illuminating Engineering Society of North America. It balances protecting the night sky and wildlife with public safety and energy savings, through four principles: light only where it's needed, as little as necessary, warmer colors, and maximum efficiency.</a:t>
            </a:r>
          </a:p>
          <a:p>
            <a:r>
              <a:t>Those are exactly the decisions the simulator evaluates. The next step is turning those principles into detailed lighting regulations.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[3:40–4:10]</a:t>
            </a:r>
          </a:p>
          <a:p>
            <a:r>
              <a:t>Version one started conversations, but it raised questions. I could show $1.9 million a year in projected savings, but a commissioner could ask, "How did you calculate that?"</a:t>
            </a:r>
          </a:p>
          <a:p>
            <a:r>
              <a:t>That's why version two is different. The sky comes from atmospheric physics, the lighting estimates come from public data, and AI is used where it can learn from the satellite record. They're still projections, but now the assumptions can be inspected.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[4:10–4:44]</a:t>
            </a:r>
          </a:p>
          <a:p>
            <a:r>
              <a:t>Here's version two. It covers Alachua, Levy and six neighboring counties: about 817,000 modeled light sources, including streetlights, homes, businesses, and sports fields.</a:t>
            </a:r>
          </a:p>
          <a:p>
            <a:r>
              <a:t>The map shows modeled sky brightness: yellow is an urban sky, black is close to natural. You choose lighting standards or areas, and compare what happens to the sky alongside the estimated costs and savings. The heavy physics runs offline, so each scenario updates in a fraction of a second, even on a phone.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[4:44–5:33]</a:t>
            </a:r>
          </a:p>
          <a:p>
            <a:r>
              <a:t>Here's what it's built with. The data comes from NASA and NOAA satellites, the USGS, the Census Bureau, FEMA, OpenStreetMap, and Alachua County.</a:t>
            </a:r>
          </a:p>
          <a:p>
            <a:r>
              <a:t>Google Earth Engine processes thirteen years of satellite images, and Google Cloud provides compute; it's likely where this scales up. A Python pipeline runs the physics, and LightGBM is the machine-learning model.</a:t>
            </a:r>
          </a:p>
          <a:p>
            <a:r>
              <a:t>For the research, I used Gemini Deep Research to dig in and Gemini Notebook to organize it and understand the more complex findings. I built version one with Lovable and version two with Claude Code. The app runs in the browser with React, MapLibre maps and Three.js for 3D; the code is on GitHub, and it's hosted on Vercel.</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[5:33–6:08]</a:t>
            </a:r>
          </a:p>
          <a:p>
            <a:r>
              <a:t>Here's a scenario inspired by Groveland, Florida's first dark-sky city: shielding, a 3,000-kelvin limit, and late-night dimming.</a:t>
            </a:r>
          </a:p>
          <a:p>
            <a:r>
              <a:t>Blue shows where the sky gets darker, including across county boundaries. If every public and private light complied, Paynes Prairie would improve from 20.98 to 21.62 magnitudes per square arcsecond in the model, and downtown would move one Bortle class, from 7 to 6. Public lights alone get about half of that. It's a projection, but now a county can compare specific policies.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[6:08–7:16]</a:t>
            </a:r>
          </a:p>
          <a:p>
            <a:r>
              <a:t>Policy also means budgets. The package here is simple: warmer, shielded LEDs at 30 percent lower output, without smart controllers on every pole. The savings are energy plus avoided maintenance, at each utility's own rates.</a:t>
            </a:r>
          </a:p>
          <a:p>
            <a:r>
              <a:t>For all of Alachua County's public streetlights, the estimate is $15.3 million up front and about $2.55 million saved every year: a six-year payback, and about $23 million ahead after fifteen years. Gainesville's GRU lights and the state roads are part of that total. Levy County and Chiefland pay back in about eight years.</a:t>
            </a:r>
          </a:p>
          <a:p>
            <a:r>
              <a:t>Now look at the top right: UF. Run through the same cost engine at GRU rates, UF's roughly 4,100 campus pole lights come to about $984,000 up front and about $198,000 saved a year. That's a five-year payback, and about $2 million ahead after fifteen years. Keep that number in mind; I'll come back to it at the end.</a:t>
            </a:r>
          </a:p>
          <a:p>
            <a:r>
              <a:t>These are projections; they still need real inventories and rates.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[7:16–7:38]</a:t>
            </a:r>
          </a:p>
          <a:p>
            <a:r>
              <a:t>A county doesn't have to change every light. It could focus on astronomy sites.</a:t>
            </a:r>
          </a:p>
          <a:p>
            <a:r>
              <a:t>Here I model stricter zones around Rosemary Hill and Chiefland Astronomy Village: amber, motion-controlled cores and warmer-light buffers. That Flagstaff-style approach comes to about $790,000 in projected public retrofits. That gives counties a targeted alternative.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[7:38–8:07]</a:t>
            </a:r>
          </a:p>
          <a:p>
            <a:r>
              <a:t>Numbers like 20.98 and 21.62 don't tell most people what they'll see. So the simulator also draws the sky: Paynes Prairie looking southeast as the Milky Way rises, like my title photo.</a:t>
            </a:r>
          </a:p>
          <a:p>
            <a:r>
              <a:t>Under the ordinance, the horizon glow fades and fainter stars appear. It's still Bortle 4, but the Milky Way is clearer. This is a visualization of the model, not a before-and-after photograph.</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[8:07–8:39]</a:t>
            </a:r>
          </a:p>
          <a:p>
            <a:r>
              <a:t>You can also go from regional policy to individual lights. Build mode has seventeen types of dark-sky-compliant fixtures, each with specifications and installed cost estimates. Change one and the map and costs update.</a:t>
            </a:r>
          </a:p>
          <a:p>
            <a:r>
              <a:t>This 3D view is downtown Gainesville, with modeled lights along its streets. My goal is to grow this into a digital twin of the illumination and darkness of Gainesville and North Central Florida: every light, and the night sky it leaves.</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[8:39–9:08]</a:t>
            </a:r>
          </a:p>
          <a:p>
            <a:r>
              <a:t>Since this is AI Days, I want to be precise about where AI fits in. The skyglow simulation itself is physics, and the cost calculations are explicit rules. Neither one is a neural network.</a:t>
            </a:r>
          </a:p>
          <a:p>
            <a:r>
              <a:t>The satellite analysis has two parts: a statistical test for sudden changes in light, and a trained LightGBM model that estimates where growth might concentrate. That distinction matters for trust.</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[9:08–9:42]</a:t>
            </a:r>
          </a:p>
          <a:p>
            <a:r>
              <a:t>The foundation is thirteen years of NASA satellite observations, 2012 through 2024. That record is where this project started: the first simulator was based on comparing how many pixels were lit up each year, over time.</a:t>
            </a:r>
          </a:p>
          <a:p>
            <a:r>
              <a:t>Version two uses NASA's Black Marble VIIRS data, corrected nighttime radiance at about 500 meters. In Google Earth Engine, I take a median of the cloud-free readings for each year and cell, and you can watch the lights change year by year.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[9:42–10:44]</a:t>
            </a:r>
          </a:p>
          <a:p>
            <a:r>
              <a:t>Here's what the AI does with those thirteen years. First, it finds where light jumped suddenly: about 1,500 spots since 2012, like Celebration Pointe in 2016, found without being told where to look.</a:t>
            </a:r>
          </a:p>
          <a:p>
            <a:r>
              <a:t>Second, a LightGBM model learns where light is growing, and that forecast drives this map: the simulated sky stepping forward a year at a time to 2034, if the 2018-to-2024 pace continues. Orange is where the sky gets brighter than today. Watch it spread around Gainesville and along I-75; Newberry's rural sky slips from Bortle 4 to 5.</a:t>
            </a:r>
          </a:p>
          <a:p>
            <a:r>
              <a:t>Two things make that trustworthy. I cleaned the data first: the upper atmosphere glows on its own, rising and falling with the Sun's cycle, so I subtract that glow; otherwise the AI would learn the Sun, not our lights. And I check its work: the forecast is graded only on years it never saw.</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[10:44–11:17]</a:t>
            </a:r>
          </a:p>
          <a:p>
            <a:r>
              <a:t>That brings me back to Dr. Lada's observatory question. The tool screens eleven counties using current sky, 2034 growth scenarios, land, access, and travel time.</a:t>
            </a:r>
          </a:p>
          <a:p>
            <a:r>
              <a:t>It excludes places like wetlands, flood-prone land, and areas too far away. The current shortlist points to three Levy County locations between Chiefland and Bronson, about forty-five minutes to an hour from UF, with roughly $600,000 to $800,000 estimated for eighty acres. It's preliminary screening, not a parcel-level site study.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[11:17–11:43]</a:t>
            </a:r>
          </a:p>
          <a:p>
            <a:r>
              <a:t>Decision-makers shouldn't have to read the source code. The Brief tab produces a PDF that explains the selected scenario, its projected impact, and its costs.</a:t>
            </a:r>
          </a:p>
          <a:p>
            <a:r>
              <a:t>It opens with a statement that these are planning projections, not observed results, and it lists the missing evidence, like sky measurements and verified streetlight inventories. The caveats travel with the numbers.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[11:43–12:07]</a:t>
            </a:r>
          </a:p>
          <a:p>
            <a:r>
              <a:t>Next, the project needs ground truth: sky-quality meters and low-cost sensors, real utility inventories, computer vision to classify fixtures, and monthly satellite data.</a:t>
            </a:r>
          </a:p>
          <a:p>
            <a:r>
              <a:t>The simulator is built around reusable county data packages, so Levy County is next without rebuilding the engine. If you work on sensors, computer vision, remote sensing, or policy, let's talk.</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[12:07–12:52]</a:t>
            </a:r>
          </a:p>
          <a:p>
            <a:r>
              <a:t>I want to finish with something UF could actually do. The county has adopted dark-sky principles, and UF could lead alongside it on campus.</a:t>
            </a:r>
          </a:p>
          <a:p>
            <a:r>
              <a:t>Remember UF on the budget slide: about $984,000 to retrofit its roughly 4,100 pole lights, and $198,000 a year in savings, pending a verified inventory and rates.</a:t>
            </a:r>
          </a:p>
          <a:p>
            <a:r>
              <a:t>UF could also help establish ground truth: about $6,000 in hardware supports a pilot network of fifty sky-brightness sensors, to validate the model and help protect Rosemary Hill and future observatory sites.</a:t>
            </a:r>
          </a:p>
          <a:p>
            <a:r>
              <a:t>So far, I've developed this independently, without dedicated funding. I'd like to see it become a collaborative UF research project.</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[12:52–13:08]</a:t>
            </a:r>
          </a:p>
          <a:p>
            <a:r>
              <a:t>The first QR code opens the live simulator. The second links to the source and methods on GitHub.</a:t>
            </a:r>
          </a:p>
          <a:p>
            <a:r>
              <a:t>Thank you. I'd be happy to talk about the science, the local policy work, or ways to collaborate.</a:t>
            </a:r>
          </a:p>
          <a:p>
            <a:r>
              <a:t>[The 70-second supercut loops on this slide during questions. Prepared answers are on the hidden backup slides.]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[Hidden. To show it during the slide show, type 23 and press Enter.]</a:t>
            </a:r>
          </a:p>
          <a:p>
            <a:r>
              <a:t>These are the sources behind the talk and the poster, in alphabetical order; the poster numbers them in the order cited.</a:t>
            </a:r>
          </a:p>
          <a:p>
            <a:r>
              <a:t>If someone asks where a piece comes from: the sky physics is Garstang's 1986 skyglow model. The satellite record is the annual VIIRS night-lights series from Elvidge and colleagues, pulled through Google Earth Engine. The step test is a test for a break at an unknown year, after Andrews, 1993. The forecast uses LightGBM, from Ke and colleagues, 2017. The sky classes are Bortle's 2001 scale, the preset is Groveland's 2022 ordinance, and the policy is Alachua County's Policy 5.3.7 amendment.</a:t>
            </a:r>
          </a:p>
          <a:p>
            <a:r>
              <a:t>Every source is also linked from the GitHub repository on the closing slide.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24 and press Enter during the slide show.]</a:t>
            </a:r>
          </a:p>
          <a:p>
            <a:r>
              <a:t>The architecture is what makes it fast. Everything heavy runs once, offline, in Python: scattering integrals for the atmosphere, placing every fixture, processing the satellite record, and training the models.</a:t>
            </a:r>
          </a:p>
          <a:p>
            <a:r>
              <a:t>The output is a static data package with one precomputed layer per group of fixtures.</a:t>
            </a:r>
          </a:p>
          <a:p>
            <a:r>
              <a:t>Because skyglow adds up linearly, the browser only has to compute a weighted sum of those layers for any scenario, about 55 milliseconds, so a phone can explore any ordinance instantly.</a:t>
            </a:r>
          </a:p>
          <a:p>
            <a:r>
              <a:t>And to be clear: the sky itself comes from a published single-scattering physics model, not a neural network.</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25 and press Enter during the slide show.]</a:t>
            </a:r>
          </a:p>
          <a:p>
            <a:r>
              <a:t>Lesson one: the most important AI work in this project was checking the data.</a:t>
            </a:r>
          </a:p>
          <a:p>
            <a:r>
              <a:t>My first pull came back ten times too dark. Earth Engine had already applied a scale factor, and I applied it again.</a:t>
            </a:r>
          </a:p>
          <a:p>
            <a:r>
              <a:t>Then forests and wetlands appeared to brighten 70 to 120 percent between 2020 and 2023. They didn't. That's airglow: faint light from the upper atmosphere that follows the eleven-year solar cycle. You can see it in the chart: 0.10 nanowatts at the 2020 solar minimum, 0.33 in 2023.</a:t>
            </a:r>
          </a:p>
          <a:p>
            <a:r>
              <a:t>A model trained on that would have learned the Sun, not development. So every year I subtract the background, the median of the darkest fifth of the region, before any model sees the data.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26 and press Enter during the slide show.]</a:t>
            </a:r>
          </a:p>
          <a:p>
            <a:r>
              <a:t>Lesson two: recheck your own headline. Version 1 said the area was 19 percent brighter, from comparing two map screenshots of 2012 and 2024.</a:t>
            </a:r>
          </a:p>
          <a:p>
            <a:r>
              <a:t>When I rebuilt that analysis this month, the 19 percent turned out to describe the whole map view, about 212 by 131 kilometers, from Perry to the St. Johns River, not Alachua County.</a:t>
            </a:r>
          </a:p>
          <a:p>
            <a:r>
              <a:t>In calibrated satellite radiance, that region did brighten about 20 percent from 2013 to 2024. The county itself rose 3 to 6 percent, depending on the product, and Gainesville about 5.</a:t>
            </a:r>
          </a:p>
          <a:p>
            <a:r>
              <a:t>The story holds: the region around us is brightening faster than the county. But the number on the slide had to change, and the app now quotes the calibrated figures.</a:t>
            </a:r>
          </a:p>
          <a:p>
            <a:r>
              <a:t>[Details and reproducible code: docs/adr/0013 and analysis/epac_reconstruction in the repository.]</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27 and press Enter during the slide show.]</a:t>
            </a:r>
          </a:p>
          <a:p>
            <a:r>
              <a:t>And here's what it can't do. A lit cell's yearly values scatter about 10 percent around its trend.</a:t>
            </a:r>
          </a:p>
          <a:p>
            <a:r>
              <a:t>At that noise, a 50 percent jump is caught only about 10 percent of the time, and a 30 percent drop 6 percent. So it finds large new lighting, and it misses most LED retrofits, which are 20 to 40 percent drops.</a:t>
            </a:r>
          </a:p>
          <a:p>
            <a:r>
              <a:t>The satellite is also nearly blind to the blue in white LEDs, so a retrofit looks different from orbit than it does to the eye.</a:t>
            </a:r>
          </a:p>
          <a:p>
            <a:r>
              <a:t>Seeing retrofits needs monthly data or the utilities' work orders. Saying this out loud is part of the result.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28 and press Enter during the slide show.]</a:t>
            </a:r>
          </a:p>
          <a:p>
            <a:r>
              <a:t>I back-tested it the honest way: train on 2012 to 2018, then predict 2024, years it never saw.</a:t>
            </a:r>
          </a:p>
          <a:p>
            <a:r>
              <a:t>My first back-test said it beat the baseline, 21 percent error against 25. But I had picked a weak baseline, each cell's own past trend. Against "no change", it ties: 21.2 and 21.2.</a:t>
            </a:r>
          </a:p>
          <a:p>
            <a:r>
              <a:t>Why? Lit areas fell about 4 percent from 2012 to 2018 and then rose 21 percent from 2018 to 2024. Nothing in the earlier years announced that reversal, and no model trained on them could have seen it coming.</a:t>
            </a:r>
          </a:p>
          <a:p>
            <a:r>
              <a:t>What it does learn is the order. Sort the cells into tenths by predicted growth: the ones it expected to grow fastest did grow fastest, a correlation of 0.35 and an R-squared of 0.18 on areas held out of training. Every dot sits above the dashed line: it got the order right, not the amount.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cut from the talk for time. To show it, type 29 and press Enter during the slide show.]</a:t>
            </a:r>
          </a:p>
          <a:p>
            <a:r>
              <a:t>So how do I keep it honest? The forecast is only scored on years it never trained on, and a unit test fails if those years leak into training; I checked that the test catches a leaked version.</a:t>
            </a:r>
          </a:p>
          <a:p>
            <a:r>
              <a:t>The detector's false-alarm rate is checked on simulated noise, and steady trends must not count as steps.</a:t>
            </a:r>
          </a:p>
          <a:p>
            <a:r>
              <a:t>The web page re-runs the step test for any cell you click, and a test requires it to agree with the offline pipeline on every lit cell.</a:t>
            </a:r>
          </a:p>
          <a:p>
            <a:r>
              <a:t>And the sky model is compared with 53 citizen-science meter readings that were never used in any fit. The model reads about half a magnitude darker than they do, and I publish that.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To show it, type 30 and press Enter during the slide show.]</a:t>
            </a:r>
          </a:p>
          <a:p>
            <a:r>
              <a:t>To find where lighting changed, I test every lit cell with two explanations of its 13 yearly values: a steady trend, or a trend with a sudden step. On the left, a cell in Chiefland: a slow decline, no step. On the right, a cell that jumped in 2016.</a:t>
            </a:r>
          </a:p>
          <a:p>
            <a:r>
              <a:t>An F-test measures how much the step helps, at the best of eight possible years. Picking the best year inflates the statistic, so the cutoff can't come from a textbook table.</a:t>
            </a:r>
          </a:p>
          <a:p>
            <a:r>
              <a:t>My first detector flagged two-thirds of all lit cells. In simulation it flagged 2,000 out of 2,000 cells that had nothing but a steady trend. A detector that flags everything tells you nothing.</a:t>
            </a:r>
          </a:p>
          <a:p>
            <a:r>
              <a:t>So the cutoff now comes from simulating 200,000 cells of pure noise: F of at least 36.3, a false alarm one time in a thousand. The region's shared movement comes out first, so a cell is flagged for what happened there, and a step must be at least 20 percent.</a:t>
            </a:r>
          </a:p>
          <a:p>
            <a:r>
              <a:t>[Reading the formulas, if asked]</a:t>
            </a:r>
          </a:p>
          <a:p>
            <a:r>
              <a:t>Top, read: "F sub k equals R-S-S one minus R-S-S two, over R-S-S two divided by n minus three. F star is the maximum of F sub k." RSS is the error left after a fit: model one is the line, model two the line plus a step in year k. So F is how much error the step removes compared with the noise that's left, and F star is the best of the split years 2015 to 2022.</a:t>
            </a:r>
          </a:p>
          <a:p>
            <a:r>
              <a:t>Bottom, read: "F star must be at least F crit: the 99.9th percentile of F star when the series is pure random noise, 36.3." Slide 32 has the full version.</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moved out of the talk for time. To show it, type 31 and press Enter during the slide show.]</a:t>
            </a:r>
          </a:p>
          <a:p>
            <a:r>
              <a:t>The second model forecasts growth. LightGBM, gradient-boosted decision trees, learns how fast each one-kilometer cell brightened over six years from what the cell looked like at the start, using six open inputs: distance to urban cores and major roads, housing density, elevation, conservation land, and current brightness.</a:t>
            </a:r>
          </a:p>
          <a:p>
            <a:r>
              <a:t>It leans most on distance to urban cores, then housing density, elevation and current brightness.</a:t>
            </a:r>
          </a:p>
          <a:p>
            <a:r>
              <a:t>Why not deep learning? About 30,000 cells, six tabular features, one number per cell. Boosted trees fit that well, train in seconds on a laptop with no GPU, and tell you what they rely on.</a:t>
            </a:r>
          </a:p>
          <a:p>
            <a:r>
              <a:t>[Reading the formula, if asked]</a:t>
            </a:r>
          </a:p>
          <a:p>
            <a:r>
              <a:t>Read: "F sub m of s equals F sub m minus one of s, plus eta times f sub m of s, where f sub m is the tree that minimizes the sum of squared leftovers." s is a cell's six inputs and r its growth rate. Each new tree is fitted to what the trees so far still get wrong, then added in at a learning rate, eta, of 0.05. After 300 trees, F is the model. Each tree has at most 31 leaves and at least 40 cells per leaf, which keeps it from fitting single cells.</a:t>
            </a:r>
          </a:p>
          <a:p>
            <a:r>
              <a:t>The chart is each input's share of split gain: how much of the total error reduction came from splits on that input. Urban cores about 31 percent, housing density 22, elevation 21, current brightness 19, major roads 7, conservation land 1.</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change detector. To show it, type 32 and press Enter during the slide show.]</a:t>
            </a:r>
          </a:p>
          <a:p>
            <a:r>
              <a:t>Line one, two models for one cell. z sub t is the cell's log radiance in year t, minus the region's shared movement. Read: "Model one: z sub t equals a plus b t plus epsilon." A straight line plus noise. "Model two, for split year k: the same line, plus d times one if t is at least k." The indicator is zero before year k and one from then on, so d is the step, in log units.</a:t>
            </a:r>
          </a:p>
          <a:p>
            <a:r>
              <a:t>Line two, read: "F sub k equals R-S-S one minus R-S-S two k, divided by R-S-S two k over n minus three." RSS, the residual sum of squares, is the error left after each fit. The top is the error the step removes; the bottom is the noise left in model two, per degree of freedom: 13 years minus the three fitted numbers a, b and d. "F star is the maximum of F sub k over 2015 to 2022."</a:t>
            </a:r>
          </a:p>
          <a:p>
            <a:r>
              <a:t>Line three, read: "F star must be at least F crit, the 0.999 quantile of F star when z is independent standard normal noise, which is 36.3." I simulated 200,000 noise-only series and took the value only one in a thousand exceeds.</a:t>
            </a:r>
          </a:p>
          <a:p>
            <a:r>
              <a:t>One simulation serves every cell: both models contain a line, so shifting or tilting a series doesn't change F, and rescaling it scales the top and bottom alike.</a:t>
            </a:r>
          </a:p>
          <a:p>
            <a:r>
              <a:t>A flagged step must also be at least 20 percent, up or down: e to the d, minus one. Results: 28,986 lit cells tested; about 29 would be flagged by chance; 1,493 were flagged, grouped into 635 events: 491 rises and 144 drops.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forecast. To show it, type 33 and press Enter during the slide show.]</a:t>
            </a:r>
          </a:p>
          <a:p>
            <a:r>
              <a:t>Line one, the boosting step, read: "F sub m of s equals F sub m minus one of s, plus eta f sub m of s." s is a cell's inputs at the start of the window and r its average yearly growth in log radiance. Each tree fixes part of what the trees before it still get wrong: 300 trees, eta 0.05.</a:t>
            </a:r>
          </a:p>
          <a:p>
            <a:r>
              <a:t>Line two, the back-test, read: "F hat is fitted from s 2012 to r, 2012 to 2018. L hat 2024 equals L 2018 times e to the six F hat of s 2018." Train on how each cell looked in 2012 and how fast it grew to 2018. Then give it the 2018 state, grow the 2018 brightness at the predicted yearly rate for six years, and compare with the real 2024, which the model never saw.</a:t>
            </a:r>
          </a:p>
          <a:p>
            <a:r>
              <a:t>Line three, the scores, read: "M-D-A-P-E is the median of the absolute value of predicted over observed 2024, minus one. Rho is the correlation of the predicted rate with the real 2018 to 2024 growth." Results: 21.2 percent median error, the same as assuming no change, and a correlation of 0.35. It can't beat no change on totals, because lit areas fell 2012 to 2018 and rose 2018 to 2024, but it does rank where growth concentrates.</a:t>
            </a:r>
          </a:p>
          <a:p>
            <a:r>
              <a:t>Line four, the forecast, read: "L 2034 equals L 2024 times e to the ten r hat." Refit on 2018 to 2024, apply to 2024, and carry that pace ten years, with the rate held between minus 1 and plus 6 percent a year. It's the recent pace carried forward, not a prediction.</a:t>
            </a:r>
          </a:p>
          <a:p>
            <a:r>
              <a:t>Spatial check: hide 16-by-16-cell blocks in five folds and predict each from a model that never saw it: R squared 0.18.</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for questions about the sky model. To show it, type 34 and press Enter during the slide show.]</a:t>
            </a:r>
          </a:p>
          <a:p>
            <a:r>
              <a:t>Line one, how a fixture sends light up, read: "I direct of theta equals 0.554 theta to the fourth over two pi; I reflected equals cosine theta over pi." Theta is the angle from straight up. Direct uplight grows as theta to the fourth, so most of it leaves near the horizon and travels far: that's why shielding matters most for distant skies. Light reflected off the ground spreads as cosine theta. The constants make each one sum to one over the sky.</a:t>
            </a:r>
          </a:p>
          <a:p>
            <a:r>
              <a:t>Line two, the kernel: K of D is the zenith brightness from one lumen at distance D. Read: "the integral, up the line of sight, of I of theta times e to the minus tau r over h prime, over r squared; times beta R e to the minus h over H R times P R of psi, plus beta M e to the minus h over H M times P H G of psi; times e to the minus tau." In words: the light reaching height h, dimmed along its slant path and spread by the inverse square; scattered toward the observer by air molecules, the Rayleigh term, and by haze, the Henyey-Greenstein term, each thinning with height; then dimmed again on the way down. h prime adds Earth's curvature. A smooth curve fits the integral within 7.4 percent.</a:t>
            </a:r>
          </a:p>
          <a:p>
            <a:r>
              <a:t>Line three, read: "B c t equals K t convolved with P c." Each layer is the kernel spread over where one group of lights sits, computed once, offline.</a:t>
            </a:r>
          </a:p>
          <a:p>
            <a:r>
              <a:t>Line four, read: "L equals alpha times the sum of phi times B; m equals 12.6 minus 2.5 log ten of artificial plus natural brightness." The browser only re-weights the stored layers, and m converts candela per square meter to magnitudes per square arcsecond; the natural sky is 22.0.</a:t>
            </a:r>
          </a:p>
          <a:p>
            <a:r>
              <a:t>Alpha is one scale fitted to 10 sites, error 0.46 magnitudes; 53 readings it never saw put the model a median 0.52 magnitudes darker.</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[Backup with prepared answers. To show it, type 35 and press Enter during the slide show.]</a:t>
            </a:r>
          </a:p>
          <a:p>
            <a:r>
              <a:t>Ground truth for the change events? The false-alarm rate is set by simulation and checked in tests, and known openings line up, like Celebration Pointe in November 2016. The next step is ground truth from utility work orders and Gainesville's streetlight records.</a:t>
            </a:r>
          </a:p>
          <a:p>
            <a:r>
              <a:t>Data leakage? The back-test trains on 2012 conditions and 2012 to 2018 growth, then predicts 2024 from 2018. A test feeds it a 2018 to 2024 jump and fails if the model could see it.</a:t>
            </a:r>
          </a:p>
          <a:p>
            <a:r>
              <a:t>Isn't the satellite blind to LEDs? Partly. VIIRS sees 500 to 900 nanometers, so it misses most of a white LED's blue. For the Groveland preset the satellite would record minus 24.9 percent where the eye sees minus 23.5.</a:t>
            </a:r>
          </a:p>
          <a:p>
            <a:r>
              <a:t>What does it cost? The satellite pull runs on Earth Engine's free noncommercial tier, and the app is static files on free hosting.</a:t>
            </a:r>
          </a:p>
          <a:p>
            <a:r>
              <a:t>Didn't the County find 19 percent growth? That came from two map screenshots covering the whole map view, from Perry to the St. Johns River, where NOAA's radiance rose about 20 percent. On the county boundary it rose 3 to 6 percent, and about 5 around Gainesville.</a:t>
            </a:r>
          </a:p>
          <a:p>
            <a:r>
              <a:t>How good is the sky model? One brightness scale is fitted to 10 reference sites, error 0.46 magnitudes. Against 53 meter readings never used in any fit, readings are a median 0.52 magnitudes brighter than the model, 0.21 after midnight.</a:t>
            </a:r>
          </a:p>
          <a:p>
            <a:r>
              <a:t>[Do not claim: a calibrated sky brightness; a predicted 2034 sky, since it is the 2018 to 2024 pace carried forward; or that the detector finds retrofits, since it misses most 20 to 40 percent drops.]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4.pn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jpg"/><Relationship Id="rId4" Type="http://schemas.openxmlformats.org/officeDocument/2006/relationships/image" Target="../media/image15.jpg"/><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7.xml"/><Relationship Id="rId4" Type="http://schemas.openxmlformats.org/officeDocument/2006/relationships/notesSlide" Target="../notesSlides/notesSlide8.xml"/><Relationship Id="rId5" Type="http://schemas.openxmlformats.org/officeDocument/2006/relationships/image" Target="../media/image16.jpg"/><Relationship Id="rId6"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25.png"/><Relationship Id="rId12" Type="http://schemas.openxmlformats.org/officeDocument/2006/relationships/image" Target="../media/image26.png"/><Relationship Id="rId13" Type="http://schemas.openxmlformats.org/officeDocument/2006/relationships/image" Target="../media/image27.png"/><Relationship Id="rId14" Type="http://schemas.openxmlformats.org/officeDocument/2006/relationships/image" Target="../media/image28.png"/><Relationship Id="rId15" Type="http://schemas.openxmlformats.org/officeDocument/2006/relationships/image" Target="../media/image29.png"/><Relationship Id="rId16" Type="http://schemas.openxmlformats.org/officeDocument/2006/relationships/image" Target="../media/image30.png"/><Relationship Id="rId17" Type="http://schemas.openxmlformats.org/officeDocument/2006/relationships/image" Target="../media/image31.png"/><Relationship Id="rId18" Type="http://schemas.openxmlformats.org/officeDocument/2006/relationships/image" Target="../media/image32.png"/><Relationship Id="rId19" Type="http://schemas.openxmlformats.org/officeDocument/2006/relationships/image" Target="../media/image33.png"/><Relationship Id="rId20" Type="http://schemas.openxmlformats.org/officeDocument/2006/relationships/image" Target="../media/image34.png"/><Relationship Id="rId21" Type="http://schemas.openxmlformats.org/officeDocument/2006/relationships/image" Target="../media/image35.png"/><Relationship Id="rId22" Type="http://schemas.openxmlformats.org/officeDocument/2006/relationships/image" Target="../media/image36.png"/><Relationship Id="rId23" Type="http://schemas.openxmlformats.org/officeDocument/2006/relationships/image" Target="../media/image37.png"/><Relationship Id="rId24" Type="http://schemas.openxmlformats.org/officeDocument/2006/relationships/image" Target="../media/image38.png"/><Relationship Id="rId25"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7.xml"/><Relationship Id="rId4" Type="http://schemas.openxmlformats.org/officeDocument/2006/relationships/notesSlide" Target="../notesSlides/notesSlide10.xml"/><Relationship Id="rId5" Type="http://schemas.openxmlformats.org/officeDocument/2006/relationships/image" Target="../media/image39.jpg"/><Relationship Id="rId6"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7.xml"/><Relationship Id="rId4" Type="http://schemas.openxmlformats.org/officeDocument/2006/relationships/notesSlide" Target="../notesSlides/notesSlide12.xml"/><Relationship Id="rId5" Type="http://schemas.openxmlformats.org/officeDocument/2006/relationships/image" Target="../media/image40.jpg"/><Relationship Id="rId6"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microsoft.com/office/2007/relationships/media" Target="../media/media5.mp4"/><Relationship Id="rId4" Type="http://schemas.openxmlformats.org/officeDocument/2006/relationships/video" Target="../media/media5.mp4"/><Relationship Id="rId5" Type="http://schemas.openxmlformats.org/officeDocument/2006/relationships/slideLayout" Target="../slideLayouts/slideLayout7.xml"/><Relationship Id="rId6" Type="http://schemas.openxmlformats.org/officeDocument/2006/relationships/notesSlide" Target="../notesSlides/notesSlide13.xml"/><Relationship Id="rId7" Type="http://schemas.openxmlformats.org/officeDocument/2006/relationships/image" Target="../media/image41.jpg"/><Relationship Id="rId8" Type="http://schemas.openxmlformats.org/officeDocument/2006/relationships/image" Target="../media/image42.jpg"/><Relationship Id="rId9"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microsoft.com/office/2007/relationships/media" Target="../media/media6.mp4"/><Relationship Id="rId2" Type="http://schemas.openxmlformats.org/officeDocument/2006/relationships/video" Target="../media/media6.mp4"/><Relationship Id="rId3" Type="http://schemas.microsoft.com/office/2007/relationships/media" Target="../media/media7.mp4"/><Relationship Id="rId4" Type="http://schemas.openxmlformats.org/officeDocument/2006/relationships/video" Target="../media/media7.mp4"/><Relationship Id="rId5" Type="http://schemas.openxmlformats.org/officeDocument/2006/relationships/slideLayout" Target="../slideLayouts/slideLayout7.xml"/><Relationship Id="rId6" Type="http://schemas.openxmlformats.org/officeDocument/2006/relationships/notesSlide" Target="../notesSlides/notesSlide14.xml"/><Relationship Id="rId7" Type="http://schemas.openxmlformats.org/officeDocument/2006/relationships/image" Target="../media/image43.jpg"/><Relationship Id="rId8" Type="http://schemas.openxmlformats.org/officeDocument/2006/relationships/image" Target="../media/image44.jpg"/><Relationship Id="rId9"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microsoft.com/office/2007/relationships/media" Target="../media/media8.mp4"/><Relationship Id="rId2" Type="http://schemas.openxmlformats.org/officeDocument/2006/relationships/video" Target="../media/media8.mp4"/><Relationship Id="rId3" Type="http://schemas.openxmlformats.org/officeDocument/2006/relationships/slideLayout" Target="../slideLayouts/slideLayout7.xml"/><Relationship Id="rId4" Type="http://schemas.openxmlformats.org/officeDocument/2006/relationships/notesSlide" Target="../notesSlides/notesSlide16.xml"/><Relationship Id="rId5" Type="http://schemas.openxmlformats.org/officeDocument/2006/relationships/image" Target="../media/image45.jpg"/><Relationship Id="rId6"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microsoft.com/office/2007/relationships/media" Target="../media/media9.mp4"/><Relationship Id="rId2" Type="http://schemas.openxmlformats.org/officeDocument/2006/relationships/video" Target="../media/media9.mp4"/><Relationship Id="rId3" Type="http://schemas.openxmlformats.org/officeDocument/2006/relationships/slideLayout" Target="../slideLayouts/slideLayout7.xml"/><Relationship Id="rId4" Type="http://schemas.openxmlformats.org/officeDocument/2006/relationships/notesSlide" Target="../notesSlides/notesSlide17.xml"/><Relationship Id="rId5" Type="http://schemas.openxmlformats.org/officeDocument/2006/relationships/image" Target="../media/image46.jpg"/><Relationship Id="rId6"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47.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microsoft.com/office/2007/relationships/media" Target="../media/media10.mp4"/><Relationship Id="rId2" Type="http://schemas.openxmlformats.org/officeDocument/2006/relationships/video" Target="../media/media10.mp4"/><Relationship Id="rId3" Type="http://schemas.openxmlformats.org/officeDocument/2006/relationships/slideLayout" Target="../slideLayouts/slideLayout7.xml"/><Relationship Id="rId4" Type="http://schemas.openxmlformats.org/officeDocument/2006/relationships/notesSlide" Target="../notesSlides/notesSlide19.xml"/><Relationship Id="rId5" Type="http://schemas.openxmlformats.org/officeDocument/2006/relationships/image" Target="../media/image48.jpg"/><Relationship Id="rId6"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microsoft.com/office/2007/relationships/media" Target="../media/media11.mp4"/><Relationship Id="rId2" Type="http://schemas.openxmlformats.org/officeDocument/2006/relationships/video" Target="../media/media11.mp4"/><Relationship Id="rId3" Type="http://schemas.openxmlformats.org/officeDocument/2006/relationships/slideLayout" Target="../slideLayouts/slideLayout7.xml"/><Relationship Id="rId4" Type="http://schemas.openxmlformats.org/officeDocument/2006/relationships/notesSlide" Target="../notesSlides/notesSlide20.xml"/><Relationship Id="rId5" Type="http://schemas.openxmlformats.org/officeDocument/2006/relationships/image" Target="../media/image49.jpg"/><Relationship Id="rId6"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0.jp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microsoft.com/office/2007/relationships/media" Target="../media/media12.mp4"/><Relationship Id="rId2" Type="http://schemas.openxmlformats.org/officeDocument/2006/relationships/video" Target="../media/media12.mp4"/><Relationship Id="rId3" Type="http://schemas.openxmlformats.org/officeDocument/2006/relationships/slideLayout" Target="../slideLayouts/slideLayout7.xml"/><Relationship Id="rId4" Type="http://schemas.openxmlformats.org/officeDocument/2006/relationships/notesSlide" Target="../notesSlides/notesSlide22.xml"/><Relationship Id="rId5" Type="http://schemas.openxmlformats.org/officeDocument/2006/relationships/image" Target="../media/image51.jp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54.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chart" Target="../charts/chart1.xml"/><Relationship Id="rId4" Type="http://schemas.openxmlformats.org/officeDocument/2006/relationships/image" Target="../media/image55.png"/><Relationship Id="rId5"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microsoft.com/office/2007/relationships/media" Target="../media/media13.mp4"/><Relationship Id="rId2" Type="http://schemas.openxmlformats.org/officeDocument/2006/relationships/video" Target="../media/media13.mp4"/><Relationship Id="rId3" Type="http://schemas.openxmlformats.org/officeDocument/2006/relationships/slideLayout" Target="../slideLayouts/slideLayout7.xml"/><Relationship Id="rId4" Type="http://schemas.openxmlformats.org/officeDocument/2006/relationships/notesSlide" Target="../notesSlides/notesSlide26.xml"/><Relationship Id="rId5" Type="http://schemas.openxmlformats.org/officeDocument/2006/relationships/image" Target="../media/image56.jpg"/><Relationship Id="rId6"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chart" Target="../charts/chart2.xml"/><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chart" Target="../charts/chart3.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57.jp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58.jpg"/><Relationship Id="rId4" Type="http://schemas.openxmlformats.org/officeDocument/2006/relationships/image" Target="../media/image59.jp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62.png"/><Relationship Id="rId4" Type="http://schemas.openxmlformats.org/officeDocument/2006/relationships/chart" Target="../charts/chart4.xml"/><Relationship Id="rId5"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63.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62.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67.png"/><Relationship Id="rId4" Type="http://schemas.openxmlformats.org/officeDocument/2006/relationships/image" Target="../media/image68.png"/><Relationship Id="rId5" Type="http://schemas.openxmlformats.org/officeDocument/2006/relationships/image" Target="../media/image69.png"/><Relationship Id="rId6" Type="http://schemas.openxmlformats.org/officeDocument/2006/relationships/image" Target="../media/image54.png"/><Relationship Id="rId7" Type="http://schemas.openxmlformats.org/officeDocument/2006/relationships/image" Target="../media/image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Picture 1" descr="photo_prairie_milkyway_rising.jpg"/>
          <p:cNvPicPr>
            <a:picLocks noChangeAspect="1"/>
          </p:cNvPicPr>
          <p:nvPr/>
        </p:nvPicPr>
        <p:blipFill>
          <a:blip r:embed="rId3"/>
          <a:srcRect l="1" r="1"/>
          <a:stretch>
            <a:fillRect/>
          </a:stretch>
        </p:blipFill>
        <p:spPr>
          <a:xfrm>
            <a:off x="0" y="0"/>
            <a:ext cx="12191695" cy="6858000"/>
          </a:xfrm>
          <a:prstGeom prst="rect">
            <a:avLst/>
          </a:prstGeom>
        </p:spPr>
      </p:pic>
      <p:sp>
        <p:nvSpPr>
          <p:cNvPr id="3" name="TextBox 2"/>
          <p:cNvSpPr txBox="1"/>
          <p:nvPr/>
        </p:nvSpPr>
        <p:spPr>
          <a:xfrm>
            <a:off x="685800" y="502920"/>
            <a:ext cx="73152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6B44B"/>
                </a:solidFill>
                <a:latin typeface="Aptos"/>
              </a:rPr>
              <a:t>UF AI DAYS  ·  OCT. 27, 2026</a:t>
            </a:r>
          </a:p>
        </p:txBody>
      </p:sp>
      <p:sp>
        <p:nvSpPr>
          <p:cNvPr id="4" name="TextBox 3"/>
          <p:cNvSpPr txBox="1"/>
          <p:nvPr/>
        </p:nvSpPr>
        <p:spPr>
          <a:xfrm>
            <a:off x="685800" y="795528"/>
            <a:ext cx="73152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D9D2BD"/>
                </a:solidFill>
                <a:latin typeface="Aptos"/>
              </a:rPr>
              <a:t>AI Research, Teaching, and Learning Day</a:t>
            </a:r>
          </a:p>
        </p:txBody>
      </p:sp>
      <p:sp>
        <p:nvSpPr>
          <p:cNvPr id="5" name="TextBox 4"/>
          <p:cNvSpPr txBox="1"/>
          <p:nvPr/>
        </p:nvSpPr>
        <p:spPr>
          <a:xfrm>
            <a:off x="685800" y="1143000"/>
            <a:ext cx="10058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400" b="1" i="0">
                <a:solidFill>
                  <a:srgbClr val="F5F1E6"/>
                </a:solidFill>
                <a:latin typeface="Aptos Display"/>
              </a:rPr>
              <a:t>Restoring the Milky Way</a:t>
            </a:r>
          </a:p>
        </p:txBody>
      </p:sp>
      <p:sp>
        <p:nvSpPr>
          <p:cNvPr id="6" name="TextBox 5"/>
          <p:cNvSpPr txBox="1"/>
          <p:nvPr/>
        </p:nvSpPr>
        <p:spPr>
          <a:xfrm>
            <a:off x="685800" y="1901952"/>
            <a:ext cx="1051560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200" b="0" i="0">
                <a:solidFill>
                  <a:srgbClr val="D9D2BD"/>
                </a:solidFill>
                <a:latin typeface="Aptos Display"/>
              </a:rPr>
              <a:t>Scaling AI-assisted light pollution planning across North Central Florida</a:t>
            </a:r>
          </a:p>
        </p:txBody>
      </p:sp>
      <p:sp>
        <p:nvSpPr>
          <p:cNvPr id="7" name="TextBox 6"/>
          <p:cNvSpPr txBox="1"/>
          <p:nvPr/>
        </p:nvSpPr>
        <p:spPr>
          <a:xfrm>
            <a:off x="685800" y="5943600"/>
            <a:ext cx="7680960" cy="548640"/>
          </a:xfrm>
          <a:prstGeom prst="rect">
            <a:avLst/>
          </a:prstGeom>
          <a:noFill/>
        </p:spPr>
        <p:txBody>
          <a:bodyPr wrap="square" lIns="0" tIns="0" rIns="0" bIns="0" anchor="t">
            <a:noAutofit/>
          </a:bodyPr>
          <a:lstStyle/>
          <a:p>
            <a:pPr marL="0" indent="0" algn="l">
              <a:lnSpc>
                <a:spcPct val="110000"/>
              </a:lnSpc>
              <a:spcBef>
                <a:spcPts val="0"/>
              </a:spcBef>
              <a:spcAft>
                <a:spcPts val="0"/>
              </a:spcAft>
              <a:buNone/>
            </a:pPr>
            <a:r>
              <a:rPr sz="1300" b="1" i="0">
                <a:solidFill>
                  <a:srgbClr val="F5F1E6"/>
                </a:solidFill>
                <a:latin typeface="Aptos"/>
              </a:rPr>
              <a:t>Jay Rosen</a:t>
            </a:r>
            <a:r>
              <a:rPr sz="1300" b="0" i="0">
                <a:solidFill>
                  <a:srgbClr val="F5F1E6"/>
                </a:solidFill>
                <a:latin typeface="Aptos"/>
              </a:rPr>
              <a:t>  ·  jayrosen@ufl.edu</a:t>
            </a:r>
          </a:p>
          <a:p>
            <a:pPr marL="0" indent="0" algn="l">
              <a:lnSpc>
                <a:spcPct val="110000"/>
              </a:lnSpc>
              <a:spcBef>
                <a:spcPts val="0"/>
              </a:spcBef>
              <a:spcAft>
                <a:spcPts val="0"/>
              </a:spcAft>
              <a:buNone/>
            </a:pPr>
            <a:r>
              <a:rPr sz="1300" b="0" i="0">
                <a:solidFill>
                  <a:srgbClr val="F5F1E6"/>
                </a:solidFill>
                <a:latin typeface="Aptos"/>
              </a:rPr>
              <a:t>Research Software Engineer III, University of Florida College of Education</a:t>
            </a:r>
          </a:p>
        </p:txBody>
      </p:sp>
      <p:sp>
        <p:nvSpPr>
          <p:cNvPr id="8" name="TextBox 7"/>
          <p:cNvSpPr txBox="1"/>
          <p:nvPr/>
        </p:nvSpPr>
        <p:spPr>
          <a:xfrm>
            <a:off x="685800" y="6510528"/>
            <a:ext cx="7315200" cy="2286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50" b="0" i="0">
                <a:solidFill>
                  <a:srgbClr val="D9D2BD"/>
                </a:solidFill>
                <a:latin typeface="Aptos"/>
              </a:rPr>
              <a:t>Photo: Milky Way and urban skyglow over Paynes Prairie, 2022. Jay Rosen</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INTRODUCTION</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About me: from light art to light pollution</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a:t>
            </a:r>
          </a:p>
        </p:txBody>
      </p:sp>
      <p:sp>
        <p:nvSpPr>
          <p:cNvPr id="5" name="TextBox 4"/>
          <p:cNvSpPr txBox="1"/>
          <p:nvPr/>
        </p:nvSpPr>
        <p:spPr>
          <a:xfrm>
            <a:off x="548640" y="1463040"/>
            <a:ext cx="720821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Light art, 15 years</a:t>
            </a:r>
            <a:r>
              <a:rPr sz="1600" b="0" i="0">
                <a:solidFill>
                  <a:srgbClr val="D9D2BD"/>
                </a:solidFill>
                <a:latin typeface="Aptos"/>
              </a:rPr>
              <a:t>: light, mirrors, and increasingly technological media</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Before UF</a:t>
            </a:r>
            <a:r>
              <a:rPr sz="1600" b="0" i="0">
                <a:solidFill>
                  <a:srgbClr val="D9D2BD"/>
                </a:solidFill>
                <a:latin typeface="Aptos"/>
              </a:rPr>
              <a:t>: founder and CEO, Space Age Mining Corp. (HPC)</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At UF</a:t>
            </a:r>
            <a:r>
              <a:rPr sz="1600" b="0" i="0">
                <a:solidFill>
                  <a:srgbClr val="D9D2BD"/>
                </a:solidFill>
                <a:latin typeface="Aptos"/>
              </a:rPr>
              <a:t>: Research Software Engineer III, College of Education</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Astrophotography since 2020</a:t>
            </a:r>
            <a:r>
              <a:rPr sz="1600" b="0" i="0">
                <a:solidFill>
                  <a:srgbClr val="D9D2BD"/>
                </a:solidFill>
                <a:latin typeface="Aptos"/>
              </a:rPr>
              <a:t>: photos on state park websites</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NASA Space Apps</a:t>
            </a:r>
            <a:r>
              <a:rPr sz="1600" b="0" i="0">
                <a:solidFill>
                  <a:srgbClr val="D9D2BD"/>
                </a:solidFill>
                <a:latin typeface="Aptos"/>
              </a:rPr>
              <a:t>: 2× Kennedy Space Center winner, global nominee, judge</a:t>
            </a:r>
          </a:p>
          <a:p>
            <a:pPr marL="256032" indent="-256032">
              <a:lnSpc>
                <a:spcPct val="100000"/>
              </a:lnSpc>
              <a:spcBef>
                <a:spcPts val="1400"/>
              </a:spcBef>
              <a:spcAft>
                <a:spcPts val="0"/>
              </a:spcAft>
              <a:buClr>
                <a:srgbClr val="F6B44B"/>
              </a:buClr>
              <a:buSzPct val="100000"/>
              <a:buFont typeface="Arial"/>
              <a:buChar char="•"/>
            </a:pPr>
            <a:r>
              <a:rPr sz="1600" b="1" i="0">
                <a:solidFill>
                  <a:srgbClr val="F6B44B"/>
                </a:solidFill>
                <a:latin typeface="Aptos"/>
              </a:rPr>
              <a:t>Outside UF</a:t>
            </a:r>
            <a:r>
              <a:rPr sz="1600" b="0" i="0">
                <a:solidFill>
                  <a:srgbClr val="D9D2BD"/>
                </a:solidFill>
                <a:latin typeface="Aptos"/>
              </a:rPr>
              <a:t>: Board of Directors, Alachua Astronomy Club</a:t>
            </a:r>
          </a:p>
          <a:p>
            <a:pPr marL="256032" indent="-256032">
              <a:lnSpc>
                <a:spcPct val="100000"/>
              </a:lnSpc>
              <a:spcBef>
                <a:spcPts val="1400"/>
              </a:spcBef>
              <a:spcAft>
                <a:spcPts val="0"/>
              </a:spcAft>
              <a:buClr>
                <a:srgbClr val="F6B44B"/>
              </a:buClr>
              <a:buSzPct val="100000"/>
              <a:buFont typeface="Arial"/>
              <a:buChar char="•"/>
            </a:pPr>
            <a:r>
              <a:rPr sz="1600" b="0" i="0">
                <a:solidFill>
                  <a:srgbClr val="D9D2BD"/>
                </a:solidFill>
                <a:latin typeface="Aptos"/>
              </a:rPr>
              <a:t>Civic service on </a:t>
            </a:r>
            <a:r>
              <a:rPr sz="1600" b="1" i="0">
                <a:solidFill>
                  <a:srgbClr val="F6B44B"/>
                </a:solidFill>
                <a:latin typeface="Aptos"/>
              </a:rPr>
              <a:t>City of Gainesville</a:t>
            </a:r>
            <a:r>
              <a:rPr sz="1600" b="0" i="0">
                <a:solidFill>
                  <a:srgbClr val="D9D2BD"/>
                </a:solidFill>
                <a:latin typeface="Aptos"/>
              </a:rPr>
              <a:t> and </a:t>
            </a:r>
            <a:r>
              <a:rPr sz="1600" b="1" i="0">
                <a:solidFill>
                  <a:srgbClr val="F6B44B"/>
                </a:solidFill>
                <a:latin typeface="Aptos"/>
              </a:rPr>
              <a:t>Alachua County</a:t>
            </a:r>
            <a:r>
              <a:rPr sz="1600" b="0" i="0">
                <a:solidFill>
                  <a:srgbClr val="D9D2BD"/>
                </a:solidFill>
                <a:latin typeface="Aptos"/>
              </a:rPr>
              <a:t> boards</a:t>
            </a:r>
          </a:p>
        </p:txBody>
      </p:sp>
      <p:pic>
        <p:nvPicPr>
          <p:cNvPr id="6" name="Picture 5" descr="photo_jay_telescope_portrait.jpg"/>
          <p:cNvPicPr>
            <a:picLocks noChangeAspect="1"/>
          </p:cNvPicPr>
          <p:nvPr/>
        </p:nvPicPr>
        <p:blipFill>
          <a:blip r:embed="rId3"/>
          <a:stretch>
            <a:fillRect/>
          </a:stretch>
        </p:blipFill>
        <p:spPr>
          <a:xfrm>
            <a:off x="8259775" y="1508760"/>
            <a:ext cx="3383280" cy="4257028"/>
          </a:xfrm>
          <a:prstGeom prst="roundRect">
            <a:avLst>
              <a:gd name="adj" fmla="val 1500"/>
            </a:avLst>
          </a:prstGeom>
          <a:ln w="9525">
            <a:solidFill>
              <a:srgbClr val="2A3A60"/>
            </a:solidFill>
          </a:ln>
        </p:spPr>
      </p:pic>
      <p:sp>
        <p:nvSpPr>
          <p:cNvPr id="7" name="TextBox 6"/>
          <p:cNvSpPr txBox="1"/>
          <p:nvPr/>
        </p:nvSpPr>
        <p:spPr>
          <a:xfrm>
            <a:off x="8259775" y="5820652"/>
            <a:ext cx="33832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Full-spectrum self-portrait at the Chiefland Astronomy Village, April 2024. Photo: Jay Rosen</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is light pollution?</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a:t>
            </a:r>
          </a:p>
        </p:txBody>
      </p:sp>
      <p:sp>
        <p:nvSpPr>
          <p:cNvPr id="5" name="TextBox 4"/>
          <p:cNvSpPr txBox="1"/>
          <p:nvPr/>
        </p:nvSpPr>
        <p:spPr>
          <a:xfrm>
            <a:off x="548640" y="1325880"/>
            <a:ext cx="5486400" cy="8229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000" b="1" i="0">
                <a:solidFill>
                  <a:srgbClr val="F6B44B"/>
                </a:solidFill>
                <a:latin typeface="Aptos"/>
              </a:rPr>
              <a:t>Light pollution</a:t>
            </a:r>
            <a:r>
              <a:rPr sz="2000" b="0" i="0">
                <a:solidFill>
                  <a:srgbClr val="F5F1E6"/>
                </a:solidFill>
                <a:latin typeface="Aptos"/>
              </a:rPr>
              <a:t>: excessive, misdirected or obtrusive </a:t>
            </a:r>
            <a:r>
              <a:rPr sz="2000" b="1" i="0">
                <a:solidFill>
                  <a:srgbClr val="F6B44B"/>
                </a:solidFill>
                <a:latin typeface="Aptos"/>
              </a:rPr>
              <a:t>artificial light at night</a:t>
            </a:r>
            <a:r>
              <a:rPr sz="2000" b="0" i="0">
                <a:solidFill>
                  <a:srgbClr val="F5F1E6"/>
                </a:solidFill>
                <a:latin typeface="Aptos"/>
              </a:rPr>
              <a:t> (ALAN)</a:t>
            </a:r>
          </a:p>
        </p:txBody>
      </p:sp>
      <p:pic>
        <p:nvPicPr>
          <p:cNvPr id="6" name="Picture 5" descr="lp_types_leeds.png"/>
          <p:cNvPicPr>
            <a:picLocks noChangeAspect="1"/>
          </p:cNvPicPr>
          <p:nvPr/>
        </p:nvPicPr>
        <p:blipFill>
          <a:blip r:embed="rId3"/>
          <a:stretch>
            <a:fillRect/>
          </a:stretch>
        </p:blipFill>
        <p:spPr>
          <a:xfrm>
            <a:off x="548640" y="2301395"/>
            <a:ext cx="2514600" cy="2483808"/>
          </a:xfrm>
          <a:prstGeom prst="roundRect">
            <a:avLst>
              <a:gd name="adj" fmla="val 2000"/>
            </a:avLst>
          </a:prstGeom>
          <a:ln w="9525">
            <a:solidFill>
              <a:srgbClr val="2A3A60"/>
            </a:solidFill>
          </a:ln>
        </p:spPr>
      </p:pic>
      <p:sp>
        <p:nvSpPr>
          <p:cNvPr id="7" name="TextBox 6"/>
          <p:cNvSpPr txBox="1"/>
          <p:nvPr/>
        </p:nvSpPr>
        <p:spPr>
          <a:xfrm>
            <a:off x="548640" y="4830924"/>
            <a:ext cx="2514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Image: Leeds Astronomical Society</a:t>
            </a:r>
          </a:p>
        </p:txBody>
      </p:sp>
      <p:sp>
        <p:nvSpPr>
          <p:cNvPr id="8" name="TextBox 7"/>
          <p:cNvSpPr txBox="1"/>
          <p:nvPr/>
        </p:nvSpPr>
        <p:spPr>
          <a:xfrm>
            <a:off x="3291840" y="2240280"/>
            <a:ext cx="2743200" cy="32918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Skyglow</a:t>
            </a:r>
            <a:r>
              <a:rPr sz="1500" b="0" i="0">
                <a:solidFill>
                  <a:srgbClr val="D9D2BD"/>
                </a:solidFill>
                <a:latin typeface="Aptos"/>
              </a:rPr>
              <a:t>: the dome over a city that washes out the stars</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Light trespass</a:t>
            </a:r>
            <a:r>
              <a:rPr sz="1500" b="0" i="0">
                <a:solidFill>
                  <a:srgbClr val="D9D2BD"/>
                </a:solidFill>
                <a:latin typeface="Aptos"/>
              </a:rPr>
              <a:t>: spill onto neighbors and habitat</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Glare</a:t>
            </a:r>
            <a:r>
              <a:rPr sz="1500" b="0" i="0">
                <a:solidFill>
                  <a:srgbClr val="D9D2BD"/>
                </a:solidFill>
                <a:latin typeface="Aptos"/>
              </a:rPr>
              <a:t>: brightness that hurts visibility</a:t>
            </a:r>
          </a:p>
          <a:p>
            <a:pPr marL="256032" indent="-256032">
              <a:lnSpc>
                <a:spcPct val="100000"/>
              </a:lnSpc>
              <a:spcBef>
                <a:spcPts val="800"/>
              </a:spcBef>
              <a:spcAft>
                <a:spcPts val="0"/>
              </a:spcAft>
              <a:buClr>
                <a:srgbClr val="F6B44B"/>
              </a:buClr>
              <a:buSzPct val="100000"/>
              <a:buFont typeface="Arial"/>
              <a:buChar char="•"/>
            </a:pPr>
            <a:r>
              <a:rPr sz="1500" b="1" i="0">
                <a:solidFill>
                  <a:srgbClr val="F6B44B"/>
                </a:solidFill>
                <a:latin typeface="Aptos"/>
              </a:rPr>
              <a:t>Excessive brightness</a:t>
            </a:r>
            <a:r>
              <a:rPr sz="1500" b="0" i="0">
                <a:solidFill>
                  <a:srgbClr val="D9D2BD"/>
                </a:solidFill>
                <a:latin typeface="Aptos"/>
              </a:rPr>
              <a:t>: more light than the task needs</a:t>
            </a:r>
          </a:p>
        </p:txBody>
      </p:sp>
      <p:sp>
        <p:nvSpPr>
          <p:cNvPr id="9" name="TextBox 8"/>
          <p:cNvSpPr txBox="1"/>
          <p:nvPr/>
        </p:nvSpPr>
        <p:spPr>
          <a:xfrm>
            <a:off x="6400800" y="1325880"/>
            <a:ext cx="5239512"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800" b="1" i="0">
                <a:solidFill>
                  <a:srgbClr val="F6B44B"/>
                </a:solidFill>
                <a:latin typeface="Aptos"/>
              </a:rPr>
              <a:t>Why it matters</a:t>
            </a:r>
          </a:p>
        </p:txBody>
      </p:sp>
      <p:sp>
        <p:nvSpPr>
          <p:cNvPr id="10" name="TextBox 9"/>
          <p:cNvSpPr txBox="1"/>
          <p:nvPr/>
        </p:nvSpPr>
        <p:spPr>
          <a:xfrm>
            <a:off x="6400800" y="1737360"/>
            <a:ext cx="5239512" cy="2468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Wildlife</a:t>
            </a:r>
            <a:r>
              <a:rPr sz="1500" b="0" i="0">
                <a:solidFill>
                  <a:srgbClr val="D9D2BD"/>
                </a:solidFill>
                <a:latin typeface="Aptos"/>
              </a:rPr>
              <a:t>, as at Paynes Prairie: insects drawn to their deaths, frogs calling less, night-migrating birds thrown off course, bats losing dark habitat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People</a:t>
            </a:r>
            <a:r>
              <a:rPr sz="1500" b="0" i="0">
                <a:solidFill>
                  <a:srgbClr val="D9D2BD"/>
                </a:solidFill>
                <a:latin typeface="Aptos"/>
              </a:rPr>
              <a:t>: blue-rich light at night suppresses melatonin and disrupts sleep</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Energy</a:t>
            </a:r>
            <a:r>
              <a:rPr sz="1500" b="0" i="0">
                <a:solidFill>
                  <a:srgbClr val="D9D2BD"/>
                </a:solidFill>
                <a:latin typeface="Aptos"/>
              </a:rPr>
              <a:t>: light sent into the sky is paid for and wasted</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The night sky</a:t>
            </a:r>
            <a:r>
              <a:rPr sz="1500" b="0" i="0">
                <a:solidFill>
                  <a:srgbClr val="D9D2BD"/>
                </a:solidFill>
                <a:latin typeface="Aptos"/>
              </a:rPr>
              <a:t>: skyglow hides the Milky Way, even at UF's observatories</a:t>
            </a:r>
          </a:p>
        </p:txBody>
      </p:sp>
      <p:pic>
        <p:nvPicPr>
          <p:cNvPr id="11" name="Picture 10" descr="fireflies_ufifas.jpg"/>
          <p:cNvPicPr>
            <a:picLocks noChangeAspect="1"/>
          </p:cNvPicPr>
          <p:nvPr/>
        </p:nvPicPr>
        <p:blipFill>
          <a:blip r:embed="rId4"/>
          <a:srcRect l="27212" r="27212"/>
          <a:stretch>
            <a:fillRect/>
          </a:stretch>
        </p:blipFill>
        <p:spPr>
          <a:xfrm>
            <a:off x="6400800" y="4343400"/>
            <a:ext cx="2560320" cy="1600200"/>
          </a:xfrm>
          <a:prstGeom prst="roundRect">
            <a:avLst>
              <a:gd name="adj" fmla="val 2000"/>
            </a:avLst>
          </a:prstGeom>
          <a:ln w="9525">
            <a:solidFill>
              <a:srgbClr val="2A3A60"/>
            </a:solidFill>
          </a:ln>
        </p:spPr>
      </p:pic>
      <p:sp>
        <p:nvSpPr>
          <p:cNvPr id="12" name="TextBox 11"/>
          <p:cNvSpPr txBox="1"/>
          <p:nvPr/>
        </p:nvSpPr>
        <p:spPr>
          <a:xfrm>
            <a:off x="6400800" y="5989320"/>
            <a:ext cx="25603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Fireflies. Photo: UF IFAS</a:t>
            </a:r>
          </a:p>
        </p:txBody>
      </p:sp>
      <p:pic>
        <p:nvPicPr>
          <p:cNvPr id="13" name="Picture 12" descr="bats_ufifas.jpg"/>
          <p:cNvPicPr>
            <a:picLocks noChangeAspect="1"/>
          </p:cNvPicPr>
          <p:nvPr/>
        </p:nvPicPr>
        <p:blipFill>
          <a:blip r:embed="rId5"/>
          <a:srcRect t="2830" b="2830"/>
          <a:stretch>
            <a:fillRect/>
          </a:stretch>
        </p:blipFill>
        <p:spPr>
          <a:xfrm>
            <a:off x="9079992" y="4343400"/>
            <a:ext cx="2560320" cy="1600200"/>
          </a:xfrm>
          <a:prstGeom prst="roundRect">
            <a:avLst>
              <a:gd name="adj" fmla="val 2000"/>
            </a:avLst>
          </a:prstGeom>
          <a:ln w="9525">
            <a:solidFill>
              <a:srgbClr val="2A3A60"/>
            </a:solidFill>
          </a:ln>
        </p:spPr>
      </p:pic>
      <p:sp>
        <p:nvSpPr>
          <p:cNvPr id="14" name="TextBox 13"/>
          <p:cNvSpPr txBox="1"/>
          <p:nvPr/>
        </p:nvSpPr>
        <p:spPr>
          <a:xfrm>
            <a:off x="9079992" y="5989320"/>
            <a:ext cx="25603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Bats at dusk. Photo: UF IFAS</a:t>
            </a:r>
          </a:p>
        </p:txBody>
      </p:sp>
      <p:pic>
        <p:nvPicPr>
          <p:cNvPr id="15" name="Picture 14"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16" name="TextBox 15"/>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Rosen (2026), Preserving natural skies in Alachua County (EPAC presentation)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PROBLEM</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travels: one city's lights wash out a whole region</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4</a:t>
            </a:r>
          </a:p>
        </p:txBody>
      </p:sp>
      <p:pic>
        <p:nvPicPr>
          <p:cNvPr id="5" name="Picture 4" descr="photo_gnv_skyglow.jpg"/>
          <p:cNvPicPr>
            <a:picLocks noChangeAspect="1"/>
          </p:cNvPicPr>
          <p:nvPr/>
        </p:nvPicPr>
        <p:blipFill>
          <a:blip r:embed="rId3"/>
          <a:srcRect l="47" r="47"/>
          <a:stretch>
            <a:fillRect/>
          </a:stretch>
        </p:blipFill>
        <p:spPr>
          <a:xfrm>
            <a:off x="548640" y="1371600"/>
            <a:ext cx="5440680" cy="3063240"/>
          </a:xfrm>
          <a:prstGeom prst="roundRect">
            <a:avLst>
              <a:gd name="adj" fmla="val 1500"/>
            </a:avLst>
          </a:prstGeom>
          <a:ln w="9525">
            <a:solidFill>
              <a:srgbClr val="2A3A60"/>
            </a:solidFill>
          </a:ln>
        </p:spPr>
      </p:pic>
      <p:sp>
        <p:nvSpPr>
          <p:cNvPr id="6" name="TextBox 5"/>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Paynes Prairie  ·  Bortle 4, Gainesville dome.</a:t>
            </a:r>
            <a:r>
              <a:rPr sz="1100" b="0" i="0">
                <a:solidFill>
                  <a:srgbClr val="A79F88"/>
                </a:solidFill>
                <a:latin typeface="Aptos"/>
              </a:rPr>
              <a:t> Gainesville's skyglow and Comet NEOWISE from Paynes Prairie, July 2020. Photo: Jay Rosen</a:t>
            </a:r>
          </a:p>
        </p:txBody>
      </p:sp>
      <p:pic>
        <p:nvPicPr>
          <p:cNvPr id="7" name="Picture 6" descr="photo_scfoster.jpg"/>
          <p:cNvPicPr>
            <a:picLocks noChangeAspect="1"/>
          </p:cNvPicPr>
          <p:nvPr/>
        </p:nvPicPr>
        <p:blipFill>
          <a:blip r:embed="rId4"/>
          <a:srcRect l="47" r="47"/>
          <a:stretch>
            <a:fillRect/>
          </a:stretch>
        </p:blipFill>
        <p:spPr>
          <a:xfrm>
            <a:off x="6199632" y="1371600"/>
            <a:ext cx="5440680" cy="3063240"/>
          </a:xfrm>
          <a:prstGeom prst="roundRect">
            <a:avLst>
              <a:gd name="adj" fmla="val 1500"/>
            </a:avLst>
          </a:prstGeom>
          <a:ln w="9525">
            <a:solidFill>
              <a:srgbClr val="2A3A60"/>
            </a:solidFill>
          </a:ln>
        </p:spPr>
      </p:pic>
      <p:sp>
        <p:nvSpPr>
          <p:cNvPr id="8" name="TextBox 7"/>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Stephen C. Foster State Park, GA  ·  Bortle 2.</a:t>
            </a:r>
            <a:r>
              <a:rPr sz="1100" b="0" i="0">
                <a:solidFill>
                  <a:srgbClr val="A79F88"/>
                </a:solidFill>
                <a:latin typeface="Aptos"/>
              </a:rPr>
              <a:t> International Dark Sky Park, October 2020. Photo: Jay Rosen</a:t>
            </a:r>
          </a:p>
        </p:txBody>
      </p:sp>
      <p:sp>
        <p:nvSpPr>
          <p:cNvPr id="9" name="TextBox 8"/>
          <p:cNvSpPr txBox="1"/>
          <p:nvPr/>
        </p:nvSpPr>
        <p:spPr>
          <a:xfrm>
            <a:off x="548640"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Light scattered by air and haze brightens the sky </a:t>
            </a:r>
            <a:r>
              <a:rPr sz="1800" b="1" i="0">
                <a:solidFill>
                  <a:srgbClr val="F6B44B"/>
                </a:solidFill>
                <a:latin typeface="Aptos"/>
              </a:rPr>
              <a:t>tens of km</a:t>
            </a:r>
            <a:r>
              <a:rPr sz="1800" b="0" i="0">
                <a:solidFill>
                  <a:srgbClr val="D9D2BD"/>
                </a:solidFill>
                <a:latin typeface="Aptos"/>
              </a:rPr>
              <a:t> away</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Harms wildlife, sleep and health, and wastes energy</a:t>
            </a:r>
          </a:p>
        </p:txBody>
      </p:sp>
      <p:sp>
        <p:nvSpPr>
          <p:cNvPr id="10" name="TextBox 9"/>
          <p:cNvSpPr txBox="1"/>
          <p:nvPr/>
        </p:nvSpPr>
        <p:spPr>
          <a:xfrm>
            <a:off x="6199632" y="4983480"/>
            <a:ext cx="5440680" cy="1417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Threatens UF's dark sites: </a:t>
            </a:r>
            <a:r>
              <a:rPr sz="1800" b="1" i="0">
                <a:solidFill>
                  <a:srgbClr val="F6B44B"/>
                </a:solidFill>
                <a:latin typeface="Aptos"/>
              </a:rPr>
              <a:t>Rosemary Hill Observatory</a:t>
            </a:r>
            <a:r>
              <a:rPr sz="1800" b="0" i="0">
                <a:solidFill>
                  <a:srgbClr val="D9D2BD"/>
                </a:solidFill>
                <a:latin typeface="Aptos"/>
              </a:rPr>
              <a:t> and </a:t>
            </a:r>
            <a:r>
              <a:rPr sz="1800" b="1" i="0">
                <a:solidFill>
                  <a:srgbClr val="F6B44B"/>
                </a:solidFill>
                <a:latin typeface="Aptos"/>
              </a:rPr>
              <a:t>Chiefland Astronomy Village</a:t>
            </a:r>
          </a:p>
          <a:p>
            <a:pPr marL="256032" indent="-256032">
              <a:lnSpc>
                <a:spcPct val="100000"/>
              </a:lnSpc>
              <a:spcBef>
                <a:spcPts val="600"/>
              </a:spcBef>
              <a:spcAft>
                <a:spcPts val="0"/>
              </a:spcAft>
              <a:buClr>
                <a:srgbClr val="F6B44B"/>
              </a:buClr>
              <a:buSzPct val="100000"/>
              <a:buFont typeface="Arial"/>
              <a:buChar char="•"/>
            </a:pPr>
            <a:r>
              <a:rPr sz="1800" b="1" i="0">
                <a:solidFill>
                  <a:srgbClr val="F6B44B"/>
                </a:solidFill>
                <a:latin typeface="Aptos"/>
              </a:rPr>
              <a:t>Preventable</a:t>
            </a:r>
            <a:r>
              <a:rPr sz="1800" b="0" i="0">
                <a:solidFill>
                  <a:srgbClr val="D9D2BD"/>
                </a:solidFill>
                <a:latin typeface="Aptos"/>
              </a:rPr>
              <a:t>: shield, aim, warmer color, less brightness, dim late at night</a:t>
            </a:r>
          </a:p>
        </p:txBody>
      </p:sp>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
        <p:nvSpPr>
          <p:cNvPr id="12" name="TextBox 11"/>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Garstang (1986), Model for artificial night-sky illumination  ·  Bortle (2001), Introducing the Bortle dark-sky scale  ·  DarkSky International, International Dark Sky Places program guidelines  ·  Rosen (2026), Preserving natural skies in Alachua County (EPAC presentation)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astrophotography to county policy</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5</a:t>
            </a:r>
          </a:p>
        </p:txBody>
      </p:sp>
      <p:sp>
        <p:nvSpPr>
          <p:cNvPr id="5" name="TextBox 4"/>
          <p:cNvSpPr txBox="1"/>
          <p:nvPr/>
        </p:nvSpPr>
        <p:spPr>
          <a:xfrm>
            <a:off x="548640" y="1463040"/>
            <a:ext cx="49377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2020–25</a:t>
            </a:r>
            <a:r>
              <a:rPr sz="1500" b="0" i="0">
                <a:solidFill>
                  <a:srgbClr val="D9D2BD"/>
                </a:solidFill>
                <a:latin typeface="Aptos"/>
              </a:rPr>
              <a:t>  Photographing the night sky under Gainesville's light dome</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Sep 2025</a:t>
            </a:r>
            <a:r>
              <a:rPr sz="1500" b="0" i="0">
                <a:solidFill>
                  <a:srgbClr val="D9D2BD"/>
                </a:solidFill>
                <a:latin typeface="Aptos"/>
              </a:rPr>
              <a:t>  Public comment at Alachua County's advisory committee (EPAC)</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Oct 2025</a:t>
            </a:r>
            <a:r>
              <a:rPr sz="1500" b="0" i="0">
                <a:solidFill>
                  <a:srgbClr val="D9D2BD"/>
                </a:solidFill>
                <a:latin typeface="Aptos"/>
              </a:rPr>
              <a:t>  v1 simulator, built in a month: mitigations' economic and night-sky impact; debuted at UF Astraeus Space Research Day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Jan 2026</a:t>
            </a:r>
            <a:r>
              <a:rPr sz="1500" b="0" i="0">
                <a:solidFill>
                  <a:srgbClr val="D9D2BD"/>
                </a:solidFill>
                <a:latin typeface="Aptos"/>
              </a:rPr>
              <a:t>  Presented the research and v1 simulator to EPAC; unanimous vote to pursue dark-sky policy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Feb–May 2026</a:t>
            </a:r>
            <a:r>
              <a:rPr sz="1500" b="0" i="0">
                <a:solidFill>
                  <a:srgbClr val="D9D2BD"/>
                </a:solidFill>
                <a:latin typeface="Aptos"/>
              </a:rPr>
              <a:t>  Policy 5.3.7 amendment heard and sent to the state</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Apr 2026</a:t>
            </a:r>
            <a:r>
              <a:rPr sz="1500" b="0" i="0">
                <a:solidFill>
                  <a:srgbClr val="D9D2BD"/>
                </a:solidFill>
                <a:latin typeface="Aptos"/>
              </a:rPr>
              <a:t>  Dark Sky Week talks: Dr. Lada's UF class asks about a next observatory; the Alachua Astronomy Club asks about Levy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Sep 22, 2026</a:t>
            </a:r>
            <a:r>
              <a:rPr sz="1500" b="0" i="0">
                <a:solidFill>
                  <a:srgbClr val="D9D2BD"/>
                </a:solidFill>
                <a:latin typeface="Aptos"/>
              </a:rPr>
              <a:t>  County Commission </a:t>
            </a:r>
            <a:r>
              <a:rPr sz="1500" b="1" i="0">
                <a:solidFill>
                  <a:srgbClr val="F6B44B"/>
                </a:solidFill>
                <a:latin typeface="Aptos"/>
              </a:rPr>
              <a:t>adopts</a:t>
            </a:r>
            <a:r>
              <a:rPr sz="1500" b="0" i="0">
                <a:solidFill>
                  <a:srgbClr val="D9D2BD"/>
                </a:solidFill>
                <a:latin typeface="Aptos"/>
              </a:rPr>
              <a:t> it, unanimously</a:t>
            </a:r>
          </a:p>
          <a:p>
            <a:pPr marL="256032" indent="-256032">
              <a:lnSpc>
                <a:spcPct val="100000"/>
              </a:lnSpc>
              <a:spcBef>
                <a:spcPts val="500"/>
              </a:spcBef>
              <a:spcAft>
                <a:spcPts val="0"/>
              </a:spcAft>
              <a:buClr>
                <a:srgbClr val="F6B44B"/>
              </a:buClr>
              <a:buSzPct val="100000"/>
              <a:buFont typeface="Arial"/>
              <a:buChar char="•"/>
            </a:pPr>
            <a:r>
              <a:rPr sz="1500" b="1" i="0">
                <a:solidFill>
                  <a:srgbClr val="F6B44B"/>
                </a:solidFill>
                <a:latin typeface="Aptos"/>
              </a:rPr>
              <a:t>Now</a:t>
            </a:r>
            <a:r>
              <a:rPr sz="1500" b="0" i="0">
                <a:solidFill>
                  <a:srgbClr val="D9D2BD"/>
                </a:solidFill>
                <a:latin typeface="Aptos"/>
              </a:rPr>
              <a:t>  Expanding into </a:t>
            </a:r>
            <a:r>
              <a:rPr sz="1500" b="1" i="0">
                <a:solidFill>
                  <a:srgbClr val="F6B44B"/>
                </a:solidFill>
                <a:latin typeface="Aptos"/>
              </a:rPr>
              <a:t>Levy County</a:t>
            </a:r>
            <a:r>
              <a:rPr sz="1500" b="0" i="0">
                <a:solidFill>
                  <a:srgbClr val="D9D2BD"/>
                </a:solidFill>
                <a:latin typeface="Aptos"/>
              </a:rPr>
              <a:t>; screening sites for UF's next observatory</a:t>
            </a:r>
          </a:p>
        </p:txBody>
      </p:sp>
      <p:pic>
        <p:nvPicPr>
          <p:cNvPr id="6" name="Picture 5" descr="v1_poster.jpg"/>
          <p:cNvPicPr>
            <a:picLocks noChangeAspect="1"/>
          </p:cNvPicPr>
          <p:nvPr/>
        </p:nvPicPr>
        <p:blipFill>
          <a:blip r:embed="rId3"/>
          <a:stretch>
            <a:fillRect/>
          </a:stretch>
        </p:blipFill>
        <p:spPr>
          <a:xfrm>
            <a:off x="5809187" y="1463040"/>
            <a:ext cx="3560665" cy="2679192"/>
          </a:xfrm>
          <a:prstGeom prst="roundRect">
            <a:avLst>
              <a:gd name="adj" fmla="val 1000"/>
            </a:avLst>
          </a:prstGeom>
          <a:ln w="9525">
            <a:solidFill>
              <a:srgbClr val="2A3A60"/>
            </a:solidFill>
          </a:ln>
        </p:spPr>
      </p:pic>
      <p:pic>
        <p:nvPicPr>
          <p:cNvPr id="7" name="Picture 6" descr="news_ufarts.jpg"/>
          <p:cNvPicPr>
            <a:picLocks noChangeAspect="1"/>
          </p:cNvPicPr>
          <p:nvPr/>
        </p:nvPicPr>
        <p:blipFill>
          <a:blip r:embed="rId4"/>
          <a:stretch>
            <a:fillRect/>
          </a:stretch>
        </p:blipFill>
        <p:spPr>
          <a:xfrm>
            <a:off x="9509873" y="1463040"/>
            <a:ext cx="2130324" cy="2459736"/>
          </a:xfrm>
          <a:prstGeom prst="roundRect">
            <a:avLst>
              <a:gd name="adj" fmla="val 1000"/>
            </a:avLst>
          </a:prstGeom>
          <a:ln w="9525">
            <a:solidFill>
              <a:srgbClr val="2A3A60"/>
            </a:solidFill>
          </a:ln>
        </p:spPr>
      </p:pic>
      <p:pic>
        <p:nvPicPr>
          <p:cNvPr id="8" name="Picture 7" descr="policy_537.jpg"/>
          <p:cNvPicPr>
            <a:picLocks noChangeAspect="1"/>
          </p:cNvPicPr>
          <p:nvPr/>
        </p:nvPicPr>
        <p:blipFill>
          <a:blip r:embed="rId5"/>
          <a:srcRect t="34255" b="18255"/>
          <a:stretch>
            <a:fillRect/>
          </a:stretch>
        </p:blipFill>
        <p:spPr>
          <a:xfrm>
            <a:off x="5806440" y="4389120"/>
            <a:ext cx="3566160" cy="1920240"/>
          </a:xfrm>
          <a:prstGeom prst="roundRect">
            <a:avLst>
              <a:gd name="adj" fmla="val 1000"/>
            </a:avLst>
          </a:prstGeom>
          <a:ln w="9525">
            <a:solidFill>
              <a:srgbClr val="2A3A60"/>
            </a:solidFill>
          </a:ln>
        </p:spPr>
      </p:pic>
      <p:pic>
        <p:nvPicPr>
          <p:cNvPr id="9" name="Picture 8" descr="news_invadingsea.jpg"/>
          <p:cNvPicPr>
            <a:picLocks noChangeAspect="1"/>
          </p:cNvPicPr>
          <p:nvPr/>
        </p:nvPicPr>
        <p:blipFill>
          <a:blip r:embed="rId6"/>
          <a:stretch>
            <a:fillRect/>
          </a:stretch>
        </p:blipFill>
        <p:spPr>
          <a:xfrm>
            <a:off x="9563573" y="4160520"/>
            <a:ext cx="2022924" cy="2148840"/>
          </a:xfrm>
          <a:prstGeom prst="roundRect">
            <a:avLst>
              <a:gd name="adj" fmla="val 1000"/>
            </a:avLst>
          </a:prstGeom>
          <a:ln w="9525">
            <a:solidFill>
              <a:srgbClr val="2A3A60"/>
            </a:solidFill>
          </a:ln>
        </p:spPr>
      </p:pic>
      <p:sp>
        <p:nvSpPr>
          <p:cNvPr id="10" name="TextBox 9"/>
          <p:cNvSpPr txBox="1"/>
          <p:nvPr/>
        </p:nvSpPr>
        <p:spPr>
          <a:xfrm>
            <a:off x="9509760" y="3941063"/>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UF College of the Arts, Mar 2026</a:t>
            </a:r>
          </a:p>
        </p:txBody>
      </p:sp>
      <p:sp>
        <p:nvSpPr>
          <p:cNvPr id="11" name="TextBox 10"/>
          <p:cNvSpPr txBox="1"/>
          <p:nvPr/>
        </p:nvSpPr>
        <p:spPr>
          <a:xfrm>
            <a:off x="9509760" y="6327648"/>
            <a:ext cx="213055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The Invading Sea, Jan 2026</a:t>
            </a:r>
          </a:p>
        </p:txBody>
      </p:sp>
      <p:sp>
        <p:nvSpPr>
          <p:cNvPr id="12" name="TextBox 11"/>
          <p:cNvSpPr txBox="1"/>
          <p:nvPr/>
        </p:nvSpPr>
        <p:spPr>
          <a:xfrm>
            <a:off x="5806440" y="4160520"/>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v1 poster, UF Astraeus Space Research Day, Oct 2025</a:t>
            </a:r>
          </a:p>
        </p:txBody>
      </p:sp>
      <p:sp>
        <p:nvSpPr>
          <p:cNvPr id="13" name="TextBox 12"/>
          <p:cNvSpPr txBox="1"/>
          <p:nvPr/>
        </p:nvSpPr>
        <p:spPr>
          <a:xfrm>
            <a:off x="5806440" y="6327648"/>
            <a:ext cx="3566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A79F88"/>
                </a:solidFill>
                <a:latin typeface="Aptos"/>
              </a:rPr>
              <a:t>Policy 5.3.7 language, Feb 2026</a:t>
            </a:r>
          </a:p>
        </p:txBody>
      </p:sp>
      <p:pic>
        <p:nvPicPr>
          <p:cNvPr id="14" name="Picture 13" descr="ai_days_logo_sticker.png"/>
          <p:cNvPicPr>
            <a:picLocks noChangeAspect="1"/>
          </p:cNvPicPr>
          <p:nvPr/>
        </p:nvPicPr>
        <p:blipFill>
          <a:blip r:embed="rId7"/>
          <a:stretch>
            <a:fillRect/>
          </a:stretch>
        </p:blipFill>
        <p:spPr>
          <a:xfrm>
            <a:off x="10408615" y="201168"/>
            <a:ext cx="1371600" cy="798271"/>
          </a:xfrm>
          <a:prstGeom prst="rect">
            <a:avLst/>
          </a:prstGeom>
        </p:spPr>
      </p:pic>
      <p:sp>
        <p:nvSpPr>
          <p:cNvPr id="15" name="TextBox 14"/>
          <p:cNvSpPr txBox="1"/>
          <p:nvPr/>
        </p:nvSpPr>
        <p:spPr>
          <a:xfrm>
            <a:off x="548640" y="6007608"/>
            <a:ext cx="507492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800" b="0" i="0">
                <a:solidFill>
                  <a:srgbClr val="A79F88"/>
                </a:solidFill>
                <a:latin typeface="Aptos"/>
              </a:rPr>
              <a:t>Sources: Rosen (2025), Dark Sky Simulator (v1)  ·  Rosen (2026), Preserving natural skies in Alachua County (EPAC presentation)  ·  Alachua County (2026), Comprehensive Plan amendments, Conservation and Open Space Element, Policy 5.3.7  ·  Smith (2026), Restoring the Milky Way: Arts alumnus develops app to reduce light pollution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BACKSTORY</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September 2026: dark-sky principles adopted</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6</a:t>
            </a:r>
          </a:p>
        </p:txBody>
      </p:sp>
      <p:sp>
        <p:nvSpPr>
          <p:cNvPr id="5" name="TextBox 4"/>
          <p:cNvSpPr txBox="1"/>
          <p:nvPr/>
        </p:nvSpPr>
        <p:spPr>
          <a:xfrm>
            <a:off x="548640" y="1463040"/>
            <a:ext cx="428213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Alachua County's Comprehensive Plan update, </a:t>
            </a:r>
            <a:r>
              <a:rPr sz="1600" b="1" i="0">
                <a:solidFill>
                  <a:srgbClr val="F6B44B"/>
                </a:solidFill>
                <a:latin typeface="Aptos"/>
              </a:rPr>
              <a:t>Policy 5.3.7</a:t>
            </a:r>
            <a:r>
              <a:rPr sz="1600" b="0" i="0">
                <a:solidFill>
                  <a:srgbClr val="D9D2BD"/>
                </a:solidFill>
                <a:latin typeface="Aptos"/>
              </a:rPr>
              <a:t> (Conservation and Open Space Element)</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Lighting standards must </a:t>
            </a:r>
            <a:r>
              <a:rPr sz="1600" b="1" i="0">
                <a:solidFill>
                  <a:srgbClr val="F6B44B"/>
                </a:solidFill>
                <a:latin typeface="Aptos"/>
              </a:rPr>
              <a:t>conserve energy, avoid harm to wildlife and protect the night sky</a:t>
            </a:r>
            <a:r>
              <a:rPr sz="1600" b="0" i="0">
                <a:solidFill>
                  <a:srgbClr val="D9D2BD"/>
                </a:solidFill>
                <a:latin typeface="Aptos"/>
              </a:rPr>
              <a:t>, balanced with public safety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Based on principles from </a:t>
            </a:r>
            <a:r>
              <a:rPr sz="1600" b="1" i="0">
                <a:solidFill>
                  <a:srgbClr val="F6B44B"/>
                </a:solidFill>
                <a:latin typeface="Aptos"/>
              </a:rPr>
              <a:t>Dark Sky International</a:t>
            </a:r>
            <a:r>
              <a:rPr sz="1600" b="0" i="0">
                <a:solidFill>
                  <a:srgbClr val="D9D2BD"/>
                </a:solidFill>
                <a:latin typeface="Aptos"/>
              </a:rPr>
              <a:t> and the </a:t>
            </a:r>
            <a:r>
              <a:rPr sz="1600" b="1" i="0">
                <a:solidFill>
                  <a:srgbClr val="F6B44B"/>
                </a:solidFill>
                <a:latin typeface="Aptos"/>
              </a:rPr>
              <a:t>Illuminating Engineering Society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Light only where and when needed, at the lowest level; </a:t>
            </a:r>
            <a:r>
              <a:rPr sz="1600" b="1" i="0">
                <a:solidFill>
                  <a:srgbClr val="F6B44B"/>
                </a:solidFill>
                <a:latin typeface="Aptos"/>
              </a:rPr>
              <a:t>warmer colors</a:t>
            </a:r>
            <a:r>
              <a:rPr sz="1600" b="0" i="0">
                <a:solidFill>
                  <a:srgbClr val="D9D2BD"/>
                </a:solidFill>
                <a:latin typeface="Aptos"/>
              </a:rPr>
              <a:t>; energy and cost efficiency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Each one is a control in the simulator: shielding, dimming, the 3000 K cap, costs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Next: the land development code; in effect once the state finds it in compliance</a:t>
            </a:r>
          </a:p>
        </p:txBody>
      </p:sp>
      <p:pic>
        <p:nvPicPr>
          <p:cNvPr id="6" name="Picture 5" descr="policy_537_adopted.png"/>
          <p:cNvPicPr>
            <a:picLocks noChangeAspect="1"/>
          </p:cNvPicPr>
          <p:nvPr/>
        </p:nvPicPr>
        <p:blipFill>
          <a:blip r:embed="rId3"/>
          <a:stretch>
            <a:fillRect/>
          </a:stretch>
        </p:blipFill>
        <p:spPr>
          <a:xfrm>
            <a:off x="5333695" y="1508760"/>
            <a:ext cx="6309360" cy="3555208"/>
          </a:xfrm>
          <a:prstGeom prst="roundRect">
            <a:avLst>
              <a:gd name="adj" fmla="val 1500"/>
            </a:avLst>
          </a:prstGeom>
          <a:ln w="9525">
            <a:solidFill>
              <a:srgbClr val="2A3A60"/>
            </a:solidFill>
          </a:ln>
        </p:spPr>
      </p:pic>
      <p:sp>
        <p:nvSpPr>
          <p:cNvPr id="7" name="TextBox 6"/>
          <p:cNvSpPr txBox="1"/>
          <p:nvPr/>
        </p:nvSpPr>
        <p:spPr>
          <a:xfrm>
            <a:off x="5333695" y="5118832"/>
            <a:ext cx="63093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Policy 5.3.7 as adopted: underlined text added, struck text removed. Alachua County ordinance amending the Comprehensive Plan (Evaluation &amp; Appraisal amendments), September 2026, p. 162.</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Alachua County (2026), Comprehensive Plan amendments, Conservation and Open Space Element, Policy 5.3.7  ·  DarkSky International &amp; IES (2020), Five Principles for Responsible Outdoor Lighting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WHY A VERSION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v1 told a story. v2 has to answer “How do you know?”</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7</a:t>
            </a:r>
          </a:p>
        </p:txBody>
      </p:sp>
      <p:pic>
        <p:nvPicPr>
          <p:cNvPr id="5" name="Picture 4" descr="v1_app.jpg"/>
          <p:cNvPicPr>
            <a:picLocks noChangeAspect="1"/>
          </p:cNvPicPr>
          <p:nvPr/>
        </p:nvPicPr>
        <p:blipFill>
          <a:blip r:embed="rId3"/>
          <a:srcRect l="7117" r="7117" b="5000"/>
          <a:stretch>
            <a:fillRect/>
          </a:stretch>
        </p:blipFill>
        <p:spPr>
          <a:xfrm>
            <a:off x="548640" y="1371600"/>
            <a:ext cx="5440680" cy="3063240"/>
          </a:xfrm>
          <a:prstGeom prst="roundRect">
            <a:avLst>
              <a:gd name="adj" fmla="val 1500"/>
            </a:avLst>
          </a:prstGeom>
          <a:ln w="9525">
            <a:solidFill>
              <a:srgbClr val="2A3A60"/>
            </a:solidFill>
          </a:ln>
        </p:spPr>
      </p:pic>
      <p:sp>
        <p:nvSpPr>
          <p:cNvPr id="6" name="TextBox 5"/>
          <p:cNvSpPr txBox="1"/>
          <p:nvPr/>
        </p:nvSpPr>
        <p:spPr>
          <a:xfrm>
            <a:off x="548640"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v1  ·  2025</a:t>
            </a:r>
          </a:p>
        </p:txBody>
      </p:sp>
      <p:pic>
        <p:nvPicPr>
          <p:cNvPr id="7" name="Picture 6" descr="overview.jpg"/>
          <p:cNvPicPr>
            <a:picLocks noChangeAspect="1"/>
          </p:cNvPicPr>
          <p:nvPr/>
        </p:nvPicPr>
        <p:blipFill>
          <a:blip r:embed="rId4"/>
          <a:srcRect l="26" r="26"/>
          <a:stretch>
            <a:fillRect/>
          </a:stretch>
        </p:blipFill>
        <p:spPr>
          <a:xfrm>
            <a:off x="6199632" y="1371600"/>
            <a:ext cx="5440680" cy="3063240"/>
          </a:xfrm>
          <a:prstGeom prst="roundRect">
            <a:avLst>
              <a:gd name="adj" fmla="val 1500"/>
            </a:avLst>
          </a:prstGeom>
          <a:ln w="9525">
            <a:solidFill>
              <a:srgbClr val="2A3A60"/>
            </a:solidFill>
          </a:ln>
        </p:spPr>
      </p:pic>
      <p:sp>
        <p:nvSpPr>
          <p:cNvPr id="8" name="TextBox 7"/>
          <p:cNvSpPr txBox="1"/>
          <p:nvPr/>
        </p:nvSpPr>
        <p:spPr>
          <a:xfrm>
            <a:off x="6199632" y="4480559"/>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v2  ·  2026</a:t>
            </a:r>
          </a:p>
        </p:txBody>
      </p:sp>
      <p:sp>
        <p:nvSpPr>
          <p:cNvPr id="9" name="TextBox 8"/>
          <p:cNvSpPr txBox="1"/>
          <p:nvPr/>
        </p:nvSpPr>
        <p:spPr>
          <a:xfrm>
            <a:off x="548640"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Hand-tuned multipliers, built in a month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Persuasive headline numbers (“$1.9M a year saved”) that nobody could audit</a:t>
            </a:r>
          </a:p>
        </p:txBody>
      </p:sp>
      <p:sp>
        <p:nvSpPr>
          <p:cNvPr id="10" name="TextBox 9"/>
          <p:cNvSpPr txBox="1"/>
          <p:nvPr/>
        </p:nvSpPr>
        <p:spPr>
          <a:xfrm>
            <a:off x="6199632" y="4846320"/>
            <a:ext cx="544068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Physics for the sky, public data for the lights, </a:t>
            </a:r>
            <a:r>
              <a:rPr sz="1800" b="1" i="0">
                <a:solidFill>
                  <a:srgbClr val="F6B44B"/>
                </a:solidFill>
                <a:latin typeface="Aptos"/>
              </a:rPr>
              <a:t>AI only where data can teach</a:t>
            </a:r>
          </a:p>
          <a:p>
            <a:pPr marL="256032" indent="-256032">
              <a:lnSpc>
                <a:spcPct val="100000"/>
              </a:lnSpc>
              <a:spcBef>
                <a:spcPts val="600"/>
              </a:spcBef>
              <a:spcAft>
                <a:spcPts val="0"/>
              </a:spcAft>
              <a:buClr>
                <a:srgbClr val="F6B44B"/>
              </a:buClr>
              <a:buSzPct val="100000"/>
              <a:buFont typeface="Arial"/>
              <a:buChar char="•"/>
            </a:pPr>
            <a:r>
              <a:rPr sz="1800" b="0" i="0">
                <a:solidFill>
                  <a:srgbClr val="D9D2BD"/>
                </a:solidFill>
                <a:latin typeface="Aptos"/>
              </a:rPr>
              <a:t>Every number labeled a planning projection; runs on a phone, no server</a:t>
            </a:r>
          </a:p>
        </p:txBody>
      </p:sp>
      <p:pic>
        <p:nvPicPr>
          <p:cNvPr id="11" name="Picture 10" descr="ai_days_logo_sticker.png"/>
          <p:cNvPicPr>
            <a:picLocks noChangeAspect="1"/>
          </p:cNvPicPr>
          <p:nvPr/>
        </p:nvPicPr>
        <p:blipFill>
          <a:blip r:embed="rId5"/>
          <a:stretch>
            <a:fillRect/>
          </a:stretch>
        </p:blipFill>
        <p:spPr>
          <a:xfrm>
            <a:off x="10408615" y="201168"/>
            <a:ext cx="1371600" cy="798271"/>
          </a:xfrm>
          <a:prstGeom prst="rect">
            <a:avLst/>
          </a:prstGeom>
        </p:spPr>
      </p:pic>
      <p:sp>
        <p:nvSpPr>
          <p:cNvPr id="12" name="TextBox 11"/>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Rosen (2025), Dark Sky Simulator (v1)  ·  Garstang (1986), Model for artificial night-sky illumination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SIMULATOR</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v2 at a glance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8</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1" i="0">
                <a:solidFill>
                  <a:srgbClr val="F6B44B"/>
                </a:solidFill>
                <a:latin typeface="Aptos"/>
              </a:rPr>
              <a:t>8 counties</a:t>
            </a:r>
            <a:r>
              <a:rPr sz="1900" b="0" i="0">
                <a:solidFill>
                  <a:srgbClr val="D9D2BD"/>
                </a:solidFill>
                <a:latin typeface="Aptos"/>
              </a:rPr>
              <a:t>: Alachua, Levy and six neighbors, ~0.4 km cells</a:t>
            </a:r>
          </a:p>
          <a:p>
            <a:pPr marL="256032" indent="-256032">
              <a:lnSpc>
                <a:spcPct val="100000"/>
              </a:lnSpc>
              <a:spcBef>
                <a:spcPts val="1200"/>
              </a:spcBef>
              <a:spcAft>
                <a:spcPts val="0"/>
              </a:spcAft>
              <a:buClr>
                <a:srgbClr val="F6B44B"/>
              </a:buClr>
              <a:buSzPct val="100000"/>
              <a:buFont typeface="Arial"/>
              <a:buChar char="•"/>
            </a:pPr>
            <a:r>
              <a:rPr sz="1900" b="1" i="0">
                <a:solidFill>
                  <a:srgbClr val="F6B44B"/>
                </a:solidFill>
                <a:latin typeface="Aptos"/>
              </a:rPr>
              <a:t>~817,000</a:t>
            </a:r>
            <a:r>
              <a:rPr sz="1900" b="0" i="0">
                <a:solidFill>
                  <a:srgbClr val="D9D2BD"/>
                </a:solidFill>
                <a:latin typeface="Aptos"/>
              </a:rPr>
              <a:t> modeled light sources: streetlights, homes and businesses, sports fields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Map: modeled zenith sky brightness (mag/arcsec²); yellow = urban, black = near natural</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Seven tabs: Scenario · Sites · Costs · Observatory · Stargaze · </a:t>
            </a:r>
            <a:r>
              <a:rPr sz="1900" b="1" i="0">
                <a:solidFill>
                  <a:srgbClr val="F6B44B"/>
                </a:solidFill>
                <a:latin typeface="Aptos"/>
              </a:rPr>
              <a:t>AI</a:t>
            </a:r>
            <a:r>
              <a:rPr sz="1900" b="0" i="0">
                <a:solidFill>
                  <a:srgbClr val="D9D2BD"/>
                </a:solidFill>
                <a:latin typeface="Aptos"/>
              </a:rPr>
              <a:t> · Brief</a:t>
            </a:r>
          </a:p>
        </p:txBody>
      </p:sp>
      <p:pic>
        <p:nvPicPr>
          <p:cNvPr id="6" name="08_overview.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with today's modeled sky. Amber badge on every screen: “Uncalibrated planning projection”.</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  ·  U.S. Census Bureau (2020), TIGER/Line roads and 2020 Census housing counts  ·  OpenStreetMap contributors (2026), road, street-lamp and sports-venue data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HOW IT'S BUILT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technology stack</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9</a:t>
            </a:r>
          </a:p>
        </p:txBody>
      </p:sp>
      <p:sp>
        <p:nvSpPr>
          <p:cNvPr id="5" name="TextBox 4"/>
          <p:cNvSpPr txBox="1"/>
          <p:nvPr/>
        </p:nvSpPr>
        <p:spPr>
          <a:xfrm>
            <a:off x="548640" y="1408176"/>
            <a:ext cx="1417320" cy="6400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500" b="1" i="0">
                <a:solidFill>
                  <a:srgbClr val="F6B44B"/>
                </a:solidFill>
                <a:latin typeface="Aptos"/>
              </a:rPr>
              <a:t>Data</a:t>
            </a:r>
          </a:p>
        </p:txBody>
      </p:sp>
      <p:sp>
        <p:nvSpPr>
          <p:cNvPr id="6" name="Rectangle 5"/>
          <p:cNvSpPr/>
          <p:nvPr/>
        </p:nvSpPr>
        <p:spPr>
          <a:xfrm>
            <a:off x="20574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nasa.png"/>
          <p:cNvPicPr>
            <a:picLocks noChangeAspect="1"/>
          </p:cNvPicPr>
          <p:nvPr/>
        </p:nvPicPr>
        <p:blipFill>
          <a:blip r:embed="rId3"/>
          <a:stretch>
            <a:fillRect/>
          </a:stretch>
        </p:blipFill>
        <p:spPr>
          <a:xfrm>
            <a:off x="2405541" y="1453896"/>
            <a:ext cx="602165" cy="493776"/>
          </a:xfrm>
          <a:prstGeom prst="rect">
            <a:avLst/>
          </a:prstGeom>
        </p:spPr>
      </p:pic>
      <p:sp>
        <p:nvSpPr>
          <p:cNvPr id="8" name="TextBox 7"/>
          <p:cNvSpPr txBox="1"/>
          <p:nvPr/>
        </p:nvSpPr>
        <p:spPr>
          <a:xfrm>
            <a:off x="20299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NASA</a:t>
            </a:r>
          </a:p>
          <a:p>
            <a:pPr marL="0" indent="0" algn="ctr">
              <a:lnSpc>
                <a:spcPct val="100000"/>
              </a:lnSpc>
              <a:spcBef>
                <a:spcPts val="0"/>
              </a:spcBef>
              <a:spcAft>
                <a:spcPts val="0"/>
              </a:spcAft>
              <a:buNone/>
            </a:pPr>
            <a:r>
              <a:rPr sz="1050" b="0" i="0">
                <a:solidFill>
                  <a:srgbClr val="D9D2BD"/>
                </a:solidFill>
                <a:latin typeface="Aptos"/>
              </a:rPr>
              <a:t>Black Marble</a:t>
            </a:r>
          </a:p>
        </p:txBody>
      </p:sp>
      <p:sp>
        <p:nvSpPr>
          <p:cNvPr id="9" name="Rectangle 8"/>
          <p:cNvSpPr/>
          <p:nvPr/>
        </p:nvSpPr>
        <p:spPr>
          <a:xfrm>
            <a:off x="34290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0" name="Picture 9" descr="noaa.png"/>
          <p:cNvPicPr>
            <a:picLocks noChangeAspect="1"/>
          </p:cNvPicPr>
          <p:nvPr/>
        </p:nvPicPr>
        <p:blipFill>
          <a:blip r:embed="rId4"/>
          <a:stretch>
            <a:fillRect/>
          </a:stretch>
        </p:blipFill>
        <p:spPr>
          <a:xfrm>
            <a:off x="3831336" y="1453896"/>
            <a:ext cx="493776" cy="493776"/>
          </a:xfrm>
          <a:prstGeom prst="rect">
            <a:avLst/>
          </a:prstGeom>
        </p:spPr>
      </p:pic>
      <p:sp>
        <p:nvSpPr>
          <p:cNvPr id="11" name="TextBox 10"/>
          <p:cNvSpPr txBox="1"/>
          <p:nvPr/>
        </p:nvSpPr>
        <p:spPr>
          <a:xfrm>
            <a:off x="34015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NOAA</a:t>
            </a:r>
          </a:p>
          <a:p>
            <a:pPr marL="0" indent="0" algn="ctr">
              <a:lnSpc>
                <a:spcPct val="100000"/>
              </a:lnSpc>
              <a:spcBef>
                <a:spcPts val="0"/>
              </a:spcBef>
              <a:spcAft>
                <a:spcPts val="0"/>
              </a:spcAft>
              <a:buNone/>
            </a:pPr>
            <a:r>
              <a:rPr sz="1050" b="0" i="0">
                <a:solidFill>
                  <a:srgbClr val="D9D2BD"/>
                </a:solidFill>
                <a:latin typeface="Aptos"/>
              </a:rPr>
              <a:t>VIIRS night lights</a:t>
            </a:r>
          </a:p>
        </p:txBody>
      </p:sp>
      <p:sp>
        <p:nvSpPr>
          <p:cNvPr id="12" name="Rectangle 11"/>
          <p:cNvSpPr/>
          <p:nvPr/>
        </p:nvSpPr>
        <p:spPr>
          <a:xfrm>
            <a:off x="48006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3" name="Picture 12" descr="usgs.png"/>
          <p:cNvPicPr>
            <a:picLocks noChangeAspect="1"/>
          </p:cNvPicPr>
          <p:nvPr/>
        </p:nvPicPr>
        <p:blipFill>
          <a:blip r:embed="rId5"/>
          <a:stretch>
            <a:fillRect/>
          </a:stretch>
        </p:blipFill>
        <p:spPr>
          <a:xfrm>
            <a:off x="4910328" y="1500496"/>
            <a:ext cx="1078992" cy="400575"/>
          </a:xfrm>
          <a:prstGeom prst="rect">
            <a:avLst/>
          </a:prstGeom>
        </p:spPr>
      </p:pic>
      <p:sp>
        <p:nvSpPr>
          <p:cNvPr id="14" name="TextBox 13"/>
          <p:cNvSpPr txBox="1"/>
          <p:nvPr/>
        </p:nvSpPr>
        <p:spPr>
          <a:xfrm>
            <a:off x="47731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USGS</a:t>
            </a:r>
          </a:p>
          <a:p>
            <a:pPr marL="0" indent="0" algn="ctr">
              <a:lnSpc>
                <a:spcPct val="100000"/>
              </a:lnSpc>
              <a:spcBef>
                <a:spcPts val="0"/>
              </a:spcBef>
              <a:spcAft>
                <a:spcPts val="0"/>
              </a:spcAft>
              <a:buNone/>
            </a:pPr>
            <a:r>
              <a:rPr sz="1050" b="0" i="0">
                <a:solidFill>
                  <a:srgbClr val="D9D2BD"/>
                </a:solidFill>
                <a:latin typeface="Aptos"/>
              </a:rPr>
              <a:t>elevation, land cover</a:t>
            </a:r>
          </a:p>
        </p:txBody>
      </p:sp>
      <p:sp>
        <p:nvSpPr>
          <p:cNvPr id="15" name="Rectangle 14"/>
          <p:cNvSpPr/>
          <p:nvPr/>
        </p:nvSpPr>
        <p:spPr>
          <a:xfrm>
            <a:off x="61722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6" name="Picture 15" descr="census.png"/>
          <p:cNvPicPr>
            <a:picLocks noChangeAspect="1"/>
          </p:cNvPicPr>
          <p:nvPr/>
        </p:nvPicPr>
        <p:blipFill>
          <a:blip r:embed="rId6"/>
          <a:stretch>
            <a:fillRect/>
          </a:stretch>
        </p:blipFill>
        <p:spPr>
          <a:xfrm>
            <a:off x="6281928" y="1489031"/>
            <a:ext cx="1078992" cy="423504"/>
          </a:xfrm>
          <a:prstGeom prst="rect">
            <a:avLst/>
          </a:prstGeom>
        </p:spPr>
      </p:pic>
      <p:sp>
        <p:nvSpPr>
          <p:cNvPr id="17" name="TextBox 16"/>
          <p:cNvSpPr txBox="1"/>
          <p:nvPr/>
        </p:nvSpPr>
        <p:spPr>
          <a:xfrm>
            <a:off x="61447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U.S. Census</a:t>
            </a:r>
          </a:p>
          <a:p>
            <a:pPr marL="0" indent="0" algn="ctr">
              <a:lnSpc>
                <a:spcPct val="100000"/>
              </a:lnSpc>
              <a:spcBef>
                <a:spcPts val="0"/>
              </a:spcBef>
              <a:spcAft>
                <a:spcPts val="0"/>
              </a:spcAft>
              <a:buNone/>
            </a:pPr>
            <a:r>
              <a:rPr sz="1050" b="0" i="0">
                <a:solidFill>
                  <a:srgbClr val="D9D2BD"/>
                </a:solidFill>
                <a:latin typeface="Aptos"/>
              </a:rPr>
              <a:t>housing, roads</a:t>
            </a:r>
          </a:p>
        </p:txBody>
      </p:sp>
      <p:sp>
        <p:nvSpPr>
          <p:cNvPr id="18" name="Rectangle 17"/>
          <p:cNvSpPr/>
          <p:nvPr/>
        </p:nvSpPr>
        <p:spPr>
          <a:xfrm>
            <a:off x="75438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19" name="Picture 18" descr="fema.png"/>
          <p:cNvPicPr>
            <a:picLocks noChangeAspect="1"/>
          </p:cNvPicPr>
          <p:nvPr/>
        </p:nvPicPr>
        <p:blipFill>
          <a:blip r:embed="rId7"/>
          <a:stretch>
            <a:fillRect/>
          </a:stretch>
        </p:blipFill>
        <p:spPr>
          <a:xfrm>
            <a:off x="7653527" y="1508588"/>
            <a:ext cx="1078992" cy="384390"/>
          </a:xfrm>
          <a:prstGeom prst="rect">
            <a:avLst/>
          </a:prstGeom>
        </p:spPr>
      </p:pic>
      <p:sp>
        <p:nvSpPr>
          <p:cNvPr id="20" name="TextBox 19"/>
          <p:cNvSpPr txBox="1"/>
          <p:nvPr/>
        </p:nvSpPr>
        <p:spPr>
          <a:xfrm>
            <a:off x="75163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FEMA</a:t>
            </a:r>
          </a:p>
          <a:p>
            <a:pPr marL="0" indent="0" algn="ctr">
              <a:lnSpc>
                <a:spcPct val="100000"/>
              </a:lnSpc>
              <a:spcBef>
                <a:spcPts val="0"/>
              </a:spcBef>
              <a:spcAft>
                <a:spcPts val="0"/>
              </a:spcAft>
              <a:buNone/>
            </a:pPr>
            <a:r>
              <a:rPr sz="1050" b="0" i="0">
                <a:solidFill>
                  <a:srgbClr val="D9D2BD"/>
                </a:solidFill>
                <a:latin typeface="Aptos"/>
              </a:rPr>
              <a:t>flood zones</a:t>
            </a:r>
          </a:p>
        </p:txBody>
      </p:sp>
      <p:sp>
        <p:nvSpPr>
          <p:cNvPr id="21" name="Rectangle 20"/>
          <p:cNvSpPr/>
          <p:nvPr/>
        </p:nvSpPr>
        <p:spPr>
          <a:xfrm>
            <a:off x="89154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2" name="Picture 21" descr="osm.png"/>
          <p:cNvPicPr>
            <a:picLocks noChangeAspect="1"/>
          </p:cNvPicPr>
          <p:nvPr/>
        </p:nvPicPr>
        <p:blipFill>
          <a:blip r:embed="rId8"/>
          <a:stretch>
            <a:fillRect/>
          </a:stretch>
        </p:blipFill>
        <p:spPr>
          <a:xfrm>
            <a:off x="9323290" y="1453896"/>
            <a:ext cx="482666" cy="493776"/>
          </a:xfrm>
          <a:prstGeom prst="rect">
            <a:avLst/>
          </a:prstGeom>
        </p:spPr>
      </p:pic>
      <p:sp>
        <p:nvSpPr>
          <p:cNvPr id="23" name="TextBox 22"/>
          <p:cNvSpPr txBox="1"/>
          <p:nvPr/>
        </p:nvSpPr>
        <p:spPr>
          <a:xfrm>
            <a:off x="88879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OpenStreetMap</a:t>
            </a:r>
          </a:p>
          <a:p>
            <a:pPr marL="0" indent="0" algn="ctr">
              <a:lnSpc>
                <a:spcPct val="100000"/>
              </a:lnSpc>
              <a:spcBef>
                <a:spcPts val="0"/>
              </a:spcBef>
              <a:spcAft>
                <a:spcPts val="0"/>
              </a:spcAft>
              <a:buNone/>
            </a:pPr>
            <a:r>
              <a:rPr sz="1050" b="0" i="0">
                <a:solidFill>
                  <a:srgbClr val="D9D2BD"/>
                </a:solidFill>
                <a:latin typeface="Aptos"/>
              </a:rPr>
              <a:t>roads, lit streets</a:t>
            </a:r>
          </a:p>
        </p:txBody>
      </p:sp>
      <p:sp>
        <p:nvSpPr>
          <p:cNvPr id="24" name="Rectangle 23"/>
          <p:cNvSpPr/>
          <p:nvPr/>
        </p:nvSpPr>
        <p:spPr>
          <a:xfrm>
            <a:off x="10287000" y="1371600"/>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5" name="Picture 24" descr="alachua_emblem.png"/>
          <p:cNvPicPr>
            <a:picLocks noChangeAspect="1"/>
          </p:cNvPicPr>
          <p:nvPr/>
        </p:nvPicPr>
        <p:blipFill>
          <a:blip r:embed="rId9"/>
          <a:stretch>
            <a:fillRect/>
          </a:stretch>
        </p:blipFill>
        <p:spPr>
          <a:xfrm>
            <a:off x="10684887" y="1453896"/>
            <a:ext cx="502672" cy="493776"/>
          </a:xfrm>
          <a:prstGeom prst="rect">
            <a:avLst/>
          </a:prstGeom>
        </p:spPr>
      </p:pic>
      <p:sp>
        <p:nvSpPr>
          <p:cNvPr id="26" name="TextBox 25"/>
          <p:cNvSpPr txBox="1"/>
          <p:nvPr/>
        </p:nvSpPr>
        <p:spPr>
          <a:xfrm>
            <a:off x="10259568" y="2075687"/>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Alachua County</a:t>
            </a:r>
          </a:p>
          <a:p>
            <a:pPr marL="0" indent="0" algn="ctr">
              <a:lnSpc>
                <a:spcPct val="100000"/>
              </a:lnSpc>
              <a:spcBef>
                <a:spcPts val="0"/>
              </a:spcBef>
              <a:spcAft>
                <a:spcPts val="0"/>
              </a:spcAft>
              <a:buNone/>
            </a:pPr>
            <a:r>
              <a:rPr sz="1050" b="0" i="0">
                <a:solidFill>
                  <a:srgbClr val="D9D2BD"/>
                </a:solidFill>
                <a:latin typeface="Aptos"/>
              </a:rPr>
              <a:t>GIS, Policy 5.3.7</a:t>
            </a:r>
          </a:p>
        </p:txBody>
      </p:sp>
      <p:sp>
        <p:nvSpPr>
          <p:cNvPr id="27" name="TextBox 26"/>
          <p:cNvSpPr txBox="1"/>
          <p:nvPr/>
        </p:nvSpPr>
        <p:spPr>
          <a:xfrm>
            <a:off x="548640" y="2651760"/>
            <a:ext cx="1417320" cy="6400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500" b="1" i="0">
                <a:solidFill>
                  <a:srgbClr val="F6B44B"/>
                </a:solidFill>
                <a:latin typeface="Aptos"/>
              </a:rPr>
              <a:t>Compute and ML</a:t>
            </a:r>
          </a:p>
        </p:txBody>
      </p:sp>
      <p:sp>
        <p:nvSpPr>
          <p:cNvPr id="28" name="Rectangle 27"/>
          <p:cNvSpPr/>
          <p:nvPr/>
        </p:nvSpPr>
        <p:spPr>
          <a:xfrm>
            <a:off x="2057400" y="2615184"/>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9" name="Picture 28" descr="gee.png"/>
          <p:cNvPicPr>
            <a:picLocks noChangeAspect="1"/>
          </p:cNvPicPr>
          <p:nvPr/>
        </p:nvPicPr>
        <p:blipFill>
          <a:blip r:embed="rId10"/>
          <a:stretch>
            <a:fillRect/>
          </a:stretch>
        </p:blipFill>
        <p:spPr>
          <a:xfrm>
            <a:off x="2446813" y="2697480"/>
            <a:ext cx="519621" cy="493776"/>
          </a:xfrm>
          <a:prstGeom prst="rect">
            <a:avLst/>
          </a:prstGeom>
        </p:spPr>
      </p:pic>
      <p:sp>
        <p:nvSpPr>
          <p:cNvPr id="30" name="TextBox 29"/>
          <p:cNvSpPr txBox="1"/>
          <p:nvPr/>
        </p:nvSpPr>
        <p:spPr>
          <a:xfrm>
            <a:off x="2029968" y="3319272"/>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Google Earth Engine</a:t>
            </a:r>
          </a:p>
          <a:p>
            <a:pPr marL="0" indent="0" algn="ctr">
              <a:lnSpc>
                <a:spcPct val="100000"/>
              </a:lnSpc>
              <a:spcBef>
                <a:spcPts val="0"/>
              </a:spcBef>
              <a:spcAft>
                <a:spcPts val="0"/>
              </a:spcAft>
              <a:buNone/>
            </a:pPr>
            <a:r>
              <a:rPr sz="1050" b="0" i="0">
                <a:solidFill>
                  <a:srgbClr val="D9D2BD"/>
                </a:solidFill>
                <a:latin typeface="Aptos"/>
              </a:rPr>
              <a:t>satellite processing</a:t>
            </a:r>
          </a:p>
        </p:txBody>
      </p:sp>
      <p:sp>
        <p:nvSpPr>
          <p:cNvPr id="31" name="Rectangle 30"/>
          <p:cNvSpPr/>
          <p:nvPr/>
        </p:nvSpPr>
        <p:spPr>
          <a:xfrm>
            <a:off x="3429000" y="2615184"/>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2" name="Picture 31" descr="googlecloud.png"/>
          <p:cNvPicPr>
            <a:picLocks noChangeAspect="1"/>
          </p:cNvPicPr>
          <p:nvPr/>
        </p:nvPicPr>
        <p:blipFill>
          <a:blip r:embed="rId11"/>
          <a:stretch>
            <a:fillRect/>
          </a:stretch>
        </p:blipFill>
        <p:spPr>
          <a:xfrm>
            <a:off x="3538728" y="2859397"/>
            <a:ext cx="1078992" cy="169941"/>
          </a:xfrm>
          <a:prstGeom prst="rect">
            <a:avLst/>
          </a:prstGeom>
        </p:spPr>
      </p:pic>
      <p:sp>
        <p:nvSpPr>
          <p:cNvPr id="33" name="TextBox 32"/>
          <p:cNvSpPr txBox="1"/>
          <p:nvPr/>
        </p:nvSpPr>
        <p:spPr>
          <a:xfrm>
            <a:off x="3401568" y="3319272"/>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Google Cloud</a:t>
            </a:r>
          </a:p>
          <a:p>
            <a:pPr marL="0" indent="0" algn="ctr">
              <a:lnSpc>
                <a:spcPct val="100000"/>
              </a:lnSpc>
              <a:spcBef>
                <a:spcPts val="0"/>
              </a:spcBef>
              <a:spcAft>
                <a:spcPts val="0"/>
              </a:spcAft>
              <a:buNone/>
            </a:pPr>
            <a:r>
              <a:rPr sz="1050" b="0" i="0">
                <a:solidFill>
                  <a:srgbClr val="D9D2BD"/>
                </a:solidFill>
                <a:latin typeface="Aptos"/>
              </a:rPr>
              <a:t>compute and scaling</a:t>
            </a:r>
          </a:p>
        </p:txBody>
      </p:sp>
      <p:sp>
        <p:nvSpPr>
          <p:cNvPr id="34" name="Rectangle 33"/>
          <p:cNvSpPr/>
          <p:nvPr/>
        </p:nvSpPr>
        <p:spPr>
          <a:xfrm>
            <a:off x="4800600" y="2615184"/>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5" name="Picture 34" descr="python.png"/>
          <p:cNvPicPr>
            <a:picLocks noChangeAspect="1"/>
          </p:cNvPicPr>
          <p:nvPr/>
        </p:nvPicPr>
        <p:blipFill>
          <a:blip r:embed="rId12"/>
          <a:stretch>
            <a:fillRect/>
          </a:stretch>
        </p:blipFill>
        <p:spPr>
          <a:xfrm>
            <a:off x="5202936" y="2697480"/>
            <a:ext cx="493776" cy="493776"/>
          </a:xfrm>
          <a:prstGeom prst="rect">
            <a:avLst/>
          </a:prstGeom>
        </p:spPr>
      </p:pic>
      <p:sp>
        <p:nvSpPr>
          <p:cNvPr id="36" name="TextBox 35"/>
          <p:cNvSpPr txBox="1"/>
          <p:nvPr/>
        </p:nvSpPr>
        <p:spPr>
          <a:xfrm>
            <a:off x="4773168" y="3319272"/>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Python</a:t>
            </a:r>
          </a:p>
          <a:p>
            <a:pPr marL="0" indent="0" algn="ctr">
              <a:lnSpc>
                <a:spcPct val="100000"/>
              </a:lnSpc>
              <a:spcBef>
                <a:spcPts val="0"/>
              </a:spcBef>
              <a:spcAft>
                <a:spcPts val="0"/>
              </a:spcAft>
              <a:buNone/>
            </a:pPr>
            <a:r>
              <a:rPr sz="1050" b="0" i="0">
                <a:solidFill>
                  <a:srgbClr val="D9D2BD"/>
                </a:solidFill>
                <a:latin typeface="Aptos"/>
              </a:rPr>
              <a:t>physics pipeline</a:t>
            </a:r>
          </a:p>
        </p:txBody>
      </p:sp>
      <p:sp>
        <p:nvSpPr>
          <p:cNvPr id="37" name="Rectangle 36"/>
          <p:cNvSpPr/>
          <p:nvPr/>
        </p:nvSpPr>
        <p:spPr>
          <a:xfrm>
            <a:off x="6172200" y="2615184"/>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38" name="Picture 37" descr="lightgbm.png"/>
          <p:cNvPicPr>
            <a:picLocks noChangeAspect="1"/>
          </p:cNvPicPr>
          <p:nvPr/>
        </p:nvPicPr>
        <p:blipFill>
          <a:blip r:embed="rId13"/>
          <a:stretch>
            <a:fillRect/>
          </a:stretch>
        </p:blipFill>
        <p:spPr>
          <a:xfrm>
            <a:off x="6281928" y="2822307"/>
            <a:ext cx="1078992" cy="244121"/>
          </a:xfrm>
          <a:prstGeom prst="rect">
            <a:avLst/>
          </a:prstGeom>
        </p:spPr>
      </p:pic>
      <p:sp>
        <p:nvSpPr>
          <p:cNvPr id="39" name="TextBox 38"/>
          <p:cNvSpPr txBox="1"/>
          <p:nvPr/>
        </p:nvSpPr>
        <p:spPr>
          <a:xfrm>
            <a:off x="6144768" y="3319272"/>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LightGBM</a:t>
            </a:r>
          </a:p>
          <a:p>
            <a:pPr marL="0" indent="0" algn="ctr">
              <a:lnSpc>
                <a:spcPct val="100000"/>
              </a:lnSpc>
              <a:spcBef>
                <a:spcPts val="0"/>
              </a:spcBef>
              <a:spcAft>
                <a:spcPts val="0"/>
              </a:spcAft>
              <a:buNone/>
            </a:pPr>
            <a:r>
              <a:rPr sz="1050" b="0" i="0">
                <a:solidFill>
                  <a:srgbClr val="D9D2BD"/>
                </a:solidFill>
                <a:latin typeface="Aptos"/>
              </a:rPr>
              <a:t>growth forecast</a:t>
            </a:r>
          </a:p>
        </p:txBody>
      </p:sp>
      <p:sp>
        <p:nvSpPr>
          <p:cNvPr id="40" name="TextBox 39"/>
          <p:cNvSpPr txBox="1"/>
          <p:nvPr/>
        </p:nvSpPr>
        <p:spPr>
          <a:xfrm>
            <a:off x="548640" y="3895344"/>
            <a:ext cx="1417320" cy="6400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500" b="1" i="0">
                <a:solidFill>
                  <a:srgbClr val="F6B44B"/>
                </a:solidFill>
                <a:latin typeface="Aptos"/>
              </a:rPr>
              <a:t>AI research and coding</a:t>
            </a:r>
          </a:p>
        </p:txBody>
      </p:sp>
      <p:sp>
        <p:nvSpPr>
          <p:cNvPr id="41" name="Rectangle 40"/>
          <p:cNvSpPr/>
          <p:nvPr/>
        </p:nvSpPr>
        <p:spPr>
          <a:xfrm>
            <a:off x="2057400" y="3858768"/>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2" name="Picture 41" descr="gemini.png"/>
          <p:cNvPicPr>
            <a:picLocks noChangeAspect="1"/>
          </p:cNvPicPr>
          <p:nvPr/>
        </p:nvPicPr>
        <p:blipFill>
          <a:blip r:embed="rId14"/>
          <a:stretch>
            <a:fillRect/>
          </a:stretch>
        </p:blipFill>
        <p:spPr>
          <a:xfrm>
            <a:off x="2167128" y="4065891"/>
            <a:ext cx="1078992" cy="244121"/>
          </a:xfrm>
          <a:prstGeom prst="rect">
            <a:avLst/>
          </a:prstGeom>
        </p:spPr>
      </p:pic>
      <p:sp>
        <p:nvSpPr>
          <p:cNvPr id="43" name="TextBox 42"/>
          <p:cNvSpPr txBox="1"/>
          <p:nvPr/>
        </p:nvSpPr>
        <p:spPr>
          <a:xfrm>
            <a:off x="2029968" y="4562856"/>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Gemini</a:t>
            </a:r>
          </a:p>
          <a:p>
            <a:pPr marL="0" indent="0" algn="ctr">
              <a:lnSpc>
                <a:spcPct val="100000"/>
              </a:lnSpc>
              <a:spcBef>
                <a:spcPts val="0"/>
              </a:spcBef>
              <a:spcAft>
                <a:spcPts val="0"/>
              </a:spcAft>
              <a:buNone/>
            </a:pPr>
            <a:r>
              <a:rPr sz="1050" b="0" i="0">
                <a:solidFill>
                  <a:srgbClr val="D9D2BD"/>
                </a:solidFill>
                <a:latin typeface="Aptos"/>
              </a:rPr>
              <a:t>Deep Research</a:t>
            </a:r>
          </a:p>
        </p:txBody>
      </p:sp>
      <p:sp>
        <p:nvSpPr>
          <p:cNvPr id="44" name="Rectangle 43"/>
          <p:cNvSpPr/>
          <p:nvPr/>
        </p:nvSpPr>
        <p:spPr>
          <a:xfrm>
            <a:off x="3429000" y="3858768"/>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5" name="Picture 44" descr="gemininotebook.png"/>
          <p:cNvPicPr>
            <a:picLocks noChangeAspect="1"/>
          </p:cNvPicPr>
          <p:nvPr/>
        </p:nvPicPr>
        <p:blipFill>
          <a:blip r:embed="rId15"/>
          <a:stretch>
            <a:fillRect/>
          </a:stretch>
        </p:blipFill>
        <p:spPr>
          <a:xfrm>
            <a:off x="3733213" y="3941064"/>
            <a:ext cx="690020" cy="493776"/>
          </a:xfrm>
          <a:prstGeom prst="rect">
            <a:avLst/>
          </a:prstGeom>
        </p:spPr>
      </p:pic>
      <p:sp>
        <p:nvSpPr>
          <p:cNvPr id="46" name="TextBox 45"/>
          <p:cNvSpPr txBox="1"/>
          <p:nvPr/>
        </p:nvSpPr>
        <p:spPr>
          <a:xfrm>
            <a:off x="3401568" y="4562856"/>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Gemini Notebook</a:t>
            </a:r>
          </a:p>
          <a:p>
            <a:pPr marL="0" indent="0" algn="ctr">
              <a:lnSpc>
                <a:spcPct val="100000"/>
              </a:lnSpc>
              <a:spcBef>
                <a:spcPts val="0"/>
              </a:spcBef>
              <a:spcAft>
                <a:spcPts val="0"/>
              </a:spcAft>
              <a:buNone/>
            </a:pPr>
            <a:r>
              <a:rPr sz="1050" b="0" i="0">
                <a:solidFill>
                  <a:srgbClr val="D9D2BD"/>
                </a:solidFill>
                <a:latin typeface="Aptos"/>
              </a:rPr>
              <a:t>organizing research</a:t>
            </a:r>
          </a:p>
        </p:txBody>
      </p:sp>
      <p:sp>
        <p:nvSpPr>
          <p:cNvPr id="47" name="Rectangle 46"/>
          <p:cNvSpPr/>
          <p:nvPr/>
        </p:nvSpPr>
        <p:spPr>
          <a:xfrm>
            <a:off x="4800600" y="3858768"/>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48" name="Picture 47" descr="lovable.png"/>
          <p:cNvPicPr>
            <a:picLocks noChangeAspect="1"/>
          </p:cNvPicPr>
          <p:nvPr/>
        </p:nvPicPr>
        <p:blipFill>
          <a:blip r:embed="rId16"/>
          <a:stretch>
            <a:fillRect/>
          </a:stretch>
        </p:blipFill>
        <p:spPr>
          <a:xfrm>
            <a:off x="4910328" y="4095802"/>
            <a:ext cx="1078992" cy="184299"/>
          </a:xfrm>
          <a:prstGeom prst="rect">
            <a:avLst/>
          </a:prstGeom>
        </p:spPr>
      </p:pic>
      <p:sp>
        <p:nvSpPr>
          <p:cNvPr id="49" name="TextBox 48"/>
          <p:cNvSpPr txBox="1"/>
          <p:nvPr/>
        </p:nvSpPr>
        <p:spPr>
          <a:xfrm>
            <a:off x="4773168" y="4562856"/>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Lovable (v1)</a:t>
            </a:r>
          </a:p>
          <a:p>
            <a:pPr marL="0" indent="0" algn="ctr">
              <a:lnSpc>
                <a:spcPct val="100000"/>
              </a:lnSpc>
              <a:spcBef>
                <a:spcPts val="0"/>
              </a:spcBef>
              <a:spcAft>
                <a:spcPts val="0"/>
              </a:spcAft>
              <a:buNone/>
            </a:pPr>
            <a:r>
              <a:rPr sz="1050" b="0" i="0">
                <a:solidFill>
                  <a:srgbClr val="D9D2BD"/>
                </a:solidFill>
                <a:latin typeface="Aptos"/>
              </a:rPr>
              <a:t>AI app builder</a:t>
            </a:r>
          </a:p>
        </p:txBody>
      </p:sp>
      <p:sp>
        <p:nvSpPr>
          <p:cNvPr id="50" name="Rectangle 49"/>
          <p:cNvSpPr/>
          <p:nvPr/>
        </p:nvSpPr>
        <p:spPr>
          <a:xfrm>
            <a:off x="6172200" y="3858768"/>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1" name="Picture 50" descr="claude.png"/>
          <p:cNvPicPr>
            <a:picLocks noChangeAspect="1"/>
          </p:cNvPicPr>
          <p:nvPr/>
        </p:nvPicPr>
        <p:blipFill>
          <a:blip r:embed="rId17"/>
          <a:stretch>
            <a:fillRect/>
          </a:stretch>
        </p:blipFill>
        <p:spPr>
          <a:xfrm>
            <a:off x="6281928" y="4071285"/>
            <a:ext cx="1078992" cy="233332"/>
          </a:xfrm>
          <a:prstGeom prst="rect">
            <a:avLst/>
          </a:prstGeom>
        </p:spPr>
      </p:pic>
      <p:sp>
        <p:nvSpPr>
          <p:cNvPr id="52" name="TextBox 51"/>
          <p:cNvSpPr txBox="1"/>
          <p:nvPr/>
        </p:nvSpPr>
        <p:spPr>
          <a:xfrm>
            <a:off x="6144768" y="4562856"/>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Claude Code (v2)</a:t>
            </a:r>
          </a:p>
          <a:p>
            <a:pPr marL="0" indent="0" algn="ctr">
              <a:lnSpc>
                <a:spcPct val="100000"/>
              </a:lnSpc>
              <a:spcBef>
                <a:spcPts val="0"/>
              </a:spcBef>
              <a:spcAft>
                <a:spcPts val="0"/>
              </a:spcAft>
              <a:buNone/>
            </a:pPr>
            <a:r>
              <a:rPr sz="1050" b="0" i="0">
                <a:solidFill>
                  <a:srgbClr val="D9D2BD"/>
                </a:solidFill>
                <a:latin typeface="Aptos"/>
              </a:rPr>
              <a:t>AI coding</a:t>
            </a:r>
          </a:p>
        </p:txBody>
      </p:sp>
      <p:sp>
        <p:nvSpPr>
          <p:cNvPr id="53" name="TextBox 52"/>
          <p:cNvSpPr txBox="1"/>
          <p:nvPr/>
        </p:nvSpPr>
        <p:spPr>
          <a:xfrm>
            <a:off x="548640" y="5138928"/>
            <a:ext cx="1417320" cy="64008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500" b="1" i="0">
                <a:solidFill>
                  <a:srgbClr val="F6B44B"/>
                </a:solidFill>
                <a:latin typeface="Aptos"/>
              </a:rPr>
              <a:t>App and hosting</a:t>
            </a:r>
          </a:p>
        </p:txBody>
      </p:sp>
      <p:sp>
        <p:nvSpPr>
          <p:cNvPr id="54" name="Rectangle 53"/>
          <p:cNvSpPr/>
          <p:nvPr/>
        </p:nvSpPr>
        <p:spPr>
          <a:xfrm>
            <a:off x="20574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5" name="Picture 54" descr="react.png"/>
          <p:cNvPicPr>
            <a:picLocks noChangeAspect="1"/>
          </p:cNvPicPr>
          <p:nvPr/>
        </p:nvPicPr>
        <p:blipFill>
          <a:blip r:embed="rId18"/>
          <a:stretch>
            <a:fillRect/>
          </a:stretch>
        </p:blipFill>
        <p:spPr>
          <a:xfrm>
            <a:off x="2429610" y="5184648"/>
            <a:ext cx="554026" cy="493776"/>
          </a:xfrm>
          <a:prstGeom prst="rect">
            <a:avLst/>
          </a:prstGeom>
        </p:spPr>
      </p:pic>
      <p:sp>
        <p:nvSpPr>
          <p:cNvPr id="56" name="TextBox 55"/>
          <p:cNvSpPr txBox="1"/>
          <p:nvPr/>
        </p:nvSpPr>
        <p:spPr>
          <a:xfrm>
            <a:off x="20299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React</a:t>
            </a:r>
          </a:p>
          <a:p>
            <a:pPr marL="0" indent="0" algn="ctr">
              <a:lnSpc>
                <a:spcPct val="100000"/>
              </a:lnSpc>
              <a:spcBef>
                <a:spcPts val="0"/>
              </a:spcBef>
              <a:spcAft>
                <a:spcPts val="0"/>
              </a:spcAft>
              <a:buNone/>
            </a:pPr>
            <a:r>
              <a:rPr sz="1050" b="0" i="0">
                <a:solidFill>
                  <a:srgbClr val="D9D2BD"/>
                </a:solidFill>
                <a:latin typeface="Aptos"/>
              </a:rPr>
              <a:t>web app</a:t>
            </a:r>
          </a:p>
        </p:txBody>
      </p:sp>
      <p:sp>
        <p:nvSpPr>
          <p:cNvPr id="57" name="Rectangle 56"/>
          <p:cNvSpPr/>
          <p:nvPr/>
        </p:nvSpPr>
        <p:spPr>
          <a:xfrm>
            <a:off x="34290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58" name="Picture 57" descr="typescript.png"/>
          <p:cNvPicPr>
            <a:picLocks noChangeAspect="1"/>
          </p:cNvPicPr>
          <p:nvPr/>
        </p:nvPicPr>
        <p:blipFill>
          <a:blip r:embed="rId19"/>
          <a:stretch>
            <a:fillRect/>
          </a:stretch>
        </p:blipFill>
        <p:spPr>
          <a:xfrm>
            <a:off x="3831336" y="5184648"/>
            <a:ext cx="493776" cy="493776"/>
          </a:xfrm>
          <a:prstGeom prst="rect">
            <a:avLst/>
          </a:prstGeom>
        </p:spPr>
      </p:pic>
      <p:sp>
        <p:nvSpPr>
          <p:cNvPr id="59" name="TextBox 58"/>
          <p:cNvSpPr txBox="1"/>
          <p:nvPr/>
        </p:nvSpPr>
        <p:spPr>
          <a:xfrm>
            <a:off x="34015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TypeScript</a:t>
            </a:r>
          </a:p>
          <a:p>
            <a:pPr marL="0" indent="0" algn="ctr">
              <a:lnSpc>
                <a:spcPct val="100000"/>
              </a:lnSpc>
              <a:spcBef>
                <a:spcPts val="0"/>
              </a:spcBef>
              <a:spcAft>
                <a:spcPts val="0"/>
              </a:spcAft>
              <a:buNone/>
            </a:pPr>
            <a:r>
              <a:rPr sz="1050" b="0" i="0">
                <a:solidFill>
                  <a:srgbClr val="D9D2BD"/>
                </a:solidFill>
                <a:latin typeface="Aptos"/>
              </a:rPr>
              <a:t>app code</a:t>
            </a:r>
          </a:p>
        </p:txBody>
      </p:sp>
      <p:sp>
        <p:nvSpPr>
          <p:cNvPr id="60" name="Rectangle 59"/>
          <p:cNvSpPr/>
          <p:nvPr/>
        </p:nvSpPr>
        <p:spPr>
          <a:xfrm>
            <a:off x="48006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1" name="Picture 60" descr="maplibre.png"/>
          <p:cNvPicPr>
            <a:picLocks noChangeAspect="1"/>
          </p:cNvPicPr>
          <p:nvPr/>
        </p:nvPicPr>
        <p:blipFill>
          <a:blip r:embed="rId20"/>
          <a:stretch>
            <a:fillRect/>
          </a:stretch>
        </p:blipFill>
        <p:spPr>
          <a:xfrm>
            <a:off x="4910328" y="5304754"/>
            <a:ext cx="1078992" cy="253563"/>
          </a:xfrm>
          <a:prstGeom prst="rect">
            <a:avLst/>
          </a:prstGeom>
        </p:spPr>
      </p:pic>
      <p:sp>
        <p:nvSpPr>
          <p:cNvPr id="62" name="TextBox 61"/>
          <p:cNvSpPr txBox="1"/>
          <p:nvPr/>
        </p:nvSpPr>
        <p:spPr>
          <a:xfrm>
            <a:off x="47731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MapLibre</a:t>
            </a:r>
          </a:p>
          <a:p>
            <a:pPr marL="0" indent="0" algn="ctr">
              <a:lnSpc>
                <a:spcPct val="100000"/>
              </a:lnSpc>
              <a:spcBef>
                <a:spcPts val="0"/>
              </a:spcBef>
              <a:spcAft>
                <a:spcPts val="0"/>
              </a:spcAft>
              <a:buNone/>
            </a:pPr>
            <a:r>
              <a:rPr sz="1050" b="0" i="0">
                <a:solidFill>
                  <a:srgbClr val="D9D2BD"/>
                </a:solidFill>
                <a:latin typeface="Aptos"/>
              </a:rPr>
              <a:t>maps</a:t>
            </a:r>
          </a:p>
        </p:txBody>
      </p:sp>
      <p:sp>
        <p:nvSpPr>
          <p:cNvPr id="63" name="Rectangle 62"/>
          <p:cNvSpPr/>
          <p:nvPr/>
        </p:nvSpPr>
        <p:spPr>
          <a:xfrm>
            <a:off x="61722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4" name="Picture 63" descr="threejs.png"/>
          <p:cNvPicPr>
            <a:picLocks noChangeAspect="1"/>
          </p:cNvPicPr>
          <p:nvPr/>
        </p:nvPicPr>
        <p:blipFill>
          <a:blip r:embed="rId21"/>
          <a:stretch>
            <a:fillRect/>
          </a:stretch>
        </p:blipFill>
        <p:spPr>
          <a:xfrm>
            <a:off x="6576815" y="5184648"/>
            <a:ext cx="489216" cy="493776"/>
          </a:xfrm>
          <a:prstGeom prst="rect">
            <a:avLst/>
          </a:prstGeom>
        </p:spPr>
      </p:pic>
      <p:sp>
        <p:nvSpPr>
          <p:cNvPr id="65" name="TextBox 64"/>
          <p:cNvSpPr txBox="1"/>
          <p:nvPr/>
        </p:nvSpPr>
        <p:spPr>
          <a:xfrm>
            <a:off x="61447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Three.js</a:t>
            </a:r>
          </a:p>
          <a:p>
            <a:pPr marL="0" indent="0" algn="ctr">
              <a:lnSpc>
                <a:spcPct val="100000"/>
              </a:lnSpc>
              <a:spcBef>
                <a:spcPts val="0"/>
              </a:spcBef>
              <a:spcAft>
                <a:spcPts val="0"/>
              </a:spcAft>
              <a:buNone/>
            </a:pPr>
            <a:r>
              <a:rPr sz="1050" b="0" i="0">
                <a:solidFill>
                  <a:srgbClr val="D9D2BD"/>
                </a:solidFill>
                <a:latin typeface="Aptos"/>
              </a:rPr>
              <a:t>3D streets</a:t>
            </a:r>
          </a:p>
        </p:txBody>
      </p:sp>
      <p:sp>
        <p:nvSpPr>
          <p:cNvPr id="66" name="Rectangle 65"/>
          <p:cNvSpPr/>
          <p:nvPr/>
        </p:nvSpPr>
        <p:spPr>
          <a:xfrm>
            <a:off x="75438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7" name="Picture 66" descr="vite.png"/>
          <p:cNvPicPr>
            <a:picLocks noChangeAspect="1"/>
          </p:cNvPicPr>
          <p:nvPr/>
        </p:nvPicPr>
        <p:blipFill>
          <a:blip r:embed="rId22"/>
          <a:stretch>
            <a:fillRect/>
          </a:stretch>
        </p:blipFill>
        <p:spPr>
          <a:xfrm>
            <a:off x="7946444" y="5184648"/>
            <a:ext cx="493158" cy="493776"/>
          </a:xfrm>
          <a:prstGeom prst="rect">
            <a:avLst/>
          </a:prstGeom>
        </p:spPr>
      </p:pic>
      <p:sp>
        <p:nvSpPr>
          <p:cNvPr id="68" name="TextBox 67"/>
          <p:cNvSpPr txBox="1"/>
          <p:nvPr/>
        </p:nvSpPr>
        <p:spPr>
          <a:xfrm>
            <a:off x="75163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Vite</a:t>
            </a:r>
          </a:p>
          <a:p>
            <a:pPr marL="0" indent="0" algn="ctr">
              <a:lnSpc>
                <a:spcPct val="100000"/>
              </a:lnSpc>
              <a:spcBef>
                <a:spcPts val="0"/>
              </a:spcBef>
              <a:spcAft>
                <a:spcPts val="0"/>
              </a:spcAft>
              <a:buNone/>
            </a:pPr>
            <a:r>
              <a:rPr sz="1050" b="0" i="0">
                <a:solidFill>
                  <a:srgbClr val="D9D2BD"/>
                </a:solidFill>
                <a:latin typeface="Aptos"/>
              </a:rPr>
              <a:t>build</a:t>
            </a:r>
          </a:p>
        </p:txBody>
      </p:sp>
      <p:sp>
        <p:nvSpPr>
          <p:cNvPr id="69" name="Rectangle 68"/>
          <p:cNvSpPr/>
          <p:nvPr/>
        </p:nvSpPr>
        <p:spPr>
          <a:xfrm>
            <a:off x="89154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0" name="Picture 69" descr="github.png"/>
          <p:cNvPicPr>
            <a:picLocks noChangeAspect="1"/>
          </p:cNvPicPr>
          <p:nvPr/>
        </p:nvPicPr>
        <p:blipFill>
          <a:blip r:embed="rId23"/>
          <a:stretch>
            <a:fillRect/>
          </a:stretch>
        </p:blipFill>
        <p:spPr>
          <a:xfrm>
            <a:off x="9311080" y="5184648"/>
            <a:ext cx="507087" cy="493776"/>
          </a:xfrm>
          <a:prstGeom prst="rect">
            <a:avLst/>
          </a:prstGeom>
        </p:spPr>
      </p:pic>
      <p:sp>
        <p:nvSpPr>
          <p:cNvPr id="71" name="TextBox 70"/>
          <p:cNvSpPr txBox="1"/>
          <p:nvPr/>
        </p:nvSpPr>
        <p:spPr>
          <a:xfrm>
            <a:off x="88879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GitHub</a:t>
            </a:r>
          </a:p>
          <a:p>
            <a:pPr marL="0" indent="0" algn="ctr">
              <a:lnSpc>
                <a:spcPct val="100000"/>
              </a:lnSpc>
              <a:spcBef>
                <a:spcPts val="0"/>
              </a:spcBef>
              <a:spcAft>
                <a:spcPts val="0"/>
              </a:spcAft>
              <a:buNone/>
            </a:pPr>
            <a:r>
              <a:rPr sz="1050" b="0" i="0">
                <a:solidFill>
                  <a:srgbClr val="D9D2BD"/>
                </a:solidFill>
                <a:latin typeface="Aptos"/>
              </a:rPr>
              <a:t>code and tests</a:t>
            </a:r>
          </a:p>
        </p:txBody>
      </p:sp>
      <p:sp>
        <p:nvSpPr>
          <p:cNvPr id="72" name="Rectangle 71"/>
          <p:cNvSpPr/>
          <p:nvPr/>
        </p:nvSpPr>
        <p:spPr>
          <a:xfrm>
            <a:off x="10287000" y="5102352"/>
            <a:ext cx="1298448" cy="658368"/>
          </a:xfrm>
          <a:prstGeom prst="roundRect">
            <a:avLst>
              <a:gd name="adj" fmla="val 1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3" name="Picture 72" descr="vercel.png"/>
          <p:cNvPicPr>
            <a:picLocks noChangeAspect="1"/>
          </p:cNvPicPr>
          <p:nvPr/>
        </p:nvPicPr>
        <p:blipFill>
          <a:blip r:embed="rId24"/>
          <a:stretch>
            <a:fillRect/>
          </a:stretch>
        </p:blipFill>
        <p:spPr>
          <a:xfrm>
            <a:off x="10396728" y="5308800"/>
            <a:ext cx="1078992" cy="245470"/>
          </a:xfrm>
          <a:prstGeom prst="rect">
            <a:avLst/>
          </a:prstGeom>
        </p:spPr>
      </p:pic>
      <p:sp>
        <p:nvSpPr>
          <p:cNvPr id="74" name="TextBox 73"/>
          <p:cNvSpPr txBox="1"/>
          <p:nvPr/>
        </p:nvSpPr>
        <p:spPr>
          <a:xfrm>
            <a:off x="10259568" y="5806440"/>
            <a:ext cx="1353312"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050" b="1" i="0">
                <a:solidFill>
                  <a:srgbClr val="D9D2BD"/>
                </a:solidFill>
                <a:latin typeface="Aptos"/>
              </a:rPr>
              <a:t>Vercel</a:t>
            </a:r>
          </a:p>
          <a:p>
            <a:pPr marL="0" indent="0" algn="ctr">
              <a:lnSpc>
                <a:spcPct val="100000"/>
              </a:lnSpc>
              <a:spcBef>
                <a:spcPts val="0"/>
              </a:spcBef>
              <a:spcAft>
                <a:spcPts val="0"/>
              </a:spcAft>
              <a:buNone/>
            </a:pPr>
            <a:r>
              <a:rPr sz="1050" b="0" i="0">
                <a:solidFill>
                  <a:srgbClr val="D9D2BD"/>
                </a:solidFill>
                <a:latin typeface="Aptos"/>
              </a:rPr>
              <a:t>hosting</a:t>
            </a:r>
          </a:p>
        </p:txBody>
      </p:sp>
      <p:pic>
        <p:nvPicPr>
          <p:cNvPr id="75" name="Picture 74" descr="ai_days_logo_sticker.png"/>
          <p:cNvPicPr>
            <a:picLocks noChangeAspect="1"/>
          </p:cNvPicPr>
          <p:nvPr/>
        </p:nvPicPr>
        <p:blipFill>
          <a:blip r:embed="rId25"/>
          <a:stretch>
            <a:fillRect/>
          </a:stretch>
        </p:blipFill>
        <p:spPr>
          <a:xfrm>
            <a:off x="10408615" y="201168"/>
            <a:ext cx="1371600" cy="798271"/>
          </a:xfrm>
          <a:prstGeom prst="rect">
            <a:avLst/>
          </a:prstGeom>
        </p:spPr>
      </p:pic>
      <p:sp>
        <p:nvSpPr>
          <p:cNvPr id="76" name="TextBox 75"/>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800" b="0" i="0">
                <a:solidFill>
                  <a:srgbClr val="A79F88"/>
                </a:solidFill>
                <a:latin typeface="Aptos"/>
              </a:rPr>
              <a:t>Sources: Román et al. (2018), NASA's Black Marble nighttime lights product suite  ·  Elvidge et al. (2021), Annual time series of global VIIRS nighttime lights  ·  Dewitz (2023), National Land Cover Database (NLCD) 2021  ·  U.S. Census Bureau (2020), TIGER/Line roads and 2020 Census housing counts  ·  FEMA (2026), National Flood Hazard Layer  ·  OpenStreetMap contributors (2026), road, street-lamp and sports-venue data  ·  Gorelick et al. (2017), Google Earth Engine: Planetary-scale geospatial analysis for everyone  ·  Ke et al. (2017), LightGBM: A highly efficient gradient boosting decision tree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One click: a Groveland-style ordinance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10</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Groveland: Florida's first dark-sky city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Full shielding (U0), </a:t>
            </a:r>
            <a:r>
              <a:rPr sz="1900" b="1" i="0">
                <a:solidFill>
                  <a:srgbClr val="F6B44B"/>
                </a:solidFill>
                <a:latin typeface="Aptos"/>
              </a:rPr>
              <a:t>3000 K</a:t>
            </a:r>
            <a:r>
              <a:rPr sz="1900" b="0" i="0">
                <a:solidFill>
                  <a:srgbClr val="D9D2BD"/>
                </a:solidFill>
                <a:latin typeface="Aptos"/>
              </a:rPr>
              <a:t> cap, dim to 50% from 22:00 to 06:30</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Paynes Prairie: </a:t>
            </a:r>
            <a:r>
              <a:rPr sz="1900" b="1" i="0">
                <a:solidFill>
                  <a:srgbClr val="F6B44B"/>
                </a:solidFill>
                <a:latin typeface="Aptos"/>
              </a:rPr>
              <a:t>20.98 → 21.62</a:t>
            </a:r>
            <a:r>
              <a:rPr sz="1900" b="0" i="0">
                <a:solidFill>
                  <a:srgbClr val="D9D2BD"/>
                </a:solidFill>
                <a:latin typeface="Aptos"/>
              </a:rPr>
              <a:t> mag/arcsec² if every light complies; </a:t>
            </a:r>
            <a:r>
              <a:rPr sz="1900" b="1" i="0">
                <a:solidFill>
                  <a:srgbClr val="F6B44B"/>
                </a:solidFill>
                <a:latin typeface="Aptos"/>
              </a:rPr>
              <a:t>21.30</a:t>
            </a:r>
            <a:r>
              <a:rPr sz="1900" b="0" i="0">
                <a:solidFill>
                  <a:srgbClr val="D9D2BD"/>
                </a:solidFill>
                <a:latin typeface="Aptos"/>
              </a:rPr>
              <a:t> with public lights alone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Blue = darker sky, and it crosses county lines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Public cost: </a:t>
            </a:r>
            <a:r>
              <a:rPr sz="1900" b="1" i="0">
                <a:solidFill>
                  <a:srgbClr val="F6B44B"/>
                </a:solidFill>
                <a:latin typeface="Aptos"/>
              </a:rPr>
              <a:t>$26.6M</a:t>
            </a:r>
            <a:r>
              <a:rPr sz="1900" b="0" i="0">
                <a:solidFill>
                  <a:srgbClr val="D9D2BD"/>
                </a:solidFill>
                <a:latin typeface="Aptos"/>
              </a:rPr>
              <a:t>, $1.43M/yr saved, 18.6-yr payback</a:t>
            </a:r>
          </a:p>
        </p:txBody>
      </p:sp>
      <p:pic>
        <p:nvPicPr>
          <p:cNvPr id="6" name="10_ordinanc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Change layer: where the sky gets darker (blue) under the ordinance; Budget card at top right.</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City of Groveland (2022), Ordinance 2022-26, outdoor lighting regulations  ·  Garstang (1986), Model for artificial night-sky illumination  ·  Bortle (2001), Introducing the Bortle dark-sky scale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  ·  COSTS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each government pays, and saves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11</a:t>
            </a:r>
          </a:p>
        </p:txBody>
      </p:sp>
      <p:sp>
        <p:nvSpPr>
          <p:cNvPr id="5" name="TextBox 4"/>
          <p:cNvSpPr txBox="1"/>
          <p:nvPr/>
        </p:nvSpPr>
        <p:spPr>
          <a:xfrm>
            <a:off x="548640" y="1280160"/>
            <a:ext cx="1106424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600" b="0" i="0">
                <a:solidFill>
                  <a:srgbClr val="D9D2BD"/>
                </a:solidFill>
                <a:latin typeface="Aptos"/>
              </a:rPr>
              <a:t>Right-sized public streetlights: </a:t>
            </a:r>
            <a:r>
              <a:rPr sz="1600" b="1" i="0">
                <a:solidFill>
                  <a:srgbClr val="F6B44B"/>
                </a:solidFill>
                <a:latin typeface="Aptos"/>
              </a:rPr>
              <a:t>fully shielded 3000 K LEDs at 30% lower output</a:t>
            </a:r>
            <a:r>
              <a:rPr sz="1600" b="0" i="0">
                <a:solidFill>
                  <a:srgbClr val="D9D2BD"/>
                </a:solidFill>
                <a:latin typeface="Aptos"/>
              </a:rPr>
              <a:t>, no smart controllers. Savings = energy + avoided maintenance, at each utility's rates.</a:t>
            </a:r>
          </a:p>
        </p:txBody>
      </p:sp>
      <p:sp>
        <p:nvSpPr>
          <p:cNvPr id="6" name="Rectangle 5"/>
          <p:cNvSpPr/>
          <p:nvPr/>
        </p:nvSpPr>
        <p:spPr>
          <a:xfrm>
            <a:off x="548640" y="178308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731520"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Alachua County</a:t>
            </a:r>
          </a:p>
        </p:txBody>
      </p:sp>
      <p:sp>
        <p:nvSpPr>
          <p:cNvPr id="8" name="TextBox 7"/>
          <p:cNvSpPr txBox="1"/>
          <p:nvPr/>
        </p:nvSpPr>
        <p:spPr>
          <a:xfrm>
            <a:off x="731520"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(43,517)</a:t>
            </a:r>
          </a:p>
        </p:txBody>
      </p:sp>
      <p:sp>
        <p:nvSpPr>
          <p:cNvPr id="9" name="TextBox 8"/>
          <p:cNvSpPr txBox="1"/>
          <p:nvPr/>
        </p:nvSpPr>
        <p:spPr>
          <a:xfrm>
            <a:off x="64008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$15.3M</a:t>
            </a:r>
          </a:p>
        </p:txBody>
      </p:sp>
      <p:sp>
        <p:nvSpPr>
          <p:cNvPr id="10" name="TextBox 9"/>
          <p:cNvSpPr txBox="1"/>
          <p:nvPr/>
        </p:nvSpPr>
        <p:spPr>
          <a:xfrm>
            <a:off x="64008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11" name="TextBox 10"/>
          <p:cNvSpPr txBox="1"/>
          <p:nvPr/>
        </p:nvSpPr>
        <p:spPr>
          <a:xfrm>
            <a:off x="196596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$2.55M</a:t>
            </a:r>
          </a:p>
        </p:txBody>
      </p:sp>
      <p:sp>
        <p:nvSpPr>
          <p:cNvPr id="12" name="TextBox 11"/>
          <p:cNvSpPr txBox="1"/>
          <p:nvPr/>
        </p:nvSpPr>
        <p:spPr>
          <a:xfrm>
            <a:off x="196596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13" name="TextBox 12"/>
          <p:cNvSpPr txBox="1"/>
          <p:nvPr/>
        </p:nvSpPr>
        <p:spPr>
          <a:xfrm>
            <a:off x="3291839"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6.0 yr</a:t>
            </a:r>
          </a:p>
        </p:txBody>
      </p:sp>
      <p:sp>
        <p:nvSpPr>
          <p:cNvPr id="14" name="TextBox 13"/>
          <p:cNvSpPr txBox="1"/>
          <p:nvPr/>
        </p:nvSpPr>
        <p:spPr>
          <a:xfrm>
            <a:off x="3291839"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15" name="TextBox 14"/>
          <p:cNvSpPr txBox="1"/>
          <p:nvPr/>
        </p:nvSpPr>
        <p:spPr>
          <a:xfrm>
            <a:off x="4617720"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+$23.0M</a:t>
            </a:r>
          </a:p>
        </p:txBody>
      </p:sp>
      <p:sp>
        <p:nvSpPr>
          <p:cNvPr id="16" name="TextBox 15"/>
          <p:cNvSpPr txBox="1"/>
          <p:nvPr/>
        </p:nvSpPr>
        <p:spPr>
          <a:xfrm>
            <a:off x="4617720"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17" name="Rectangle 16"/>
          <p:cNvSpPr/>
          <p:nvPr/>
        </p:nvSpPr>
        <p:spPr>
          <a:xfrm>
            <a:off x="6199631" y="1783080"/>
            <a:ext cx="5440680" cy="1325880"/>
          </a:xfrm>
          <a:prstGeom prst="roundRect">
            <a:avLst>
              <a:gd name="adj" fmla="val 6000"/>
            </a:avLst>
          </a:prstGeom>
          <a:solidFill>
            <a:srgbClr val="1A2642"/>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382512" y="1874519"/>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University of Florida*</a:t>
            </a:r>
          </a:p>
        </p:txBody>
      </p:sp>
      <p:sp>
        <p:nvSpPr>
          <p:cNvPr id="19" name="TextBox 18"/>
          <p:cNvSpPr txBox="1"/>
          <p:nvPr/>
        </p:nvSpPr>
        <p:spPr>
          <a:xfrm>
            <a:off x="6382512" y="1892807"/>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4,100 campus pole lights</a:t>
            </a:r>
          </a:p>
        </p:txBody>
      </p:sp>
      <p:sp>
        <p:nvSpPr>
          <p:cNvPr id="20" name="TextBox 19"/>
          <p:cNvSpPr txBox="1"/>
          <p:nvPr/>
        </p:nvSpPr>
        <p:spPr>
          <a:xfrm>
            <a:off x="629107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$984K</a:t>
            </a:r>
          </a:p>
        </p:txBody>
      </p:sp>
      <p:sp>
        <p:nvSpPr>
          <p:cNvPr id="21" name="TextBox 20"/>
          <p:cNvSpPr txBox="1"/>
          <p:nvPr/>
        </p:nvSpPr>
        <p:spPr>
          <a:xfrm>
            <a:off x="629107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22" name="TextBox 21"/>
          <p:cNvSpPr txBox="1"/>
          <p:nvPr/>
        </p:nvSpPr>
        <p:spPr>
          <a:xfrm>
            <a:off x="761695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$198K</a:t>
            </a:r>
          </a:p>
        </p:txBody>
      </p:sp>
      <p:sp>
        <p:nvSpPr>
          <p:cNvPr id="23" name="TextBox 22"/>
          <p:cNvSpPr txBox="1"/>
          <p:nvPr/>
        </p:nvSpPr>
        <p:spPr>
          <a:xfrm>
            <a:off x="761695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24" name="TextBox 23"/>
          <p:cNvSpPr txBox="1"/>
          <p:nvPr/>
        </p:nvSpPr>
        <p:spPr>
          <a:xfrm>
            <a:off x="8942832"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25" name="TextBox 24"/>
          <p:cNvSpPr txBox="1"/>
          <p:nvPr/>
        </p:nvSpPr>
        <p:spPr>
          <a:xfrm>
            <a:off x="8942832"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26" name="TextBox 25"/>
          <p:cNvSpPr txBox="1"/>
          <p:nvPr/>
        </p:nvSpPr>
        <p:spPr>
          <a:xfrm>
            <a:off x="10268711" y="225856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+$2.0M</a:t>
            </a:r>
          </a:p>
        </p:txBody>
      </p:sp>
      <p:sp>
        <p:nvSpPr>
          <p:cNvPr id="27" name="TextBox 26"/>
          <p:cNvSpPr txBox="1"/>
          <p:nvPr/>
        </p:nvSpPr>
        <p:spPr>
          <a:xfrm>
            <a:off x="10268711" y="272491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28" name="Rectangle 27"/>
          <p:cNvSpPr/>
          <p:nvPr/>
        </p:nvSpPr>
        <p:spPr>
          <a:xfrm>
            <a:off x="548640"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Box 28"/>
          <p:cNvSpPr txBox="1"/>
          <p:nvPr/>
        </p:nvSpPr>
        <p:spPr>
          <a:xfrm>
            <a:off x="731520"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Gainesville</a:t>
            </a:r>
          </a:p>
        </p:txBody>
      </p:sp>
      <p:sp>
        <p:nvSpPr>
          <p:cNvPr id="30" name="TextBox 29"/>
          <p:cNvSpPr txBox="1"/>
          <p:nvPr/>
        </p:nvSpPr>
        <p:spPr>
          <a:xfrm>
            <a:off x="731520"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GRU streetlights (30,000)</a:t>
            </a:r>
          </a:p>
        </p:txBody>
      </p:sp>
      <p:sp>
        <p:nvSpPr>
          <p:cNvPr id="31" name="TextBox 30"/>
          <p:cNvSpPr txBox="1"/>
          <p:nvPr/>
        </p:nvSpPr>
        <p:spPr>
          <a:xfrm>
            <a:off x="64008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$7.20M</a:t>
            </a:r>
          </a:p>
        </p:txBody>
      </p:sp>
      <p:sp>
        <p:nvSpPr>
          <p:cNvPr id="32" name="TextBox 31"/>
          <p:cNvSpPr txBox="1"/>
          <p:nvPr/>
        </p:nvSpPr>
        <p:spPr>
          <a:xfrm>
            <a:off x="64008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33" name="TextBox 32"/>
          <p:cNvSpPr txBox="1"/>
          <p:nvPr/>
        </p:nvSpPr>
        <p:spPr>
          <a:xfrm>
            <a:off x="196596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$1.45M</a:t>
            </a:r>
          </a:p>
        </p:txBody>
      </p:sp>
      <p:sp>
        <p:nvSpPr>
          <p:cNvPr id="34" name="TextBox 33"/>
          <p:cNvSpPr txBox="1"/>
          <p:nvPr/>
        </p:nvSpPr>
        <p:spPr>
          <a:xfrm>
            <a:off x="196596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35" name="TextBox 34"/>
          <p:cNvSpPr txBox="1"/>
          <p:nvPr/>
        </p:nvSpPr>
        <p:spPr>
          <a:xfrm>
            <a:off x="3291839"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5.0 yr</a:t>
            </a:r>
          </a:p>
        </p:txBody>
      </p:sp>
      <p:sp>
        <p:nvSpPr>
          <p:cNvPr id="36" name="TextBox 35"/>
          <p:cNvSpPr txBox="1"/>
          <p:nvPr/>
        </p:nvSpPr>
        <p:spPr>
          <a:xfrm>
            <a:off x="3291839"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37" name="TextBox 36"/>
          <p:cNvSpPr txBox="1"/>
          <p:nvPr/>
        </p:nvSpPr>
        <p:spPr>
          <a:xfrm>
            <a:off x="4617720"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+$14.6M</a:t>
            </a:r>
          </a:p>
        </p:txBody>
      </p:sp>
      <p:sp>
        <p:nvSpPr>
          <p:cNvPr id="38" name="TextBox 37"/>
          <p:cNvSpPr txBox="1"/>
          <p:nvPr/>
        </p:nvSpPr>
        <p:spPr>
          <a:xfrm>
            <a:off x="4617720"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39" name="Rectangle 38"/>
          <p:cNvSpPr/>
          <p:nvPr/>
        </p:nvSpPr>
        <p:spPr>
          <a:xfrm>
            <a:off x="6199631" y="324612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Box 39"/>
          <p:cNvSpPr txBox="1"/>
          <p:nvPr/>
        </p:nvSpPr>
        <p:spPr>
          <a:xfrm>
            <a:off x="6382512" y="333756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State roads (FDOT), Alachua</a:t>
            </a:r>
          </a:p>
        </p:txBody>
      </p:sp>
      <p:sp>
        <p:nvSpPr>
          <p:cNvPr id="41" name="TextBox 40"/>
          <p:cNvSpPr txBox="1"/>
          <p:nvPr/>
        </p:nvSpPr>
        <p:spPr>
          <a:xfrm>
            <a:off x="6382512" y="335584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1,500 state-road lights</a:t>
            </a:r>
          </a:p>
        </p:txBody>
      </p:sp>
      <p:sp>
        <p:nvSpPr>
          <p:cNvPr id="42" name="TextBox 41"/>
          <p:cNvSpPr txBox="1"/>
          <p:nvPr/>
        </p:nvSpPr>
        <p:spPr>
          <a:xfrm>
            <a:off x="629107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$900K</a:t>
            </a:r>
          </a:p>
        </p:txBody>
      </p:sp>
      <p:sp>
        <p:nvSpPr>
          <p:cNvPr id="43" name="TextBox 42"/>
          <p:cNvSpPr txBox="1"/>
          <p:nvPr/>
        </p:nvSpPr>
        <p:spPr>
          <a:xfrm>
            <a:off x="629107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44" name="TextBox 43"/>
          <p:cNvSpPr txBox="1"/>
          <p:nvPr/>
        </p:nvSpPr>
        <p:spPr>
          <a:xfrm>
            <a:off x="761695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$113K</a:t>
            </a:r>
          </a:p>
        </p:txBody>
      </p:sp>
      <p:sp>
        <p:nvSpPr>
          <p:cNvPr id="45" name="TextBox 44"/>
          <p:cNvSpPr txBox="1"/>
          <p:nvPr/>
        </p:nvSpPr>
        <p:spPr>
          <a:xfrm>
            <a:off x="761695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46" name="TextBox 45"/>
          <p:cNvSpPr txBox="1"/>
          <p:nvPr/>
        </p:nvSpPr>
        <p:spPr>
          <a:xfrm>
            <a:off x="8942832"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47" name="TextBox 46"/>
          <p:cNvSpPr txBox="1"/>
          <p:nvPr/>
        </p:nvSpPr>
        <p:spPr>
          <a:xfrm>
            <a:off x="8942832"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48" name="TextBox 47"/>
          <p:cNvSpPr txBox="1"/>
          <p:nvPr/>
        </p:nvSpPr>
        <p:spPr>
          <a:xfrm>
            <a:off x="10268711" y="372160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+$795K</a:t>
            </a:r>
          </a:p>
        </p:txBody>
      </p:sp>
      <p:sp>
        <p:nvSpPr>
          <p:cNvPr id="49" name="TextBox 48"/>
          <p:cNvSpPr txBox="1"/>
          <p:nvPr/>
        </p:nvSpPr>
        <p:spPr>
          <a:xfrm>
            <a:off x="10268711" y="418795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50" name="Rectangle 49"/>
          <p:cNvSpPr/>
          <p:nvPr/>
        </p:nvSpPr>
        <p:spPr>
          <a:xfrm>
            <a:off x="548640"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Box 50"/>
          <p:cNvSpPr txBox="1"/>
          <p:nvPr/>
        </p:nvSpPr>
        <p:spPr>
          <a:xfrm>
            <a:off x="731520"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Levy County</a:t>
            </a:r>
          </a:p>
        </p:txBody>
      </p:sp>
      <p:sp>
        <p:nvSpPr>
          <p:cNvPr id="52" name="TextBox 51"/>
          <p:cNvSpPr txBox="1"/>
          <p:nvPr/>
        </p:nvSpPr>
        <p:spPr>
          <a:xfrm>
            <a:off x="731520"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all public streetlights (3,135)</a:t>
            </a:r>
          </a:p>
        </p:txBody>
      </p:sp>
      <p:sp>
        <p:nvSpPr>
          <p:cNvPr id="53" name="TextBox 52"/>
          <p:cNvSpPr txBox="1"/>
          <p:nvPr/>
        </p:nvSpPr>
        <p:spPr>
          <a:xfrm>
            <a:off x="64008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$1.88M</a:t>
            </a:r>
          </a:p>
        </p:txBody>
      </p:sp>
      <p:sp>
        <p:nvSpPr>
          <p:cNvPr id="54" name="TextBox 53"/>
          <p:cNvSpPr txBox="1"/>
          <p:nvPr/>
        </p:nvSpPr>
        <p:spPr>
          <a:xfrm>
            <a:off x="64008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55" name="TextBox 54"/>
          <p:cNvSpPr txBox="1"/>
          <p:nvPr/>
        </p:nvSpPr>
        <p:spPr>
          <a:xfrm>
            <a:off x="196596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$228K</a:t>
            </a:r>
          </a:p>
        </p:txBody>
      </p:sp>
      <p:sp>
        <p:nvSpPr>
          <p:cNvPr id="56" name="TextBox 55"/>
          <p:cNvSpPr txBox="1"/>
          <p:nvPr/>
        </p:nvSpPr>
        <p:spPr>
          <a:xfrm>
            <a:off x="196596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57" name="TextBox 56"/>
          <p:cNvSpPr txBox="1"/>
          <p:nvPr/>
        </p:nvSpPr>
        <p:spPr>
          <a:xfrm>
            <a:off x="3291839"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8.3 yr</a:t>
            </a:r>
          </a:p>
        </p:txBody>
      </p:sp>
      <p:sp>
        <p:nvSpPr>
          <p:cNvPr id="58" name="TextBox 57"/>
          <p:cNvSpPr txBox="1"/>
          <p:nvPr/>
        </p:nvSpPr>
        <p:spPr>
          <a:xfrm>
            <a:off x="3291839"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59" name="TextBox 58"/>
          <p:cNvSpPr txBox="1"/>
          <p:nvPr/>
        </p:nvSpPr>
        <p:spPr>
          <a:xfrm>
            <a:off x="4617720"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+$1.54M</a:t>
            </a:r>
          </a:p>
        </p:txBody>
      </p:sp>
      <p:sp>
        <p:nvSpPr>
          <p:cNvPr id="60" name="TextBox 59"/>
          <p:cNvSpPr txBox="1"/>
          <p:nvPr/>
        </p:nvSpPr>
        <p:spPr>
          <a:xfrm>
            <a:off x="4617720"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61" name="Rectangle 60"/>
          <p:cNvSpPr/>
          <p:nvPr/>
        </p:nvSpPr>
        <p:spPr>
          <a:xfrm>
            <a:off x="6199631" y="4709160"/>
            <a:ext cx="5440680" cy="132588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2" name="TextBox 61"/>
          <p:cNvSpPr txBox="1"/>
          <p:nvPr/>
        </p:nvSpPr>
        <p:spPr>
          <a:xfrm>
            <a:off x="6382512" y="4800600"/>
            <a:ext cx="5120640" cy="36576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700" b="1" i="0">
                <a:solidFill>
                  <a:srgbClr val="F5F1E6"/>
                </a:solidFill>
                <a:latin typeface="Aptos Display"/>
              </a:rPr>
              <a:t>City of Chiefland</a:t>
            </a:r>
          </a:p>
        </p:txBody>
      </p:sp>
      <p:sp>
        <p:nvSpPr>
          <p:cNvPr id="63" name="TextBox 62"/>
          <p:cNvSpPr txBox="1"/>
          <p:nvPr/>
        </p:nvSpPr>
        <p:spPr>
          <a:xfrm>
            <a:off x="6382512" y="4818888"/>
            <a:ext cx="5074920" cy="36576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100" b="0" i="0">
                <a:solidFill>
                  <a:srgbClr val="A79F88"/>
                </a:solidFill>
                <a:latin typeface="Aptos"/>
              </a:rPr>
              <a:t>285 city streetlights</a:t>
            </a:r>
          </a:p>
        </p:txBody>
      </p:sp>
      <p:sp>
        <p:nvSpPr>
          <p:cNvPr id="64" name="TextBox 63"/>
          <p:cNvSpPr txBox="1"/>
          <p:nvPr/>
        </p:nvSpPr>
        <p:spPr>
          <a:xfrm>
            <a:off x="629107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$171K</a:t>
            </a:r>
          </a:p>
        </p:txBody>
      </p:sp>
      <p:sp>
        <p:nvSpPr>
          <p:cNvPr id="65" name="TextBox 64"/>
          <p:cNvSpPr txBox="1"/>
          <p:nvPr/>
        </p:nvSpPr>
        <p:spPr>
          <a:xfrm>
            <a:off x="629107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one-time cost</a:t>
            </a:r>
          </a:p>
        </p:txBody>
      </p:sp>
      <p:sp>
        <p:nvSpPr>
          <p:cNvPr id="66" name="TextBox 65"/>
          <p:cNvSpPr txBox="1"/>
          <p:nvPr/>
        </p:nvSpPr>
        <p:spPr>
          <a:xfrm>
            <a:off x="761695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$21.5K</a:t>
            </a:r>
          </a:p>
        </p:txBody>
      </p:sp>
      <p:sp>
        <p:nvSpPr>
          <p:cNvPr id="67" name="TextBox 66"/>
          <p:cNvSpPr txBox="1"/>
          <p:nvPr/>
        </p:nvSpPr>
        <p:spPr>
          <a:xfrm>
            <a:off x="761695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saved / year</a:t>
            </a:r>
          </a:p>
        </p:txBody>
      </p:sp>
      <p:sp>
        <p:nvSpPr>
          <p:cNvPr id="68" name="TextBox 67"/>
          <p:cNvSpPr txBox="1"/>
          <p:nvPr/>
        </p:nvSpPr>
        <p:spPr>
          <a:xfrm>
            <a:off x="8942832"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F6B44B"/>
                </a:solidFill>
                <a:latin typeface="Aptos Display"/>
              </a:rPr>
              <a:t>8.0 yr</a:t>
            </a:r>
          </a:p>
        </p:txBody>
      </p:sp>
      <p:sp>
        <p:nvSpPr>
          <p:cNvPr id="69" name="TextBox 68"/>
          <p:cNvSpPr txBox="1"/>
          <p:nvPr/>
        </p:nvSpPr>
        <p:spPr>
          <a:xfrm>
            <a:off x="8942832"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payback</a:t>
            </a:r>
          </a:p>
        </p:txBody>
      </p:sp>
      <p:sp>
        <p:nvSpPr>
          <p:cNvPr id="70" name="TextBox 69"/>
          <p:cNvSpPr txBox="1"/>
          <p:nvPr/>
        </p:nvSpPr>
        <p:spPr>
          <a:xfrm>
            <a:off x="10268711" y="5184648"/>
            <a:ext cx="1325880" cy="45720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2100" b="1" i="0">
                <a:solidFill>
                  <a:srgbClr val="7CD992"/>
                </a:solidFill>
                <a:latin typeface="Aptos Display"/>
              </a:rPr>
              <a:t>+$152K</a:t>
            </a:r>
          </a:p>
        </p:txBody>
      </p:sp>
      <p:sp>
        <p:nvSpPr>
          <p:cNvPr id="71" name="TextBox 70"/>
          <p:cNvSpPr txBox="1"/>
          <p:nvPr/>
        </p:nvSpPr>
        <p:spPr>
          <a:xfrm>
            <a:off x="10268711" y="5650992"/>
            <a:ext cx="1325880" cy="274320"/>
          </a:xfrm>
          <a:prstGeom prst="rect">
            <a:avLst/>
          </a:prstGeom>
          <a:noFill/>
        </p:spPr>
        <p:txBody>
          <a:bodyPr wrap="square" lIns="0" tIns="0" rIns="0" bIns="0" anchor="t">
            <a:noAutofit/>
          </a:bodyPr>
          <a:lstStyle/>
          <a:p>
            <a:pPr marL="0" indent="0" algn="ctr">
              <a:lnSpc>
                <a:spcPct val="100000"/>
              </a:lnSpc>
              <a:spcBef>
                <a:spcPts val="0"/>
              </a:spcBef>
              <a:spcAft>
                <a:spcPts val="0"/>
              </a:spcAft>
              <a:buNone/>
            </a:pPr>
            <a:r>
              <a:rPr sz="1100" b="0" i="0">
                <a:solidFill>
                  <a:srgbClr val="D9D2BD"/>
                </a:solidFill>
                <a:latin typeface="Aptos"/>
              </a:rPr>
              <a:t>after 15 years</a:t>
            </a:r>
          </a:p>
        </p:txBody>
      </p:sp>
      <p:sp>
        <p:nvSpPr>
          <p:cNvPr id="72" name="TextBox 71"/>
          <p:cNvSpPr txBox="1"/>
          <p:nvPr/>
        </p:nvSpPr>
        <p:spPr>
          <a:xfrm>
            <a:off x="548640" y="6144768"/>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*UF: 4,100 campus pole lights, about 60% already LED (UF News, 2023), run through the simulator's cost engine at GRU rates. Gainesville and FDOT are within Alachua's total.</a:t>
            </a:r>
          </a:p>
        </p:txBody>
      </p:sp>
      <p:pic>
        <p:nvPicPr>
          <p:cNvPr id="73" name="Picture 72" descr="ai_days_logo_sticker.png"/>
          <p:cNvPicPr>
            <a:picLocks noChangeAspect="1"/>
          </p:cNvPicPr>
          <p:nvPr/>
        </p:nvPicPr>
        <p:blipFill>
          <a:blip r:embed="rId3"/>
          <a:stretch>
            <a:fillRect/>
          </a:stretch>
        </p:blipFill>
        <p:spPr>
          <a:xfrm>
            <a:off x="10408615" y="201168"/>
            <a:ext cx="1371600" cy="798271"/>
          </a:xfrm>
          <a:prstGeom prst="rect">
            <a:avLst/>
          </a:prstGeom>
        </p:spPr>
      </p:pic>
      <p:sp>
        <p:nvSpPr>
          <p:cNvPr id="74" name="TextBox 73"/>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Dark Sky Simulator fixture catalog (2026)  ·  Dark Sky Simulator research reports (2025), Gainesville Dark Sky Lighting Assessment and cost-benefit analyses  ·  Roldán Hernández (2023), Security enhancements make for a brighter, safer campus (UF News)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Or protect just the observatories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12</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Overlay zones: stricter rules in rings around </a:t>
            </a:r>
            <a:r>
              <a:rPr sz="1900" b="1" i="0">
                <a:solidFill>
                  <a:srgbClr val="F6B44B"/>
                </a:solidFill>
                <a:latin typeface="Aptos"/>
              </a:rPr>
              <a:t>Rosemary Hill</a:t>
            </a:r>
            <a:r>
              <a:rPr sz="1900" b="0" i="0">
                <a:solidFill>
                  <a:srgbClr val="D9D2BD"/>
                </a:solidFill>
                <a:latin typeface="Aptos"/>
              </a:rPr>
              <a:t> and </a:t>
            </a:r>
            <a:r>
              <a:rPr sz="1900" b="1" i="0">
                <a:solidFill>
                  <a:srgbClr val="F6B44B"/>
                </a:solidFill>
                <a:latin typeface="Aptos"/>
              </a:rPr>
              <a:t>Chiefland Astronomy Village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LZ0 core: shielded, amber, motion-only</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LZ1 buffer: shielded, ≤ 2700 K</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Flagstaff-style preset: about </a:t>
            </a:r>
            <a:r>
              <a:rPr sz="1900" b="1" i="0">
                <a:solidFill>
                  <a:srgbClr val="F6B44B"/>
                </a:solidFill>
                <a:latin typeface="Aptos"/>
              </a:rPr>
              <a:t>$0.79M</a:t>
            </a:r>
            <a:r>
              <a:rPr sz="1900" b="0" i="0">
                <a:solidFill>
                  <a:srgbClr val="D9D2BD"/>
                </a:solidFill>
                <a:latin typeface="Aptos"/>
              </a:rPr>
              <a:t> in public retrofits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 trade-off a commission can actually vote on</a:t>
            </a:r>
          </a:p>
        </p:txBody>
      </p:sp>
      <p:pic>
        <p:nvPicPr>
          <p:cNvPr id="6" name="12_overlay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Flagstaff LZ1 overlay preset (3-mile core, 5-mile buffer) on the Change layer.</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Dark Sky Simulator fixture catalog (2026)  ·  Dark Sky Simulator research reports (2025), Gainesville Dark Sky Lighting Assessment and cost-benefit analyses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SEE IT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Paynes Prairie, today and with the ordinance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13</a:t>
            </a:r>
          </a:p>
        </p:txBody>
      </p:sp>
      <p:pic>
        <p:nvPicPr>
          <p:cNvPr id="5" name="13_allsky_pp_today.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377279"/>
            <a:ext cx="5440680" cy="3051881"/>
          </a:xfrm>
          <a:prstGeom prst="rect">
            <a:avLst/>
          </a:prstGeom>
        </p:spPr>
      </p:pic>
      <p:sp>
        <p:nvSpPr>
          <p:cNvPr id="6" name="TextBox 5"/>
          <p:cNvSpPr txBox="1"/>
          <p:nvPr/>
        </p:nvSpPr>
        <p:spPr>
          <a:xfrm>
            <a:off x="548640"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Today</a:t>
            </a:r>
          </a:p>
        </p:txBody>
      </p:sp>
      <p:pic>
        <p:nvPicPr>
          <p:cNvPr id="7" name="13_allsky_pp_grovelan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199632" y="1377279"/>
            <a:ext cx="5440680" cy="3051881"/>
          </a:xfrm>
          <a:prstGeom prst="rect">
            <a:avLst/>
          </a:prstGeom>
        </p:spPr>
      </p:pic>
      <p:sp>
        <p:nvSpPr>
          <p:cNvPr id="8" name="TextBox 7"/>
          <p:cNvSpPr txBox="1"/>
          <p:nvPr/>
        </p:nvSpPr>
        <p:spPr>
          <a:xfrm>
            <a:off x="6199632" y="4474880"/>
            <a:ext cx="54406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With a Groveland-style ordinance</a:t>
            </a:r>
            <a:r>
              <a:rPr sz="1100" b="0" i="0">
                <a:solidFill>
                  <a:srgbClr val="A79F88"/>
                </a:solidFill>
                <a:latin typeface="Aptos"/>
              </a:rPr>
              <a:t> (every light, public and private, complies)</a:t>
            </a:r>
          </a:p>
        </p:txBody>
      </p:sp>
      <p:sp>
        <p:nvSpPr>
          <p:cNvPr id="9" name="TextBox 8"/>
          <p:cNvSpPr txBox="1"/>
          <p:nvPr/>
        </p:nvSpPr>
        <p:spPr>
          <a:xfrm>
            <a:off x="548640" y="4754880"/>
            <a:ext cx="110642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All-sky view from Paynes Prairie Overlook, looking southeast as the Milky Way rises: May 28, 2022, from 1:30 AM, no Moon. Illustrative, not a photograph.</a:t>
            </a:r>
          </a:p>
        </p:txBody>
      </p:sp>
      <p:sp>
        <p:nvSpPr>
          <p:cNvPr id="10" name="TextBox 9"/>
          <p:cNvSpPr txBox="1"/>
          <p:nvPr/>
        </p:nvSpPr>
        <p:spPr>
          <a:xfrm>
            <a:off x="548640"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20.98</a:t>
            </a:r>
            <a:r>
              <a:rPr sz="1800" b="0" i="0">
                <a:solidFill>
                  <a:srgbClr val="D9D2BD"/>
                </a:solidFill>
                <a:latin typeface="Aptos"/>
              </a:rPr>
              <a:t> mag/arcsec² ·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naked-eye stars ≈ magnitude 6.1</a:t>
            </a:r>
          </a:p>
        </p:txBody>
      </p:sp>
      <p:sp>
        <p:nvSpPr>
          <p:cNvPr id="11" name="TextBox 10"/>
          <p:cNvSpPr txBox="1"/>
          <p:nvPr/>
        </p:nvSpPr>
        <p:spPr>
          <a:xfrm>
            <a:off x="6199632" y="5166360"/>
            <a:ext cx="5440680" cy="123444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1" i="0">
                <a:solidFill>
                  <a:srgbClr val="F6B44B"/>
                </a:solidFill>
                <a:latin typeface="Aptos"/>
              </a:rPr>
              <a:t>21.62</a:t>
            </a:r>
            <a:r>
              <a:rPr sz="1800" b="0" i="0">
                <a:solidFill>
                  <a:srgbClr val="D9D2BD"/>
                </a:solidFill>
                <a:latin typeface="Aptos"/>
              </a:rPr>
              <a:t> mag/arcsec² (+0.64) · still Bortle 4</a:t>
            </a:r>
          </a:p>
          <a:p>
            <a:pPr marL="256032" indent="-256032">
              <a:lnSpc>
                <a:spcPct val="100000"/>
              </a:lnSpc>
              <a:spcBef>
                <a:spcPts val="400"/>
              </a:spcBef>
              <a:spcAft>
                <a:spcPts val="0"/>
              </a:spcAft>
              <a:buClr>
                <a:srgbClr val="F6B44B"/>
              </a:buClr>
              <a:buSzPct val="100000"/>
              <a:buFont typeface="Arial"/>
              <a:buChar char="•"/>
            </a:pPr>
            <a:r>
              <a:rPr sz="1800" b="0" i="0">
                <a:solidFill>
                  <a:srgbClr val="D9D2BD"/>
                </a:solidFill>
                <a:latin typeface="Aptos"/>
              </a:rPr>
              <a:t>Faintest stars ≈ 6.4: a clearer Milky Way</a:t>
            </a:r>
          </a:p>
        </p:txBody>
      </p:sp>
      <p:pic>
        <p:nvPicPr>
          <p:cNvPr id="12" name="Picture 11" descr="ai_days_logo_sticker.png"/>
          <p:cNvPicPr>
            <a:picLocks noChangeAspect="1"/>
          </p:cNvPicPr>
          <p:nvPr/>
        </p:nvPicPr>
        <p:blipFill>
          <a:blip r:embed="rId9"/>
          <a:stretch>
            <a:fillRect/>
          </a:stretch>
        </p:blipFill>
        <p:spPr>
          <a:xfrm>
            <a:off x="10408615" y="201168"/>
            <a:ext cx="1371600" cy="798271"/>
          </a:xfrm>
          <a:prstGeom prst="rect">
            <a:avLst/>
          </a:prstGeom>
        </p:spPr>
      </p:pic>
      <p:sp>
        <p:nvSpPr>
          <p:cNvPr id="13" name="TextBox 12"/>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Garstang (1986), Model for artificial night-sky illumination  ·  Bortle (2001), Introducing the Bortle dark-sky scale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par>
                                <p:cTn id="7" presetID="1" presetClass="mediacall" presetSubtype="0" fill="hold" nodeType="withEffect">
                                  <p:stCondLst>
                                    <p:cond delay="0"/>
                                  </p:stCondLst>
                                  <p:childTnLst>
                                    <p:cmd type="call" cmd="playFrom(0.0)">
                                      <p:cBhvr>
                                        <p:cTn id="8"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5"/>
                </p:tgtEl>
              </p:cMediaNode>
            </p:video>
            <p:seq concurrent="1" nextAc="seek">
              <p:cTn id="10" restart="whenNotActive" fill="hold" evtFilter="cancelBubble" nodeType="interactiveSeq">
                <p:stCondLst>
                  <p:cond evt="onClick" delay="0">
                    <p:tgtEl>
                      <p:spTgt spid="5"/>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5"/>
                                        </p:tgtEl>
                                      </p:cBhvr>
                                    </p:cmd>
                                  </p:childTnLst>
                                </p:cTn>
                              </p:par>
                            </p:childTnLst>
                          </p:cTn>
                        </p:par>
                      </p:childTnLst>
                    </p:cTn>
                  </p:par>
                </p:childTnLst>
              </p:cTn>
              <p:nextCondLst>
                <p:cond evt="onClick" delay="0">
                  <p:tgtEl>
                    <p:spTgt spid="5"/>
                  </p:tgtEl>
                </p:cond>
              </p:nextCondLst>
            </p:seq>
            <p:video>
              <p:cMediaNode vol="80000">
                <p:cTn id="15" repeatCount="indefinite" fill="remove" display="0">
                  <p:stCondLst>
                    <p:cond delay="indefinite"/>
                  </p:stCondLst>
                </p:cTn>
                <p:tgtEl>
                  <p:spTgt spid="7"/>
                </p:tgtEl>
              </p:cMediaNode>
            </p:video>
            <p:seq concurrent="1" nextAc="seek">
              <p:cTn id="16" restart="whenNotActive" fill="hold" evtFilter="cancelBubble" nodeType="interactiveSeq">
                <p:stCondLst>
                  <p:cond evt="onClick" delay="0">
                    <p:tgtEl>
                      <p:spTgt spid="7"/>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SCENARIO</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Build mode and 3D: toward a digital twin</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14</a:t>
            </a:r>
          </a:p>
        </p:txBody>
      </p:sp>
      <p:pic>
        <p:nvPicPr>
          <p:cNvPr id="5" name="14_buil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830580" y="1371600"/>
            <a:ext cx="4876800" cy="2743200"/>
          </a:xfrm>
          <a:prstGeom prst="rect">
            <a:avLst/>
          </a:prstGeom>
        </p:spPr>
      </p:pic>
      <p:sp>
        <p:nvSpPr>
          <p:cNvPr id="6" name="TextBox 5"/>
          <p:cNvSpPr txBox="1"/>
          <p:nvPr/>
        </p:nvSpPr>
        <p:spPr>
          <a:xfrm>
            <a:off x="830580" y="4160520"/>
            <a:ext cx="48768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Build mode</a:t>
            </a:r>
          </a:p>
        </p:txBody>
      </p:sp>
      <p:pic>
        <p:nvPicPr>
          <p:cNvPr id="7" name="14_3d.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8"/>
          <a:stretch>
            <a:fillRect/>
          </a:stretch>
        </p:blipFill>
        <p:spPr>
          <a:xfrm>
            <a:off x="6481572" y="1371600"/>
            <a:ext cx="4876800" cy="2743200"/>
          </a:xfrm>
          <a:prstGeom prst="rect">
            <a:avLst/>
          </a:prstGeom>
        </p:spPr>
      </p:pic>
      <p:sp>
        <p:nvSpPr>
          <p:cNvPr id="8" name="TextBox 7"/>
          <p:cNvSpPr txBox="1"/>
          <p:nvPr/>
        </p:nvSpPr>
        <p:spPr>
          <a:xfrm>
            <a:off x="6481572" y="4160520"/>
            <a:ext cx="48768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3D: downtown Gainesville</a:t>
            </a:r>
          </a:p>
        </p:txBody>
      </p:sp>
      <p:sp>
        <p:nvSpPr>
          <p:cNvPr id="9" name="TextBox 8"/>
          <p:cNvSpPr txBox="1"/>
          <p:nvPr/>
        </p:nvSpPr>
        <p:spPr>
          <a:xfrm>
            <a:off x="548640" y="4526280"/>
            <a:ext cx="5440680" cy="10515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Catalog of </a:t>
            </a:r>
            <a:r>
              <a:rPr sz="1600" b="1" i="0">
                <a:solidFill>
                  <a:srgbClr val="F6B44B"/>
                </a:solidFill>
                <a:latin typeface="Aptos"/>
              </a:rPr>
              <a:t>17 DarkSky-compliant fixture types</a:t>
            </a:r>
            <a:r>
              <a:rPr sz="1600" b="0" i="0">
                <a:solidFill>
                  <a:srgbClr val="D9D2BD"/>
                </a:solidFill>
                <a:latin typeface="Aptos"/>
              </a:rPr>
              <a:t>: spectrum, uplight rating, watts, installed cost</a:t>
            </a:r>
          </a:p>
          <a:p>
            <a:pPr marL="256032" indent="-256032">
              <a:lnSpc>
                <a:spcPct val="100000"/>
              </a:lnSpc>
              <a:spcBef>
                <a:spcPts val="400"/>
              </a:spcBef>
              <a:spcAft>
                <a:spcPts val="0"/>
              </a:spcAft>
              <a:buClr>
                <a:srgbClr val="F6B44B"/>
              </a:buClr>
              <a:buSzPct val="100000"/>
              <a:buFont typeface="Arial"/>
              <a:buChar char="•"/>
            </a:pPr>
            <a:r>
              <a:rPr sz="1600" b="0" i="0">
                <a:solidFill>
                  <a:srgbClr val="D9D2BD"/>
                </a:solidFill>
                <a:latin typeface="Aptos"/>
              </a:rPr>
              <a:t>Equip one: sky, budget, brief and install markers update</a:t>
            </a:r>
          </a:p>
        </p:txBody>
      </p:sp>
      <p:sp>
        <p:nvSpPr>
          <p:cNvPr id="10" name="TextBox 9"/>
          <p:cNvSpPr txBox="1"/>
          <p:nvPr/>
        </p:nvSpPr>
        <p:spPr>
          <a:xfrm>
            <a:off x="6199632" y="4526280"/>
            <a:ext cx="5440680" cy="10515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Terrain, buildings and every modeled light at street level</a:t>
            </a:r>
          </a:p>
          <a:p>
            <a:pPr marL="256032" indent="-256032">
              <a:lnSpc>
                <a:spcPct val="100000"/>
              </a:lnSpc>
              <a:spcBef>
                <a:spcPts val="400"/>
              </a:spcBef>
              <a:spcAft>
                <a:spcPts val="0"/>
              </a:spcAft>
              <a:buClr>
                <a:srgbClr val="F6B44B"/>
              </a:buClr>
              <a:buSzPct val="100000"/>
              <a:buFont typeface="Arial"/>
              <a:buChar char="•"/>
            </a:pPr>
            <a:r>
              <a:rPr sz="1600" b="0" i="0">
                <a:solidFill>
                  <a:srgbClr val="D9D2BD"/>
                </a:solidFill>
                <a:latin typeface="Aptos"/>
              </a:rPr>
              <a:t>Mapped streetlights where they stand; modeled ones along the roads of their cell</a:t>
            </a:r>
          </a:p>
        </p:txBody>
      </p:sp>
      <p:sp>
        <p:nvSpPr>
          <p:cNvPr id="11" name="Rectangle 10"/>
          <p:cNvSpPr/>
          <p:nvPr/>
        </p:nvSpPr>
        <p:spPr>
          <a:xfrm>
            <a:off x="548640" y="5669280"/>
            <a:ext cx="11091672" cy="603504"/>
          </a:xfrm>
          <a:prstGeom prst="roundRect">
            <a:avLst>
              <a:gd name="adj" fmla="val 12000"/>
            </a:avLst>
          </a:prstGeom>
          <a:solidFill>
            <a:srgbClr val="111A2E"/>
          </a:solidFill>
          <a:ln w="1905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700" b="1" i="0">
                <a:solidFill>
                  <a:srgbClr val="F6B44B"/>
                </a:solidFill>
                <a:latin typeface="Aptos"/>
              </a:rPr>
              <a:t>The goal: a digital twin</a:t>
            </a:r>
            <a:r>
              <a:rPr sz="1700" b="0" i="0">
                <a:solidFill>
                  <a:srgbClr val="F5F1E6"/>
                </a:solidFill>
                <a:latin typeface="Aptos"/>
              </a:rPr>
              <a:t> of the illumination and darkness of Gainesville and North Central Florida</a:t>
            </a:r>
          </a:p>
        </p:txBody>
      </p:sp>
      <p:pic>
        <p:nvPicPr>
          <p:cNvPr id="12" name="Picture 11" descr="ai_days_logo_sticker.png"/>
          <p:cNvPicPr>
            <a:picLocks noChangeAspect="1"/>
          </p:cNvPicPr>
          <p:nvPr/>
        </p:nvPicPr>
        <p:blipFill>
          <a:blip r:embed="rId9"/>
          <a:stretch>
            <a:fillRect/>
          </a:stretch>
        </p:blipFill>
        <p:spPr>
          <a:xfrm>
            <a:off x="10408615" y="201168"/>
            <a:ext cx="1371600" cy="798271"/>
          </a:xfrm>
          <a:prstGeom prst="rect">
            <a:avLst/>
          </a:prstGeom>
        </p:spPr>
      </p:pic>
      <p:sp>
        <p:nvSpPr>
          <p:cNvPr id="13" name="TextBox 12"/>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DarkSky International, DarkSky Approved program  ·  Dark Sky Simulator fixture catalog (2026)  ·  OpenStreetMap contributors (2026), road, street-lamp and sports-venue data</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5"/>
                                        </p:tgtEl>
                                      </p:cBhvr>
                                    </p:cmd>
                                  </p:childTnLst>
                                </p:cTn>
                              </p:par>
                              <p:par>
                                <p:cTn id="7" presetID="1" presetClass="mediacall" presetSubtype="0" fill="hold" nodeType="withEffect">
                                  <p:stCondLst>
                                    <p:cond delay="0"/>
                                  </p:stCondLst>
                                  <p:childTnLst>
                                    <p:cmd type="call" cmd="playFrom(0.0)">
                                      <p:cBhvr>
                                        <p:cTn id="8"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9" repeatCount="indefinite" fill="remove" display="0">
                  <p:stCondLst>
                    <p:cond delay="indefinite"/>
                  </p:stCondLst>
                </p:cTn>
                <p:tgtEl>
                  <p:spTgt spid="5"/>
                </p:tgtEl>
              </p:cMediaNode>
            </p:video>
            <p:seq concurrent="1" nextAc="seek">
              <p:cTn id="10" restart="whenNotActive" fill="hold" evtFilter="cancelBubble" nodeType="interactiveSeq">
                <p:stCondLst>
                  <p:cond evt="onClick" delay="0">
                    <p:tgtEl>
                      <p:spTgt spid="5"/>
                    </p:tgtEl>
                  </p:cond>
                </p:stCondLst>
                <p:endSync evt="end" delay="0">
                  <p:rtn val="all"/>
                </p:endSync>
                <p:childTnLst>
                  <p:par>
                    <p:cTn id="11" fill="hold">
                      <p:stCondLst>
                        <p:cond delay="0"/>
                      </p:stCondLst>
                      <p:childTnLst>
                        <p:par>
                          <p:cTn id="12" fill="hold">
                            <p:stCondLst>
                              <p:cond delay="0"/>
                            </p:stCondLst>
                            <p:childTnLst>
                              <p:par>
                                <p:cTn id="13" presetID="2" presetClass="mediacall" presetSubtype="0" fill="hold" nodeType="clickEffect">
                                  <p:stCondLst>
                                    <p:cond delay="0"/>
                                  </p:stCondLst>
                                  <p:childTnLst>
                                    <p:cmd type="call" cmd="togglePause">
                                      <p:cBhvr>
                                        <p:cTn id="14" dur="1" fill="hold"/>
                                        <p:tgtEl>
                                          <p:spTgt spid="5"/>
                                        </p:tgtEl>
                                      </p:cBhvr>
                                    </p:cmd>
                                  </p:childTnLst>
                                </p:cTn>
                              </p:par>
                            </p:childTnLst>
                          </p:cTn>
                        </p:par>
                      </p:childTnLst>
                    </p:cTn>
                  </p:par>
                </p:childTnLst>
              </p:cTn>
              <p:nextCondLst>
                <p:cond evt="onClick" delay="0">
                  <p:tgtEl>
                    <p:spTgt spid="5"/>
                  </p:tgtEl>
                </p:cond>
              </p:nextCondLst>
            </p:seq>
            <p:video>
              <p:cMediaNode vol="80000">
                <p:cTn id="15" repeatCount="indefinite" fill="remove" display="0">
                  <p:stCondLst>
                    <p:cond delay="indefinite"/>
                  </p:stCondLst>
                </p:cTn>
                <p:tgtEl>
                  <p:spTgt spid="7"/>
                </p:tgtEl>
              </p:cMediaNode>
            </p:video>
            <p:seq concurrent="1" nextAc="seek">
              <p:cTn id="16" restart="whenNotActive" fill="hold" evtFilter="cancelBubble" nodeType="interactiveSeq">
                <p:stCondLst>
                  <p:cond evt="onClick" delay="0">
                    <p:tgtEl>
                      <p:spTgt spid="7"/>
                    </p:tgtEl>
                  </p:cond>
                </p:stCondLst>
                <p:endSync evt="end" delay="0">
                  <p:rtn val="all"/>
                </p:endSync>
                <p:childTnLst>
                  <p:par>
                    <p:cTn id="17" fill="hold">
                      <p:stCondLst>
                        <p:cond delay="0"/>
                      </p:stCondLst>
                      <p:childTnLst>
                        <p:par>
                          <p:cTn id="18" fill="hold">
                            <p:stCondLst>
                              <p:cond delay="0"/>
                            </p:stCondLst>
                            <p:childTnLst>
                              <p:par>
                                <p:cTn id="19" presetID="2" presetClass="mediacall" presetSubtype="0" fill="hold" nodeType="clickEffect">
                                  <p:stCondLst>
                                    <p:cond delay="0"/>
                                  </p:stCondLst>
                                  <p:childTnLst>
                                    <p:cmd type="call" cmd="togglePause">
                                      <p:cBhvr>
                                        <p:cTn id="20"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1</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AI is used, and where it isn't</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15</a:t>
            </a:r>
          </a:p>
        </p:txBody>
      </p:sp>
      <p:sp>
        <p:nvSpPr>
          <p:cNvPr id="5" name="Rectangle 4"/>
          <p:cNvSpPr/>
          <p:nvPr/>
        </p:nvSpPr>
        <p:spPr>
          <a:xfrm>
            <a:off x="548640"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1 · Data</a:t>
            </a:r>
          </a:p>
          <a:p>
            <a:pPr marL="0" indent="0" algn="ctr">
              <a:lnSpc>
                <a:spcPct val="110000"/>
              </a:lnSpc>
              <a:spcBef>
                <a:spcPts val="0"/>
              </a:spcBef>
              <a:spcAft>
                <a:spcPts val="0"/>
              </a:spcAft>
              <a:buNone/>
            </a:pPr>
            <a:r>
              <a:rPr sz="1600" b="0" i="0">
                <a:solidFill>
                  <a:srgbClr val="F5F1E6"/>
                </a:solidFill>
                <a:latin typeface="Aptos"/>
              </a:rPr>
              <a:t>NASA Black Marble</a:t>
            </a:r>
          </a:p>
          <a:p>
            <a:pPr marL="0" indent="0" algn="ctr">
              <a:lnSpc>
                <a:spcPct val="110000"/>
              </a:lnSpc>
              <a:spcBef>
                <a:spcPts val="0"/>
              </a:spcBef>
              <a:spcAft>
                <a:spcPts val="0"/>
              </a:spcAft>
              <a:buNone/>
            </a:pPr>
            <a:r>
              <a:rPr sz="1600" b="0" i="0">
                <a:solidFill>
                  <a:srgbClr val="F5F1E6"/>
                </a:solidFill>
                <a:latin typeface="Aptos"/>
              </a:rPr>
              <a:t>13 years, 2012–2024</a:t>
            </a:r>
          </a:p>
        </p:txBody>
      </p:sp>
      <p:cxnSp>
        <p:nvCxnSpPr>
          <p:cNvPr id="6" name="Connector 5"/>
          <p:cNvCxnSpPr/>
          <p:nvPr/>
        </p:nvCxnSpPr>
        <p:spPr>
          <a:xfrm>
            <a:off x="3054096"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3410712" y="1508760"/>
            <a:ext cx="2468880" cy="1965960"/>
          </a:xfrm>
          <a:prstGeom prst="roundRect">
            <a:avLst>
              <a:gd name="adj" fmla="val 6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2 · Cleaning</a:t>
            </a:r>
          </a:p>
          <a:p>
            <a:pPr marL="0" indent="0" algn="ctr">
              <a:lnSpc>
                <a:spcPct val="110000"/>
              </a:lnSpc>
              <a:spcBef>
                <a:spcPts val="0"/>
              </a:spcBef>
              <a:spcAft>
                <a:spcPts val="0"/>
              </a:spcAft>
              <a:buNone/>
            </a:pPr>
            <a:r>
              <a:rPr sz="1600" b="0" i="0">
                <a:solidFill>
                  <a:srgbClr val="F5F1E6"/>
                </a:solidFill>
                <a:latin typeface="Aptos"/>
              </a:rPr>
              <a:t>remove the</a:t>
            </a:r>
          </a:p>
          <a:p>
            <a:pPr marL="0" indent="0" algn="ctr">
              <a:lnSpc>
                <a:spcPct val="110000"/>
              </a:lnSpc>
              <a:spcBef>
                <a:spcPts val="0"/>
              </a:spcBef>
              <a:spcAft>
                <a:spcPts val="0"/>
              </a:spcAft>
              <a:buNone/>
            </a:pPr>
            <a:r>
              <a:rPr sz="1600" b="0" i="0">
                <a:solidFill>
                  <a:srgbClr val="F5F1E6"/>
                </a:solidFill>
                <a:latin typeface="Aptos"/>
              </a:rPr>
              <a:t>solar-cycle airglow</a:t>
            </a:r>
          </a:p>
        </p:txBody>
      </p:sp>
      <p:cxnSp>
        <p:nvCxnSpPr>
          <p:cNvPr id="8" name="Connector 7"/>
          <p:cNvCxnSpPr/>
          <p:nvPr/>
        </p:nvCxnSpPr>
        <p:spPr>
          <a:xfrm>
            <a:off x="5916168"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6272784"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3 · Statistics</a:t>
            </a:r>
          </a:p>
          <a:p>
            <a:pPr marL="0" indent="0" algn="ctr">
              <a:lnSpc>
                <a:spcPct val="110000"/>
              </a:lnSpc>
              <a:spcBef>
                <a:spcPts val="0"/>
              </a:spcBef>
              <a:spcAft>
                <a:spcPts val="0"/>
              </a:spcAft>
              <a:buNone/>
            </a:pPr>
            <a:r>
              <a:rPr sz="1600" b="0" i="0">
                <a:solidFill>
                  <a:srgbClr val="F5F1E6"/>
                </a:solidFill>
                <a:latin typeface="Aptos"/>
              </a:rPr>
              <a:t>step test on every</a:t>
            </a:r>
          </a:p>
          <a:p>
            <a:pPr marL="0" indent="0" algn="ctr">
              <a:lnSpc>
                <a:spcPct val="110000"/>
              </a:lnSpc>
              <a:spcBef>
                <a:spcPts val="0"/>
              </a:spcBef>
              <a:spcAft>
                <a:spcPts val="0"/>
              </a:spcAft>
              <a:buNone/>
            </a:pPr>
            <a:r>
              <a:rPr sz="1600" b="0" i="0">
                <a:solidFill>
                  <a:srgbClr val="F5F1E6"/>
                </a:solidFill>
                <a:latin typeface="Aptos"/>
              </a:rPr>
              <a:t>lit cell → change events</a:t>
            </a:r>
          </a:p>
        </p:txBody>
      </p:sp>
      <p:cxnSp>
        <p:nvCxnSpPr>
          <p:cNvPr id="10" name="Connector 9"/>
          <p:cNvCxnSpPr/>
          <p:nvPr/>
        </p:nvCxnSpPr>
        <p:spPr>
          <a:xfrm>
            <a:off x="8778240" y="2487168"/>
            <a:ext cx="320040"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9134856" y="1508760"/>
            <a:ext cx="2468880" cy="1965960"/>
          </a:xfrm>
          <a:prstGeom prst="roundRect">
            <a:avLst>
              <a:gd name="adj" fmla="val 6000"/>
            </a:avLst>
          </a:prstGeom>
          <a:solidFill>
            <a:srgbClr val="111A2E"/>
          </a:solidFill>
          <a:ln w="25400">
            <a:solidFill>
              <a:srgbClr val="F6B44B"/>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600" b="1" i="0">
                <a:solidFill>
                  <a:srgbClr val="F6B44B"/>
                </a:solidFill>
                <a:latin typeface="Aptos"/>
              </a:rPr>
              <a:t>4 · Machine learning</a:t>
            </a:r>
          </a:p>
          <a:p>
            <a:pPr marL="0" indent="0" algn="ctr">
              <a:lnSpc>
                <a:spcPct val="110000"/>
              </a:lnSpc>
              <a:spcBef>
                <a:spcPts val="0"/>
              </a:spcBef>
              <a:spcAft>
                <a:spcPts val="0"/>
              </a:spcAft>
              <a:buNone/>
            </a:pPr>
            <a:r>
              <a:rPr sz="1600" b="0" i="0">
                <a:solidFill>
                  <a:srgbClr val="F5F1E6"/>
                </a:solidFill>
                <a:latin typeface="Aptos"/>
              </a:rPr>
              <a:t>LightGBM forecast</a:t>
            </a:r>
          </a:p>
          <a:p>
            <a:pPr marL="0" indent="0" algn="ctr">
              <a:lnSpc>
                <a:spcPct val="110000"/>
              </a:lnSpc>
              <a:spcBef>
                <a:spcPts val="0"/>
              </a:spcBef>
              <a:spcAft>
                <a:spcPts val="0"/>
              </a:spcAft>
              <a:buNone/>
            </a:pPr>
            <a:r>
              <a:rPr sz="1600" b="0" i="0">
                <a:solidFill>
                  <a:srgbClr val="F5F1E6"/>
                </a:solidFill>
                <a:latin typeface="Aptos"/>
              </a:rPr>
              <a:t>of where light grows</a:t>
            </a:r>
          </a:p>
        </p:txBody>
      </p:sp>
      <p:sp>
        <p:nvSpPr>
          <p:cNvPr id="12" name="Rectangle 11"/>
          <p:cNvSpPr/>
          <p:nvPr/>
        </p:nvSpPr>
        <p:spPr>
          <a:xfrm>
            <a:off x="6400800" y="3703320"/>
            <a:ext cx="5239512"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2034 sky and observatory site ranking</a:t>
            </a:r>
          </a:p>
        </p:txBody>
      </p:sp>
      <p:sp>
        <p:nvSpPr>
          <p:cNvPr id="13" name="Rectangle 12"/>
          <p:cNvSpPr/>
          <p:nvPr/>
        </p:nvSpPr>
        <p:spPr>
          <a:xfrm>
            <a:off x="3520440" y="3703320"/>
            <a:ext cx="2651760" cy="685800"/>
          </a:xfrm>
          <a:prstGeom prst="roundRect">
            <a:avLst>
              <a:gd name="adj" fmla="val 10000"/>
            </a:avLst>
          </a:prstGeom>
          <a:solidFill>
            <a:srgbClr val="1A2642"/>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500" b="0" i="0">
                <a:solidFill>
                  <a:srgbClr val="F5F1E6"/>
                </a:solidFill>
                <a:latin typeface="Aptos"/>
              </a:rPr>
              <a:t>→ change-events map</a:t>
            </a:r>
          </a:p>
        </p:txBody>
      </p:sp>
      <p:sp>
        <p:nvSpPr>
          <p:cNvPr id="14" name="Rectangle 13"/>
          <p:cNvSpPr/>
          <p:nvPr/>
        </p:nvSpPr>
        <p:spPr>
          <a:xfrm>
            <a:off x="548640" y="4617720"/>
            <a:ext cx="11091672" cy="1691640"/>
          </a:xfrm>
          <a:prstGeom prst="roundRect">
            <a:avLst>
              <a:gd name="adj" fmla="val 4000"/>
            </a:avLst>
          </a:prstGeom>
          <a:solidFill>
            <a:srgbClr val="0A0F1C"/>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7240" y="4709160"/>
            <a:ext cx="1005840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300" b="1" i="0">
                <a:solidFill>
                  <a:srgbClr val="F6B44B"/>
                </a:solidFill>
                <a:latin typeface="Aptos"/>
              </a:rPr>
              <a:t>NOT AI: physics and explicit rules you can inspect</a:t>
            </a:r>
          </a:p>
        </p:txBody>
      </p:sp>
      <p:sp>
        <p:nvSpPr>
          <p:cNvPr id="16" name="TextBox 15"/>
          <p:cNvSpPr txBox="1"/>
          <p:nvPr/>
        </p:nvSpPr>
        <p:spPr>
          <a:xfrm>
            <a:off x="77724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Sky brightness</a:t>
            </a:r>
            <a:r>
              <a:rPr sz="1700" b="0" i="0">
                <a:solidFill>
                  <a:srgbClr val="D9D2BD"/>
                </a:solidFill>
                <a:latin typeface="Aptos"/>
              </a:rPr>
              <a:t>: atmospheric scattering physics</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Scenario effects</a:t>
            </a:r>
            <a:r>
              <a:rPr sz="1700" b="0" i="0">
                <a:solidFill>
                  <a:srgbClr val="D9D2BD"/>
                </a:solidFill>
                <a:latin typeface="Aptos"/>
              </a:rPr>
              <a:t>: published fixture rules</a:t>
            </a:r>
          </a:p>
        </p:txBody>
      </p:sp>
      <p:sp>
        <p:nvSpPr>
          <p:cNvPr id="17" name="TextBox 16"/>
          <p:cNvSpPr txBox="1"/>
          <p:nvPr/>
        </p:nvSpPr>
        <p:spPr>
          <a:xfrm>
            <a:off x="6309360" y="5074920"/>
            <a:ext cx="5212080" cy="12801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Site ranking</a:t>
            </a:r>
            <a:r>
              <a:rPr sz="1700" b="0" i="0">
                <a:solidFill>
                  <a:srgbClr val="D9D2BD"/>
                </a:solidFill>
                <a:latin typeface="Aptos"/>
              </a:rPr>
              <a:t>: weighted sum, weights you set</a:t>
            </a:r>
          </a:p>
          <a:p>
            <a:pPr marL="256032" indent="-256032">
              <a:lnSpc>
                <a:spcPct val="100000"/>
              </a:lnSpc>
              <a:spcBef>
                <a:spcPts val="400"/>
              </a:spcBef>
              <a:spcAft>
                <a:spcPts val="0"/>
              </a:spcAft>
              <a:buClr>
                <a:srgbClr val="F6B44B"/>
              </a:buClr>
              <a:buSzPct val="100000"/>
              <a:buFont typeface="Arial"/>
              <a:buChar char="•"/>
            </a:pPr>
            <a:r>
              <a:rPr sz="1700" b="1" i="0">
                <a:solidFill>
                  <a:srgbClr val="F6B44B"/>
                </a:solidFill>
                <a:latin typeface="Aptos"/>
              </a:rPr>
              <a:t>Costs</a:t>
            </a:r>
            <a:r>
              <a:rPr sz="1700" b="0" i="0">
                <a:solidFill>
                  <a:srgbClr val="D9D2BD"/>
                </a:solidFill>
                <a:latin typeface="Aptos"/>
              </a:rPr>
              <a:t>: unit prices × fixture counts</a:t>
            </a:r>
          </a:p>
        </p:txBody>
      </p:sp>
      <p:pic>
        <p:nvPicPr>
          <p:cNvPr id="18" name="Picture 17" descr="ai_days_logo_sticker.png"/>
          <p:cNvPicPr>
            <a:picLocks noChangeAspect="1"/>
          </p:cNvPicPr>
          <p:nvPr/>
        </p:nvPicPr>
        <p:blipFill>
          <a:blip r:embed="rId3"/>
          <a:stretch>
            <a:fillRect/>
          </a:stretch>
        </p:blipFill>
        <p:spPr>
          <a:xfrm>
            <a:off x="10408615" y="201168"/>
            <a:ext cx="1371600" cy="798271"/>
          </a:xfrm>
          <a:prstGeom prst="rect">
            <a:avLst/>
          </a:prstGeom>
        </p:spPr>
      </p:pic>
      <p:sp>
        <p:nvSpPr>
          <p:cNvPr id="19" name="TextBox 1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  ·  Andrews (1993), Tests for parameter instability and structural change with unknown change point  ·  Ke et al. (2017), LightGBM: A highly efficient gradient boosting decision tree  ·  Garstang (1986), Model for artificial night-sky illumination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2</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data: 13 years of NASA night lights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16</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NASA Black Marble (</a:t>
            </a:r>
            <a:r>
              <a:rPr sz="1900" b="1" i="0">
                <a:solidFill>
                  <a:srgbClr val="F6B44B"/>
                </a:solidFill>
                <a:latin typeface="Aptos"/>
              </a:rPr>
              <a:t>VIIRS VNP46A2</a:t>
            </a:r>
            <a:r>
              <a:rPr sz="1900" b="0" i="0">
                <a:solidFill>
                  <a:srgbClr val="D9D2BD"/>
                </a:solidFill>
                <a:latin typeface="Aptos"/>
              </a:rPr>
              <a:t>): nightly, moonlight- and angle-corrected, ~500 m</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Keep cloud-free, high-quality nights; </a:t>
            </a:r>
            <a:r>
              <a:rPr sz="1900" b="1" i="0">
                <a:solidFill>
                  <a:srgbClr val="F6B44B"/>
                </a:solidFill>
                <a:latin typeface="Aptos"/>
              </a:rPr>
              <a:t>one median per year</a:t>
            </a:r>
            <a:r>
              <a:rPr sz="1900" b="0" i="0">
                <a:solidFill>
                  <a:srgbClr val="D9D2BD"/>
                </a:solidFill>
                <a:latin typeface="Aptos"/>
              </a:rPr>
              <a:t> per cell, 2012–2024</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Pulled through </a:t>
            </a:r>
            <a:r>
              <a:rPr sz="1900" b="1" i="0">
                <a:solidFill>
                  <a:srgbClr val="F6B44B"/>
                </a:solidFill>
                <a:latin typeface="Aptos"/>
              </a:rPr>
              <a:t>Google Earth Engine</a:t>
            </a:r>
            <a:r>
              <a:rPr sz="1900" b="0" i="0">
                <a:solidFill>
                  <a:srgbClr val="D9D2BD"/>
                </a:solidFill>
                <a:latin typeface="Aptos"/>
              </a:rPr>
              <a:t>'s free noncommercial tier in ~12 minutes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 2024 layer also tells the physics model where private lighting is</a:t>
            </a:r>
          </a:p>
        </p:txBody>
      </p:sp>
      <p:pic>
        <p:nvPicPr>
          <p:cNvPr id="6" name="16_viirs.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VIIRS layer: yearly median radiance with the airglow background removed; the slider steps through 2012–2024.</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  ·  Gorelick et al. (2017), Google Earth Engine: Planetary-scale geospatial analysis for everyone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THE AI  ·  3</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AI found, and where the sky is heading</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17</a:t>
            </a:r>
          </a:p>
        </p:txBody>
      </p:sp>
      <p:sp>
        <p:nvSpPr>
          <p:cNvPr id="5" name="TextBox 4"/>
          <p:cNvSpPr txBox="1"/>
          <p:nvPr/>
        </p:nvSpPr>
        <p:spPr>
          <a:xfrm>
            <a:off x="548640" y="1463040"/>
            <a:ext cx="387065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1" i="0">
                <a:solidFill>
                  <a:srgbClr val="F6B44B"/>
                </a:solidFill>
                <a:latin typeface="Aptos"/>
              </a:rPr>
              <a:t>Found:</a:t>
            </a:r>
            <a:r>
              <a:rPr sz="1600" b="0" i="0">
                <a:solidFill>
                  <a:srgbClr val="D9D2BD"/>
                </a:solidFill>
                <a:latin typeface="Aptos"/>
              </a:rPr>
              <a:t> about 1,500 spots where light jumped suddenly since 2012, such as Celebration Pointe in 2016</a:t>
            </a:r>
          </a:p>
          <a:p>
            <a:pPr marL="256032" indent="-256032">
              <a:lnSpc>
                <a:spcPct val="100000"/>
              </a:lnSpc>
              <a:spcBef>
                <a:spcPts val="1200"/>
              </a:spcBef>
              <a:spcAft>
                <a:spcPts val="0"/>
              </a:spcAft>
              <a:buClr>
                <a:srgbClr val="F6B44B"/>
              </a:buClr>
              <a:buSzPct val="100000"/>
              <a:buFont typeface="Arial"/>
              <a:buChar char="•"/>
            </a:pPr>
            <a:r>
              <a:rPr sz="1600" b="1" i="0">
                <a:solidFill>
                  <a:srgbClr val="F6B44B"/>
                </a:solidFill>
                <a:latin typeface="Aptos"/>
              </a:rPr>
              <a:t>Forecast:</a:t>
            </a:r>
            <a:r>
              <a:rPr sz="1600" b="0" i="0">
                <a:solidFill>
                  <a:srgbClr val="D9D2BD"/>
                </a:solidFill>
                <a:latin typeface="Aptos"/>
              </a:rPr>
              <a:t> LightGBM projects where light grows; the map steps the sky forward to </a:t>
            </a:r>
            <a:r>
              <a:rPr sz="1600" b="1" i="0">
                <a:solidFill>
                  <a:srgbClr val="F6B44B"/>
                </a:solidFill>
                <a:latin typeface="Aptos"/>
              </a:rPr>
              <a:t>2034</a:t>
            </a:r>
            <a:r>
              <a:rPr sz="1600" b="0" i="0">
                <a:solidFill>
                  <a:srgbClr val="D9D2BD"/>
                </a:solidFill>
                <a:latin typeface="Aptos"/>
              </a:rPr>
              <a:t> if the 2018–24 pace continues</a:t>
            </a:r>
          </a:p>
          <a:p>
            <a:pPr marL="256032" indent="-256032">
              <a:lnSpc>
                <a:spcPct val="100000"/>
              </a:lnSpc>
              <a:spcBef>
                <a:spcPts val="1200"/>
              </a:spcBef>
              <a:spcAft>
                <a:spcPts val="0"/>
              </a:spcAft>
              <a:buClr>
                <a:srgbClr val="F6B44B"/>
              </a:buClr>
              <a:buSzPct val="100000"/>
              <a:buFont typeface="Arial"/>
              <a:buChar char="•"/>
            </a:pPr>
            <a:r>
              <a:rPr sz="1600" b="1" i="0">
                <a:solidFill>
                  <a:srgbClr val="F6B44B"/>
                </a:solidFill>
                <a:latin typeface="Aptos"/>
              </a:rPr>
              <a:t>Cleaned first:</a:t>
            </a:r>
            <a:r>
              <a:rPr sz="1600" b="0" i="0">
                <a:solidFill>
                  <a:srgbClr val="D9D2BD"/>
                </a:solidFill>
                <a:latin typeface="Aptos"/>
              </a:rPr>
              <a:t> the upper atmosphere's natural glow follows the Sun's cycle; it's removed so the AI learns our lights, not the Sun</a:t>
            </a:r>
          </a:p>
          <a:p>
            <a:pPr marL="256032" indent="-256032">
              <a:lnSpc>
                <a:spcPct val="100000"/>
              </a:lnSpc>
              <a:spcBef>
                <a:spcPts val="1200"/>
              </a:spcBef>
              <a:spcAft>
                <a:spcPts val="0"/>
              </a:spcAft>
              <a:buClr>
                <a:srgbClr val="F6B44B"/>
              </a:buClr>
              <a:buSzPct val="100000"/>
              <a:buFont typeface="Arial"/>
              <a:buChar char="•"/>
            </a:pPr>
            <a:r>
              <a:rPr sz="1600" b="1" i="0">
                <a:solidFill>
                  <a:srgbClr val="F6B44B"/>
                </a:solidFill>
                <a:latin typeface="Aptos"/>
              </a:rPr>
              <a:t>Checked:</a:t>
            </a:r>
            <a:r>
              <a:rPr sz="1600" b="0" i="0">
                <a:solidFill>
                  <a:srgbClr val="D9D2BD"/>
                </a:solidFill>
                <a:latin typeface="Aptos"/>
              </a:rPr>
              <a:t> the forecast is graded only on years it never saw</a:t>
            </a:r>
          </a:p>
        </p:txBody>
      </p:sp>
      <p:pic>
        <p:nvPicPr>
          <p:cNvPr id="6" name="17_skyforecast.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922215" y="1508760"/>
            <a:ext cx="6720840" cy="3780472"/>
          </a:xfrm>
          <a:prstGeom prst="rect">
            <a:avLst/>
          </a:prstGeom>
        </p:spPr>
      </p:pic>
      <p:sp>
        <p:nvSpPr>
          <p:cNvPr id="7" name="TextBox 6"/>
          <p:cNvSpPr txBox="1"/>
          <p:nvPr/>
        </p:nvSpPr>
        <p:spPr>
          <a:xfrm>
            <a:off x="4922215" y="5344096"/>
            <a:ext cx="672084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Scenario tab, growth forecast on: the sky stepping from 2025 to 2034 (orange = brighter than today).</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  ·  Ke et al. (2017), LightGBM: A highly efficient gradient boosting decision tree  ·  EMJ Construction (2016), Two new Florida Bass Pro locations underway  ·  Román et al. (2018), NASA's Black Marble nighttime lights product suite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Where could UF build its next observatory?</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18</a:t>
            </a:r>
          </a:p>
        </p:txBody>
      </p:sp>
      <p:sp>
        <p:nvSpPr>
          <p:cNvPr id="5" name="TextBox 4"/>
          <p:cNvSpPr txBox="1"/>
          <p:nvPr/>
        </p:nvSpPr>
        <p:spPr>
          <a:xfrm>
            <a:off x="548640" y="1417320"/>
            <a:ext cx="507492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Requested by </a:t>
            </a:r>
            <a:r>
              <a:rPr sz="1600" b="1" i="0">
                <a:solidFill>
                  <a:srgbClr val="F6B44B"/>
                </a:solidFill>
                <a:latin typeface="Aptos"/>
              </a:rPr>
              <a:t>Dr. Elizabeth Lada</a:t>
            </a:r>
            <a:r>
              <a:rPr sz="1600" b="0" i="0">
                <a:solidFill>
                  <a:srgbClr val="D9D2BD"/>
                </a:solidFill>
                <a:latin typeface="Aptos"/>
              </a:rPr>
              <a:t>, Chair of UF Astronomy</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Every ~1 km cell of 11 counties scored: dark sky today and in </a:t>
            </a:r>
            <a:r>
              <a:rPr sz="1600" b="1" i="0">
                <a:solidFill>
                  <a:srgbClr val="F6B44B"/>
                </a:solidFill>
                <a:latin typeface="Aptos"/>
              </a:rPr>
              <a:t>2034</a:t>
            </a:r>
            <a:r>
              <a:rPr sz="1600" b="0" i="0">
                <a:solidFill>
                  <a:srgbClr val="D9D2BD"/>
                </a:solidFill>
                <a:latin typeface="Aptos"/>
              </a:rPr>
              <a:t> (LightGBM), clear air, land, access, </a:t>
            </a:r>
            <a:r>
              <a:rPr sz="1600" b="1" i="0">
                <a:solidFill>
                  <a:srgbClr val="F6B44B"/>
                </a:solidFill>
                <a:latin typeface="Aptos"/>
              </a:rPr>
              <a:t>drive time from UF</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Ruled out: </a:t>
            </a:r>
            <a:r>
              <a:rPr sz="1600" b="1" i="0">
                <a:solidFill>
                  <a:srgbClr val="F6B44B"/>
                </a:solidFill>
                <a:latin typeface="Aptos"/>
              </a:rPr>
              <a:t>water and wetland</a:t>
            </a:r>
            <a:r>
              <a:rPr sz="1600" b="0" i="0">
                <a:solidFill>
                  <a:srgbClr val="D9D2BD"/>
                </a:solidFill>
                <a:latin typeface="Aptos"/>
              </a:rPr>
              <a:t>, the coast, ground below 5 m (storm surge), </a:t>
            </a:r>
            <a:r>
              <a:rPr sz="1600" b="1" i="0">
                <a:solidFill>
                  <a:srgbClr val="F6B44B"/>
                </a:solidFill>
                <a:latin typeface="Aptos"/>
              </a:rPr>
              <a:t>2080 flood projections</a:t>
            </a:r>
            <a:r>
              <a:rPr sz="1600" b="0" i="0">
                <a:solidFill>
                  <a:srgbClr val="D9D2BD"/>
                </a:solidFill>
                <a:latin typeface="Aptos"/>
              </a:rPr>
              <a:t>, </a:t>
            </a:r>
            <a:r>
              <a:rPr sz="1600" b="1" i="0">
                <a:solidFill>
                  <a:srgbClr val="F6B44B"/>
                </a:solidFill>
                <a:latin typeface="Aptos"/>
              </a:rPr>
              <a:t>FEMA's 100-year floodplain</a:t>
            </a:r>
            <a:r>
              <a:rPr sz="1600" b="0" i="0">
                <a:solidFill>
                  <a:srgbClr val="D9D2BD"/>
                </a:solidFill>
                <a:latin typeface="Aptos"/>
              </a:rPr>
              <a:t>, over ~90 min away</a:t>
            </a:r>
          </a:p>
          <a:p>
            <a:pPr marL="256032" indent="-256032">
              <a:lnSpc>
                <a:spcPct val="100000"/>
              </a:lnSpc>
              <a:spcBef>
                <a:spcPts val="900"/>
              </a:spcBef>
              <a:spcAft>
                <a:spcPts val="0"/>
              </a:spcAft>
              <a:buClr>
                <a:srgbClr val="F6B44B"/>
              </a:buClr>
              <a:buSzPct val="100000"/>
              <a:buFont typeface="Arial"/>
              <a:buChar char="•"/>
            </a:pPr>
            <a:r>
              <a:rPr sz="1600" b="1" i="0">
                <a:solidFill>
                  <a:srgbClr val="F6B44B"/>
                </a:solidFill>
                <a:latin typeface="Aptos"/>
              </a:rPr>
              <a:t>Shortlist: Levy #1–#3</a:t>
            </a:r>
            <a:r>
              <a:rPr sz="1600" b="0" i="0">
                <a:solidFill>
                  <a:srgbClr val="D9D2BD"/>
                </a:solidFill>
                <a:latin typeface="Aptos"/>
              </a:rPr>
              <a:t>, between Chiefland and Bronson: 44–58 min from campus, Bortle 3, land </a:t>
            </a:r>
            <a:r>
              <a:rPr sz="1600" b="1" i="0">
                <a:solidFill>
                  <a:srgbClr val="F6B44B"/>
                </a:solidFill>
                <a:latin typeface="Aptos"/>
              </a:rPr>
              <a:t>$605K–806K</a:t>
            </a:r>
            <a:r>
              <a:rPr sz="1600" b="0" i="0">
                <a:solidFill>
                  <a:srgbClr val="D9D2BD"/>
                </a:solidFill>
                <a:latin typeface="Aptos"/>
              </a:rPr>
              <a:t> for 80 acres</a:t>
            </a:r>
          </a:p>
          <a:p>
            <a:pPr marL="256032" indent="-256032">
              <a:lnSpc>
                <a:spcPct val="100000"/>
              </a:lnSpc>
              <a:spcBef>
                <a:spcPts val="900"/>
              </a:spcBef>
              <a:spcAft>
                <a:spcPts val="0"/>
              </a:spcAft>
              <a:buClr>
                <a:srgbClr val="F6B44B"/>
              </a:buClr>
              <a:buSzPct val="100000"/>
              <a:buFont typeface="Arial"/>
              <a:buChar char="•"/>
            </a:pPr>
            <a:r>
              <a:rPr sz="1600" b="0" i="0">
                <a:solidFill>
                  <a:srgbClr val="D9D2BD"/>
                </a:solidFill>
                <a:latin typeface="Aptos"/>
              </a:rPr>
              <a:t>Telescope + building: $1–3M in published examples → </a:t>
            </a:r>
            <a:r>
              <a:rPr sz="1600" b="1" i="0">
                <a:solidFill>
                  <a:srgbClr val="F6B44B"/>
                </a:solidFill>
                <a:latin typeface="Aptos"/>
              </a:rPr>
              <a:t>≈ $1.6–3.8M</a:t>
            </a:r>
            <a:r>
              <a:rPr sz="1600" b="0" i="0">
                <a:solidFill>
                  <a:srgbClr val="D9D2BD"/>
                </a:solidFill>
                <a:latin typeface="Aptos"/>
              </a:rPr>
              <a:t> total</a:t>
            </a:r>
          </a:p>
        </p:txBody>
      </p:sp>
      <p:pic>
        <p:nvPicPr>
          <p:cNvPr id="6" name="Picture 5" descr="obs_map_markers.png"/>
          <p:cNvPicPr>
            <a:picLocks noChangeAspect="1"/>
          </p:cNvPicPr>
          <p:nvPr/>
        </p:nvPicPr>
        <p:blipFill>
          <a:blip r:embed="rId3"/>
          <a:srcRect r="6000" b="6000"/>
          <a:stretch>
            <a:fillRect/>
          </a:stretch>
        </p:blipFill>
        <p:spPr>
          <a:xfrm>
            <a:off x="6458712" y="1417320"/>
            <a:ext cx="5181600" cy="4160520"/>
          </a:xfrm>
          <a:prstGeom prst="roundRect">
            <a:avLst>
              <a:gd name="adj" fmla="val 1200"/>
            </a:avLst>
          </a:prstGeom>
          <a:ln w="9525">
            <a:solidFill>
              <a:srgbClr val="2A3A60"/>
            </a:solidFill>
          </a:ln>
        </p:spPr>
      </p:pic>
      <p:sp>
        <p:nvSpPr>
          <p:cNvPr id="7" name="TextBox 6"/>
          <p:cNvSpPr txBox="1"/>
          <p:nvPr/>
        </p:nvSpPr>
        <p:spPr>
          <a:xfrm>
            <a:off x="6458712" y="5623559"/>
            <a:ext cx="5181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Observatory tab: the top 20 sites by rank (orange = Levy shortlist; markers enlarged). Blank areas are ruled out: water, wetland, flood-prone ground or over 90 minutes away.</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800" b="0" i="0">
                <a:solidFill>
                  <a:srgbClr val="A79F88"/>
                </a:solidFill>
                <a:latin typeface="Aptos"/>
              </a:rPr>
              <a:t>Sources: Ke et al. (2017), LightGBM: A highly efficient gradient boosting decision tree  ·  Dewitz (2023), National Land Cover Database (NLCD) 2021  ·  Cangialosi &amp; Alaka (2026), Tropical Cyclone Report: Hurricane Idalia  ·  Sweet et al. (2022), Global and Regional Sea Level Rise Scenarios for the United States  ·  Ward et al. (2020), Aqueduct Floods Methodology  ·  FEMA (2026), National Flood Hazard Layer  ·  Florida Dept. of Revenue (2025), Tax roll and qualified sales  ·  York University (2019), Installation of new telescope expected to be largest at a Canadian university  ·  ABC7 Los Angeles (2011), Domes put in place for CSUSB's observatory  ·  Florida Tech (2004), Funding secured for Florida Tech telescope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IN USE</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From model to policy brief</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19</a:t>
            </a:r>
          </a:p>
        </p:txBody>
      </p:sp>
      <p:sp>
        <p:nvSpPr>
          <p:cNvPr id="5" name="TextBox 4"/>
          <p:cNvSpPr txBox="1"/>
          <p:nvPr/>
        </p:nvSpPr>
        <p:spPr>
          <a:xfrm>
            <a:off x="548640" y="1463040"/>
            <a:ext cx="3687775" cy="47548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One-click </a:t>
            </a:r>
            <a:r>
              <a:rPr sz="1900" b="1" i="0">
                <a:solidFill>
                  <a:srgbClr val="F6B44B"/>
                </a:solidFill>
                <a:latin typeface="Aptos"/>
              </a:rPr>
              <a:t>PDF</a:t>
            </a:r>
            <a:r>
              <a:rPr sz="1900" b="0" i="0">
                <a:solidFill>
                  <a:srgbClr val="D9D2BD"/>
                </a:solidFill>
                <a:latin typeface="Aptos"/>
              </a:rPr>
              <a:t> for commissioners; every figure links back to its scenario</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First line: “These outputs are planning projections, not observed outcomes.”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Defensibility panel lists what's missing: sky-meter stations, utility inventories, satellite calibration</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That list is the </a:t>
            </a:r>
            <a:r>
              <a:rPr sz="1900" b="1" i="0">
                <a:solidFill>
                  <a:srgbClr val="F6B44B"/>
                </a:solidFill>
                <a:latin typeface="Aptos"/>
              </a:rPr>
              <a:t>v3 plan</a:t>
            </a:r>
          </a:p>
        </p:txBody>
      </p:sp>
      <p:pic>
        <p:nvPicPr>
          <p:cNvPr id="6" name="19_brief.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4739335" y="1508760"/>
            <a:ext cx="6903720" cy="3883342"/>
          </a:xfrm>
          <a:prstGeom prst="rect">
            <a:avLst/>
          </a:prstGeom>
        </p:spPr>
      </p:pic>
      <p:sp>
        <p:nvSpPr>
          <p:cNvPr id="7" name="TextBox 6"/>
          <p:cNvSpPr txBox="1"/>
          <p:nvPr/>
        </p:nvSpPr>
        <p:spPr>
          <a:xfrm>
            <a:off x="4739335" y="5446966"/>
            <a:ext cx="69037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Brief tab: defensibility panel and the legislative brief.</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Scaling up: from projection to evidence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20</a:t>
            </a:r>
          </a:p>
        </p:txBody>
      </p:sp>
      <p:sp>
        <p:nvSpPr>
          <p:cNvPr id="5" name="TextBox 4"/>
          <p:cNvSpPr txBox="1"/>
          <p:nvPr/>
        </p:nvSpPr>
        <p:spPr>
          <a:xfrm>
            <a:off x="548640" y="1463040"/>
            <a:ext cx="758952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1" i="0">
                <a:solidFill>
                  <a:srgbClr val="F6B44B"/>
                </a:solidFill>
                <a:latin typeface="Aptos"/>
              </a:rPr>
              <a:t>Ground truth</a:t>
            </a:r>
            <a:r>
              <a:rPr sz="1700" b="0" i="0">
                <a:solidFill>
                  <a:srgbClr val="D9D2BD"/>
                </a:solidFill>
                <a:latin typeface="Aptos"/>
              </a:rPr>
              <a:t>: sky-quality meters in every county + a 50-node low-cost sensor pilot (~$5,900 hardware)</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Real inventories</a:t>
            </a:r>
            <a:r>
              <a:rPr sz="1700" b="0" i="0">
                <a:solidFill>
                  <a:srgbClr val="D9D2BD"/>
                </a:solidFill>
                <a:latin typeface="Aptos"/>
              </a:rPr>
              <a:t>: utility data-sharing agreements (GRU, Duke, Clay, CFEC)</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Computer vision</a:t>
            </a:r>
            <a:r>
              <a:rPr sz="1700" b="0" i="0">
                <a:solidFill>
                  <a:srgbClr val="D9D2BD"/>
                </a:solidFill>
                <a:latin typeface="Aptos"/>
              </a:rPr>
              <a:t>: a YOLO detector on street-level imagery to classify fixtures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Retrofit detection</a:t>
            </a:r>
            <a:r>
              <a:rPr sz="1700" b="0" i="0">
                <a:solidFill>
                  <a:srgbClr val="D9D2BD"/>
                </a:solidFill>
                <a:latin typeface="Aptos"/>
              </a:rPr>
              <a:t>: monthly satellite data; fit the LED correction on GRU's 3000 K conversions</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Scaling</a:t>
            </a:r>
            <a:r>
              <a:rPr sz="1700" b="0" i="0">
                <a:solidFill>
                  <a:srgbClr val="D9D2BD"/>
                </a:solidFill>
                <a:latin typeface="Aptos"/>
              </a:rPr>
              <a:t>: a reusable county package (satellite data, lighting, development, policy), Levy County next</a:t>
            </a:r>
          </a:p>
          <a:p>
            <a:pPr marL="256032" indent="-256032">
              <a:lnSpc>
                <a:spcPct val="100000"/>
              </a:lnSpc>
              <a:spcBef>
                <a:spcPts val="900"/>
              </a:spcBef>
              <a:spcAft>
                <a:spcPts val="0"/>
              </a:spcAft>
              <a:buClr>
                <a:srgbClr val="F6B44B"/>
              </a:buClr>
              <a:buSzPct val="100000"/>
              <a:buFont typeface="Arial"/>
              <a:buChar char="•"/>
            </a:pPr>
            <a:r>
              <a:rPr sz="1700" b="1" i="0">
                <a:solidFill>
                  <a:srgbClr val="F6B44B"/>
                </a:solidFill>
                <a:latin typeface="Aptos"/>
              </a:rPr>
              <a:t>Siting</a:t>
            </a:r>
            <a:r>
              <a:rPr sz="1700" b="0" i="0">
                <a:solidFill>
                  <a:srgbClr val="D9D2BD"/>
                </a:solidFill>
                <a:latin typeface="Aptos"/>
              </a:rPr>
              <a:t>: parcel-level flood maps and site visits; blind test with UF Astronomy</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Looking for collaborators in sensors, computer vision, remote sensing and policy</a:t>
            </a:r>
          </a:p>
        </p:txBody>
      </p:sp>
      <p:pic>
        <p:nvPicPr>
          <p:cNvPr id="6" name="20_phone.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8950097" y="1463040"/>
            <a:ext cx="2198317" cy="4754880"/>
          </a:xfrm>
          <a:prstGeom prst="rect">
            <a:avLst/>
          </a:prstGeom>
        </p:spPr>
      </p:pic>
      <p:sp>
        <p:nvSpPr>
          <p:cNvPr id="7" name="TextBox 6"/>
          <p:cNvSpPr txBox="1"/>
          <p:nvPr/>
        </p:nvSpPr>
        <p:spPr>
          <a:xfrm>
            <a:off x="8950097" y="6272784"/>
            <a:ext cx="2198317"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The same app on a phone</a:t>
            </a:r>
          </a:p>
        </p:txBody>
      </p:sp>
      <p:pic>
        <p:nvPicPr>
          <p:cNvPr id="8" name="Picture 7" descr="ai_days_logo_sticker.png"/>
          <p:cNvPicPr>
            <a:picLocks noChangeAspect="1"/>
          </p:cNvPicPr>
          <p:nvPr/>
        </p:nvPicPr>
        <p:blipFill>
          <a:blip r:embed="rId6"/>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6"/>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WHAT'S NEXT</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UF can do</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21</a:t>
            </a:r>
          </a:p>
        </p:txBody>
      </p:sp>
      <p:sp>
        <p:nvSpPr>
          <p:cNvPr id="5" name="TextBox 4"/>
          <p:cNvSpPr txBox="1"/>
          <p:nvPr/>
        </p:nvSpPr>
        <p:spPr>
          <a:xfrm>
            <a:off x="548640" y="1417320"/>
            <a:ext cx="617220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Alachua County has </a:t>
            </a:r>
            <a:r>
              <a:rPr sz="1800" b="1" i="0">
                <a:solidFill>
                  <a:srgbClr val="F6B44B"/>
                </a:solidFill>
                <a:latin typeface="Aptos"/>
              </a:rPr>
              <a:t>adopted</a:t>
            </a:r>
            <a:r>
              <a:rPr sz="1800" b="0" i="0">
                <a:solidFill>
                  <a:srgbClr val="D9D2BD"/>
                </a:solidFill>
                <a:latin typeface="Aptos"/>
              </a:rPr>
              <a:t> dark-sky principles; </a:t>
            </a:r>
            <a:r>
              <a:rPr sz="1800" b="1" i="0">
                <a:solidFill>
                  <a:srgbClr val="F6B44B"/>
                </a:solidFill>
                <a:latin typeface="Aptos"/>
              </a:rPr>
              <a:t>UF plans its own campus</a:t>
            </a:r>
            <a:r>
              <a:rPr sz="1800" b="0" i="0">
                <a:solidFill>
                  <a:srgbClr val="D9D2BD"/>
                </a:solidFill>
                <a:latin typeface="Aptos"/>
              </a:rPr>
              <a:t>, coordinated with the county, so it can lead</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Lead on campus</a:t>
            </a:r>
            <a:r>
              <a:rPr sz="1800" b="0" i="0">
                <a:solidFill>
                  <a:srgbClr val="D9D2BD"/>
                </a:solidFill>
                <a:latin typeface="Aptos"/>
              </a:rPr>
              <a:t>: the model projects about </a:t>
            </a:r>
            <a:r>
              <a:rPr sz="1800" b="1" i="0">
                <a:solidFill>
                  <a:srgbClr val="F6B44B"/>
                </a:solidFill>
                <a:latin typeface="Aptos"/>
              </a:rPr>
              <a:t>$984K</a:t>
            </a:r>
            <a:r>
              <a:rPr sz="1800" b="0" i="0">
                <a:solidFill>
                  <a:srgbClr val="D9D2BD"/>
                </a:solidFill>
                <a:latin typeface="Aptos"/>
              </a:rPr>
              <a:t> to upgrade UF's 4,100 pole lights, saving about </a:t>
            </a:r>
            <a:r>
              <a:rPr sz="1800" b="1" i="0">
                <a:solidFill>
                  <a:srgbClr val="F6B44B"/>
                </a:solidFill>
                <a:latin typeface="Aptos"/>
              </a:rPr>
              <a:t>$198K</a:t>
            </a:r>
            <a:r>
              <a:rPr sz="1800" b="0" i="0">
                <a:solidFill>
                  <a:srgbClr val="D9D2BD"/>
                </a:solidFill>
                <a:latin typeface="Aptos"/>
              </a:rPr>
              <a:t> a year</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Protect UF's skies</a:t>
            </a:r>
            <a:r>
              <a:rPr sz="1800" b="0" i="0">
                <a:solidFill>
                  <a:srgbClr val="D9D2BD"/>
                </a:solidFill>
                <a:latin typeface="Aptos"/>
              </a:rPr>
              <a:t>: keep Rosemary Hill dark and choose a site for UF Astronomy's next observatory</a:t>
            </a:r>
          </a:p>
          <a:p>
            <a:pPr marL="256032" indent="-256032">
              <a:lnSpc>
                <a:spcPct val="100000"/>
              </a:lnSpc>
              <a:spcBef>
                <a:spcPts val="1000"/>
              </a:spcBef>
              <a:spcAft>
                <a:spcPts val="0"/>
              </a:spcAft>
              <a:buClr>
                <a:srgbClr val="F6B44B"/>
              </a:buClr>
              <a:buSzPct val="100000"/>
              <a:buFont typeface="Arial"/>
              <a:buChar char="•"/>
            </a:pPr>
            <a:r>
              <a:rPr sz="1800" b="1" i="0">
                <a:solidFill>
                  <a:srgbClr val="F6B44B"/>
                </a:solidFill>
                <a:latin typeface="Aptos"/>
              </a:rPr>
              <a:t>Measure the real sky</a:t>
            </a:r>
            <a:r>
              <a:rPr sz="1800" b="0" i="0">
                <a:solidFill>
                  <a:srgbClr val="D9D2BD"/>
                </a:solidFill>
                <a:latin typeface="Aptos"/>
              </a:rPr>
              <a:t>: a 50-sensor network (about </a:t>
            </a:r>
            <a:r>
              <a:rPr sz="1800" b="1" i="0">
                <a:solidFill>
                  <a:srgbClr val="F6B44B"/>
                </a:solidFill>
                <a:latin typeface="Aptos"/>
              </a:rPr>
              <a:t>$6,000</a:t>
            </a:r>
            <a:r>
              <a:rPr sz="1800" b="0" i="0">
                <a:solidFill>
                  <a:srgbClr val="D9D2BD"/>
                </a:solidFill>
                <a:latin typeface="Aptos"/>
              </a:rPr>
              <a:t> in hardware) to check the model against real readings</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Independent and unfunded so far: I'd like this to become a UF project</a:t>
            </a:r>
          </a:p>
        </p:txBody>
      </p:sp>
      <p:pic>
        <p:nvPicPr>
          <p:cNvPr id="6" name="Picture 5" descr="photo_rho_dome.jpg"/>
          <p:cNvPicPr>
            <a:picLocks noChangeAspect="1"/>
          </p:cNvPicPr>
          <p:nvPr/>
        </p:nvPicPr>
        <p:blipFill>
          <a:blip r:embed="rId3"/>
          <a:srcRect l="13755" r="13755"/>
          <a:stretch>
            <a:fillRect/>
          </a:stretch>
        </p:blipFill>
        <p:spPr>
          <a:xfrm>
            <a:off x="6949440" y="1417320"/>
            <a:ext cx="4690872" cy="4343400"/>
          </a:xfrm>
          <a:prstGeom prst="roundRect">
            <a:avLst>
              <a:gd name="adj" fmla="val 1200"/>
            </a:avLst>
          </a:prstGeom>
          <a:ln w="9525">
            <a:solidFill>
              <a:srgbClr val="2A3A60"/>
            </a:solidFill>
          </a:ln>
        </p:spPr>
      </p:pic>
      <p:sp>
        <p:nvSpPr>
          <p:cNvPr id="7" name="TextBox 6"/>
          <p:cNvSpPr txBox="1"/>
          <p:nvPr/>
        </p:nvSpPr>
        <p:spPr>
          <a:xfrm>
            <a:off x="6949440" y="5806440"/>
            <a:ext cx="46908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000" b="0" i="0">
                <a:solidFill>
                  <a:srgbClr val="A79F88"/>
                </a:solidFill>
                <a:latin typeface="Aptos"/>
              </a:rPr>
              <a:t>UF's Rosemary Hill Observatory. Photo: The Gainesville Sun, April 2012.</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Roldán Hernández (2023), Security enhancements make for a brighter, safer campus (UF News)  ·  Dark Sky Simulator fixture catalog (2026)</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70B16"/>
        </a:solidFill>
        <a:effectLst/>
      </p:bgPr>
    </p:bg>
    <p:spTree>
      <p:nvGrpSpPr>
        <p:cNvPr id="1" name=""/>
        <p:cNvGrpSpPr/>
        <p:nvPr/>
      </p:nvGrpSpPr>
      <p:grpSpPr>
        <a:xfrm>
          <a:off x="0" y="0"/>
          <a:ext cx="0" cy="0"/>
          <a:chOff x="0" y="0"/>
          <a:chExt cx="0" cy="0"/>
        </a:xfrm>
      </p:grpSpPr>
      <p:pic>
        <p:nvPicPr>
          <p:cNvPr id="2" name="22_supercut.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04951" y="1325880"/>
            <a:ext cx="7494016" cy="4215384"/>
          </a:xfrm>
          <a:prstGeom prst="rect">
            <a:avLst/>
          </a:prstGeom>
        </p:spPr>
      </p:pic>
      <p:sp>
        <p:nvSpPr>
          <p:cNvPr id="3" name="TextBox 2"/>
          <p:cNvSpPr txBox="1"/>
          <p:nvPr/>
        </p:nvSpPr>
        <p:spPr>
          <a:xfrm>
            <a:off x="8412480" y="1188720"/>
            <a:ext cx="338328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4000" b="1" i="0">
                <a:solidFill>
                  <a:srgbClr val="F5F1E6"/>
                </a:solidFill>
                <a:latin typeface="Aptos Display"/>
              </a:rPr>
              <a:t>Thank you</a:t>
            </a:r>
          </a:p>
        </p:txBody>
      </p:sp>
      <p:sp>
        <p:nvSpPr>
          <p:cNvPr id="4" name="TextBox 3"/>
          <p:cNvSpPr txBox="1"/>
          <p:nvPr/>
        </p:nvSpPr>
        <p:spPr>
          <a:xfrm>
            <a:off x="8412480" y="1874519"/>
            <a:ext cx="3383280" cy="45720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2400" b="0" i="0">
                <a:solidFill>
                  <a:srgbClr val="F6B44B"/>
                </a:solidFill>
                <a:latin typeface="Aptos Display"/>
              </a:rPr>
              <a:t>Questions?</a:t>
            </a:r>
          </a:p>
        </p:txBody>
      </p:sp>
      <p:pic>
        <p:nvPicPr>
          <p:cNvPr id="5" name="Picture 4" descr="qr_app.png"/>
          <p:cNvPicPr>
            <a:picLocks noChangeAspect="1"/>
          </p:cNvPicPr>
          <p:nvPr/>
        </p:nvPicPr>
        <p:blipFill>
          <a:blip r:embed="rId6"/>
          <a:stretch>
            <a:fillRect/>
          </a:stretch>
        </p:blipFill>
        <p:spPr>
          <a:xfrm>
            <a:off x="8412480" y="2606040"/>
            <a:ext cx="1554480" cy="1554480"/>
          </a:xfrm>
          <a:prstGeom prst="rect">
            <a:avLst/>
          </a:prstGeom>
        </p:spPr>
      </p:pic>
      <p:sp>
        <p:nvSpPr>
          <p:cNvPr id="6" name="TextBox 5"/>
          <p:cNvSpPr txBox="1"/>
          <p:nvPr/>
        </p:nvSpPr>
        <p:spPr>
          <a:xfrm>
            <a:off x="8412480"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Try it</a:t>
            </a:r>
          </a:p>
        </p:txBody>
      </p:sp>
      <p:sp>
        <p:nvSpPr>
          <p:cNvPr id="7" name="TextBox 6"/>
          <p:cNvSpPr txBox="1"/>
          <p:nvPr/>
        </p:nvSpPr>
        <p:spPr>
          <a:xfrm>
            <a:off x="8412480"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dark-sky-simulator-v2.vercel.app/dark-sky</a:t>
            </a:r>
          </a:p>
        </p:txBody>
      </p:sp>
      <p:pic>
        <p:nvPicPr>
          <p:cNvPr id="8" name="Picture 7" descr="qr_gh.png"/>
          <p:cNvPicPr>
            <a:picLocks noChangeAspect="1"/>
          </p:cNvPicPr>
          <p:nvPr/>
        </p:nvPicPr>
        <p:blipFill>
          <a:blip r:embed="rId7"/>
          <a:stretch>
            <a:fillRect/>
          </a:stretch>
        </p:blipFill>
        <p:spPr>
          <a:xfrm>
            <a:off x="10195559" y="2606040"/>
            <a:ext cx="1554480" cy="1554480"/>
          </a:xfrm>
          <a:prstGeom prst="rect">
            <a:avLst/>
          </a:prstGeom>
        </p:spPr>
      </p:pic>
      <p:sp>
        <p:nvSpPr>
          <p:cNvPr id="9" name="TextBox 8"/>
          <p:cNvSpPr txBox="1"/>
          <p:nvPr/>
        </p:nvSpPr>
        <p:spPr>
          <a:xfrm>
            <a:off x="10195559" y="4224528"/>
            <a:ext cx="164592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Code</a:t>
            </a:r>
          </a:p>
        </p:txBody>
      </p:sp>
      <p:sp>
        <p:nvSpPr>
          <p:cNvPr id="10" name="TextBox 9"/>
          <p:cNvSpPr txBox="1"/>
          <p:nvPr/>
        </p:nvSpPr>
        <p:spPr>
          <a:xfrm>
            <a:off x="10195559" y="4498848"/>
            <a:ext cx="164592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900" b="0" i="0">
                <a:solidFill>
                  <a:srgbClr val="D9D2BD"/>
                </a:solidFill>
                <a:latin typeface="Aptos"/>
              </a:rPr>
              <a:t>github.com/jayrosen-design/dark-sky-simulator-v2</a:t>
            </a:r>
          </a:p>
        </p:txBody>
      </p:sp>
      <p:sp>
        <p:nvSpPr>
          <p:cNvPr id="11" name="TextBox 10"/>
          <p:cNvSpPr txBox="1"/>
          <p:nvPr/>
        </p:nvSpPr>
        <p:spPr>
          <a:xfrm>
            <a:off x="8412480" y="5257800"/>
            <a:ext cx="3566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F5F1E6"/>
                </a:solidFill>
                <a:latin typeface="Aptos"/>
              </a:rPr>
              <a:t>Jay Rosen</a:t>
            </a:r>
            <a:r>
              <a:rPr sz="1400" b="0" i="0">
                <a:solidFill>
                  <a:srgbClr val="F5F1E6"/>
                </a:solidFill>
                <a:latin typeface="Aptos"/>
              </a:rPr>
              <a:t>  ·  jayrosen@ufl.edu</a:t>
            </a:r>
          </a:p>
        </p:txBody>
      </p:sp>
      <p:pic>
        <p:nvPicPr>
          <p:cNvPr id="12" name="Picture 11" descr="ai_days_logo_sticker.png"/>
          <p:cNvPicPr>
            <a:picLocks noChangeAspect="1"/>
          </p:cNvPicPr>
          <p:nvPr/>
        </p:nvPicPr>
        <p:blipFill>
          <a:blip r:embed="rId8"/>
          <a:stretch>
            <a:fillRect/>
          </a:stretch>
        </p:blipFill>
        <p:spPr>
          <a:xfrm>
            <a:off x="10408615" y="201168"/>
            <a:ext cx="1371600" cy="798271"/>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SOURCES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References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23</a:t>
            </a:r>
          </a:p>
        </p:txBody>
      </p:sp>
      <p:sp>
        <p:nvSpPr>
          <p:cNvPr id="5" name="TextBox 4"/>
          <p:cNvSpPr txBox="1"/>
          <p:nvPr/>
        </p:nvSpPr>
        <p:spPr>
          <a:xfrm>
            <a:off x="54864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ABC7 Los Angeles (c. 2011). Domes put in place for CSUSB's observatory.</a:t>
            </a:r>
          </a:p>
          <a:p>
            <a:pPr marL="228600" indent="-228600">
              <a:lnSpc>
                <a:spcPct val="93000"/>
              </a:lnSpc>
              <a:spcBef>
                <a:spcPts val="200"/>
              </a:spcBef>
              <a:spcAft>
                <a:spcPts val="0"/>
              </a:spcAft>
              <a:buNone/>
            </a:pPr>
            <a:r>
              <a:rPr sz="900" b="0" i="0">
                <a:solidFill>
                  <a:srgbClr val="D9D2BD"/>
                </a:solidFill>
                <a:latin typeface="Aptos"/>
              </a:rPr>
              <a:t>Alachua County (2026, February 13). Comprehensive Plan proposed evaluation and appraisal based amendments, Conservation and Open Space Element, Policy 5.3.7.</a:t>
            </a:r>
          </a:p>
          <a:p>
            <a:pPr marL="228600" indent="-228600">
              <a:lnSpc>
                <a:spcPct val="93000"/>
              </a:lnSpc>
              <a:spcBef>
                <a:spcPts val="200"/>
              </a:spcBef>
              <a:spcAft>
                <a:spcPts val="0"/>
              </a:spcAft>
              <a:buNone/>
            </a:pPr>
            <a:r>
              <a:rPr sz="900" b="0" i="0">
                <a:solidFill>
                  <a:srgbClr val="D9D2BD"/>
                </a:solidFill>
                <a:latin typeface="Aptos"/>
              </a:rPr>
              <a:t>Andrews, D. W. K. (1993). Tests for parameter instability and structural change with unknown change point. Econometrica, 61(4), 821–856.</a:t>
            </a:r>
          </a:p>
          <a:p>
            <a:pPr marL="228600" indent="-228600">
              <a:lnSpc>
                <a:spcPct val="93000"/>
              </a:lnSpc>
              <a:spcBef>
                <a:spcPts val="200"/>
              </a:spcBef>
              <a:spcAft>
                <a:spcPts val="0"/>
              </a:spcAft>
              <a:buNone/>
            </a:pPr>
            <a:r>
              <a:rPr sz="900" b="0" i="0">
                <a:solidFill>
                  <a:srgbClr val="D9D2BD"/>
                </a:solidFill>
                <a:latin typeface="Aptos"/>
              </a:rPr>
              <a:t>Bortle, J. E. (2001). Introducing the Bortle dark-sky scale. Sky &amp; Telescope, 101(2), 126–129.</a:t>
            </a:r>
          </a:p>
          <a:p>
            <a:pPr marL="228600" indent="-228600">
              <a:lnSpc>
                <a:spcPct val="93000"/>
              </a:lnSpc>
              <a:spcBef>
                <a:spcPts val="200"/>
              </a:spcBef>
              <a:spcAft>
                <a:spcPts val="0"/>
              </a:spcAft>
              <a:buNone/>
            </a:pPr>
            <a:r>
              <a:rPr sz="900" b="0" i="0">
                <a:solidFill>
                  <a:srgbClr val="D9D2BD"/>
                </a:solidFill>
                <a:latin typeface="Aptos"/>
              </a:rPr>
              <a:t>Cangialosi, J. P., &amp; Alaka, L. (2026). Tropical Cyclone Report: Hurricane Idalia (AL102023), 26–31 August 2023. National Hurricane Center (original report February 13, 2024).</a:t>
            </a:r>
          </a:p>
          <a:p>
            <a:pPr marL="228600" indent="-228600">
              <a:lnSpc>
                <a:spcPct val="93000"/>
              </a:lnSpc>
              <a:spcBef>
                <a:spcPts val="200"/>
              </a:spcBef>
              <a:spcAft>
                <a:spcPts val="0"/>
              </a:spcAft>
              <a:buNone/>
            </a:pPr>
            <a:r>
              <a:rPr sz="900" b="0" i="0">
                <a:solidFill>
                  <a:srgbClr val="D9D2BD"/>
                </a:solidFill>
                <a:latin typeface="Aptos"/>
              </a:rPr>
              <a:t>City of Groveland, Florida (2022). Ordinance 2022-26, outdoor lighting regulations.</a:t>
            </a:r>
          </a:p>
          <a:p>
            <a:pPr marL="228600" indent="-228600">
              <a:lnSpc>
                <a:spcPct val="93000"/>
              </a:lnSpc>
              <a:spcBef>
                <a:spcPts val="200"/>
              </a:spcBef>
              <a:spcAft>
                <a:spcPts val="0"/>
              </a:spcAft>
              <a:buNone/>
            </a:pPr>
            <a:r>
              <a:rPr sz="900" b="0" i="0">
                <a:solidFill>
                  <a:srgbClr val="D9D2BD"/>
                </a:solidFill>
                <a:latin typeface="Aptos"/>
              </a:rPr>
              <a:t>Dark Sky Simulator fixture catalog (2026): installed unit costs from the research reports and a retail price survey of DarkSky-compliant fixture types (September 26, 2026); DarkSky Approved luminaire search, darksky.org.</a:t>
            </a:r>
          </a:p>
          <a:p>
            <a:pPr marL="228600" indent="-228600">
              <a:lnSpc>
                <a:spcPct val="93000"/>
              </a:lnSpc>
              <a:spcBef>
                <a:spcPts val="200"/>
              </a:spcBef>
              <a:spcAft>
                <a:spcPts val="0"/>
              </a:spcAft>
              <a:buNone/>
            </a:pPr>
            <a:r>
              <a:rPr sz="900" b="0" i="0">
                <a:solidFill>
                  <a:srgbClr val="D9D2BD"/>
                </a:solidFill>
                <a:latin typeface="Aptos"/>
              </a:rPr>
              <a:t>Dark Sky Simulator research reports (2025): Gainesville Dark Sky Lighting Assessment; Streetlight Retrofit Cost-Benefit Analysis (Levy); Smart Streetlight Cost-Benefit Analysis; Street Lighting Dimming Savings Calculation (Duke LS-1, Clay Schedule L, CFEC). Unpublished.</a:t>
            </a:r>
          </a:p>
          <a:p>
            <a:pPr marL="228600" indent="-228600">
              <a:lnSpc>
                <a:spcPct val="93000"/>
              </a:lnSpc>
              <a:spcBef>
                <a:spcPts val="200"/>
              </a:spcBef>
              <a:spcAft>
                <a:spcPts val="0"/>
              </a:spcAft>
              <a:buNone/>
            </a:pPr>
            <a:r>
              <a:rPr sz="900" b="0" i="0">
                <a:solidFill>
                  <a:srgbClr val="D9D2BD"/>
                </a:solidFill>
                <a:latin typeface="Aptos"/>
              </a:rPr>
              <a:t>DarkSky International &amp; Illuminating Engineering Society (2020). Five Principles for Responsible Outdoor Lighting. darksky.org.</a:t>
            </a:r>
          </a:p>
          <a:p>
            <a:pPr marL="228600" indent="-228600">
              <a:lnSpc>
                <a:spcPct val="93000"/>
              </a:lnSpc>
              <a:spcBef>
                <a:spcPts val="200"/>
              </a:spcBef>
              <a:spcAft>
                <a:spcPts val="0"/>
              </a:spcAft>
              <a:buNone/>
            </a:pPr>
            <a:r>
              <a:rPr sz="900" b="0" i="0">
                <a:solidFill>
                  <a:srgbClr val="D9D2BD"/>
                </a:solidFill>
                <a:latin typeface="Aptos"/>
              </a:rPr>
              <a:t>DarkSky International. DarkSky Approved program and seal. darksky.org/what-we-do/darksky-approved.</a:t>
            </a:r>
          </a:p>
          <a:p>
            <a:pPr marL="228600" indent="-228600">
              <a:lnSpc>
                <a:spcPct val="93000"/>
              </a:lnSpc>
              <a:spcBef>
                <a:spcPts val="200"/>
              </a:spcBef>
              <a:spcAft>
                <a:spcPts val="0"/>
              </a:spcAft>
              <a:buNone/>
            </a:pPr>
            <a:r>
              <a:rPr sz="900" b="0" i="0">
                <a:solidFill>
                  <a:srgbClr val="D9D2BD"/>
                </a:solidFill>
                <a:latin typeface="Aptos"/>
              </a:rPr>
              <a:t>DarkSky International. International Dark Sky Places program guidelines (Dark Sky Park: sky ≥ 21.2 mag/arcsec²). darksky.org.</a:t>
            </a:r>
          </a:p>
          <a:p>
            <a:pPr marL="228600" indent="-228600">
              <a:lnSpc>
                <a:spcPct val="93000"/>
              </a:lnSpc>
              <a:spcBef>
                <a:spcPts val="200"/>
              </a:spcBef>
              <a:spcAft>
                <a:spcPts val="0"/>
              </a:spcAft>
              <a:buNone/>
            </a:pPr>
            <a:r>
              <a:rPr sz="900" b="0" i="0">
                <a:solidFill>
                  <a:srgbClr val="D9D2BD"/>
                </a:solidFill>
                <a:latin typeface="Aptos"/>
              </a:rPr>
              <a:t>Dewitz, J. (2023). National Land Cover Database (NLCD) 2021 Products. U.S. Geological Survey data release. doi:10.5066/P9JZ7AO3.</a:t>
            </a:r>
          </a:p>
          <a:p>
            <a:pPr marL="228600" indent="-228600">
              <a:lnSpc>
                <a:spcPct val="93000"/>
              </a:lnSpc>
              <a:spcBef>
                <a:spcPts val="200"/>
              </a:spcBef>
              <a:spcAft>
                <a:spcPts val="0"/>
              </a:spcAft>
              <a:buNone/>
            </a:pPr>
            <a:r>
              <a:rPr sz="900" b="0" i="0">
                <a:solidFill>
                  <a:srgbClr val="D9D2BD"/>
                </a:solidFill>
                <a:latin typeface="Aptos"/>
              </a:rPr>
              <a:t>Elvidge, C. D., Zhizhin, M., Ghosh, T., Hsu, F.-C., &amp; Taneja, J. (2021). Annual time series of global VIIRS nighttime lights derived from monthly averages: 2012 to 2019. Remote Sensing, 13(5), 922.</a:t>
            </a:r>
          </a:p>
          <a:p>
            <a:pPr marL="228600" indent="-228600">
              <a:lnSpc>
                <a:spcPct val="93000"/>
              </a:lnSpc>
              <a:spcBef>
                <a:spcPts val="200"/>
              </a:spcBef>
              <a:spcAft>
                <a:spcPts val="0"/>
              </a:spcAft>
              <a:buNone/>
            </a:pPr>
            <a:r>
              <a:rPr sz="900" b="0" i="0">
                <a:solidFill>
                  <a:srgbClr val="D9D2BD"/>
                </a:solidFill>
                <a:latin typeface="Aptos"/>
              </a:rPr>
              <a:t>EMJ Construction (2016, September 1). Two new Florida Bass Pro locations underway. emjcorp.com.</a:t>
            </a:r>
          </a:p>
          <a:p>
            <a:pPr marL="228600" indent="-228600">
              <a:lnSpc>
                <a:spcPct val="93000"/>
              </a:lnSpc>
              <a:spcBef>
                <a:spcPts val="200"/>
              </a:spcBef>
              <a:spcAft>
                <a:spcPts val="0"/>
              </a:spcAft>
              <a:buNone/>
            </a:pPr>
            <a:r>
              <a:rPr sz="900" b="0" i="0">
                <a:solidFill>
                  <a:srgbClr val="D9D2BD"/>
                </a:solidFill>
                <a:latin typeface="Aptos"/>
              </a:rPr>
              <a:t>Falchi, F., Cinzano, P., Duriscoe, D., et al. (2016). The new world atlas of artificial night sky brightness. Science Advances, 2(6), e1600377.</a:t>
            </a:r>
          </a:p>
          <a:p>
            <a:pPr marL="228600" indent="-228600">
              <a:lnSpc>
                <a:spcPct val="93000"/>
              </a:lnSpc>
              <a:spcBef>
                <a:spcPts val="200"/>
              </a:spcBef>
              <a:spcAft>
                <a:spcPts val="0"/>
              </a:spcAft>
              <a:buNone/>
            </a:pPr>
            <a:r>
              <a:rPr sz="900" b="0" i="0">
                <a:solidFill>
                  <a:srgbClr val="D9D2BD"/>
                </a:solidFill>
                <a:latin typeface="Aptos"/>
              </a:rPr>
              <a:t>Federal Emergency Management Agency (2026). National Flood Hazard Layer (NFHL): Special Flood Hazard Areas. hazards.fema.gov, accessed October 20, 2026.</a:t>
            </a:r>
          </a:p>
          <a:p>
            <a:pPr marL="228600" indent="-228600">
              <a:lnSpc>
                <a:spcPct val="93000"/>
              </a:lnSpc>
              <a:spcBef>
                <a:spcPts val="200"/>
              </a:spcBef>
              <a:spcAft>
                <a:spcPts val="0"/>
              </a:spcAft>
              <a:buNone/>
            </a:pPr>
            <a:r>
              <a:rPr sz="900" b="0" i="0">
                <a:solidFill>
                  <a:srgbClr val="D9D2BD"/>
                </a:solidFill>
                <a:latin typeface="Aptos"/>
              </a:rPr>
              <a:t>Florida Department of Revenue (2025). Tax roll and qualified sales (parcels ≥ 5 acres), via the Florida Geographic Information Office statewide parcels.</a:t>
            </a:r>
          </a:p>
          <a:p>
            <a:pPr marL="228600" indent="-228600">
              <a:lnSpc>
                <a:spcPct val="93000"/>
              </a:lnSpc>
              <a:spcBef>
                <a:spcPts val="200"/>
              </a:spcBef>
              <a:spcAft>
                <a:spcPts val="0"/>
              </a:spcAft>
              <a:buNone/>
            </a:pPr>
            <a:r>
              <a:rPr sz="900" b="0" i="0">
                <a:solidFill>
                  <a:srgbClr val="D9D2BD"/>
                </a:solidFill>
                <a:latin typeface="Aptos"/>
              </a:rPr>
              <a:t>Florida Institute of Technology (2004, August 19). Funding secured for Florida Tech telescope. Florida Tech News.</a:t>
            </a:r>
          </a:p>
        </p:txBody>
      </p:sp>
      <p:sp>
        <p:nvSpPr>
          <p:cNvPr id="6" name="TextBox 5"/>
          <p:cNvSpPr txBox="1"/>
          <p:nvPr/>
        </p:nvSpPr>
        <p:spPr>
          <a:xfrm>
            <a:off x="6217920" y="1325880"/>
            <a:ext cx="5440680" cy="5074920"/>
          </a:xfrm>
          <a:prstGeom prst="rect">
            <a:avLst/>
          </a:prstGeom>
          <a:noFill/>
        </p:spPr>
        <p:txBody>
          <a:bodyPr wrap="square" lIns="0" tIns="0" rIns="0" bIns="0" anchor="t">
            <a:noAutofit/>
          </a:bodyPr>
          <a:lstStyle/>
          <a:p>
            <a:pPr marL="228600" indent="-228600">
              <a:lnSpc>
                <a:spcPct val="93000"/>
              </a:lnSpc>
              <a:spcBef>
                <a:spcPts val="0"/>
              </a:spcBef>
              <a:spcAft>
                <a:spcPts val="0"/>
              </a:spcAft>
              <a:buNone/>
            </a:pPr>
            <a:r>
              <a:rPr sz="900" b="0" i="0">
                <a:solidFill>
                  <a:srgbClr val="D9D2BD"/>
                </a:solidFill>
                <a:latin typeface="Aptos"/>
              </a:rPr>
              <a:t>Garstang, R. H. (1986). Model for artificial night-sky illumination. Publications of the Astronomical Society of the Pacific, 98, 364–375.</a:t>
            </a:r>
          </a:p>
          <a:p>
            <a:pPr marL="228600" indent="-228600">
              <a:lnSpc>
                <a:spcPct val="93000"/>
              </a:lnSpc>
              <a:spcBef>
                <a:spcPts val="200"/>
              </a:spcBef>
              <a:spcAft>
                <a:spcPts val="0"/>
              </a:spcAft>
              <a:buNone/>
            </a:pPr>
            <a:r>
              <a:rPr sz="900" b="0" i="0">
                <a:solidFill>
                  <a:srgbClr val="D9D2BD"/>
                </a:solidFill>
                <a:latin typeface="Aptos"/>
              </a:rPr>
              <a:t>Gorelick, N., Hancher, M., Dixon, M., et al. (2017). Google Earth Engine: Planetary-scale geospatial analysis for everyone. Remote Sensing of Environment, 202, 18–27.</a:t>
            </a:r>
          </a:p>
          <a:p>
            <a:pPr marL="228600" indent="-228600">
              <a:lnSpc>
                <a:spcPct val="93000"/>
              </a:lnSpc>
              <a:spcBef>
                <a:spcPts val="200"/>
              </a:spcBef>
              <a:spcAft>
                <a:spcPts val="0"/>
              </a:spcAft>
              <a:buNone/>
            </a:pPr>
            <a:r>
              <a:rPr sz="900" b="0" i="0">
                <a:solidFill>
                  <a:srgbClr val="D9D2BD"/>
                </a:solidFill>
                <a:latin typeface="Aptos"/>
              </a:rPr>
              <a:t>Ke, G., Meng, Q., Finley, T., et al. (2017). LightGBM: A highly efficient gradient boosting decision tree. Advances in Neural Information Processing Systems, 30, 3146–3154.</a:t>
            </a:r>
          </a:p>
          <a:p>
            <a:pPr marL="228600" indent="-228600">
              <a:lnSpc>
                <a:spcPct val="93000"/>
              </a:lnSpc>
              <a:spcBef>
                <a:spcPts val="200"/>
              </a:spcBef>
              <a:spcAft>
                <a:spcPts val="0"/>
              </a:spcAft>
              <a:buNone/>
            </a:pPr>
            <a:r>
              <a:rPr sz="900" b="0" i="0">
                <a:solidFill>
                  <a:srgbClr val="D9D2BD"/>
                </a:solidFill>
                <a:latin typeface="Aptos"/>
              </a:rPr>
              <a:t>Krisciunas, K., &amp; Schaefer, B. E. (1991). A model of the brightness of moonlight. Publications of the Astronomical Society of the Pacific, 103, 1033–1039.</a:t>
            </a:r>
          </a:p>
          <a:p>
            <a:pPr marL="228600" indent="-228600">
              <a:lnSpc>
                <a:spcPct val="93000"/>
              </a:lnSpc>
              <a:spcBef>
                <a:spcPts val="200"/>
              </a:spcBef>
              <a:spcAft>
                <a:spcPts val="0"/>
              </a:spcAft>
              <a:buNone/>
            </a:pPr>
            <a:r>
              <a:rPr sz="900" b="0" i="0">
                <a:solidFill>
                  <a:srgbClr val="D9D2BD"/>
                </a:solidFill>
                <a:latin typeface="Aptos"/>
              </a:rPr>
              <a:t>Kyba, C. C. M., Altıntaş, Y. Ö., Walker, C. E., &amp; Newhouse, M. (2023). Citizen scientists report global rapid reductions in the visibility of stars from 2011 to 2022. Science, 379(6629), 265–268.</a:t>
            </a:r>
          </a:p>
          <a:p>
            <a:pPr marL="228600" indent="-228600">
              <a:lnSpc>
                <a:spcPct val="93000"/>
              </a:lnSpc>
              <a:spcBef>
                <a:spcPts val="200"/>
              </a:spcBef>
              <a:spcAft>
                <a:spcPts val="0"/>
              </a:spcAft>
              <a:buNone/>
            </a:pPr>
            <a:r>
              <a:rPr sz="900" b="0" i="0">
                <a:solidFill>
                  <a:srgbClr val="D9D2BD"/>
                </a:solidFill>
                <a:latin typeface="Aptos"/>
              </a:rPr>
              <a:t>OpenStreetMap contributors (2026). Road, street-lamp and sports-venue data. openstreetmap.org (ODbL).</a:t>
            </a:r>
          </a:p>
          <a:p>
            <a:pPr marL="228600" indent="-228600">
              <a:lnSpc>
                <a:spcPct val="93000"/>
              </a:lnSpc>
              <a:spcBef>
                <a:spcPts val="200"/>
              </a:spcBef>
              <a:spcAft>
                <a:spcPts val="0"/>
              </a:spcAft>
              <a:buNone/>
            </a:pPr>
            <a:r>
              <a:rPr sz="900" b="0" i="0">
                <a:solidFill>
                  <a:srgbClr val="D9D2BD"/>
                </a:solidFill>
                <a:latin typeface="Aptos"/>
              </a:rPr>
              <a:t>Roldán Hernández, C. (2023, January 17). Security enhancements make for a brighter, safer campus. UF News, University of Florida.</a:t>
            </a:r>
          </a:p>
          <a:p>
            <a:pPr marL="228600" indent="-228600">
              <a:lnSpc>
                <a:spcPct val="93000"/>
              </a:lnSpc>
              <a:spcBef>
                <a:spcPts val="200"/>
              </a:spcBef>
              <a:spcAft>
                <a:spcPts val="0"/>
              </a:spcAft>
              <a:buNone/>
            </a:pPr>
            <a:r>
              <a:rPr sz="900" b="0" i="0">
                <a:solidFill>
                  <a:srgbClr val="D9D2BD"/>
                </a:solidFill>
                <a:latin typeface="Aptos"/>
              </a:rPr>
              <a:t>Román, M. O., Wang, Z., Sun, Q., et al. (2018). NASA's Black Marble nighttime lights product suite. Remote Sensing of Environment, 210, 113–143.</a:t>
            </a:r>
          </a:p>
          <a:p>
            <a:pPr marL="228600" indent="-228600">
              <a:lnSpc>
                <a:spcPct val="93000"/>
              </a:lnSpc>
              <a:spcBef>
                <a:spcPts val="200"/>
              </a:spcBef>
              <a:spcAft>
                <a:spcPts val="0"/>
              </a:spcAft>
              <a:buNone/>
            </a:pPr>
            <a:r>
              <a:rPr sz="900" b="0" i="0">
                <a:solidFill>
                  <a:srgbClr val="D9D2BD"/>
                </a:solidFill>
                <a:latin typeface="Aptos"/>
              </a:rPr>
              <a:t>Rosen, J. (2025). Dark Sky Simulator (v1) [software]. Zenodo. doi:10.5281/zenodo.17252185.</a:t>
            </a:r>
          </a:p>
          <a:p>
            <a:pPr marL="228600" indent="-228600">
              <a:lnSpc>
                <a:spcPct val="93000"/>
              </a:lnSpc>
              <a:spcBef>
                <a:spcPts val="200"/>
              </a:spcBef>
              <a:spcAft>
                <a:spcPts val="0"/>
              </a:spcAft>
              <a:buNone/>
            </a:pPr>
            <a:r>
              <a:rPr sz="900" b="0" i="0">
                <a:solidFill>
                  <a:srgbClr val="D9D2BD"/>
                </a:solidFill>
                <a:latin typeface="Aptos"/>
              </a:rPr>
              <a:t>Rosen, J. (2026). Dark Sky Simulator v2 [software], incl. ADR 0013 (the 19% reconstruction). github.com/jayrosen-design/dark-sky-simulator-v2.</a:t>
            </a:r>
          </a:p>
          <a:p>
            <a:pPr marL="228600" indent="-228600">
              <a:lnSpc>
                <a:spcPct val="93000"/>
              </a:lnSpc>
              <a:spcBef>
                <a:spcPts val="200"/>
              </a:spcBef>
              <a:spcAft>
                <a:spcPts val="0"/>
              </a:spcAft>
              <a:buNone/>
            </a:pPr>
            <a:r>
              <a:rPr sz="900" b="0" i="0">
                <a:solidFill>
                  <a:srgbClr val="D9D2BD"/>
                </a:solidFill>
                <a:latin typeface="Aptos"/>
              </a:rPr>
              <a:t>Rosen, J. (2026, January 13). Preserving natural skies in Alachua County: Light pollution mitigation and economic impact. Alachua County Environmental Protection Advisory Committee.</a:t>
            </a:r>
          </a:p>
          <a:p>
            <a:pPr marL="228600" indent="-228600">
              <a:lnSpc>
                <a:spcPct val="93000"/>
              </a:lnSpc>
              <a:spcBef>
                <a:spcPts val="200"/>
              </a:spcBef>
              <a:spcAft>
                <a:spcPts val="0"/>
              </a:spcAft>
              <a:buNone/>
            </a:pPr>
            <a:r>
              <a:rPr sz="900" b="0" i="0">
                <a:solidFill>
                  <a:srgbClr val="D9D2BD"/>
                </a:solidFill>
                <a:latin typeface="Aptos"/>
              </a:rPr>
              <a:t>Smith, J. (2026, March 24). Restoring the Milky Way: Arts alumnus develops app to reduce light pollution. UF College of the Arts.</a:t>
            </a:r>
          </a:p>
          <a:p>
            <a:pPr marL="228600" indent="-228600">
              <a:lnSpc>
                <a:spcPct val="93000"/>
              </a:lnSpc>
              <a:spcBef>
                <a:spcPts val="200"/>
              </a:spcBef>
              <a:spcAft>
                <a:spcPts val="0"/>
              </a:spcAft>
              <a:buNone/>
            </a:pPr>
            <a:r>
              <a:rPr sz="900" b="0" i="0">
                <a:solidFill>
                  <a:srgbClr val="D9D2BD"/>
                </a:solidFill>
                <a:latin typeface="Aptos"/>
              </a:rPr>
              <a:t>Sweet, W. V., et al. (2022). Global and Regional Sea Level Rise Scenarios for the United States. NOAA Technical Report NOS 01. National Oceanic and Atmospheric Administration.</a:t>
            </a:r>
          </a:p>
          <a:p>
            <a:pPr marL="228600" indent="-228600">
              <a:lnSpc>
                <a:spcPct val="93000"/>
              </a:lnSpc>
              <a:spcBef>
                <a:spcPts val="200"/>
              </a:spcBef>
              <a:spcAft>
                <a:spcPts val="0"/>
              </a:spcAft>
              <a:buNone/>
            </a:pPr>
            <a:r>
              <a:rPr sz="900" b="0" i="0">
                <a:solidFill>
                  <a:srgbClr val="D9D2BD"/>
                </a:solidFill>
                <a:latin typeface="Aptos"/>
              </a:rPr>
              <a:t>The Gainesville Sun (2012, April). Photograph of the University of Florida Rosemary Hill Observatory.</a:t>
            </a:r>
          </a:p>
          <a:p>
            <a:pPr marL="228600" indent="-228600">
              <a:lnSpc>
                <a:spcPct val="93000"/>
              </a:lnSpc>
              <a:spcBef>
                <a:spcPts val="200"/>
              </a:spcBef>
              <a:spcAft>
                <a:spcPts val="0"/>
              </a:spcAft>
              <a:buNone/>
            </a:pPr>
            <a:r>
              <a:rPr sz="900" b="0" i="0">
                <a:solidFill>
                  <a:srgbClr val="D9D2BD"/>
                </a:solidFill>
                <a:latin typeface="Aptos"/>
              </a:rPr>
              <a:t>U.S. Census Bureau (2020). TIGER/Line boundaries and roads; 2020 Census housing-unit counts.</a:t>
            </a:r>
          </a:p>
          <a:p>
            <a:pPr marL="228600" indent="-228600">
              <a:lnSpc>
                <a:spcPct val="93000"/>
              </a:lnSpc>
              <a:spcBef>
                <a:spcPts val="200"/>
              </a:spcBef>
              <a:spcAft>
                <a:spcPts val="0"/>
              </a:spcAft>
              <a:buNone/>
            </a:pPr>
            <a:r>
              <a:rPr sz="900" b="0" i="0">
                <a:solidFill>
                  <a:srgbClr val="D9D2BD"/>
                </a:solidFill>
                <a:latin typeface="Aptos"/>
              </a:rPr>
              <a:t>U.S. Energy Information Administration (2023). How much electricity does an American home use? FAQ (2022 average: 10,791 kWh per residential customer). eia.gov.</a:t>
            </a:r>
          </a:p>
          <a:p>
            <a:pPr marL="228600" indent="-228600">
              <a:lnSpc>
                <a:spcPct val="93000"/>
              </a:lnSpc>
              <a:spcBef>
                <a:spcPts val="200"/>
              </a:spcBef>
              <a:spcAft>
                <a:spcPts val="0"/>
              </a:spcAft>
              <a:buNone/>
            </a:pPr>
            <a:r>
              <a:rPr sz="900" b="0" i="0">
                <a:solidFill>
                  <a:srgbClr val="D9D2BD"/>
                </a:solidFill>
                <a:latin typeface="Aptos"/>
              </a:rPr>
              <a:t>Ward, P. J., et al. (2020). Aqueduct Floods Methodology. Technical Note. World Resources Institute. Data: WRI Aqueduct Floods Hazard Maps V2 via Google Earth Engine.</a:t>
            </a:r>
          </a:p>
          <a:p>
            <a:pPr marL="228600" indent="-228600">
              <a:lnSpc>
                <a:spcPct val="93000"/>
              </a:lnSpc>
              <a:spcBef>
                <a:spcPts val="200"/>
              </a:spcBef>
              <a:spcAft>
                <a:spcPts val="0"/>
              </a:spcAft>
              <a:buNone/>
            </a:pPr>
            <a:r>
              <a:rPr sz="900" b="0" i="0">
                <a:solidFill>
                  <a:srgbClr val="D9D2BD"/>
                </a:solidFill>
                <a:latin typeface="Aptos"/>
              </a:rPr>
              <a:t>York University (2019, August 16). Installation of new telescope expected to be largest at a Canadian university. YFile.</a:t>
            </a:r>
          </a:p>
        </p:txBody>
      </p:sp>
      <p:pic>
        <p:nvPicPr>
          <p:cNvPr id="7" name="Picture 6" descr="ai_days_logo_sticker.png"/>
          <p:cNvPicPr>
            <a:picLocks noChangeAspect="1"/>
          </p:cNvPicPr>
          <p:nvPr/>
        </p:nvPicPr>
        <p:blipFill>
          <a:blip r:embed="rId3"/>
          <a:stretch>
            <a:fillRect/>
          </a:stretch>
        </p:blipFill>
        <p:spPr>
          <a:xfrm>
            <a:off x="10408615" y="201168"/>
            <a:ext cx="1371600" cy="798271"/>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HOW IT WORKS</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Heavy work offline, instant scenarios in the browser</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24</a:t>
            </a:r>
          </a:p>
        </p:txBody>
      </p:sp>
      <p:sp>
        <p:nvSpPr>
          <p:cNvPr id="5" name="Rectangle 4"/>
          <p:cNvSpPr/>
          <p:nvPr/>
        </p:nvSpPr>
        <p:spPr>
          <a:xfrm>
            <a:off x="548640"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Public data</a:t>
            </a:r>
          </a:p>
        </p:txBody>
      </p:sp>
      <p:sp>
        <p:nvSpPr>
          <p:cNvPr id="6" name="Rectangle 5"/>
          <p:cNvSpPr/>
          <p:nvPr/>
        </p:nvSpPr>
        <p:spPr>
          <a:xfrm>
            <a:off x="548640"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NASA VIIRS night lights</a:t>
            </a:r>
          </a:p>
          <a:p>
            <a:pPr marL="0" indent="0" algn="ctr">
              <a:lnSpc>
                <a:spcPct val="110000"/>
              </a:lnSpc>
              <a:spcBef>
                <a:spcPts val="0"/>
              </a:spcBef>
              <a:spcAft>
                <a:spcPts val="0"/>
              </a:spcAft>
              <a:buNone/>
            </a:pPr>
            <a:r>
              <a:rPr sz="1500" b="0" i="0">
                <a:solidFill>
                  <a:srgbClr val="F5F1E6"/>
                </a:solidFill>
                <a:latin typeface="Aptos"/>
              </a:rPr>
              <a:t>(Google Earth Engine)</a:t>
            </a:r>
          </a:p>
          <a:p>
            <a:pPr marL="0" indent="0" algn="ctr">
              <a:lnSpc>
                <a:spcPct val="110000"/>
              </a:lnSpc>
              <a:spcBef>
                <a:spcPts val="0"/>
              </a:spcBef>
              <a:spcAft>
                <a:spcPts val="0"/>
              </a:spcAft>
              <a:buNone/>
            </a:pPr>
            <a:r>
              <a:rPr sz="1500" b="0" i="0">
                <a:solidFill>
                  <a:srgbClr val="F5F1E6"/>
                </a:solidFill>
                <a:latin typeface="Aptos"/>
              </a:rPr>
              <a:t>Census · OpenStreetMap</a:t>
            </a:r>
          </a:p>
          <a:p>
            <a:pPr marL="0" indent="0" algn="ctr">
              <a:lnSpc>
                <a:spcPct val="110000"/>
              </a:lnSpc>
              <a:spcBef>
                <a:spcPts val="0"/>
              </a:spcBef>
              <a:spcAft>
                <a:spcPts val="0"/>
              </a:spcAft>
              <a:buNone/>
            </a:pPr>
            <a:r>
              <a:rPr sz="1500" b="0" i="0">
                <a:solidFill>
                  <a:srgbClr val="F5F1E6"/>
                </a:solidFill>
                <a:latin typeface="Aptos"/>
              </a:rPr>
              <a:t>streetlight inventories</a:t>
            </a:r>
          </a:p>
          <a:p>
            <a:pPr marL="0" indent="0" algn="ctr">
              <a:lnSpc>
                <a:spcPct val="110000"/>
              </a:lnSpc>
              <a:spcBef>
                <a:spcPts val="0"/>
              </a:spcBef>
              <a:spcAft>
                <a:spcPts val="0"/>
              </a:spcAft>
              <a:buNone/>
            </a:pPr>
            <a:r>
              <a:rPr sz="1500" b="0" i="0">
                <a:solidFill>
                  <a:srgbClr val="F5F1E6"/>
                </a:solidFill>
                <a:latin typeface="Aptos"/>
              </a:rPr>
              <a:t>parcels · elevation</a:t>
            </a:r>
          </a:p>
          <a:p>
            <a:pPr marL="0" indent="0" algn="ctr">
              <a:lnSpc>
                <a:spcPct val="110000"/>
              </a:lnSpc>
              <a:spcBef>
                <a:spcPts val="0"/>
              </a:spcBef>
              <a:spcAft>
                <a:spcPts val="0"/>
              </a:spcAft>
              <a:buNone/>
            </a:pPr>
            <a:r>
              <a:rPr sz="1500" b="0" i="0">
                <a:solidFill>
                  <a:srgbClr val="F5F1E6"/>
                </a:solidFill>
                <a:latin typeface="Aptos"/>
              </a:rPr>
              <a:t>Globe at Night meters</a:t>
            </a:r>
          </a:p>
        </p:txBody>
      </p:sp>
      <p:cxnSp>
        <p:nvCxnSpPr>
          <p:cNvPr id="7" name="Connector 6"/>
          <p:cNvCxnSpPr/>
          <p:nvPr/>
        </p:nvCxnSpPr>
        <p:spPr>
          <a:xfrm>
            <a:off x="3072384"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Offline pipeline · Python</a:t>
            </a:r>
          </a:p>
        </p:txBody>
      </p:sp>
      <p:sp>
        <p:nvSpPr>
          <p:cNvPr id="9" name="Rectangle 8"/>
          <p:cNvSpPr/>
          <p:nvPr/>
        </p:nvSpPr>
        <p:spPr>
          <a:xfrm>
            <a:off x="3419856"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Atmospheric scattering</a:t>
            </a:r>
          </a:p>
          <a:p>
            <a:pPr marL="0" indent="0" algn="ctr">
              <a:lnSpc>
                <a:spcPct val="110000"/>
              </a:lnSpc>
              <a:spcBef>
                <a:spcPts val="0"/>
              </a:spcBef>
              <a:spcAft>
                <a:spcPts val="0"/>
              </a:spcAft>
              <a:buNone/>
            </a:pPr>
            <a:r>
              <a:rPr sz="1500" b="0" i="0">
                <a:solidFill>
                  <a:srgbClr val="F5F1E6"/>
                </a:solidFill>
                <a:latin typeface="Aptos"/>
              </a:rPr>
              <a:t>kernels (Garstang)</a:t>
            </a:r>
          </a:p>
          <a:p>
            <a:pPr marL="0" indent="0" algn="ctr">
              <a:lnSpc>
                <a:spcPct val="110000"/>
              </a:lnSpc>
              <a:spcBef>
                <a:spcPts val="0"/>
              </a:spcBef>
              <a:spcAft>
                <a:spcPts val="0"/>
              </a:spcAft>
              <a:buNone/>
            </a:pPr>
            <a:r>
              <a:rPr sz="1500" b="0" i="0">
                <a:solidFill>
                  <a:srgbClr val="F5F1E6"/>
                </a:solidFill>
                <a:latin typeface="Aptos"/>
              </a:rPr>
              <a:t>place every fixture</a:t>
            </a:r>
          </a:p>
          <a:p>
            <a:pPr marL="0" indent="0" algn="ctr">
              <a:lnSpc>
                <a:spcPct val="110000"/>
              </a:lnSpc>
              <a:spcBef>
                <a:spcPts val="0"/>
              </a:spcBef>
              <a:spcAft>
                <a:spcPts val="0"/>
              </a:spcAft>
              <a:buNone/>
            </a:pPr>
            <a:r>
              <a:rPr sz="1500" b="0" i="0">
                <a:solidFill>
                  <a:srgbClr val="F5F1E6"/>
                </a:solidFill>
                <a:latin typeface="Aptos"/>
              </a:rPr>
              <a:t>AI: change detector</a:t>
            </a:r>
          </a:p>
          <a:p>
            <a:pPr marL="0" indent="0" algn="ctr">
              <a:lnSpc>
                <a:spcPct val="110000"/>
              </a:lnSpc>
              <a:spcBef>
                <a:spcPts val="0"/>
              </a:spcBef>
              <a:spcAft>
                <a:spcPts val="0"/>
              </a:spcAft>
              <a:buNone/>
            </a:pPr>
            <a:r>
              <a:rPr sz="1500" b="0" i="0">
                <a:solidFill>
                  <a:srgbClr val="F5F1E6"/>
                </a:solidFill>
                <a:latin typeface="Aptos"/>
              </a:rPr>
              <a:t>+ LightGBM forecast</a:t>
            </a:r>
          </a:p>
        </p:txBody>
      </p:sp>
      <p:cxnSp>
        <p:nvCxnSpPr>
          <p:cNvPr id="10" name="Connector 9"/>
          <p:cNvCxnSpPr/>
          <p:nvPr/>
        </p:nvCxnSpPr>
        <p:spPr>
          <a:xfrm>
            <a:off x="5943600" y="3200400"/>
            <a:ext cx="310896"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6291072" y="1508760"/>
            <a:ext cx="2487168" cy="502920"/>
          </a:xfrm>
          <a:prstGeom prst="roundRect">
            <a:avLst>
              <a:gd name="adj" fmla="val 12000"/>
            </a:avLst>
          </a:prstGeom>
          <a:solidFill>
            <a:srgbClr val="D9D2BD"/>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Static data package</a:t>
            </a:r>
          </a:p>
        </p:txBody>
      </p:sp>
      <p:sp>
        <p:nvSpPr>
          <p:cNvPr id="12" name="Rectangle 11"/>
          <p:cNvSpPr/>
          <p:nvPr/>
        </p:nvSpPr>
        <p:spPr>
          <a:xfrm>
            <a:off x="6291072" y="2103120"/>
            <a:ext cx="2487168" cy="2240280"/>
          </a:xfrm>
          <a:prstGeom prst="roundRect">
            <a:avLst>
              <a:gd name="adj" fmla="val 5000"/>
            </a:avLst>
          </a:prstGeom>
          <a:solidFill>
            <a:srgbClr val="111A2E"/>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16-bit grids + JSON</a:t>
            </a:r>
          </a:p>
          <a:p>
            <a:pPr marL="0" indent="0" algn="ctr">
              <a:lnSpc>
                <a:spcPct val="110000"/>
              </a:lnSpc>
              <a:spcBef>
                <a:spcPts val="0"/>
              </a:spcBef>
              <a:spcAft>
                <a:spcPts val="0"/>
              </a:spcAft>
              <a:buNone/>
            </a:pPr>
            <a:r>
              <a:rPr sz="1500" b="0" i="0">
                <a:solidFill>
                  <a:srgbClr val="F5F1E6"/>
                </a:solidFill>
                <a:latin typeface="Aptos"/>
              </a:rPr>
              <a:t>one layer per</a:t>
            </a:r>
          </a:p>
          <a:p>
            <a:pPr marL="0" indent="0" algn="ctr">
              <a:lnSpc>
                <a:spcPct val="110000"/>
              </a:lnSpc>
              <a:spcBef>
                <a:spcPts val="0"/>
              </a:spcBef>
              <a:spcAft>
                <a:spcPts val="0"/>
              </a:spcAft>
              <a:buNone/>
            </a:pPr>
            <a:r>
              <a:rPr sz="1500" b="0" i="0">
                <a:solidFill>
                  <a:srgbClr val="F5F1E6"/>
                </a:solidFill>
                <a:latin typeface="Aptos"/>
              </a:rPr>
              <a:t>fixture group × county</a:t>
            </a:r>
          </a:p>
          <a:p>
            <a:pPr marL="0" indent="0" algn="ctr">
              <a:lnSpc>
                <a:spcPct val="110000"/>
              </a:lnSpc>
              <a:spcBef>
                <a:spcPts val="0"/>
              </a:spcBef>
              <a:spcAft>
                <a:spcPts val="0"/>
              </a:spcAft>
              <a:buNone/>
            </a:pPr>
            <a:r>
              <a:rPr sz="1500" b="0" i="0">
                <a:solidFill>
                  <a:srgbClr val="F5F1E6"/>
                </a:solidFill>
                <a:latin typeface="Aptos"/>
              </a:rPr>
              <a:t>(basis layers)</a:t>
            </a:r>
          </a:p>
        </p:txBody>
      </p:sp>
      <p:cxnSp>
        <p:nvCxnSpPr>
          <p:cNvPr id="13" name="Connector 12"/>
          <p:cNvCxnSpPr/>
          <p:nvPr/>
        </p:nvCxnSpPr>
        <p:spPr>
          <a:xfrm>
            <a:off x="8814815" y="3200400"/>
            <a:ext cx="310897" cy="0"/>
          </a:xfrm>
          <a:prstGeom prst="line">
            <a:avLst/>
          </a:prstGeom>
          <a:ln w="31750">
            <a:solidFill>
              <a:srgbClr val="F6B44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9162288" y="1508760"/>
            <a:ext cx="2487168" cy="502920"/>
          </a:xfrm>
          <a:prstGeom prst="roundRect">
            <a:avLst>
              <a:gd name="adj" fmla="val 12000"/>
            </a:avLst>
          </a:prstGeom>
          <a:solidFill>
            <a:srgbClr val="F6B44B"/>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00000"/>
              </a:lnSpc>
              <a:spcBef>
                <a:spcPts val="0"/>
              </a:spcBef>
              <a:spcAft>
                <a:spcPts val="0"/>
              </a:spcAft>
              <a:buNone/>
            </a:pPr>
            <a:r>
              <a:rPr sz="1400" b="1" i="0">
                <a:solidFill>
                  <a:srgbClr val="05070D"/>
                </a:solidFill>
                <a:latin typeface="Aptos"/>
              </a:rPr>
              <a:t>Browser · React + MapLibre</a:t>
            </a:r>
          </a:p>
        </p:txBody>
      </p:sp>
      <p:sp>
        <p:nvSpPr>
          <p:cNvPr id="15" name="Rectangle 14"/>
          <p:cNvSpPr/>
          <p:nvPr/>
        </p:nvSpPr>
        <p:spPr>
          <a:xfrm>
            <a:off x="9162288" y="2103120"/>
            <a:ext cx="2487168" cy="2240280"/>
          </a:xfrm>
          <a:prstGeom prst="roundRect">
            <a:avLst>
              <a:gd name="adj" fmla="val 5000"/>
            </a:avLst>
          </a:prstGeom>
          <a:solidFill>
            <a:srgbClr val="1A2642"/>
          </a:solidFill>
          <a:ln w="12700">
            <a:solidFill>
              <a:srgbClr val="2A3A60"/>
            </a:solidFill>
          </a:ln>
          <a:effectLst/>
        </p:spPr>
        <p:style>
          <a:lnRef idx="1">
            <a:schemeClr val="accent1"/>
          </a:lnRef>
          <a:fillRef idx="3">
            <a:schemeClr val="accent1"/>
          </a:fillRef>
          <a:effectRef idx="2">
            <a:schemeClr val="accent1"/>
          </a:effectRef>
          <a:fontRef idx="minor">
            <a:schemeClr val="lt1"/>
          </a:fontRef>
        </p:style>
        <p:txBody>
          <a:bodyPr wrap="square" lIns="73152" tIns="73152" rIns="73152" bIns="73152" rtlCol="0" anchor="ctr"/>
          <a:lstStyle/>
          <a:p>
            <a:pPr marL="0" indent="0" algn="ctr">
              <a:lnSpc>
                <a:spcPct val="110000"/>
              </a:lnSpc>
              <a:spcBef>
                <a:spcPts val="0"/>
              </a:spcBef>
              <a:spcAft>
                <a:spcPts val="0"/>
              </a:spcAft>
              <a:buNone/>
            </a:pPr>
            <a:r>
              <a:rPr sz="1500" b="0" i="0">
                <a:solidFill>
                  <a:srgbClr val="F5F1E6"/>
                </a:solidFill>
                <a:latin typeface="Aptos"/>
              </a:rPr>
              <a:t>sky = weighted sum</a:t>
            </a:r>
          </a:p>
          <a:p>
            <a:pPr marL="0" indent="0" algn="ctr">
              <a:lnSpc>
                <a:spcPct val="110000"/>
              </a:lnSpc>
              <a:spcBef>
                <a:spcPts val="0"/>
              </a:spcBef>
              <a:spcAft>
                <a:spcPts val="0"/>
              </a:spcAft>
              <a:buNone/>
            </a:pPr>
            <a:r>
              <a:rPr sz="1500" b="0" i="0">
                <a:solidFill>
                  <a:srgbClr val="F5F1E6"/>
                </a:solidFill>
                <a:latin typeface="Aptos"/>
              </a:rPr>
              <a:t>of basis layers</a:t>
            </a:r>
          </a:p>
          <a:p>
            <a:pPr marL="0" indent="0" algn="ctr">
              <a:lnSpc>
                <a:spcPct val="110000"/>
              </a:lnSpc>
              <a:spcBef>
                <a:spcPts val="0"/>
              </a:spcBef>
              <a:spcAft>
                <a:spcPts val="0"/>
              </a:spcAft>
              <a:buNone/>
            </a:pPr>
            <a:r>
              <a:rPr sz="1500" b="0" i="0">
                <a:solidFill>
                  <a:srgbClr val="F5F1E6"/>
                </a:solidFill>
                <a:latin typeface="Aptos"/>
              </a:rPr>
              <a:t>~55 ms per scenario</a:t>
            </a:r>
          </a:p>
          <a:p>
            <a:pPr marL="0" indent="0" algn="ctr">
              <a:lnSpc>
                <a:spcPct val="110000"/>
              </a:lnSpc>
              <a:spcBef>
                <a:spcPts val="0"/>
              </a:spcBef>
              <a:spcAft>
                <a:spcPts val="0"/>
              </a:spcAft>
              <a:buNone/>
            </a:pPr>
            <a:r>
              <a:rPr sz="1500" b="0" i="0">
                <a:solidFill>
                  <a:srgbClr val="F5F1E6"/>
                </a:solidFill>
                <a:latin typeface="Aptos"/>
              </a:rPr>
              <a:t>map · 3D · charts · PDF</a:t>
            </a:r>
          </a:p>
        </p:txBody>
      </p:sp>
      <p:pic>
        <p:nvPicPr>
          <p:cNvPr id="16" name="Picture 15" descr="skysum_light.png"/>
          <p:cNvPicPr>
            <a:picLocks noChangeAspect="1"/>
          </p:cNvPicPr>
          <p:nvPr/>
        </p:nvPicPr>
        <p:blipFill>
          <a:blip r:embed="rId3"/>
          <a:stretch>
            <a:fillRect/>
          </a:stretch>
        </p:blipFill>
        <p:spPr>
          <a:xfrm>
            <a:off x="548640" y="4572000"/>
            <a:ext cx="6472009" cy="566928"/>
          </a:xfrm>
          <a:prstGeom prst="rect">
            <a:avLst/>
          </a:prstGeom>
        </p:spPr>
      </p:pic>
      <p:sp>
        <p:nvSpPr>
          <p:cNvPr id="17" name="TextBox 16"/>
          <p:cNvSpPr txBox="1"/>
          <p:nvPr/>
        </p:nvSpPr>
        <p:spPr>
          <a:xfrm>
            <a:off x="548640" y="5303520"/>
            <a:ext cx="11064240" cy="10972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Skyglow adds linearly, so any ordinance is a re-weighting of precomputed layers: a phone can explore it instantly</a:t>
            </a:r>
          </a:p>
          <a:p>
            <a:pPr marL="256032" indent="-256032">
              <a:lnSpc>
                <a:spcPct val="100000"/>
              </a:lnSpc>
              <a:spcBef>
                <a:spcPts val="400"/>
              </a:spcBef>
              <a:spcAft>
                <a:spcPts val="0"/>
              </a:spcAft>
              <a:buClr>
                <a:srgbClr val="F6B44B"/>
              </a:buClr>
              <a:buSzPct val="100000"/>
              <a:buFont typeface="Arial"/>
              <a:buChar char="•"/>
            </a:pPr>
            <a:r>
              <a:rPr sz="1700" b="0" i="0">
                <a:solidFill>
                  <a:srgbClr val="D9D2BD"/>
                </a:solidFill>
                <a:latin typeface="Aptos"/>
              </a:rPr>
              <a:t>The sky is a published single-scattering model (Garstang 1986), </a:t>
            </a:r>
            <a:r>
              <a:rPr sz="1700" b="1" i="0">
                <a:solidFill>
                  <a:srgbClr val="F6B44B"/>
                </a:solidFill>
                <a:latin typeface="Aptos"/>
              </a:rPr>
              <a:t>not</a:t>
            </a:r>
            <a:r>
              <a:rPr sz="1700" b="0" i="0">
                <a:solidFill>
                  <a:srgbClr val="D9D2BD"/>
                </a:solidFill>
                <a:latin typeface="Aptos"/>
              </a:rPr>
              <a:t> a neural network</a:t>
            </a:r>
          </a:p>
        </p:txBody>
      </p:sp>
      <p:pic>
        <p:nvPicPr>
          <p:cNvPr id="18" name="Picture 1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19" name="TextBox 1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800" b="0" i="0">
                <a:solidFill>
                  <a:srgbClr val="A79F88"/>
                </a:solidFill>
                <a:latin typeface="Aptos"/>
              </a:rPr>
              <a:t>Sources: Garstang (1986), Model for artificial night-sky illumination  ·  Gorelick et al. (2017), Google Earth Engine: Planetary-scale geospatial analysis for everyone  ·  Román et al. (2018), NASA's Black Marble nighttime lights product suite  ·  U.S. Census Bureau (2020), TIGER/Line roads and 2020 Census housing counts  ·  OpenStreetMap contributors (2026), road, street-lamp and sports-venue data</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Lesson 1: check the data before the model</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25</a:t>
            </a:r>
          </a:p>
        </p:txBody>
      </p:sp>
      <p:sp>
        <p:nvSpPr>
          <p:cNvPr id="5" name="TextBox 4"/>
          <p:cNvSpPr txBox="1"/>
          <p:nvPr/>
        </p:nvSpPr>
        <p:spPr>
          <a:xfrm>
            <a:off x="548640" y="1463040"/>
            <a:ext cx="475488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First pull came back </a:t>
            </a:r>
            <a:r>
              <a:rPr sz="1900" b="1" i="0">
                <a:solidFill>
                  <a:srgbClr val="F6B44B"/>
                </a:solidFill>
                <a:latin typeface="Aptos"/>
              </a:rPr>
              <a:t>10× too dark</a:t>
            </a:r>
            <a:r>
              <a:rPr sz="1900" b="0" i="0">
                <a:solidFill>
                  <a:srgbClr val="D9D2BD"/>
                </a:solidFill>
                <a:latin typeface="Aptos"/>
              </a:rPr>
              <a:t>: a scale factor applied twice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Then forests and wetlands “brightened” </a:t>
            </a:r>
            <a:r>
              <a:rPr sz="1900" b="1" i="0">
                <a:solidFill>
                  <a:srgbClr val="F6B44B"/>
                </a:solidFill>
                <a:latin typeface="Aptos"/>
              </a:rPr>
              <a:t>70–120%</a:t>
            </a:r>
            <a:r>
              <a:rPr sz="1900" b="0" i="0">
                <a:solidFill>
                  <a:srgbClr val="D9D2BD"/>
                </a:solidFill>
                <a:latin typeface="Aptos"/>
              </a:rPr>
              <a:t> from 2020 to 2023</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Cause: </a:t>
            </a:r>
            <a:r>
              <a:rPr sz="1900" b="1" i="0">
                <a:solidFill>
                  <a:srgbClr val="F6B44B"/>
                </a:solidFill>
                <a:latin typeface="Aptos"/>
              </a:rPr>
              <a:t>airglow</a:t>
            </a:r>
            <a:r>
              <a:rPr sz="1900" b="0" i="0">
                <a:solidFill>
                  <a:srgbClr val="D9D2BD"/>
                </a:solidFill>
                <a:latin typeface="Aptos"/>
              </a:rPr>
              <a:t>, upper-atmosphere light that follows the 11-year solar cycle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Fix: subtract each year's background, the median of the darkest fifth of the region, before any model sees the data</a:t>
            </a:r>
          </a:p>
        </p:txBody>
      </p:sp>
      <p:sp>
        <p:nvSpPr>
          <p:cNvPr id="6" name="TextBox 5"/>
          <p:cNvSpPr txBox="1"/>
          <p:nvPr/>
        </p:nvSpPr>
        <p:spPr>
          <a:xfrm>
            <a:off x="5760720" y="1417320"/>
            <a:ext cx="585216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Background glow over unlit land, nW cm⁻² sr⁻¹</a:t>
            </a:r>
          </a:p>
        </p:txBody>
      </p:sp>
      <p:graphicFrame>
        <p:nvGraphicFramePr>
          <p:cNvPr id="7" name="Chart 6"/>
          <p:cNvGraphicFramePr>
            <a:graphicFrameLocks noGrp="1"/>
          </p:cNvGraphicFramePr>
          <p:nvPr/>
        </p:nvGraphicFramePr>
        <p:xfrm>
          <a:off x="5669280" y="1691640"/>
          <a:ext cx="5989320" cy="32461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5760720" y="4892040"/>
            <a:ext cx="585216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Solar minimum 2019–20: 0.10 · rising solar activity 2023: 0.33</a:t>
            </a:r>
          </a:p>
        </p:txBody>
      </p:sp>
      <p:pic>
        <p:nvPicPr>
          <p:cNvPr id="9" name="Picture 8" descr="airglow_light.png"/>
          <p:cNvPicPr>
            <a:picLocks noChangeAspect="1"/>
          </p:cNvPicPr>
          <p:nvPr/>
        </p:nvPicPr>
        <p:blipFill>
          <a:blip r:embed="rId4"/>
          <a:stretch>
            <a:fillRect/>
          </a:stretch>
        </p:blipFill>
        <p:spPr>
          <a:xfrm>
            <a:off x="5760720" y="5303520"/>
            <a:ext cx="5852160" cy="385151"/>
          </a:xfrm>
          <a:prstGeom prst="rect">
            <a:avLst/>
          </a:prstGeom>
        </p:spPr>
      </p:pic>
      <p:pic>
        <p:nvPicPr>
          <p:cNvPr id="10" name="Picture 9" descr="ai_days_logo_sticker.png"/>
          <p:cNvPicPr>
            <a:picLocks noChangeAspect="1"/>
          </p:cNvPicPr>
          <p:nvPr/>
        </p:nvPicPr>
        <p:blipFill>
          <a:blip r:embed="rId5"/>
          <a:stretch>
            <a:fillRect/>
          </a:stretch>
        </p:blipFill>
        <p:spPr>
          <a:xfrm>
            <a:off x="10408615" y="201168"/>
            <a:ext cx="1371600" cy="798271"/>
          </a:xfrm>
          <a:prstGeom prst="rect">
            <a:avLst/>
          </a:prstGeom>
        </p:spPr>
      </p:pic>
      <p:sp>
        <p:nvSpPr>
          <p:cNvPr id="11" name="TextBox 10"/>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Revisiting the 19% estimate with calibrated satellite data</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26</a:t>
            </a:r>
          </a:p>
        </p:txBody>
      </p:sp>
      <p:sp>
        <p:nvSpPr>
          <p:cNvPr id="5" name="TextBox 4"/>
          <p:cNvSpPr txBox="1"/>
          <p:nvPr/>
        </p:nvSpPr>
        <p:spPr>
          <a:xfrm>
            <a:off x="548640" y="1463040"/>
            <a:ext cx="4846320" cy="2651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700" b="0" i="0">
                <a:solidFill>
                  <a:srgbClr val="D9D2BD"/>
                </a:solidFill>
                <a:latin typeface="Aptos"/>
              </a:rPr>
              <a:t>AI analysis of NOAA night imagery, 2012 → 2024: </a:t>
            </a:r>
            <a:r>
              <a:rPr sz="1700" b="1" i="0">
                <a:solidFill>
                  <a:srgbClr val="F6B44B"/>
                </a:solidFill>
                <a:latin typeface="Aptos"/>
              </a:rPr>
              <a:t>≈19% brighter</a:t>
            </a:r>
            <a:r>
              <a:rPr sz="1700" b="0" i="0">
                <a:solidFill>
                  <a:srgbClr val="D9D2BD"/>
                </a:solidFill>
                <a:latin typeface="Aptos"/>
              </a:rPr>
              <a:t> (v1)</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Re-measured in calibrated radiance, 2013–24: the </a:t>
            </a:r>
            <a:r>
              <a:rPr sz="1700" b="1" i="0">
                <a:solidFill>
                  <a:srgbClr val="F6B44B"/>
                </a:solidFill>
                <a:latin typeface="Aptos"/>
              </a:rPr>
              <a:t>region around Alachua County rose ~20%</a:t>
            </a:r>
            <a:r>
              <a:rPr sz="1700" b="0" i="0">
                <a:solidFill>
                  <a:srgbClr val="D9D2BD"/>
                </a:solidFill>
                <a:latin typeface="Aptos"/>
              </a:rPr>
              <a:t> (NOAA) or </a:t>
            </a:r>
            <a:r>
              <a:rPr sz="1700" b="1" i="0">
                <a:solidFill>
                  <a:srgbClr val="F6B44B"/>
                </a:solidFill>
                <a:latin typeface="Aptos"/>
              </a:rPr>
              <a:t>~13%</a:t>
            </a:r>
            <a:r>
              <a:rPr sz="1700" b="0" i="0">
                <a:solidFill>
                  <a:srgbClr val="D9D2BD"/>
                </a:solidFill>
                <a:latin typeface="Aptos"/>
              </a:rPr>
              <a:t> (NASA)</a:t>
            </a:r>
          </a:p>
          <a:p>
            <a:pPr marL="256032" indent="-256032">
              <a:lnSpc>
                <a:spcPct val="100000"/>
              </a:lnSpc>
              <a:spcBef>
                <a:spcPts val="900"/>
              </a:spcBef>
              <a:spcAft>
                <a:spcPts val="0"/>
              </a:spcAft>
              <a:buClr>
                <a:srgbClr val="F6B44B"/>
              </a:buClr>
              <a:buSzPct val="100000"/>
              <a:buFont typeface="Arial"/>
              <a:buChar char="•"/>
            </a:pPr>
            <a:r>
              <a:rPr sz="1700" b="0" i="0">
                <a:solidFill>
                  <a:srgbClr val="D9D2BD"/>
                </a:solidFill>
                <a:latin typeface="Aptos"/>
              </a:rPr>
              <a:t>Inside the county line: </a:t>
            </a:r>
            <a:r>
              <a:rPr sz="1700" b="1" i="0">
                <a:solidFill>
                  <a:srgbClr val="F6B44B"/>
                </a:solidFill>
                <a:latin typeface="Aptos"/>
              </a:rPr>
              <a:t>3–6%</a:t>
            </a:r>
            <a:r>
              <a:rPr sz="1700" b="0" i="0">
                <a:solidFill>
                  <a:srgbClr val="D9D2BD"/>
                </a:solidFill>
                <a:latin typeface="Aptos"/>
              </a:rPr>
              <a:t>; around Gainesville ≈5%. Growth concentrates along I-75 and around Ocala</a:t>
            </a:r>
          </a:p>
        </p:txBody>
      </p:sp>
      <p:graphicFrame>
        <p:nvGraphicFramePr>
          <p:cNvPr id="6" name="Table 5"/>
          <p:cNvGraphicFramePr>
            <a:graphicFrameLocks noGrp="1"/>
          </p:cNvGraphicFramePr>
          <p:nvPr/>
        </p:nvGraphicFramePr>
        <p:xfrm>
          <a:off x="548640" y="4160520"/>
          <a:ext cx="4846320" cy="2057400"/>
        </p:xfrm>
        <a:graphic>
          <a:graphicData uri="http://schemas.openxmlformats.org/drawingml/2006/table">
            <a:tbl>
              <a:tblPr>
                <a:tableStyleId>{5940675A-B579-460E-94D1-54222C63F5DA}</a:tableStyleId>
              </a:tblPr>
              <a:tblGrid>
                <a:gridCol w="2651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514350">
                <a:tc>
                  <a:txBody>
                    <a:bodyPr/>
                    <a:lstStyle/>
                    <a:p>
                      <a:pPr algn="l"/>
                      <a:r>
                        <a:rPr sz="1400" b="1" i="0">
                          <a:solidFill>
                            <a:srgbClr val="F6B44B"/>
                          </a:solidFill>
                          <a:latin typeface="Aptos"/>
                        </a:rPr>
                        <a:t>Calibrated radiance, 2013 → 2024</a:t>
                      </a:r>
                    </a:p>
                  </a:txBody>
                  <a:tcPr marL="73152" marR="73152" marT="27432" marB="27432" anchor="ctr">
                    <a:solidFill>
                      <a:srgbClr val="1A2642"/>
                    </a:solidFill>
                  </a:tcPr>
                </a:tc>
                <a:tc>
                  <a:txBody>
                    <a:bodyPr/>
                    <a:lstStyle/>
                    <a:p>
                      <a:pPr algn="r"/>
                      <a:r>
                        <a:rPr sz="1400" b="1" i="0">
                          <a:solidFill>
                            <a:srgbClr val="F6B44B"/>
                          </a:solidFill>
                          <a:latin typeface="Aptos"/>
                        </a:rPr>
                        <a:t>NOAA EOG</a:t>
                      </a:r>
                    </a:p>
                  </a:txBody>
                  <a:tcPr marL="73152" marR="73152" marT="27432" marB="27432" anchor="ctr">
                    <a:solidFill>
                      <a:srgbClr val="1A2642"/>
                    </a:solidFill>
                  </a:tcPr>
                </a:tc>
                <a:tc>
                  <a:txBody>
                    <a:bodyPr/>
                    <a:lstStyle/>
                    <a:p>
                      <a:pPr algn="r"/>
                      <a:r>
                        <a:rPr sz="1400" b="1" i="0">
                          <a:solidFill>
                            <a:srgbClr val="F6B44B"/>
                          </a:solidFill>
                          <a:latin typeface="Aptos"/>
                        </a:rPr>
                        <a:t>NASA BM</a:t>
                      </a:r>
                    </a:p>
                  </a:txBody>
                  <a:tcPr marL="73152" marR="73152" marT="27432" marB="27432" anchor="ctr">
                    <a:solidFill>
                      <a:srgbClr val="1A2642"/>
                    </a:solidFill>
                  </a:tcPr>
                </a:tc>
                <a:extLst>
                  <a:ext uri="{0D108BD9-81ED-4DB2-BD59-A6C34878D82A}">
                    <a16:rowId xmlns:a16="http://schemas.microsoft.com/office/drawing/2014/main" val="10000"/>
                  </a:ext>
                </a:extLst>
              </a:tr>
              <a:tr h="514350">
                <a:tc>
                  <a:txBody>
                    <a:bodyPr/>
                    <a:lstStyle/>
                    <a:p>
                      <a:pPr algn="l"/>
                      <a:r>
                        <a:rPr sz="1400" b="1" i="0">
                          <a:solidFill>
                            <a:srgbClr val="F6B44B"/>
                          </a:solidFill>
                          <a:latin typeface="Aptos"/>
                        </a:rPr>
                        <a:t>Region around the county</a:t>
                      </a:r>
                    </a:p>
                  </a:txBody>
                  <a:tcPr marL="73152" marR="73152" marT="27432" marB="27432" anchor="ctr">
                    <a:solidFill>
                      <a:srgbClr val="0A0F1C"/>
                    </a:solidFill>
                  </a:tcPr>
                </a:tc>
                <a:tc>
                  <a:txBody>
                    <a:bodyPr/>
                    <a:lstStyle/>
                    <a:p>
                      <a:pPr algn="r"/>
                      <a:r>
                        <a:rPr sz="1400" b="1" i="0">
                          <a:solidFill>
                            <a:srgbClr val="F6B44B"/>
                          </a:solidFill>
                          <a:latin typeface="Aptos"/>
                        </a:rPr>
                        <a:t>+20.5%</a:t>
                      </a:r>
                    </a:p>
                  </a:txBody>
                  <a:tcPr marL="73152" marR="73152" marT="27432" marB="27432" anchor="ctr">
                    <a:solidFill>
                      <a:srgbClr val="0A0F1C"/>
                    </a:solidFill>
                  </a:tcPr>
                </a:tc>
                <a:tc>
                  <a:txBody>
                    <a:bodyPr/>
                    <a:lstStyle/>
                    <a:p>
                      <a:pPr algn="r"/>
                      <a:r>
                        <a:rPr sz="1400" b="1" i="0">
                          <a:solidFill>
                            <a:srgbClr val="F6B44B"/>
                          </a:solidFill>
                          <a:latin typeface="Aptos"/>
                        </a:rPr>
                        <a:t>+12.8%</a:t>
                      </a:r>
                    </a:p>
                  </a:txBody>
                  <a:tcPr marL="73152" marR="73152" marT="27432" marB="27432" anchor="ctr">
                    <a:solidFill>
                      <a:srgbClr val="0A0F1C"/>
                    </a:solidFill>
                  </a:tcPr>
                </a:tc>
                <a:extLst>
                  <a:ext uri="{0D108BD9-81ED-4DB2-BD59-A6C34878D82A}">
                    <a16:rowId xmlns:a16="http://schemas.microsoft.com/office/drawing/2014/main" val="10001"/>
                  </a:ext>
                </a:extLst>
              </a:tr>
              <a:tr h="514350">
                <a:tc>
                  <a:txBody>
                    <a:bodyPr/>
                    <a:lstStyle/>
                    <a:p>
                      <a:pPr algn="l"/>
                      <a:r>
                        <a:rPr sz="1400" b="0" i="0">
                          <a:solidFill>
                            <a:srgbClr val="F5F1E6"/>
                          </a:solidFill>
                          <a:latin typeface="Aptos"/>
                        </a:rPr>
                        <a:t>Alachua County</a:t>
                      </a:r>
                    </a:p>
                  </a:txBody>
                  <a:tcPr marL="73152" marR="73152" marT="27432" marB="27432" anchor="ctr">
                    <a:solidFill>
                      <a:srgbClr val="0A0F1C"/>
                    </a:solidFill>
                  </a:tcPr>
                </a:tc>
                <a:tc>
                  <a:txBody>
                    <a:bodyPr/>
                    <a:lstStyle/>
                    <a:p>
                      <a:pPr algn="r"/>
                      <a:r>
                        <a:rPr sz="1400" b="0" i="0">
                          <a:solidFill>
                            <a:srgbClr val="F5F1E6"/>
                          </a:solidFill>
                          <a:latin typeface="Aptos"/>
                        </a:rPr>
                        <a:t>+6.1%</a:t>
                      </a:r>
                    </a:p>
                  </a:txBody>
                  <a:tcPr marL="73152" marR="73152" marT="27432" marB="27432" anchor="ctr">
                    <a:solidFill>
                      <a:srgbClr val="0A0F1C"/>
                    </a:solidFill>
                  </a:tcPr>
                </a:tc>
                <a:tc>
                  <a:txBody>
                    <a:bodyPr/>
                    <a:lstStyle/>
                    <a:p>
                      <a:pPr algn="r"/>
                      <a:r>
                        <a:rPr sz="1400" b="0" i="0">
                          <a:solidFill>
                            <a:srgbClr val="F5F1E6"/>
                          </a:solidFill>
                          <a:latin typeface="Aptos"/>
                        </a:rPr>
                        <a:t>+2.9%</a:t>
                      </a:r>
                    </a:p>
                  </a:txBody>
                  <a:tcPr marL="73152" marR="73152" marT="27432" marB="27432" anchor="ctr">
                    <a:solidFill>
                      <a:srgbClr val="0A0F1C"/>
                    </a:solidFill>
                  </a:tcPr>
                </a:tc>
                <a:extLst>
                  <a:ext uri="{0D108BD9-81ED-4DB2-BD59-A6C34878D82A}">
                    <a16:rowId xmlns:a16="http://schemas.microsoft.com/office/drawing/2014/main" val="10002"/>
                  </a:ext>
                </a:extLst>
              </a:tr>
              <a:tr h="514350">
                <a:tc>
                  <a:txBody>
                    <a:bodyPr/>
                    <a:lstStyle/>
                    <a:p>
                      <a:pPr algn="l"/>
                      <a:r>
                        <a:rPr sz="1400" b="0" i="0">
                          <a:solidFill>
                            <a:srgbClr val="F5F1E6"/>
                          </a:solidFill>
                          <a:latin typeface="Aptos"/>
                        </a:rPr>
                        <a:t>Gainesville</a:t>
                      </a:r>
                    </a:p>
                  </a:txBody>
                  <a:tcPr marL="73152" marR="73152" marT="27432" marB="27432" anchor="ctr">
                    <a:solidFill>
                      <a:srgbClr val="0A0F1C"/>
                    </a:solidFill>
                  </a:tcPr>
                </a:tc>
                <a:tc>
                  <a:txBody>
                    <a:bodyPr/>
                    <a:lstStyle/>
                    <a:p>
                      <a:pPr algn="r"/>
                      <a:r>
                        <a:rPr sz="1400" b="0" i="0">
                          <a:solidFill>
                            <a:srgbClr val="F5F1E6"/>
                          </a:solidFill>
                          <a:latin typeface="Aptos"/>
                        </a:rPr>
                        <a:t>+5.0%</a:t>
                      </a:r>
                    </a:p>
                  </a:txBody>
                  <a:tcPr marL="73152" marR="73152" marT="27432" marB="27432" anchor="ctr">
                    <a:solidFill>
                      <a:srgbClr val="0A0F1C"/>
                    </a:solidFill>
                  </a:tcPr>
                </a:tc>
                <a:tc>
                  <a:txBody>
                    <a:bodyPr/>
                    <a:lstStyle/>
                    <a:p>
                      <a:pPr algn="r"/>
                      <a:r>
                        <a:rPr sz="1400" b="0" i="0">
                          <a:solidFill>
                            <a:srgbClr val="F5F1E6"/>
                          </a:solidFill>
                          <a:latin typeface="Aptos"/>
                        </a:rPr>
                        <a:t>+4.8%</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pic>
        <p:nvPicPr>
          <p:cNvPr id="7" name="26_trend.mp4">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5715000" y="2059686"/>
            <a:ext cx="5925312" cy="3332988"/>
          </a:xfrm>
          <a:prstGeom prst="rect">
            <a:avLst/>
          </a:prstGeom>
        </p:spPr>
      </p:pic>
      <p:sp>
        <p:nvSpPr>
          <p:cNvPr id="8" name="TextBox 7"/>
          <p:cNvSpPr txBox="1"/>
          <p:nvPr/>
        </p:nvSpPr>
        <p:spPr>
          <a:xfrm>
            <a:off x="5715000" y="5447538"/>
            <a:ext cx="592531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0" i="0">
                <a:solidFill>
                  <a:srgbClr val="A79F88"/>
                </a:solidFill>
                <a:latin typeface="Aptos"/>
              </a:rPr>
              <a:t>Trend 2012–24 layer: change from 2012–14 to 2022–24 for lit cells; growth along I-75 and around Ocala.</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10" name="TextBox 9"/>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Rosen (2026), Dark Sky Simulator v2, ADR 0013 (the 19% reconstruction)  ·  Elvidge et al. (2021), Annual time series of global VIIRS nighttime lights  ·  Román et al. (2018), NASA's Black Marble nighttime lights product suite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remove" display="0">
                  <p:stCondLst>
                    <p:cond delay="indefinite"/>
                  </p:stCondLst>
                </p:cTn>
                <p:tgtEl>
                  <p:spTgt spid="7"/>
                </p:tgtEl>
              </p:cMediaNode>
            </p:video>
            <p:seq concurrent="1" nextAc="seek">
              <p:cTn id="8" restart="whenNotActive" fill="hold" evtFilter="cancelBubble" nodeType="interactiveSeq">
                <p:stCondLst>
                  <p:cond evt="onClick" delay="0">
                    <p:tgtEl>
                      <p:spTgt spid="7"/>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7"/>
                                        </p:tgtEl>
                                      </p:cBhvr>
                                    </p:cmd>
                                  </p:childTnLst>
                                </p:cTn>
                              </p:par>
                            </p:childTnLst>
                          </p:cTn>
                        </p:par>
                      </p:childTnLst>
                    </p:cTn>
                  </p:par>
                </p:childTnLst>
              </p:cTn>
              <p:nextCondLst>
                <p:cond evt="onClick" delay="0">
                  <p:tgtEl>
                    <p:spTgt spid="7"/>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What the detector can't see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27</a:t>
            </a:r>
          </a:p>
        </p:txBody>
      </p:sp>
      <p:sp>
        <p:nvSpPr>
          <p:cNvPr id="5" name="TextBox 4"/>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A lit cell's yearly values scatter </a:t>
            </a:r>
            <a:r>
              <a:rPr sz="1900" b="1" i="0">
                <a:solidFill>
                  <a:srgbClr val="F6B44B"/>
                </a:solidFill>
                <a:latin typeface="Aptos"/>
              </a:rPr>
              <a:t>≈ 10%</a:t>
            </a:r>
            <a:r>
              <a:rPr sz="1900" b="0" i="0">
                <a:solidFill>
                  <a:srgbClr val="D9D2BD"/>
                </a:solidFill>
                <a:latin typeface="Aptos"/>
              </a:rPr>
              <a:t> around its trend</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At that noise a +50% step is caught </a:t>
            </a:r>
            <a:r>
              <a:rPr sz="1900" b="1" i="0">
                <a:solidFill>
                  <a:srgbClr val="F6B44B"/>
                </a:solidFill>
                <a:latin typeface="Aptos"/>
              </a:rPr>
              <a:t>10%</a:t>
            </a:r>
            <a:r>
              <a:rPr sz="1900" b="0" i="0">
                <a:solidFill>
                  <a:srgbClr val="D9D2BD"/>
                </a:solidFill>
                <a:latin typeface="Aptos"/>
              </a:rPr>
              <a:t> of the time, a −30% step </a:t>
            </a:r>
            <a:r>
              <a:rPr sz="1900" b="1" i="0">
                <a:solidFill>
                  <a:srgbClr val="F6B44B"/>
                </a:solidFill>
                <a:latin typeface="Aptos"/>
              </a:rPr>
              <a:t>6%</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So it finds large new lighting and </a:t>
            </a:r>
            <a:r>
              <a:rPr sz="1900" b="1" i="0">
                <a:solidFill>
                  <a:srgbClr val="F6B44B"/>
                </a:solidFill>
                <a:latin typeface="Aptos"/>
              </a:rPr>
              <a:t>misses most LED retrofits</a:t>
            </a:r>
            <a:r>
              <a:rPr sz="1900" b="0" i="0">
                <a:solidFill>
                  <a:srgbClr val="D9D2BD"/>
                </a:solidFill>
                <a:latin typeface="Aptos"/>
              </a:rPr>
              <a:t> (20–40% drops)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VIIRS is nearly blind below 500 nm: it misses most of a white LED's blue</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Next: monthly data and utility work orders</a:t>
            </a:r>
          </a:p>
        </p:txBody>
      </p:sp>
      <p:sp>
        <p:nvSpPr>
          <p:cNvPr id="6" name="TextBox 5"/>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Chance a step is flagged, at the median noise (9.7%)</a:t>
            </a:r>
          </a:p>
        </p:txBody>
      </p:sp>
      <p:graphicFrame>
        <p:nvGraphicFramePr>
          <p:cNvPr id="7" name="Chart 6"/>
          <p:cNvGraphicFramePr>
            <a:graphicFrameLocks noGrp="1"/>
          </p:cNvGraphicFramePr>
          <p:nvPr/>
        </p:nvGraphicFramePr>
        <p:xfrm>
          <a:off x="5760720" y="1737360"/>
          <a:ext cx="5897880" cy="3931920"/>
        </p:xfrm>
        <a:graphic>
          <a:graphicData uri="http://schemas.openxmlformats.org/drawingml/2006/chart">
            <c:chart xmlns:c="http://schemas.openxmlformats.org/drawingml/2006/chart" xmlns:r="http://schemas.openxmlformats.org/officeDocument/2006/relationships" r:id="rId3"/>
          </a:graphicData>
        </a:graphic>
      </p:graphicFrame>
      <p:sp>
        <p:nvSpPr>
          <p:cNvPr id="8" name="TextBox 7"/>
          <p:cNvSpPr txBox="1"/>
          <p:nvPr/>
        </p:nvSpPr>
        <p:spPr>
          <a:xfrm>
            <a:off x="5852160" y="5760720"/>
            <a:ext cx="5760720" cy="5029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From 20,000 simulated series per case with a step in 2019. Large new development (+100% and more) is what it reliably finds.</a:t>
            </a:r>
          </a:p>
        </p:txBody>
      </p:sp>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10" name="TextBox 9"/>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  ·  Román et al. (2018), NASA's Black Marble nighttime lights product suite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back-test: did it beat “no change”?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28</a:t>
            </a:r>
          </a:p>
        </p:txBody>
      </p:sp>
      <p:sp>
        <p:nvSpPr>
          <p:cNvPr id="5" name="TextBox 4"/>
          <p:cNvSpPr txBox="1"/>
          <p:nvPr/>
        </p:nvSpPr>
        <p:spPr>
          <a:xfrm>
            <a:off x="548640" y="1463040"/>
            <a:ext cx="4892040" cy="2560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Trained on 2012 → 2018, asked for </a:t>
            </a:r>
            <a:r>
              <a:rPr sz="1800" b="1" i="0">
                <a:solidFill>
                  <a:srgbClr val="F6B44B"/>
                </a:solidFill>
                <a:latin typeface="Aptos"/>
              </a:rPr>
              <a:t>2024</a:t>
            </a:r>
            <a:r>
              <a:rPr sz="1800" b="0" i="0">
                <a:solidFill>
                  <a:srgbClr val="D9D2BD"/>
                </a:solidFill>
                <a:latin typeface="Aptos"/>
              </a:rPr>
              <a:t>: years it never saw</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Ties “no change” on brightness: lit areas fell </a:t>
            </a:r>
            <a:r>
              <a:rPr sz="1800" b="1" i="0">
                <a:solidFill>
                  <a:srgbClr val="F6B44B"/>
                </a:solidFill>
                <a:latin typeface="Aptos"/>
              </a:rPr>
              <a:t>3.7%</a:t>
            </a:r>
            <a:r>
              <a:rPr sz="1800" b="0" i="0">
                <a:solidFill>
                  <a:srgbClr val="D9D2BD"/>
                </a:solidFill>
                <a:latin typeface="Aptos"/>
              </a:rPr>
              <a:t> (2012–18), then rose </a:t>
            </a:r>
            <a:r>
              <a:rPr sz="1800" b="1" i="0">
                <a:solidFill>
                  <a:srgbClr val="F6B44B"/>
                </a:solidFill>
                <a:latin typeface="Aptos"/>
              </a:rPr>
              <a:t>20.6%</a:t>
            </a:r>
            <a:r>
              <a:rPr sz="1800" b="0" i="0">
                <a:solidFill>
                  <a:srgbClr val="D9D2BD"/>
                </a:solidFill>
                <a:latin typeface="Aptos"/>
              </a:rPr>
              <a:t> (2018–24)</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It ranks cells modestly well: correlation </a:t>
            </a:r>
            <a:r>
              <a:rPr sz="1800" b="1" i="0">
                <a:solidFill>
                  <a:srgbClr val="F6B44B"/>
                </a:solidFill>
                <a:latin typeface="Aptos"/>
              </a:rPr>
              <a:t>0.35</a:t>
            </a:r>
            <a:r>
              <a:rPr sz="1800" b="0" i="0">
                <a:solidFill>
                  <a:srgbClr val="D9D2BD"/>
                </a:solidFill>
                <a:latin typeface="Aptos"/>
              </a:rPr>
              <a:t>; R² </a:t>
            </a:r>
            <a:r>
              <a:rPr sz="1800" b="1" i="0">
                <a:solidFill>
                  <a:srgbClr val="F6B44B"/>
                </a:solidFill>
                <a:latin typeface="Aptos"/>
              </a:rPr>
              <a:t>0.18</a:t>
            </a:r>
            <a:r>
              <a:rPr sz="1800" b="0" i="0">
                <a:solidFill>
                  <a:srgbClr val="D9D2BD"/>
                </a:solidFill>
                <a:latin typeface="Aptos"/>
              </a:rPr>
              <a:t> on held-out areas</a:t>
            </a:r>
          </a:p>
        </p:txBody>
      </p:sp>
      <p:graphicFrame>
        <p:nvGraphicFramePr>
          <p:cNvPr id="6" name="Table 5"/>
          <p:cNvGraphicFramePr>
            <a:graphicFrameLocks noGrp="1"/>
          </p:cNvGraphicFramePr>
          <p:nvPr/>
        </p:nvGraphicFramePr>
        <p:xfrm>
          <a:off x="548640" y="4206240"/>
          <a:ext cx="4892040" cy="1828800"/>
        </p:xfrm>
        <a:graphic>
          <a:graphicData uri="http://schemas.openxmlformats.org/drawingml/2006/table">
            <a:tbl>
              <a:tblPr>
                <a:tableStyleId>{5940675A-B579-460E-94D1-54222C63F5DA}</a:tableStyleId>
              </a:tblPr>
              <a:tblGrid>
                <a:gridCol w="260604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57200">
                <a:tc>
                  <a:txBody>
                    <a:bodyPr/>
                    <a:lstStyle/>
                    <a:p>
                      <a:pPr algn="l"/>
                      <a:r>
                        <a:rPr sz="1400" b="1" i="0">
                          <a:solidFill>
                            <a:srgbClr val="F6B44B"/>
                          </a:solidFill>
                          <a:latin typeface="Aptos"/>
                        </a:rPr>
                        <a:t>Prediction of 2024</a:t>
                      </a:r>
                    </a:p>
                  </a:txBody>
                  <a:tcPr marL="73152" marR="73152" marT="27432" marB="27432" anchor="ctr">
                    <a:solidFill>
                      <a:srgbClr val="1A2642"/>
                    </a:solidFill>
                  </a:tcPr>
                </a:tc>
                <a:tc>
                  <a:txBody>
                    <a:bodyPr/>
                    <a:lstStyle/>
                    <a:p>
                      <a:pPr algn="r"/>
                      <a:r>
                        <a:rPr sz="1400" b="1" i="0">
                          <a:solidFill>
                            <a:srgbClr val="F6B44B"/>
                          </a:solidFill>
                          <a:latin typeface="Aptos"/>
                        </a:rPr>
                        <a:t>Median error</a:t>
                      </a:r>
                    </a:p>
                  </a:txBody>
                  <a:tcPr marL="73152" marR="73152" marT="27432" marB="27432" anchor="ctr">
                    <a:solidFill>
                      <a:srgbClr val="1A2642"/>
                    </a:solidFill>
                  </a:tcPr>
                </a:tc>
                <a:tc>
                  <a:txBody>
                    <a:bodyPr/>
                    <a:lstStyle/>
                    <a:p>
                      <a:pPr algn="r"/>
                      <a:r>
                        <a:rPr sz="1400" b="1" i="0">
                          <a:solidFill>
                            <a:srgbClr val="F6B44B"/>
                          </a:solidFill>
                          <a:latin typeface="Aptos"/>
                        </a:rPr>
                        <a:t>Log error</a:t>
                      </a:r>
                    </a:p>
                  </a:txBody>
                  <a:tcPr marL="73152" marR="73152" marT="27432" marB="27432" anchor="ctr">
                    <a:solidFill>
                      <a:srgbClr val="1A2642"/>
                    </a:solidFill>
                  </a:tcPr>
                </a:tc>
                <a:extLst>
                  <a:ext uri="{0D108BD9-81ED-4DB2-BD59-A6C34878D82A}">
                    <a16:rowId xmlns:a16="http://schemas.microsoft.com/office/drawing/2014/main" val="10000"/>
                  </a:ext>
                </a:extLst>
              </a:tr>
              <a:tr h="457200">
                <a:tc>
                  <a:txBody>
                    <a:bodyPr/>
                    <a:lstStyle/>
                    <a:p>
                      <a:pPr algn="l"/>
                      <a:r>
                        <a:rPr sz="1400" b="1" i="0">
                          <a:solidFill>
                            <a:srgbClr val="F6B44B"/>
                          </a:solidFill>
                          <a:latin typeface="Aptos"/>
                        </a:rPr>
                        <a:t>LightGBM</a:t>
                      </a:r>
                    </a:p>
                  </a:txBody>
                  <a:tcPr marL="73152" marR="73152" marT="27432" marB="27432" anchor="ctr">
                    <a:solidFill>
                      <a:srgbClr val="0A0F1C"/>
                    </a:solidFill>
                  </a:tcPr>
                </a:tc>
                <a:tc>
                  <a:txBody>
                    <a:bodyPr/>
                    <a:lstStyle/>
                    <a:p>
                      <a:pPr algn="r"/>
                      <a:r>
                        <a:rPr sz="1400" b="1" i="0">
                          <a:solidFill>
                            <a:srgbClr val="F6B44B"/>
                          </a:solidFill>
                          <a:latin typeface="Aptos"/>
                        </a:rPr>
                        <a:t>21.2%</a:t>
                      </a:r>
                    </a:p>
                  </a:txBody>
                  <a:tcPr marL="73152" marR="73152" marT="27432" marB="27432" anchor="ctr">
                    <a:solidFill>
                      <a:srgbClr val="0A0F1C"/>
                    </a:solidFill>
                  </a:tcPr>
                </a:tc>
                <a:tc>
                  <a:txBody>
                    <a:bodyPr/>
                    <a:lstStyle/>
                    <a:p>
                      <a:pPr algn="r"/>
                      <a:r>
                        <a:rPr sz="1400" b="1" i="0">
                          <a:solidFill>
                            <a:srgbClr val="F6B44B"/>
                          </a:solidFill>
                          <a:latin typeface="Aptos"/>
                        </a:rPr>
                        <a:t>0.449</a:t>
                      </a:r>
                    </a:p>
                  </a:txBody>
                  <a:tcPr marL="73152" marR="73152" marT="27432" marB="27432" anchor="ctr">
                    <a:solidFill>
                      <a:srgbClr val="0A0F1C"/>
                    </a:solidFill>
                  </a:tcPr>
                </a:tc>
                <a:extLst>
                  <a:ext uri="{0D108BD9-81ED-4DB2-BD59-A6C34878D82A}">
                    <a16:rowId xmlns:a16="http://schemas.microsoft.com/office/drawing/2014/main" val="10001"/>
                  </a:ext>
                </a:extLst>
              </a:tr>
              <a:tr h="457200">
                <a:tc>
                  <a:txBody>
                    <a:bodyPr/>
                    <a:lstStyle/>
                    <a:p>
                      <a:pPr algn="l"/>
                      <a:r>
                        <a:rPr sz="1400" b="0" i="0">
                          <a:solidFill>
                            <a:srgbClr val="F5F1E6"/>
                          </a:solidFill>
                          <a:latin typeface="Aptos"/>
                        </a:rPr>
                        <a:t>No change (2024 = 2018)</a:t>
                      </a:r>
                    </a:p>
                  </a:txBody>
                  <a:tcPr marL="73152" marR="73152" marT="27432" marB="27432" anchor="ctr">
                    <a:solidFill>
                      <a:srgbClr val="0A0F1C"/>
                    </a:solidFill>
                  </a:tcPr>
                </a:tc>
                <a:tc>
                  <a:txBody>
                    <a:bodyPr/>
                    <a:lstStyle/>
                    <a:p>
                      <a:pPr algn="r"/>
                      <a:r>
                        <a:rPr sz="1400" b="0" i="0">
                          <a:solidFill>
                            <a:srgbClr val="F5F1E6"/>
                          </a:solidFill>
                          <a:latin typeface="Aptos"/>
                        </a:rPr>
                        <a:t>21.2%</a:t>
                      </a:r>
                    </a:p>
                  </a:txBody>
                  <a:tcPr marL="73152" marR="73152" marT="27432" marB="27432" anchor="ctr">
                    <a:solidFill>
                      <a:srgbClr val="0A0F1C"/>
                    </a:solidFill>
                  </a:tcPr>
                </a:tc>
                <a:tc>
                  <a:txBody>
                    <a:bodyPr/>
                    <a:lstStyle/>
                    <a:p>
                      <a:pPr algn="r"/>
                      <a:r>
                        <a:rPr sz="1400" b="0" i="0">
                          <a:solidFill>
                            <a:srgbClr val="F5F1E6"/>
                          </a:solidFill>
                          <a:latin typeface="Aptos"/>
                        </a:rPr>
                        <a:t>0.467</a:t>
                      </a:r>
                    </a:p>
                  </a:txBody>
                  <a:tcPr marL="73152" marR="73152" marT="27432" marB="27432" anchor="ctr">
                    <a:solidFill>
                      <a:srgbClr val="0A0F1C"/>
                    </a:solidFill>
                  </a:tcPr>
                </a:tc>
                <a:extLst>
                  <a:ext uri="{0D108BD9-81ED-4DB2-BD59-A6C34878D82A}">
                    <a16:rowId xmlns:a16="http://schemas.microsoft.com/office/drawing/2014/main" val="10002"/>
                  </a:ext>
                </a:extLst>
              </a:tr>
              <a:tr h="457200">
                <a:tc>
                  <a:txBody>
                    <a:bodyPr/>
                    <a:lstStyle/>
                    <a:p>
                      <a:pPr algn="l"/>
                      <a:r>
                        <a:rPr sz="1400" b="0" i="0">
                          <a:solidFill>
                            <a:srgbClr val="F5F1E6"/>
                          </a:solidFill>
                          <a:latin typeface="Aptos"/>
                        </a:rPr>
                        <a:t>Each cell's own past trend</a:t>
                      </a:r>
                    </a:p>
                  </a:txBody>
                  <a:tcPr marL="73152" marR="73152" marT="27432" marB="27432" anchor="ctr">
                    <a:solidFill>
                      <a:srgbClr val="0A0F1C"/>
                    </a:solidFill>
                  </a:tcPr>
                </a:tc>
                <a:tc>
                  <a:txBody>
                    <a:bodyPr/>
                    <a:lstStyle/>
                    <a:p>
                      <a:pPr algn="r"/>
                      <a:r>
                        <a:rPr sz="1400" b="0" i="0">
                          <a:solidFill>
                            <a:srgbClr val="F5F1E6"/>
                          </a:solidFill>
                          <a:latin typeface="Aptos"/>
                        </a:rPr>
                        <a:t>25.4%</a:t>
                      </a:r>
                    </a:p>
                  </a:txBody>
                  <a:tcPr marL="73152" marR="73152" marT="27432" marB="27432" anchor="ctr">
                    <a:solidFill>
                      <a:srgbClr val="0A0F1C"/>
                    </a:solidFill>
                  </a:tcPr>
                </a:tc>
                <a:tc>
                  <a:txBody>
                    <a:bodyPr/>
                    <a:lstStyle/>
                    <a:p>
                      <a:pPr algn="r"/>
                      <a:r>
                        <a:rPr sz="1400" b="0" i="0">
                          <a:solidFill>
                            <a:srgbClr val="F5F1E6"/>
                          </a:solidFill>
                          <a:latin typeface="Aptos"/>
                        </a:rPr>
                        <a:t>–</a:t>
                      </a:r>
                    </a:p>
                  </a:txBody>
                  <a:tcPr marL="73152" marR="73152" marT="27432" marB="27432" anchor="ctr">
                    <a:solidFill>
                      <a:srgbClr val="0A0F1C"/>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Predicted vs observed growth, 2018–24, by tenth of cells</a:t>
            </a:r>
          </a:p>
        </p:txBody>
      </p:sp>
      <p:graphicFrame>
        <p:nvGraphicFramePr>
          <p:cNvPr id="8" name="Chart 7"/>
          <p:cNvGraphicFramePr>
            <a:graphicFrameLocks noGrp="1"/>
          </p:cNvGraphicFramePr>
          <p:nvPr/>
        </p:nvGraphicFramePr>
        <p:xfrm>
          <a:off x="5760720" y="1737360"/>
          <a:ext cx="5897880" cy="4343400"/>
        </p:xfrm>
        <a:graphic>
          <a:graphicData uri="http://schemas.openxmlformats.org/drawingml/2006/chart">
            <c:chart xmlns:c="http://schemas.openxmlformats.org/drawingml/2006/chart" xmlns:r="http://schemas.openxmlformats.org/officeDocument/2006/relationships" r:id="rId3"/>
          </a:graphicData>
        </a:graphic>
      </p:graphicFrame>
      <p:pic>
        <p:nvPicPr>
          <p:cNvPr id="9" name="Picture 8"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10" name="TextBox 9"/>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Ke et al. (2017), LightGBM: A highly efficient gradient boosting decision tree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How the AI is kept honest</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29</a:t>
            </a:r>
          </a:p>
        </p:txBody>
      </p:sp>
      <p:sp>
        <p:nvSpPr>
          <p:cNvPr id="5" name="TextBox 4"/>
          <p:cNvSpPr txBox="1"/>
          <p:nvPr/>
        </p:nvSpPr>
        <p:spPr>
          <a:xfrm>
            <a:off x="548640" y="1463040"/>
            <a:ext cx="51206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Forecast scored only on years it never trained on; a </a:t>
            </a:r>
            <a:r>
              <a:rPr sz="1800" b="1" i="0">
                <a:solidFill>
                  <a:srgbClr val="F6B44B"/>
                </a:solidFill>
                <a:latin typeface="Aptos"/>
              </a:rPr>
              <a:t>unit test fails</a:t>
            </a:r>
            <a:r>
              <a:rPr sz="1800" b="0" i="0">
                <a:solidFill>
                  <a:srgbClr val="D9D2BD"/>
                </a:solidFill>
                <a:latin typeface="Aptos"/>
              </a:rPr>
              <a:t> if they leak into training</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Detector's false-alarm rate checked on simulated noise; steady trends must not count as steps</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The web page </a:t>
            </a:r>
            <a:r>
              <a:rPr sz="1800" b="1" i="0">
                <a:solidFill>
                  <a:srgbClr val="F6B44B"/>
                </a:solidFill>
                <a:latin typeface="Aptos"/>
              </a:rPr>
              <a:t>re-runs the step test</a:t>
            </a:r>
            <a:r>
              <a:rPr sz="1800" b="0" i="0">
                <a:solidFill>
                  <a:srgbClr val="D9D2BD"/>
                </a:solidFill>
                <a:latin typeface="Aptos"/>
              </a:rPr>
              <a:t> for any cell you click; it must match the pipeline on every lit cell</a:t>
            </a:r>
          </a:p>
          <a:p>
            <a:pPr marL="256032" indent="-256032">
              <a:lnSpc>
                <a:spcPct val="100000"/>
              </a:lnSpc>
              <a:spcBef>
                <a:spcPts val="1200"/>
              </a:spcBef>
              <a:spcAft>
                <a:spcPts val="0"/>
              </a:spcAft>
              <a:buClr>
                <a:srgbClr val="F6B44B"/>
              </a:buClr>
              <a:buSzPct val="100000"/>
              <a:buFont typeface="Arial"/>
              <a:buChar char="•"/>
            </a:pPr>
            <a:r>
              <a:rPr sz="1800" b="0" i="0">
                <a:solidFill>
                  <a:srgbClr val="D9D2BD"/>
                </a:solidFill>
                <a:latin typeface="Aptos"/>
              </a:rPr>
              <a:t>Sky model vs </a:t>
            </a:r>
            <a:r>
              <a:rPr sz="1800" b="1" i="0">
                <a:solidFill>
                  <a:srgbClr val="F6B44B"/>
                </a:solidFill>
                <a:latin typeface="Aptos"/>
              </a:rPr>
              <a:t>53</a:t>
            </a:r>
            <a:r>
              <a:rPr sz="1800" b="0" i="0">
                <a:solidFill>
                  <a:srgbClr val="D9D2BD"/>
                </a:solidFill>
                <a:latin typeface="Aptos"/>
              </a:rPr>
              <a:t> Globe at Night meter readings never used in any fit: median 0.52 mag</a:t>
            </a:r>
          </a:p>
        </p:txBody>
      </p:sp>
      <p:pic>
        <p:nvPicPr>
          <p:cNvPr id="6" name="Picture 5" descr="crop_honest.jpg"/>
          <p:cNvPicPr>
            <a:picLocks noChangeAspect="1"/>
          </p:cNvPicPr>
          <p:nvPr/>
        </p:nvPicPr>
        <p:blipFill>
          <a:blip r:embed="rId3"/>
          <a:stretch>
            <a:fillRect/>
          </a:stretch>
        </p:blipFill>
        <p:spPr>
          <a:xfrm>
            <a:off x="6035040" y="1508760"/>
            <a:ext cx="5605272" cy="3221257"/>
          </a:xfrm>
          <a:prstGeom prst="roundRect">
            <a:avLst>
              <a:gd name="adj" fmla="val 2000"/>
            </a:avLst>
          </a:prstGeom>
          <a:ln w="9525">
            <a:solidFill>
              <a:srgbClr val="2A3A60"/>
            </a:solidFill>
          </a:ln>
        </p:spPr>
      </p:pic>
      <p:sp>
        <p:nvSpPr>
          <p:cNvPr id="7" name="TextBox 6"/>
          <p:cNvSpPr txBox="1"/>
          <p:nvPr/>
        </p:nvSpPr>
        <p:spPr>
          <a:xfrm>
            <a:off x="6035040" y="4803169"/>
            <a:ext cx="5605272"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The same checks, stated in the app's AI tab.</a:t>
            </a:r>
          </a:p>
        </p:txBody>
      </p:sp>
      <p:pic>
        <p:nvPicPr>
          <p:cNvPr id="8" name="Picture 7" descr="ai_days_logo_sticker.png"/>
          <p:cNvPicPr>
            <a:picLocks noChangeAspect="1"/>
          </p:cNvPicPr>
          <p:nvPr/>
        </p:nvPicPr>
        <p:blipFill>
          <a:blip r:embed="rId4"/>
          <a:stretch>
            <a:fillRect/>
          </a:stretch>
        </p:blipFill>
        <p:spPr>
          <a:xfrm>
            <a:off x="10408615" y="201168"/>
            <a:ext cx="1371600" cy="798271"/>
          </a:xfrm>
          <a:prstGeom prst="rect">
            <a:avLst/>
          </a:prstGeom>
        </p:spPr>
      </p:pic>
      <p:sp>
        <p:nvSpPr>
          <p:cNvPr id="9" name="TextBox 8"/>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  ·  Ke et al. (2017), LightGBM: A highly efficient gradient boosting decision tree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Finding where lighting changed: trend or step?</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30</a:t>
            </a:r>
          </a:p>
        </p:txBody>
      </p:sp>
      <p:sp>
        <p:nvSpPr>
          <p:cNvPr id="5" name="TextBox 4"/>
          <p:cNvSpPr txBox="1"/>
          <p:nvPr/>
        </p:nvSpPr>
        <p:spPr>
          <a:xfrm>
            <a:off x="548640" y="1463040"/>
            <a:ext cx="470916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800" b="0" i="0">
                <a:solidFill>
                  <a:srgbClr val="D9D2BD"/>
                </a:solidFill>
                <a:latin typeface="Aptos"/>
              </a:rPr>
              <a:t>For every lit cell: is a steady trend enough, or was there a </a:t>
            </a:r>
            <a:r>
              <a:rPr sz="1800" b="1" i="0">
                <a:solidFill>
                  <a:srgbClr val="F6B44B"/>
                </a:solidFill>
                <a:latin typeface="Aptos"/>
              </a:rPr>
              <a:t>sudden step</a:t>
            </a:r>
            <a:r>
              <a:rPr sz="1800" b="0" i="0">
                <a:solidFill>
                  <a:srgbClr val="D9D2BD"/>
                </a:solidFill>
                <a:latin typeface="Aptos"/>
              </a:rPr>
              <a:t>?</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F-test of line vs line + step, at the best of 8 split years (2015–2022)</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Cutoff from simulating </a:t>
            </a:r>
            <a:r>
              <a:rPr sz="1800" b="1" i="0">
                <a:solidFill>
                  <a:srgbClr val="F6B44B"/>
                </a:solidFill>
                <a:latin typeface="Aptos"/>
              </a:rPr>
              <a:t>200,000</a:t>
            </a:r>
            <a:r>
              <a:rPr sz="1800" b="0" i="0">
                <a:solidFill>
                  <a:srgbClr val="D9D2BD"/>
                </a:solidFill>
                <a:latin typeface="Aptos"/>
              </a:rPr>
              <a:t> noise-only cells: F ≥ 36.3, a false alarm </a:t>
            </a:r>
            <a:r>
              <a:rPr sz="1800" b="1" i="0">
                <a:solidFill>
                  <a:srgbClr val="F6B44B"/>
                </a:solidFill>
                <a:latin typeface="Aptos"/>
              </a:rPr>
              <a:t>1 in 1,000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Region's shared movement removed first; steps must be ≥ 20%</a:t>
            </a:r>
          </a:p>
          <a:p>
            <a:pPr marL="256032" indent="-256032">
              <a:lnSpc>
                <a:spcPct val="100000"/>
              </a:lnSpc>
              <a:spcBef>
                <a:spcPts val="1000"/>
              </a:spcBef>
              <a:spcAft>
                <a:spcPts val="0"/>
              </a:spcAft>
              <a:buClr>
                <a:srgbClr val="F6B44B"/>
              </a:buClr>
              <a:buSzPct val="100000"/>
              <a:buFont typeface="Arial"/>
              <a:buChar char="•"/>
            </a:pPr>
            <a:r>
              <a:rPr sz="1800" b="0" i="0">
                <a:solidFill>
                  <a:srgbClr val="D9D2BD"/>
                </a:solidFill>
                <a:latin typeface="Aptos"/>
              </a:rPr>
              <a:t>My first detector flagged </a:t>
            </a:r>
            <a:r>
              <a:rPr sz="1800" b="1" i="0">
                <a:solidFill>
                  <a:srgbClr val="F6B44B"/>
                </a:solidFill>
                <a:latin typeface="Aptos"/>
              </a:rPr>
              <a:t>2,000 of 2,000</a:t>
            </a:r>
            <a:r>
              <a:rPr sz="1800" b="0" i="0">
                <a:solidFill>
                  <a:srgbClr val="D9D2BD"/>
                </a:solidFill>
                <a:latin typeface="Aptos"/>
              </a:rPr>
              <a:t> simulated steady trends</a:t>
            </a:r>
          </a:p>
        </p:txBody>
      </p:sp>
      <p:pic>
        <p:nvPicPr>
          <p:cNvPr id="6" name="Picture 5" descr="crop_inspector_chiefland.jpg"/>
          <p:cNvPicPr>
            <a:picLocks noChangeAspect="1"/>
          </p:cNvPicPr>
          <p:nvPr/>
        </p:nvPicPr>
        <p:blipFill>
          <a:blip r:embed="rId3"/>
          <a:stretch>
            <a:fillRect/>
          </a:stretch>
        </p:blipFill>
        <p:spPr>
          <a:xfrm>
            <a:off x="5623560" y="1463040"/>
            <a:ext cx="2926080" cy="1522513"/>
          </a:xfrm>
          <a:prstGeom prst="roundRect">
            <a:avLst>
              <a:gd name="adj" fmla="val 3000"/>
            </a:avLst>
          </a:prstGeom>
          <a:ln w="9525">
            <a:solidFill>
              <a:srgbClr val="2A3A60"/>
            </a:solidFill>
          </a:ln>
        </p:spPr>
      </p:pic>
      <p:sp>
        <p:nvSpPr>
          <p:cNvPr id="7" name="TextBox 6"/>
          <p:cNvSpPr txBox="1"/>
          <p:nvPr/>
        </p:nvSpPr>
        <p:spPr>
          <a:xfrm>
            <a:off x="5623560"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Steady trend:</a:t>
            </a:r>
            <a:r>
              <a:rPr sz="1100" b="0" i="0">
                <a:solidFill>
                  <a:srgbClr val="A79F88"/>
                </a:solidFill>
                <a:latin typeface="Aptos"/>
              </a:rPr>
              <a:t> not flagged (Chiefland)</a:t>
            </a:r>
          </a:p>
        </p:txBody>
      </p:sp>
      <p:pic>
        <p:nvPicPr>
          <p:cNvPr id="8" name="Picture 7" descr="crop_inspector1.jpg"/>
          <p:cNvPicPr>
            <a:picLocks noChangeAspect="1"/>
          </p:cNvPicPr>
          <p:nvPr/>
        </p:nvPicPr>
        <p:blipFill>
          <a:blip r:embed="rId4"/>
          <a:stretch>
            <a:fillRect/>
          </a:stretch>
        </p:blipFill>
        <p:spPr>
          <a:xfrm>
            <a:off x="8714232" y="1463040"/>
            <a:ext cx="2926080" cy="1522513"/>
          </a:xfrm>
          <a:prstGeom prst="roundRect">
            <a:avLst>
              <a:gd name="adj" fmla="val 3000"/>
            </a:avLst>
          </a:prstGeom>
          <a:ln w="9525">
            <a:solidFill>
              <a:srgbClr val="2A3A60"/>
            </a:solidFill>
          </a:ln>
        </p:spPr>
      </p:pic>
      <p:sp>
        <p:nvSpPr>
          <p:cNvPr id="9" name="TextBox 8"/>
          <p:cNvSpPr txBox="1"/>
          <p:nvPr/>
        </p:nvSpPr>
        <p:spPr>
          <a:xfrm>
            <a:off x="8714232" y="3031273"/>
            <a:ext cx="292608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100" b="1" i="0">
                <a:solidFill>
                  <a:srgbClr val="A79F88"/>
                </a:solidFill>
                <a:latin typeface="Aptos"/>
              </a:rPr>
              <a:t>Step:</a:t>
            </a:r>
            <a:r>
              <a:rPr sz="1100" b="0" i="0">
                <a:solidFill>
                  <a:srgbClr val="A79F88"/>
                </a:solidFill>
                <a:latin typeface="Aptos"/>
              </a:rPr>
              <a:t> flagged (I-75 &amp; Archer Rd)</a:t>
            </a:r>
          </a:p>
        </p:txBody>
      </p:sp>
      <p:pic>
        <p:nvPicPr>
          <p:cNvPr id="10" name="Picture 9" descr="fstat_light.png"/>
          <p:cNvPicPr>
            <a:picLocks noChangeAspect="1"/>
          </p:cNvPicPr>
          <p:nvPr/>
        </p:nvPicPr>
        <p:blipFill>
          <a:blip r:embed="rId5"/>
          <a:stretch>
            <a:fillRect/>
          </a:stretch>
        </p:blipFill>
        <p:spPr>
          <a:xfrm>
            <a:off x="5669280" y="3520440"/>
            <a:ext cx="5897879" cy="929956"/>
          </a:xfrm>
          <a:prstGeom prst="rect">
            <a:avLst/>
          </a:prstGeom>
        </p:spPr>
      </p:pic>
      <p:pic>
        <p:nvPicPr>
          <p:cNvPr id="11" name="Picture 10" descr="fcrit_light.png"/>
          <p:cNvPicPr>
            <a:picLocks noChangeAspect="1"/>
          </p:cNvPicPr>
          <p:nvPr/>
        </p:nvPicPr>
        <p:blipFill>
          <a:blip r:embed="rId6"/>
          <a:stretch>
            <a:fillRect/>
          </a:stretch>
        </p:blipFill>
        <p:spPr>
          <a:xfrm>
            <a:off x="5669280" y="4572000"/>
            <a:ext cx="5897880" cy="594905"/>
          </a:xfrm>
          <a:prstGeom prst="rect">
            <a:avLst/>
          </a:prstGeom>
        </p:spPr>
      </p:pic>
      <p:pic>
        <p:nvPicPr>
          <p:cNvPr id="12" name="Picture 11" descr="ai_days_logo_sticker.png"/>
          <p:cNvPicPr>
            <a:picLocks noChangeAspect="1"/>
          </p:cNvPicPr>
          <p:nvPr/>
        </p:nvPicPr>
        <p:blipFill>
          <a:blip r:embed="rId7"/>
          <a:stretch>
            <a:fillRect/>
          </a:stretch>
        </p:blipFill>
        <p:spPr>
          <a:xfrm>
            <a:off x="10408615" y="201168"/>
            <a:ext cx="1371600" cy="798271"/>
          </a:xfrm>
          <a:prstGeom prst="rect">
            <a:avLst/>
          </a:prstGeom>
        </p:spPr>
      </p:pic>
      <p:sp>
        <p:nvSpPr>
          <p:cNvPr id="13" name="TextBox 12"/>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AI</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Forecasting growth with LightGBM</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31</a:t>
            </a:r>
          </a:p>
        </p:txBody>
      </p:sp>
      <p:sp>
        <p:nvSpPr>
          <p:cNvPr id="5" name="TextBox 4"/>
          <p:cNvSpPr txBox="1"/>
          <p:nvPr/>
        </p:nvSpPr>
        <p:spPr>
          <a:xfrm>
            <a:off x="548640" y="1463040"/>
            <a:ext cx="4892040" cy="484632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900" b="0" i="0">
                <a:solidFill>
                  <a:srgbClr val="D9D2BD"/>
                </a:solidFill>
                <a:latin typeface="Aptos"/>
              </a:rPr>
              <a:t>Gradient-boosted decision trees on </a:t>
            </a:r>
            <a:r>
              <a:rPr sz="1900" b="1" i="0">
                <a:solidFill>
                  <a:srgbClr val="F6B44B"/>
                </a:solidFill>
                <a:latin typeface="Aptos"/>
              </a:rPr>
              <a:t>~30,000</a:t>
            </a:r>
            <a:r>
              <a:rPr sz="1900" b="0" i="0">
                <a:solidFill>
                  <a:srgbClr val="D9D2BD"/>
                </a:solidFill>
                <a:latin typeface="Aptos"/>
              </a:rPr>
              <a:t> one-km cells</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Learns how fast a cell brightened over 6 years from </a:t>
            </a:r>
            <a:r>
              <a:rPr sz="1900" b="1" i="0">
                <a:solidFill>
                  <a:srgbClr val="F6B44B"/>
                </a:solidFill>
                <a:latin typeface="Aptos"/>
              </a:rPr>
              <a:t>6 open inputs</a:t>
            </a:r>
            <a:r>
              <a:rPr sz="1900" b="0" i="0">
                <a:solidFill>
                  <a:srgbClr val="D9D2BD"/>
                </a:solidFill>
                <a:latin typeface="Aptos"/>
              </a:rPr>
              <a:t> describing it at the start</a:t>
            </a:r>
          </a:p>
          <a:p>
            <a:pPr marL="256032" indent="-256032">
              <a:lnSpc>
                <a:spcPct val="100000"/>
              </a:lnSpc>
              <a:spcBef>
                <a:spcPts val="1200"/>
              </a:spcBef>
              <a:spcAft>
                <a:spcPts val="0"/>
              </a:spcAft>
              <a:buClr>
                <a:srgbClr val="F6B44B"/>
              </a:buClr>
              <a:buSzPct val="100000"/>
              <a:buFont typeface="Arial"/>
              <a:buChar char="•"/>
            </a:pPr>
            <a:r>
              <a:rPr sz="1900" b="0" i="0">
                <a:solidFill>
                  <a:srgbClr val="D9D2BD"/>
                </a:solidFill>
                <a:latin typeface="Aptos"/>
              </a:rPr>
              <a:t>Why not deep learning? Small tabular data: trains in </a:t>
            </a:r>
            <a:r>
              <a:rPr sz="1900" b="1" i="0">
                <a:solidFill>
                  <a:srgbClr val="F6B44B"/>
                </a:solidFill>
                <a:latin typeface="Aptos"/>
              </a:rPr>
              <a:t>seconds</a:t>
            </a:r>
            <a:r>
              <a:rPr sz="1900" b="0" i="0">
                <a:solidFill>
                  <a:srgbClr val="D9D2BD"/>
                </a:solidFill>
                <a:latin typeface="Aptos"/>
              </a:rPr>
              <a:t> on a laptop, no GPU, reports what it relies on</a:t>
            </a:r>
          </a:p>
        </p:txBody>
      </p:sp>
      <p:pic>
        <p:nvPicPr>
          <p:cNvPr id="6" name="Picture 5" descr="boost_light.png"/>
          <p:cNvPicPr>
            <a:picLocks noChangeAspect="1"/>
          </p:cNvPicPr>
          <p:nvPr/>
        </p:nvPicPr>
        <p:blipFill>
          <a:blip r:embed="rId3"/>
          <a:stretch>
            <a:fillRect/>
          </a:stretch>
        </p:blipFill>
        <p:spPr>
          <a:xfrm>
            <a:off x="548640" y="4892040"/>
            <a:ext cx="4892040" cy="377087"/>
          </a:xfrm>
          <a:prstGeom prst="rect">
            <a:avLst/>
          </a:prstGeom>
        </p:spPr>
      </p:pic>
      <p:sp>
        <p:nvSpPr>
          <p:cNvPr id="7" name="TextBox 6"/>
          <p:cNvSpPr txBox="1"/>
          <p:nvPr/>
        </p:nvSpPr>
        <p:spPr>
          <a:xfrm>
            <a:off x="548640" y="5715000"/>
            <a:ext cx="4892040" cy="5486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0" i="0">
                <a:solidFill>
                  <a:srgbClr val="A79F88"/>
                </a:solidFill>
                <a:latin typeface="Aptos"/>
              </a:rPr>
              <a:t>300 trees · learning rate 0.05 · ≤ 31 leaves · ≥ 40 cells per leaf</a:t>
            </a:r>
          </a:p>
        </p:txBody>
      </p:sp>
      <p:sp>
        <p:nvSpPr>
          <p:cNvPr id="8" name="TextBox 7"/>
          <p:cNvSpPr txBox="1"/>
          <p:nvPr/>
        </p:nvSpPr>
        <p:spPr>
          <a:xfrm>
            <a:off x="5852160" y="1417320"/>
            <a:ext cx="5760720" cy="32004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400" b="1" i="0">
                <a:solidFill>
                  <a:srgbClr val="D9D2BD"/>
                </a:solidFill>
                <a:latin typeface="Aptos"/>
              </a:rPr>
              <a:t>What the model relies on (share of split gain)</a:t>
            </a:r>
          </a:p>
        </p:txBody>
      </p:sp>
      <p:graphicFrame>
        <p:nvGraphicFramePr>
          <p:cNvPr id="9" name="Chart 8"/>
          <p:cNvGraphicFramePr>
            <a:graphicFrameLocks noGrp="1"/>
          </p:cNvGraphicFramePr>
          <p:nvPr/>
        </p:nvGraphicFramePr>
        <p:xfrm>
          <a:off x="5760720" y="1737360"/>
          <a:ext cx="5897880" cy="4297680"/>
        </p:xfrm>
        <a:graphic>
          <a:graphicData uri="http://schemas.openxmlformats.org/drawingml/2006/chart">
            <c:chart xmlns:c="http://schemas.openxmlformats.org/drawingml/2006/chart" xmlns:r="http://schemas.openxmlformats.org/officeDocument/2006/relationships" r:id="rId4"/>
          </a:graphicData>
        </a:graphic>
      </p:graphicFrame>
      <p:pic>
        <p:nvPicPr>
          <p:cNvPr id="10" name="Picture 9" descr="ai_days_logo_sticker.png"/>
          <p:cNvPicPr>
            <a:picLocks noChangeAspect="1"/>
          </p:cNvPicPr>
          <p:nvPr/>
        </p:nvPicPr>
        <p:blipFill>
          <a:blip r:embed="rId5"/>
          <a:stretch>
            <a:fillRect/>
          </a:stretch>
        </p:blipFill>
        <p:spPr>
          <a:xfrm>
            <a:off x="10408615" y="201168"/>
            <a:ext cx="1371600" cy="798271"/>
          </a:xfrm>
          <a:prstGeom prst="rect">
            <a:avLst/>
          </a:prstGeom>
        </p:spPr>
      </p:pic>
      <p:sp>
        <p:nvSpPr>
          <p:cNvPr id="11" name="TextBox 10"/>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Ke et al. (2017), LightGBM: A highly efficient gradient boosting decision tree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The step test, exactly</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32</a:t>
            </a:r>
          </a:p>
        </p:txBody>
      </p:sp>
      <p:pic>
        <p:nvPicPr>
          <p:cNvPr id="5" name="Picture 4" descr="models_light.png"/>
          <p:cNvPicPr>
            <a:picLocks noChangeAspect="1"/>
          </p:cNvPicPr>
          <p:nvPr/>
        </p:nvPicPr>
        <p:blipFill>
          <a:blip r:embed="rId3"/>
          <a:stretch>
            <a:fillRect/>
          </a:stretch>
        </p:blipFill>
        <p:spPr>
          <a:xfrm>
            <a:off x="731520" y="1554480"/>
            <a:ext cx="9420324" cy="566928"/>
          </a:xfrm>
          <a:prstGeom prst="rect">
            <a:avLst/>
          </a:prstGeom>
        </p:spPr>
      </p:pic>
      <p:pic>
        <p:nvPicPr>
          <p:cNvPr id="6" name="Picture 5" descr="fstat_light.png"/>
          <p:cNvPicPr>
            <a:picLocks noChangeAspect="1"/>
          </p:cNvPicPr>
          <p:nvPr/>
        </p:nvPicPr>
        <p:blipFill>
          <a:blip r:embed="rId4"/>
          <a:stretch>
            <a:fillRect/>
          </a:stretch>
        </p:blipFill>
        <p:spPr>
          <a:xfrm>
            <a:off x="731520" y="2514600"/>
            <a:ext cx="5799221" cy="914400"/>
          </a:xfrm>
          <a:prstGeom prst="rect">
            <a:avLst/>
          </a:prstGeom>
        </p:spPr>
      </p:pic>
      <p:pic>
        <p:nvPicPr>
          <p:cNvPr id="7" name="Picture 6" descr="fcrit_light.png"/>
          <p:cNvPicPr>
            <a:picLocks noChangeAspect="1"/>
          </p:cNvPicPr>
          <p:nvPr/>
        </p:nvPicPr>
        <p:blipFill>
          <a:blip r:embed="rId5"/>
          <a:stretch>
            <a:fillRect/>
          </a:stretch>
        </p:blipFill>
        <p:spPr>
          <a:xfrm>
            <a:off x="731520" y="3840480"/>
            <a:ext cx="6799006" cy="685800"/>
          </a:xfrm>
          <a:prstGeom prst="rect">
            <a:avLst/>
          </a:prstGeom>
        </p:spPr>
      </p:pic>
      <p:sp>
        <p:nvSpPr>
          <p:cNvPr id="8" name="TextBox 7"/>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z = ln radiance minus the region's shared movement; n = 13 years; flagged if F* ≥ 36.3 and |step| ≥ 20%</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F* is unchanged by shifting, tilting or rescaling a series, so one simulation of pure noise serves every cell</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Expected chance flags: 0.001 × 28,986 ≈ 29; observed 1,493 (491 rising events, 144 falling)</a:t>
            </a:r>
          </a:p>
        </p:txBody>
      </p:sp>
      <p:pic>
        <p:nvPicPr>
          <p:cNvPr id="9" name="Picture 8" descr="ai_days_logo_sticker.png"/>
          <p:cNvPicPr>
            <a:picLocks noChangeAspect="1"/>
          </p:cNvPicPr>
          <p:nvPr/>
        </p:nvPicPr>
        <p:blipFill>
          <a:blip r:embed="rId6"/>
          <a:stretch>
            <a:fillRect/>
          </a:stretch>
        </p:blipFill>
        <p:spPr>
          <a:xfrm>
            <a:off x="10408615" y="201168"/>
            <a:ext cx="1371600" cy="798271"/>
          </a:xfrm>
          <a:prstGeom prst="rect">
            <a:avLst/>
          </a:prstGeom>
        </p:spPr>
      </p:pic>
      <p:sp>
        <p:nvSpPr>
          <p:cNvPr id="10" name="TextBox 9"/>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Andrews (1993), Tests for parameter instability and structural change with unknown change point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LightGBM: fit, back-test and forecast</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33</a:t>
            </a:r>
          </a:p>
        </p:txBody>
      </p:sp>
      <p:pic>
        <p:nvPicPr>
          <p:cNvPr id="5" name="Picture 4" descr="boost_light.png"/>
          <p:cNvPicPr>
            <a:picLocks noChangeAspect="1"/>
          </p:cNvPicPr>
          <p:nvPr/>
        </p:nvPicPr>
        <p:blipFill>
          <a:blip r:embed="rId3"/>
          <a:stretch>
            <a:fillRect/>
          </a:stretch>
        </p:blipFill>
        <p:spPr>
          <a:xfrm>
            <a:off x="731520" y="1508760"/>
            <a:ext cx="7354878" cy="566928"/>
          </a:xfrm>
          <a:prstGeom prst="rect">
            <a:avLst/>
          </a:prstGeom>
        </p:spPr>
      </p:pic>
      <p:pic>
        <p:nvPicPr>
          <p:cNvPr id="6" name="Picture 5" descr="backtest_light.png"/>
          <p:cNvPicPr>
            <a:picLocks noChangeAspect="1"/>
          </p:cNvPicPr>
          <p:nvPr/>
        </p:nvPicPr>
        <p:blipFill>
          <a:blip r:embed="rId4"/>
          <a:stretch>
            <a:fillRect/>
          </a:stretch>
        </p:blipFill>
        <p:spPr>
          <a:xfrm>
            <a:off x="731520" y="2331720"/>
            <a:ext cx="7707350" cy="566928"/>
          </a:xfrm>
          <a:prstGeom prst="rect">
            <a:avLst/>
          </a:prstGeom>
        </p:spPr>
      </p:pic>
      <p:pic>
        <p:nvPicPr>
          <p:cNvPr id="7" name="Picture 6" descr="mdape_light.png"/>
          <p:cNvPicPr>
            <a:picLocks noChangeAspect="1"/>
          </p:cNvPicPr>
          <p:nvPr/>
        </p:nvPicPr>
        <p:blipFill>
          <a:blip r:embed="rId5"/>
          <a:stretch>
            <a:fillRect/>
          </a:stretch>
        </p:blipFill>
        <p:spPr>
          <a:xfrm>
            <a:off x="731520" y="3154680"/>
            <a:ext cx="6946582" cy="777240"/>
          </a:xfrm>
          <a:prstGeom prst="rect">
            <a:avLst/>
          </a:prstGeom>
        </p:spPr>
      </p:pic>
      <p:pic>
        <p:nvPicPr>
          <p:cNvPr id="8" name="Picture 7" descr="forecast_light.png"/>
          <p:cNvPicPr>
            <a:picLocks noChangeAspect="1"/>
          </p:cNvPicPr>
          <p:nvPr/>
        </p:nvPicPr>
        <p:blipFill>
          <a:blip r:embed="rId6"/>
          <a:stretch>
            <a:fillRect/>
          </a:stretch>
        </p:blipFill>
        <p:spPr>
          <a:xfrm>
            <a:off x="731520" y="4206240"/>
            <a:ext cx="3912421" cy="502920"/>
          </a:xfrm>
          <a:prstGeom prst="rect">
            <a:avLst/>
          </a:prstGeom>
        </p:spPr>
      </p:pic>
      <p:sp>
        <p:nvSpPr>
          <p:cNvPr id="9" name="TextBox 8"/>
          <p:cNvSpPr txBox="1"/>
          <p:nvPr/>
        </p:nvSpPr>
        <p:spPr>
          <a:xfrm>
            <a:off x="731520" y="4937760"/>
            <a:ext cx="10789920" cy="137160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Inputs s: distance to roads and urban cores, housing density, elevation, conservation land, ln radiance at the window start</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Spatial check: 16 × 16-cell blocks in five folds → R² 0.18; forecast rate clipped to [−1%, +6%] per year</a:t>
            </a:r>
          </a:p>
        </p:txBody>
      </p:sp>
      <p:pic>
        <p:nvPicPr>
          <p:cNvPr id="10" name="Picture 9" descr="ai_days_logo_sticker.png"/>
          <p:cNvPicPr>
            <a:picLocks noChangeAspect="1"/>
          </p:cNvPicPr>
          <p:nvPr/>
        </p:nvPicPr>
        <p:blipFill>
          <a:blip r:embed="rId7"/>
          <a:stretch>
            <a:fillRect/>
          </a:stretch>
        </p:blipFill>
        <p:spPr>
          <a:xfrm>
            <a:off x="10408615" y="201168"/>
            <a:ext cx="1371600" cy="798271"/>
          </a:xfrm>
          <a:prstGeom prst="rect">
            <a:avLst/>
          </a:prstGeom>
        </p:spPr>
      </p:pic>
      <p:sp>
        <p:nvSpPr>
          <p:cNvPr id="11" name="TextBox 10"/>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Ke et al. (2017), LightGBM: A highly efficient gradient boosting decision tree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MATH</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Skyglow physics: from a fixture to a magnitude</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34</a:t>
            </a:r>
          </a:p>
        </p:txBody>
      </p:sp>
      <p:pic>
        <p:nvPicPr>
          <p:cNvPr id="5" name="Picture 4" descr="emission_light.png"/>
          <p:cNvPicPr>
            <a:picLocks noChangeAspect="1"/>
          </p:cNvPicPr>
          <p:nvPr/>
        </p:nvPicPr>
        <p:blipFill>
          <a:blip r:embed="rId3"/>
          <a:stretch>
            <a:fillRect/>
          </a:stretch>
        </p:blipFill>
        <p:spPr>
          <a:xfrm>
            <a:off x="731520" y="1508760"/>
            <a:ext cx="4915517" cy="713231"/>
          </a:xfrm>
          <a:prstGeom prst="rect">
            <a:avLst/>
          </a:prstGeom>
        </p:spPr>
      </p:pic>
      <p:pic>
        <p:nvPicPr>
          <p:cNvPr id="6" name="Picture 5" descr="kernel_light.png"/>
          <p:cNvPicPr>
            <a:picLocks noChangeAspect="1"/>
          </p:cNvPicPr>
          <p:nvPr/>
        </p:nvPicPr>
        <p:blipFill>
          <a:blip r:embed="rId4"/>
          <a:stretch>
            <a:fillRect/>
          </a:stretch>
        </p:blipFill>
        <p:spPr>
          <a:xfrm>
            <a:off x="731520" y="2423160"/>
            <a:ext cx="8398445" cy="713232"/>
          </a:xfrm>
          <a:prstGeom prst="rect">
            <a:avLst/>
          </a:prstGeom>
        </p:spPr>
      </p:pic>
      <p:pic>
        <p:nvPicPr>
          <p:cNvPr id="7" name="Picture 6" descr="basis_light.png"/>
          <p:cNvPicPr>
            <a:picLocks noChangeAspect="1"/>
          </p:cNvPicPr>
          <p:nvPr/>
        </p:nvPicPr>
        <p:blipFill>
          <a:blip r:embed="rId5"/>
          <a:stretch>
            <a:fillRect/>
          </a:stretch>
        </p:blipFill>
        <p:spPr>
          <a:xfrm>
            <a:off x="731520" y="3337560"/>
            <a:ext cx="3045758" cy="457200"/>
          </a:xfrm>
          <a:prstGeom prst="rect">
            <a:avLst/>
          </a:prstGeom>
        </p:spPr>
      </p:pic>
      <p:pic>
        <p:nvPicPr>
          <p:cNvPr id="8" name="Picture 7" descr="skysum_light.png"/>
          <p:cNvPicPr>
            <a:picLocks noChangeAspect="1"/>
          </p:cNvPicPr>
          <p:nvPr/>
        </p:nvPicPr>
        <p:blipFill>
          <a:blip r:embed="rId6"/>
          <a:stretch>
            <a:fillRect/>
          </a:stretch>
        </p:blipFill>
        <p:spPr>
          <a:xfrm>
            <a:off x="731520" y="3977639"/>
            <a:ext cx="6472009" cy="566928"/>
          </a:xfrm>
          <a:prstGeom prst="rect">
            <a:avLst/>
          </a:prstGeom>
        </p:spPr>
      </p:pic>
      <p:sp>
        <p:nvSpPr>
          <p:cNvPr id="9" name="TextBox 8"/>
          <p:cNvSpPr txBox="1"/>
          <p:nvPr/>
        </p:nvSpPr>
        <p:spPr>
          <a:xfrm>
            <a:off x="731520" y="4800600"/>
            <a:ext cx="10789920" cy="155448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600" b="0" i="0">
                <a:solidFill>
                  <a:srgbClr val="D9D2BD"/>
                </a:solidFill>
                <a:latin typeface="Aptos"/>
              </a:rPr>
              <a:t>Rayleigh + Henyey-Greenstein aerosol scattering, slant-path extinction, Earth curvature; fitted within 7.4%</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One global scale α fitted to 10 reference sites (RMSE 0.46 mag): a sanity fit, not a calibration</a:t>
            </a:r>
          </a:p>
          <a:p>
            <a:pPr marL="256032" indent="-256032">
              <a:lnSpc>
                <a:spcPct val="100000"/>
              </a:lnSpc>
              <a:spcBef>
                <a:spcPts val="600"/>
              </a:spcBef>
              <a:spcAft>
                <a:spcPts val="0"/>
              </a:spcAft>
              <a:buClr>
                <a:srgbClr val="F6B44B"/>
              </a:buClr>
              <a:buSzPct val="100000"/>
              <a:buFont typeface="Arial"/>
              <a:buChar char="•"/>
            </a:pPr>
            <a:r>
              <a:rPr sz="1600" b="0" i="0">
                <a:solidFill>
                  <a:srgbClr val="D9D2BD"/>
                </a:solidFill>
                <a:latin typeface="Aptos"/>
              </a:rPr>
              <a:t>53 Globe at Night SQM readings never fitted: model reads a median 0.52 mag darker (0.21 after midnight)</a:t>
            </a:r>
          </a:p>
        </p:txBody>
      </p:sp>
      <p:pic>
        <p:nvPicPr>
          <p:cNvPr id="10" name="Picture 9" descr="ai_days_logo_sticker.png"/>
          <p:cNvPicPr>
            <a:picLocks noChangeAspect="1"/>
          </p:cNvPicPr>
          <p:nvPr/>
        </p:nvPicPr>
        <p:blipFill>
          <a:blip r:embed="rId7"/>
          <a:stretch>
            <a:fillRect/>
          </a:stretch>
        </p:blipFill>
        <p:spPr>
          <a:xfrm>
            <a:off x="10408615" y="201168"/>
            <a:ext cx="1371600" cy="798271"/>
          </a:xfrm>
          <a:prstGeom prst="rect">
            <a:avLst/>
          </a:prstGeom>
        </p:spPr>
      </p:pic>
      <p:sp>
        <p:nvSpPr>
          <p:cNvPr id="11" name="TextBox 10"/>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Garstang (1986), Model for artificial night-sky illumination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070B16"/>
        </a:solidFill>
        <a:effectLst/>
      </p:bgPr>
    </p:bg>
    <p:spTree>
      <p:nvGrpSpPr>
        <p:cNvPr id="1" name=""/>
        <p:cNvGrpSpPr/>
        <p:nvPr/>
      </p:nvGrpSpPr>
      <p:grpSpPr>
        <a:xfrm>
          <a:off x="0" y="0"/>
          <a:ext cx="0" cy="0"/>
          <a:chOff x="0" y="0"/>
          <a:chExt cx="0" cy="0"/>
        </a:xfrm>
      </p:grpSpPr>
      <p:sp>
        <p:nvSpPr>
          <p:cNvPr id="2" name="TextBox 1"/>
          <p:cNvSpPr txBox="1"/>
          <p:nvPr/>
        </p:nvSpPr>
        <p:spPr>
          <a:xfrm>
            <a:off x="548640" y="292608"/>
            <a:ext cx="8229600" cy="2743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1200" b="1" i="0">
                <a:solidFill>
                  <a:srgbClr val="F6B44B"/>
                </a:solidFill>
                <a:latin typeface="Aptos"/>
              </a:rPr>
              <a:t>BACKUP · Q&amp;A</a:t>
            </a:r>
          </a:p>
        </p:txBody>
      </p:sp>
      <p:sp>
        <p:nvSpPr>
          <p:cNvPr id="3" name="TextBox 2"/>
          <p:cNvSpPr txBox="1"/>
          <p:nvPr/>
        </p:nvSpPr>
        <p:spPr>
          <a:xfrm>
            <a:off x="548640" y="530352"/>
            <a:ext cx="11064240" cy="731520"/>
          </a:xfrm>
          <a:prstGeom prst="rect">
            <a:avLst/>
          </a:prstGeom>
          <a:noFill/>
        </p:spPr>
        <p:txBody>
          <a:bodyPr wrap="square" lIns="0" tIns="0" rIns="0" bIns="0" anchor="t">
            <a:noAutofit/>
          </a:bodyPr>
          <a:lstStyle/>
          <a:p>
            <a:pPr marL="0" indent="0" algn="l">
              <a:lnSpc>
                <a:spcPct val="100000"/>
              </a:lnSpc>
              <a:spcBef>
                <a:spcPts val="0"/>
              </a:spcBef>
              <a:spcAft>
                <a:spcPts val="0"/>
              </a:spcAft>
              <a:buNone/>
            </a:pPr>
            <a:r>
              <a:rPr sz="3000" b="1" i="0">
                <a:solidFill>
                  <a:srgbClr val="F5F1E6"/>
                </a:solidFill>
                <a:latin typeface="Aptos Display"/>
              </a:rPr>
              <a:t>Prepared answers</a:t>
            </a:r>
          </a:p>
        </p:txBody>
      </p:sp>
      <p:sp>
        <p:nvSpPr>
          <p:cNvPr id="4" name="TextBox 3"/>
          <p:cNvSpPr txBox="1"/>
          <p:nvPr/>
        </p:nvSpPr>
        <p:spPr>
          <a:xfrm>
            <a:off x="10881360" y="6473952"/>
            <a:ext cx="758952" cy="228600"/>
          </a:xfrm>
          <a:prstGeom prst="rect">
            <a:avLst/>
          </a:prstGeom>
          <a:noFill/>
        </p:spPr>
        <p:txBody>
          <a:bodyPr wrap="square" lIns="0" tIns="0" rIns="0" bIns="0" anchor="t">
            <a:noAutofit/>
          </a:bodyPr>
          <a:lstStyle/>
          <a:p>
            <a:pPr marL="0" indent="0" algn="r">
              <a:lnSpc>
                <a:spcPct val="100000"/>
              </a:lnSpc>
              <a:spcBef>
                <a:spcPts val="0"/>
              </a:spcBef>
              <a:spcAft>
                <a:spcPts val="0"/>
              </a:spcAft>
              <a:buNone/>
            </a:pPr>
            <a:r>
              <a:rPr sz="1000" b="0" i="0">
                <a:solidFill>
                  <a:srgbClr val="A79F88"/>
                </a:solidFill>
                <a:latin typeface="Aptos"/>
              </a:rPr>
              <a:t>35</a:t>
            </a:r>
          </a:p>
        </p:txBody>
      </p:sp>
      <p:sp>
        <p:nvSpPr>
          <p:cNvPr id="5" name="TextBox 4"/>
          <p:cNvSpPr txBox="1"/>
          <p:nvPr/>
        </p:nvSpPr>
        <p:spPr>
          <a:xfrm>
            <a:off x="548640" y="1417320"/>
            <a:ext cx="11064240" cy="4937760"/>
          </a:xfrm>
          <a:prstGeom prst="rect">
            <a:avLst/>
          </a:prstGeom>
          <a:noFill/>
        </p:spPr>
        <p:txBody>
          <a:bodyPr wrap="square" lIns="0" tIns="0" rIns="0" bIns="0" anchor="t">
            <a:noAutofit/>
          </a:bodyPr>
          <a:lstStyle/>
          <a:p>
            <a:pPr marL="256032" indent="-256032">
              <a:lnSpc>
                <a:spcPct val="100000"/>
              </a:lnSpc>
              <a:spcBef>
                <a:spcPts val="0"/>
              </a:spcBef>
              <a:spcAft>
                <a:spcPts val="0"/>
              </a:spcAft>
              <a:buClr>
                <a:srgbClr val="F6B44B"/>
              </a:buClr>
              <a:buSzPct val="100000"/>
              <a:buFont typeface="Arial"/>
              <a:buChar char="•"/>
            </a:pPr>
            <a:r>
              <a:rPr sz="1500" b="1" i="0">
                <a:solidFill>
                  <a:srgbClr val="F6B44B"/>
                </a:solidFill>
                <a:latin typeface="Aptos"/>
              </a:rPr>
              <a:t>Ground truth for change events?</a:t>
            </a:r>
            <a:r>
              <a:rPr sz="1500" b="0" i="0">
                <a:solidFill>
                  <a:srgbClr val="D9D2BD"/>
                </a:solidFill>
                <a:latin typeface="Aptos"/>
              </a:rPr>
              <a:t> False-alarm rate set by simulation and tested; known openings line up (Celebration Pointe, Nov 2016). Next: utility work orders</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Data leakage?</a:t>
            </a:r>
            <a:r>
              <a:rPr sz="1500" b="0" i="0">
                <a:solidFill>
                  <a:srgbClr val="D9D2BD"/>
                </a:solidFill>
                <a:latin typeface="Aptos"/>
              </a:rPr>
              <a:t> Back-test trains on 2012 state and 2012–18 growth, predicts 2024 from 2018; a test feeds a 2018–24 jump and fails if the model could see it</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Is the satellite blind to LEDs?</a:t>
            </a:r>
            <a:r>
              <a:rPr sz="1500" b="0" i="0">
                <a:solidFill>
                  <a:srgbClr val="D9D2BD"/>
                </a:solidFill>
                <a:latin typeface="Aptos"/>
              </a:rPr>
              <a:t> Partly: VIIRS sees 500–900 nm. For the Groveland preset it records −24.9% where the eye sees −23.5%</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Cost?</a:t>
            </a:r>
            <a:r>
              <a:rPr sz="1500" b="0" i="0">
                <a:solidFill>
                  <a:srgbClr val="D9D2BD"/>
                </a:solidFill>
                <a:latin typeface="Aptos"/>
              </a:rPr>
              <a:t> Earth Engine's free noncommercial tier; the app is static files on free hosting</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Didn't the County find +19%?</a:t>
            </a:r>
            <a:r>
              <a:rPr sz="1500" b="0" i="0">
                <a:solidFill>
                  <a:srgbClr val="D9D2BD"/>
                </a:solidFill>
                <a:latin typeface="Aptos"/>
              </a:rPr>
              <a:t> That covered the whole 212 × 131 km map view (~20% in NOAA radiance); the county rose 3–6%</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How good is the sky model?</a:t>
            </a:r>
            <a:r>
              <a:rPr sz="1500" b="0" i="0">
                <a:solidFill>
                  <a:srgbClr val="D9D2BD"/>
                </a:solidFill>
                <a:latin typeface="Aptos"/>
              </a:rPr>
              <a:t> Scale fitted to 10 sites (RMSE 0.46 mag); 53 independent meter readings a median 0.52 mag brighter</a:t>
            </a:r>
          </a:p>
          <a:p>
            <a:pPr marL="256032" indent="-256032">
              <a:lnSpc>
                <a:spcPct val="100000"/>
              </a:lnSpc>
              <a:spcBef>
                <a:spcPts val="700"/>
              </a:spcBef>
              <a:spcAft>
                <a:spcPts val="0"/>
              </a:spcAft>
              <a:buClr>
                <a:srgbClr val="F6B44B"/>
              </a:buClr>
              <a:buSzPct val="100000"/>
              <a:buFont typeface="Arial"/>
              <a:buChar char="•"/>
            </a:pPr>
            <a:r>
              <a:rPr sz="1500" b="1" i="0">
                <a:solidFill>
                  <a:srgbClr val="F6B44B"/>
                </a:solidFill>
                <a:latin typeface="Aptos"/>
              </a:rPr>
              <a:t>Do not claim</a:t>
            </a:r>
            <a:r>
              <a:rPr sz="1500" b="0" i="0">
                <a:solidFill>
                  <a:srgbClr val="D9D2BD"/>
                </a:solidFill>
                <a:latin typeface="Aptos"/>
              </a:rPr>
              <a:t>: calibrated sky brightness, a predicted 2034 sky (it is the 2018–24 pace carried forward), or that the detector finds retrofits</a:t>
            </a:r>
          </a:p>
        </p:txBody>
      </p:sp>
      <p:pic>
        <p:nvPicPr>
          <p:cNvPr id="6" name="Picture 5" descr="ai_days_logo_sticker.png"/>
          <p:cNvPicPr>
            <a:picLocks noChangeAspect="1"/>
          </p:cNvPicPr>
          <p:nvPr/>
        </p:nvPicPr>
        <p:blipFill>
          <a:blip r:embed="rId3"/>
          <a:stretch>
            <a:fillRect/>
          </a:stretch>
        </p:blipFill>
        <p:spPr>
          <a:xfrm>
            <a:off x="10408615" y="201168"/>
            <a:ext cx="1371600" cy="798271"/>
          </a:xfrm>
          <a:prstGeom prst="rect">
            <a:avLst/>
          </a:prstGeom>
        </p:spPr>
      </p:pic>
      <p:sp>
        <p:nvSpPr>
          <p:cNvPr id="7" name="TextBox 6"/>
          <p:cNvSpPr txBox="1"/>
          <p:nvPr/>
        </p:nvSpPr>
        <p:spPr>
          <a:xfrm>
            <a:off x="548640" y="6007608"/>
            <a:ext cx="10195560" cy="640080"/>
          </a:xfrm>
          <a:prstGeom prst="rect">
            <a:avLst/>
          </a:prstGeom>
          <a:noFill/>
        </p:spPr>
        <p:txBody>
          <a:bodyPr wrap="square" lIns="0" tIns="0" rIns="0" bIns="0" anchor="b">
            <a:noAutofit/>
          </a:bodyPr>
          <a:lstStyle/>
          <a:p>
            <a:pPr marL="0" indent="0" algn="l">
              <a:lnSpc>
                <a:spcPct val="95000"/>
              </a:lnSpc>
              <a:spcBef>
                <a:spcPts val="0"/>
              </a:spcBef>
              <a:spcAft>
                <a:spcPts val="0"/>
              </a:spcAft>
              <a:buNone/>
            </a:pPr>
            <a:r>
              <a:rPr sz="900" b="0" i="0">
                <a:solidFill>
                  <a:srgbClr val="A79F88"/>
                </a:solidFill>
                <a:latin typeface="Aptos"/>
              </a:rPr>
              <a:t>Sources: Román et al. (2018), NASA's Black Marble nighttime lights product suite  ·  Elvidge et al. (2021), Annual time series of global VIIRS nighttime lights  ·  Rosen (2026), Dark Sky Simulator v2, ADR 0013 (the 19% reconstruction)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11314</Words>
  <Application>Microsoft Office PowerPoint</Application>
  <PresentationFormat>Widescreen</PresentationFormat>
  <Paragraphs>682</Paragraphs>
  <Slides>35</Slides>
  <Notes>35</Notes>
  <HiddenSlides>13</HiddenSlides>
  <MMClips>13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35</vt:i4>
      </vt:variant>
    </vt:vector>
  </HeadingPairs>
  <TitlesOfParts>
    <vt:vector size="40" baseType="lpstr">
      <vt:lpstr>Aptos</vt:lpstr>
      <vt:lpstr>Aptos Display</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Jay Rosen</cp:lastModifiedBy>
  <cp:revision>2</cp:revision>
  <dcterms:created xsi:type="dcterms:W3CDTF">2013-01-27T09:14:16Z</dcterms:created>
  <dcterms:modified xsi:type="dcterms:W3CDTF">2026-10-27T01:13:34Z</dcterms:modified>
  <cp:category/>
</cp:coreProperties>
</file>