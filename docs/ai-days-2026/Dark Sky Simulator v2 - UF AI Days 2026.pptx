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4.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19DE-4C3F-ACEF-1D5B0ACF92C8}"/>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D37E-4000-999C-E5C594572FC4}"/>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04A2-4361-AF51-701BE2DE3AAF}"/>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04A2-4361-AF51-701BE2DE3AAF}"/>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3467-4249-80E1-E6E7972E495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8831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[0:00–0:26]</a:t>
            </a:r>
          </a:p>
          <a:p>
            <a:r>
              <a:t>Good afternoon. I'm Jay Rosen.</a:t>
            </a:r>
          </a:p>
          <a:p>
            <a:r>
              <a:t>This is the Milky Way over Paynes Prairie, fifteen minutes from campus, and the yellow glow on the horizon is light pollution from our cities.</a:t>
            </a:r>
          </a:p>
          <a:p>
            <a:r>
              <a:t>My talk is about restoring that view: how AI-assisted satellite analysis and interactive simulation can help counties plan their lighting, and how we're scaling that across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[0:26–1:31]</a:t>
            </a:r>
          </a:p>
          <a:p>
            <a:r>
              <a:t>A little about me: this talk is where my two careers meet.</a:t>
            </a:r>
          </a:p>
          <a:p>
            <a:r>
              <a:t>I'm a UF College of the Arts alumnus. My Undergraduate Scholar research was a phenomenological study of Light and Space art, including lighting technology for immersive light installations, which I studied abroad in Europe. I've worked with light art for fifteen years.</a:t>
            </a:r>
          </a:p>
          <a:p>
            <a:r>
              <a:t>Before UF, I was founder and CEO of Space Age Mining Corporation, a high-performance computing startup. Now I'm a research software engineer in the College of Education.</a:t>
            </a:r>
          </a:p>
          <a:p>
            <a:r>
              <a:t>Since 2020, astrophotography has been my newest light art: capturing light itself from the cosmos, much of it full-spectrum, like this self-portrait.</a:t>
            </a:r>
          </a:p>
          <a:p>
            <a:r>
              <a:t>I've twice won the NASA Space Apps Challenge at the Kennedy Space Center event, with a nomination for the global awards, and this year I'm one of the judges. Outside UF, I serve on the Alachua Astronomy Club board and on City of Gainesville and Alachua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[1:31–2:07]</a:t>
            </a:r>
          </a:p>
          <a:p>
            <a:r>
              <a:t>Artificial light at night is an expanding problem. Skyglow is light scattered by air and haze, and it travels tens of kilometers.</a:t>
            </a:r>
          </a:p>
          <a:p>
            <a:r>
              <a:t>On the left, from Paynes Prairie, Gainesville's dome takes over half the sky; on the right, Stephen C. Foster State Park in Georgia, a Bortle 2 dark-sky park.</a:t>
            </a:r>
          </a:p>
          <a:p>
            <a:r>
              <a:t>It affects wildlife, energy use and UF's observatories. And it's preventable: shield, aim, warmer colors, less brightness, dimming late at night. What communities lack is a way to test those choices first.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[2:07–2:48]</a:t>
            </a:r>
          </a:p>
          <a:p>
            <a:r>
              <a:t>A quick backstory. In September 2025 I gave a public comment at Alachua County's Environmental Protection Advisory Committee, then built the first simulator in about a month, focused on what light pollution fixes would mean for budgets and the night sky. I debuted it at UF's Astraeus Space Research Day.</a:t>
            </a:r>
          </a:p>
          <a:p>
            <a:r>
              <a:t>In January the committee voted unanimously to work toward dark-sky policy.</a:t>
            </a:r>
          </a:p>
          <a:p>
            <a:r>
              <a:t>Now we're expanding into Levy County, home to Rosemary Hill and the Chiefland Astronomy Village, and Dr. Elizabeth Lada, chair of UF Astronomy, asked whether the platform could help site a future UF observatory.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[2:48–4:10]</a:t>
            </a:r>
          </a:p>
          <a:p>
            <a:r>
              <a:t>In February 2026, our dark-sky recommendations entered Alachua County's Comprehensive Plan amendment process as revisions to Policy 5.3.7. On September 22, the County Commission unanimously adopted the broader amendment package, which included the proposed dark-sky policies. The amendments are now undergoing final state review, with implementation through county lighting regulations still ahead.</a:t>
            </a:r>
          </a:p>
          <a:p>
            <a:r>
              <a:t>Policy 5.3.7 now reads:</a:t>
            </a:r>
          </a:p>
          <a:p>
            <a:r>
              <a:t>The land development regulations shall provide for lighting standards which ensure that adverse impacts of outdoor lighting are minimized in order to conserve energy, avoid harmful effects on wildlife, and protect the night sky, while balancing the need for public safety.</a:t>
            </a:r>
          </a:p>
          <a:p>
            <a:r>
              <a:t>The land development regulations shall be based on the following general principles, as advocated by organizations such as Dark Sky International and the Illuminating Engineering Society of North America:</a:t>
            </a:r>
          </a:p>
          <a:p>
            <a:r>
              <a:t>One. Direct light so it falls only where it is needed, in order to minimize offsite lighting impacts and reduce glare, light trespass, and light pollution.</a:t>
            </a:r>
          </a:p>
          <a:p>
            <a:r>
              <a:t>Two. Use lighting only where and when it is needed and at the lowest level necessary to ensure light is not overused or impacting areas where it is not intended.</a:t>
            </a:r>
          </a:p>
          <a:p>
            <a:r>
              <a:t>Three. Use warmer-color lights where possible.</a:t>
            </a:r>
          </a:p>
          <a:p>
            <a:r>
              <a:t>Four. Maximize energy and cost efficiency.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[4:10–4:39]</a:t>
            </a:r>
          </a:p>
          <a:p>
            <a:r>
              <a:t>Version 1, on the left, was built to persuade, and it worked. Then people asked the right question: how do you know?</a:t>
            </a:r>
          </a:p>
          <a:p>
            <a:r>
              <a:t>Version 2 is my answer. The sky comes from atmospheric physics, the lights from public data, and AI is used where data can teach us something. Every number is labeled a planning projection, and it runs on a phone with no server.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[4:39–5:07]</a:t>
            </a:r>
          </a:p>
          <a:p>
            <a:r>
              <a:t>Here's version 2. It covers Alachua, Levy and six neighboring counties, with roughly 817,000 modeled light sources: streetlights, homes and businesses, and sports fields.</a:t>
            </a:r>
          </a:p>
          <a:p>
            <a:r>
              <a:t>The colors are the modeled sky brightness overhead: yellow is an urban sky, black is close to natural.</a:t>
            </a:r>
          </a:p>
          <a:p>
            <a:r>
              <a:t>You choose shielding, color limits, dimming or curfews, and compare the projected sky, Bortle class, energy, cost, savings and payback.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[5:07–5:30]</a:t>
            </a:r>
          </a:p>
          <a:p>
            <a:r>
              <a:t>What makes it fast: everything heavy runs once, offline. Atmospheric scattering, placing every fixture, processing the satellite record, training the models.</a:t>
            </a:r>
          </a:p>
          <a:p>
            <a:r>
              <a:t>Because skyglow adds up, the browser only needs a weighted sum of precomputed layers, about 55 milliseconds per scenario. The sky itself is a published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[5:30–6:04]</a:t>
            </a:r>
          </a:p>
          <a:p>
            <a:r>
              <a:t>One click applies a Groveland-style ordinance; Groveland is Florida's first dark-sky city. Full shielding, a 3000-kelvin cap, and dimming to half from 10 p.m.</a:t>
            </a:r>
          </a:p>
          <a:p>
            <a:r>
              <a:t>Blue is where the sky gets darker, and it crosses county lines: skyglow is regional.</a:t>
            </a:r>
          </a:p>
          <a:p>
            <a:r>
              <a:t>If every light, public and private, complies, Paynes Prairie goes from 20.98 to 21.62, the level DarkSky uses for parks, and downtown moves one Bortle class, 7 to 6. Public lights alone get about half of that.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[6:04–6:47]</a:t>
            </a:r>
          </a:p>
          <a:p>
            <a:r>
              <a:t>So what does each government pay, and save? The best-value package is right-sizing public streetlights: fully shielded 3000-kelvin LEDs at 30 percent lower output, with no smart controllers, which is why it pays back faster than the full ordinance.</a:t>
            </a:r>
          </a:p>
          <a:p>
            <a:r>
              <a:t>Alachua County, all public streetlights: 15.3 million dollars, saving about 2.6 million a year in energy and maintenance, paid back in about 6 years.</a:t>
            </a:r>
          </a:p>
          <a:p>
            <a:r>
              <a:t>Within that county total, the City of Gainesville's GRU streetlights: 7.2 million, 1.45 million a year, also 5 years; state roads under a million. Levy County: 1.9 million; Chiefland: 171 thousand, paid back in about 8 years.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[6:47–7:08]</a:t>
            </a:r>
          </a:p>
          <a:p>
            <a:r>
              <a:t>You don't have to change a whole county. Overlay zones apply stricter rules in rings around the observatories: an amber, motion-only core and a warm-white buffer.</a:t>
            </a:r>
          </a:p>
          <a:p>
            <a:r>
              <a:t>Protecting both sites costs under a million dollars in public retrofits. That's a trade-off a commission can actually vote 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[7:08–7:41]</a:t>
            </a:r>
          </a:p>
          <a:p>
            <a:r>
              <a:t>Numbers like 20.98 and 21.62 don't mean much, so the simulator draws the sky: Paynes Prairie looking southeast in late May as the Milky Way rises, like my title photo.</a:t>
            </a:r>
          </a:p>
          <a:p>
            <a:r>
              <a:t>Today, on the left: Bortle 4, stars to about magnitude 6.1. With the ordinance, on the right: still Bortle 4, but the horizon glow fades, stars reach 6.4, and the Milky Way is clearer.</a:t>
            </a:r>
          </a:p>
          <a:p>
            <a:r>
              <a:t>It's an illustration from the computed sky brightness, not a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[7:41–7:59]</a:t>
            </a:r>
          </a:p>
          <a:p>
            <a:r>
              <a:t>Build mode turns policy into hardware: 17 DarkSky-compliant fixture types with real installed costs. Equip one and the sky, the budget and the install markers update.</a:t>
            </a:r>
          </a:p>
          <a:p>
            <a:r>
              <a:t>The 3D view puts every modeled light at street level, here downtown Gainesville.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[7:59–8:27]</a:t>
            </a:r>
          </a:p>
          <a:p>
            <a:r>
              <a:t>Now the AI, and I want to be precise about where it is.</a:t>
            </a:r>
          </a:p>
          <a:p>
            <a:r>
              <a:t>Two methods read 13 years of satellite images of Florida at night: a statistical step test, calibrated by simulation rather than trained, that finds where lighting changed suddenly, and LightGBM, a trained machine-learning forecast of where light will grow.</a:t>
            </a:r>
          </a:p>
          <a:p>
            <a:r>
              <a:t>Everything else is physics or explicit rules you can inspect.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[8:27–8:49]</a:t>
            </a:r>
          </a:p>
          <a:p>
            <a:r>
              <a:t>The data is NASA's Black Marble product from the VIIRS instrument: a nightly image of Earth's lights at about 500 meters.</a:t>
            </a:r>
          </a:p>
          <a:p>
            <a:r>
              <a:t>We keep only cloud-free nights and take one median per year for every cell, 2012 to 2024, through Google Earth Engine's free tier, in about twelve minutes.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[8:49–9:19]</a:t>
            </a:r>
          </a:p>
          <a:p>
            <a:r>
              <a:t>Lesson one: the most important AI work was checking the data.</a:t>
            </a:r>
          </a:p>
          <a:p>
            <a:r>
              <a:t>Our first pull came back ten times too dark: a scale factor applied twice.</a:t>
            </a:r>
          </a:p>
          <a:p>
            <a:r>
              <a:t>Then forests and wetlands seemed to brighten 70 to 120 percent. They didn't. That's airglow, light from the upper atmosphere that rises with solar activity. A model trained on that would have learned the Sun, not development, so we subtract it every year first.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[9:19–9:50]</a:t>
            </a:r>
          </a:p>
          <a:p>
            <a:r>
              <a:t>Version 1's AI-assisted comparison of NOAA imagery estimated about 19 percent brightening.</a:t>
            </a:r>
          </a:p>
          <a:p>
            <a:r>
              <a:t>Re-measured in calibrated radiance from 2013 to 2024, the region around the county rose about 20 percent in NOAA's product and 13 in NASA's: broadly consistent, with the size depending on the product. Inside the county it's 3 to 6 percent, Gainesville about 5.</a:t>
            </a:r>
          </a:p>
          <a:p>
            <a:r>
              <a:t>Growth concentrates along I-75 and toward Ocala, which is why a regional platform matters.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[9:50–10:24]</a:t>
            </a:r>
          </a:p>
          <a:p>
            <a:r>
              <a:t>We test every lit cell for a sudden step, with a false alarm one time in a thousand, set by simulation. Of 28,986 lit cells, 1,493 are flagged as candidates, where chance alone would give about 29.</a:t>
            </a:r>
          </a:p>
          <a:p>
            <a:r>
              <a:t>The top event is at I-75 and Archer Road, a jump in 2016. That's Celebration Pointe; Bass Pro Shops opened there in November 2016. Nobody told the model where to look.</a:t>
            </a:r>
          </a:p>
          <a:p>
            <a:r>
              <a:t>It knows that light changed, not what was built.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[10:24–10:46]</a:t>
            </a:r>
          </a:p>
          <a:p>
            <a:r>
              <a:t>And what it can't do. Year-to-year noise is about 10 percent, so it finds large new lighting but misses most LED retrofits, which are 20 to 40 percent drops. The satellite also barely sees the blue in white LEDs.</a:t>
            </a:r>
          </a:p>
          <a:p>
            <a:r>
              <a:t>Seeing retrofits needs monthly data or utility work orders.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[10:46–11:11]</a:t>
            </a:r>
          </a:p>
          <a:p>
            <a:r>
              <a:t>The second model, LightGBM, forecasts where light will grow from six open inputs. On years it never saw, it ties "no change" on the amount: lit areas fell 4 percent, then rose 21, a reversal nothing earlier predicted.</a:t>
            </a:r>
          </a:p>
          <a:p>
            <a:r>
              <a:t>It ranks cells modestly well, a correlation of 0.35: useful for ranking sites, not for predicting one site's brightness.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[11:11–11:37]</a:t>
            </a:r>
          </a:p>
          <a:p>
            <a:r>
              <a:t>How do we keep it honest? The forecast is scored only on unseen years, and a test fails if they leak into training. The detector's false-alarm rate is checked on simulated noise. The web page re-runs the test for any cell you click. And the sky model is compared with 53 citizen meter readings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[11:37–12:21]</a:t>
            </a:r>
          </a:p>
          <a:p>
            <a:r>
              <a:t>Here's the application Dr. Lada asked about, a preliminary screening, not a site study. Every square kilometer of a wider, 11-county area is scored: dark today and in 2034, clear air, land, access, and drive time from campus.</a:t>
            </a:r>
          </a:p>
          <a:p>
            <a:r>
              <a:t>We rule out water and wetland, the coast, storm-surge ground, places projected to flood by 2080, FEMA's floodplain, and anything over about ninety minutes away.</a:t>
            </a:r>
          </a:p>
          <a:p>
            <a:r>
              <a:t>The shortlist: three Levy County sites between Chiefland and Bronson, 45 minutes to an hour from campus, land about six to eight hundred thousand dollars for 80 acres, roughly 1.6 to 3.8 million with a telescope and building.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[12:21–12:39]</a:t>
            </a:r>
          </a:p>
          <a:p>
            <a:r>
              <a:t>Finally, it has to reach decision-makers. The Brief tab generates a PDF for commissioners that opens with: "These outputs are planning projections, not observed outcomes." Every figure links back to its scenario, and a defensibility panel lists what's still missing.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[12:39–13:01]</a:t>
            </a:r>
          </a:p>
          <a:p>
            <a:r>
              <a:t>Scaling up means turning projection into evidence: sky-quality meters and a low-cost sensor network, real utility inventories, a computer-vision fixture detector, and monthly satellite data.</a:t>
            </a:r>
          </a:p>
          <a:p>
            <a:r>
              <a:t>The county package is reusable, and Levy County is next.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[13:01–13:46]</a:t>
            </a:r>
          </a:p>
          <a:p>
            <a:r>
              <a:t>Here's my ask. Alachua County has now written dark-sky lighting into its Comprehensive Plan, and UF, which plans its own campus in coordination with the county, can lead alongside it.</a:t>
            </a:r>
          </a:p>
          <a:p>
            <a:r>
              <a:t>Upgrading UF's 4,100 pole lights would cost about a million dollars and save about two hundred thousand a year: paid back in about five years. It would protect Rosemary Hill and help choose a site for the next observatory.</a:t>
            </a:r>
          </a:p>
          <a:p>
            <a:r>
              <a:t>And about six thousand dollars in hardware buys fifty sky-brightness sensors to check the model against real readings.</a:t>
            </a:r>
          </a:p>
          <a:p>
            <a:r>
              <a:t>So far this has been independent and unfunded. I'd like it to become a UF project.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[13:46–14:01]</a:t>
            </a:r>
          </a:p>
          <a:p>
            <a:r>
              <a:t>The simulator is live: scan the code to try it on your phone; the other code is the GitHub repository with the models and tests.</a:t>
            </a:r>
          </a:p>
          <a:p>
            <a:r>
              <a:t>Thank you. I'm happy to take questions.</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for the talk and the poster (the poster numbers them in order of citation). Hidden so the closing slide stays up during questions.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To find where lighting changed, we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Our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Hidden in the slide show; un-hide if needed.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physics.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docs/demo_script.md, 'Questions you may get' and 'Do not claim'. Hidden in the slide show.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jp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2.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4.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5.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17.jpg"/><Relationship Id="rId3" Type="http://schemas.microsoft.com/office/2007/relationships/media" Target="../media/media5.mp4"/><Relationship Id="rId7" Type="http://schemas.openxmlformats.org/officeDocument/2006/relationships/image" Target="../media/image16.jp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video" Target="../media/media5.mp4"/></Relationships>
</file>

<file path=ppt/slides/_rels/slide13.xml.rels><?xml version="1.0" encoding="UTF-8" standalone="yes"?>
<Relationships xmlns="http://schemas.openxmlformats.org/package/2006/relationships"><Relationship Id="rId8" Type="http://schemas.openxmlformats.org/officeDocument/2006/relationships/image" Target="../media/image19.jpg"/><Relationship Id="rId3" Type="http://schemas.microsoft.com/office/2007/relationships/media" Target="../media/media7.mp4"/><Relationship Id="rId7" Type="http://schemas.openxmlformats.org/officeDocument/2006/relationships/image" Target="../media/image18.jpg"/><Relationship Id="rId2" Type="http://schemas.openxmlformats.org/officeDocument/2006/relationships/video" Target="../media/media6.mp4"/><Relationship Id="rId1" Type="http://schemas.microsoft.com/office/2007/relationships/media" Target="../media/media6.mp4"/><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video" Target="../media/media7.mp4"/></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2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2.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3.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6.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7.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31.png"/><Relationship Id="rId2" Type="http://schemas.openxmlformats.org/officeDocument/2006/relationships/video" Target="../media/media13.mp4"/><Relationship Id="rId1" Type="http://schemas.microsoft.com/office/2007/relationships/media" Target="../media/media13.mp4"/><Relationship Id="rId6" Type="http://schemas.openxmlformats.org/officeDocument/2006/relationships/image" Target="../media/image30.png"/><Relationship Id="rId5" Type="http://schemas.openxmlformats.org/officeDocument/2006/relationships/image" Target="../media/image29.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jpg"/></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43.png"/><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6" name="TextBox 5"/>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7" name="Picture 6"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8" name="TextBox 7"/>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Full-spectrum self-portrait at the Chiefland Astronomy Village, April 2024. Photo: Jay Rosen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pic>
        <p:nvPicPr>
          <p:cNvPr id="6" name="Picture 5"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8" name="Picture 7"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10" name="TextBox 9"/>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1" name="TextBox 10"/>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sp>
        <p:nvSpPr>
          <p:cNvPr id="6" name="TextBox 5"/>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2020–25</a:t>
            </a:r>
            <a:r>
              <a:rPr sz="1600" b="0" i="0">
                <a:solidFill>
                  <a:srgbClr val="D9D2BD"/>
                </a:solidFill>
                <a:latin typeface="Aptos"/>
              </a:rPr>
              <a:t>  Photographing the night sky under Gainesville's light dome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Sep 2025</a:t>
            </a:r>
            <a:r>
              <a:rPr sz="1600" b="0" i="0">
                <a:solidFill>
                  <a:srgbClr val="D9D2BD"/>
                </a:solidFill>
                <a:latin typeface="Aptos"/>
              </a:rPr>
              <a:t>  Public comment at Alachua County's advisory committee (EPAC)</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Oct 2025</a:t>
            </a:r>
            <a:r>
              <a:rPr sz="16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Jan 2026</a:t>
            </a:r>
            <a:r>
              <a:rPr sz="1600" b="0" i="0">
                <a:solidFill>
                  <a:srgbClr val="D9D2BD"/>
                </a:solidFill>
                <a:latin typeface="Aptos"/>
              </a:rPr>
              <a:t>  EPAC votes unanimously to work toward dark-sky policy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Feb–May 2026</a:t>
            </a:r>
            <a:r>
              <a:rPr sz="1600" b="0" i="0">
                <a:solidFill>
                  <a:srgbClr val="D9D2BD"/>
                </a:solidFill>
                <a:latin typeface="Aptos"/>
              </a:rPr>
              <a:t>  Policy 5.3.7 amendment heard and sent to the state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Sep 22, 2026</a:t>
            </a:r>
            <a:r>
              <a:rPr sz="1600" b="0" i="0">
                <a:solidFill>
                  <a:srgbClr val="D9D2BD"/>
                </a:solidFill>
                <a:latin typeface="Aptos"/>
              </a:rPr>
              <a:t>  County Commission </a:t>
            </a:r>
            <a:r>
              <a:rPr sz="1600" b="1" i="0">
                <a:solidFill>
                  <a:srgbClr val="F6B44B"/>
                </a:solidFill>
                <a:latin typeface="Aptos"/>
              </a:rPr>
              <a:t>adopts</a:t>
            </a:r>
            <a:r>
              <a:rPr sz="1600" b="0" i="0">
                <a:solidFill>
                  <a:srgbClr val="D9D2BD"/>
                </a:solidFill>
                <a:latin typeface="Aptos"/>
              </a:rPr>
              <a:t> it, unanimously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2026</a:t>
            </a:r>
            <a:r>
              <a:rPr sz="1600" b="0" i="0">
                <a:solidFill>
                  <a:srgbClr val="D9D2BD"/>
                </a:solidFill>
                <a:latin typeface="Aptos"/>
              </a:rPr>
              <a:t>  Expanding into </a:t>
            </a:r>
            <a:r>
              <a:rPr sz="1600" b="1" i="0">
                <a:solidFill>
                  <a:srgbClr val="F6B44B"/>
                </a:solidFill>
                <a:latin typeface="Aptos"/>
              </a:rPr>
              <a:t>Levy County</a:t>
            </a:r>
            <a:r>
              <a:rPr sz="1600" b="0" i="0">
                <a:solidFill>
                  <a:srgbClr val="D9D2BD"/>
                </a:solidFill>
                <a:latin typeface="Aptos"/>
              </a:rPr>
              <a:t>, home to Rosemary Hill and the Chiefland Astronomy Village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Next</a:t>
            </a:r>
            <a:r>
              <a:rPr sz="1600" b="0" i="0">
                <a:solidFill>
                  <a:srgbClr val="D9D2BD"/>
                </a:solidFill>
                <a:latin typeface="Aptos"/>
              </a:rPr>
              <a:t>  UF Astronomy (Dr. Elizabeth Lada) asks where a future observatory should go</a:t>
            </a:r>
          </a:p>
        </p:txBody>
      </p:sp>
      <p:pic>
        <p:nvPicPr>
          <p:cNvPr id="7" name="Picture 6"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8" name="Picture 7"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9" name="Picture 8"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10" name="Picture 9"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1" name="TextBox 10"/>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2" name="TextBox 11"/>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3" name="TextBox 12"/>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4" name="TextBox 13"/>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6" name="TextBox 5"/>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7" name="Picture 6"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8" name="TextBox 7"/>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pic>
        <p:nvPicPr>
          <p:cNvPr id="6" name="Picture 5"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8" name="Picture 7"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7" name="07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6" name="Rectangle 5"/>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7" name="Rectangle 6"/>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8" name="Connector 7"/>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10" name="Rectangle 9"/>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1" name="Connector 10"/>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3" name="Rectangle 12"/>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4" name="Connector 13"/>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6" name="Rectangle 15"/>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7" name="Picture 16"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8" name="TextBox 17"/>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7" name="09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6" name="TextBox 5"/>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7" name="Rectangle 6"/>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9" name="TextBox 8"/>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10" name="TextBox 9"/>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1" name="TextBox 10"/>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2" name="TextBox 11"/>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3" name="TextBox 12"/>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4" name="TextBox 13"/>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5" name="TextBox 14"/>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6" name="TextBox 15"/>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7" name="TextBox 16"/>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8" name="Rectangle 17"/>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20" name="TextBox 19"/>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1" name="TextBox 20"/>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2" name="TextBox 21"/>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3" name="TextBox 22"/>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4" name="TextBox 23"/>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5" name="TextBox 24"/>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6" name="TextBox 25"/>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7" name="TextBox 26"/>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8" name="TextBox 27"/>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9" name="Rectangle 28"/>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1" name="TextBox 30"/>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2" name="TextBox 31"/>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3" name="TextBox 32"/>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4" name="TextBox 33"/>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5" name="TextBox 34"/>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6" name="TextBox 35"/>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7" name="TextBox 36"/>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8" name="TextBox 37"/>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9" name="TextBox 38"/>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40" name="Rectangle 39"/>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2" name="TextBox 41"/>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3" name="TextBox 42"/>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4" name="TextBox 43"/>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5" name="TextBox 44"/>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6" name="TextBox 45"/>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7" name="TextBox 46"/>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8" name="TextBox 47"/>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9" name="TextBox 48"/>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50" name="TextBox 49"/>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1" name="Rectangle 50"/>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3" name="TextBox 52"/>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4" name="TextBox 53"/>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5" name="TextBox 54"/>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6" name="TextBox 55"/>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7" name="TextBox 56"/>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8" name="TextBox 57"/>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9" name="TextBox 58"/>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60" name="TextBox 59"/>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1" name="TextBox 60"/>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2" name="Rectangle 61"/>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4" name="TextBox 63"/>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5" name="TextBox 64"/>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6" name="TextBox 65"/>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7" name="TextBox 66"/>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8" name="TextBox 67"/>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9" name="TextBox 68"/>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70" name="TextBox 69"/>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1" name="TextBox 70"/>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2" name="TextBox 71"/>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3" name="TextBox 72"/>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7" name="11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pic>
        <p:nvPicPr>
          <p:cNvPr id="6" name="12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7" name="TextBox 6"/>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8" name="12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9" name="TextBox 8"/>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10" name="TextBox 9"/>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1" name="TextBox 10"/>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2" name="TextBox 11"/>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streets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6" name="13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3028"/>
            <a:ext cx="5440680" cy="3060382"/>
          </a:xfrm>
          <a:prstGeom prst="rect">
            <a:avLst/>
          </a:prstGeom>
        </p:spPr>
      </p:pic>
      <p:sp>
        <p:nvSpPr>
          <p:cNvPr id="7" name="TextBox 6"/>
          <p:cNvSpPr txBox="1"/>
          <p:nvPr/>
        </p:nvSpPr>
        <p:spPr>
          <a:xfrm>
            <a:off x="548640"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8" name="13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3028"/>
            <a:ext cx="5440680" cy="3060382"/>
          </a:xfrm>
          <a:prstGeom prst="rect">
            <a:avLst/>
          </a:prstGeom>
        </p:spPr>
      </p:pic>
      <p:sp>
        <p:nvSpPr>
          <p:cNvPr id="9" name="TextBox 8"/>
          <p:cNvSpPr txBox="1"/>
          <p:nvPr/>
        </p:nvSpPr>
        <p:spPr>
          <a:xfrm>
            <a:off x="6199632"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Catalog of </a:t>
            </a:r>
            <a:r>
              <a:rPr sz="1800" b="1" i="0">
                <a:solidFill>
                  <a:srgbClr val="F6B44B"/>
                </a:solidFill>
                <a:latin typeface="Aptos"/>
              </a:rPr>
              <a:t>17 DarkSky-compliant fixture types</a:t>
            </a:r>
            <a:r>
              <a:rPr sz="1800" b="0" i="0">
                <a:solidFill>
                  <a:srgbClr val="D9D2BD"/>
                </a:solidFill>
                <a:latin typeface="Aptos"/>
              </a:rPr>
              <a:t>: spectrum, uplight rating, watts, installed cost</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Equip one: sky, budget, brief and install markers update</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Terrain, buildings and every modeled light at street level</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Mapped streetlights where they stand; modeled ones along the roads of their cell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sp>
        <p:nvSpPr>
          <p:cNvPr id="6" name="Rectangle 5"/>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7" name="Connector 6"/>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9" name="Connector 8"/>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1" name="Connector 10"/>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3" name="Rectangle 12"/>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4" name="Rectangle 13"/>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5" name="Rectangle 14"/>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7" name="TextBox 16"/>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8" name="TextBox 17"/>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7" name="15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6" name="TextBox 5"/>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7" name="TextBox 6"/>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8" name="Chart 7"/>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10" name="Picture 9" descr="airglow_light.png"/>
          <p:cNvPicPr>
            <a:picLocks noChangeAspect="1"/>
          </p:cNvPicPr>
          <p:nvPr/>
        </p:nvPicPr>
        <p:blipFill>
          <a:blip r:embed="rId4"/>
          <a:stretch>
            <a:fillRect/>
          </a:stretch>
        </p:blipFill>
        <p:spPr>
          <a:xfrm>
            <a:off x="5760720" y="5303520"/>
            <a:ext cx="5852160" cy="38515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4</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6" name="TextBox 5"/>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7" name="Table 6"/>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8" name="17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9" name="TextBox 8"/>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5</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It found new development on its own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6" name="TextBox 5"/>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28,986</a:t>
            </a:r>
            <a:r>
              <a:rPr sz="1800" b="0" i="0">
                <a:solidFill>
                  <a:srgbClr val="D9D2BD"/>
                </a:solidFill>
                <a:latin typeface="Aptos"/>
              </a:rPr>
              <a:t> lit cells tested for a sudden step · </a:t>
            </a:r>
            <a:r>
              <a:rPr sz="1800" b="1" i="0">
                <a:solidFill>
                  <a:srgbClr val="F6B44B"/>
                </a:solidFill>
                <a:latin typeface="Aptos"/>
              </a:rPr>
              <a:t>1,493</a:t>
            </a:r>
            <a:r>
              <a:rPr sz="1800" b="0" i="0">
                <a:solidFill>
                  <a:srgbClr val="D9D2BD"/>
                </a:solidFill>
                <a:latin typeface="Aptos"/>
              </a:rPr>
              <a:t> flagged as candidates · ≈ 29 expected by chance</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#1 event, near I-75 and Archer Road: </a:t>
            </a:r>
            <a:r>
              <a:rPr sz="1800" b="1" i="0">
                <a:solidFill>
                  <a:srgbClr val="F6B44B"/>
                </a:solidFill>
                <a:latin typeface="Aptos"/>
              </a:rPr>
              <a:t>28 → 91 nW</a:t>
            </a:r>
            <a:r>
              <a:rPr sz="1800" b="0" i="0">
                <a:solidFill>
                  <a:srgbClr val="D9D2BD"/>
                </a:solidFill>
                <a:latin typeface="Aptos"/>
              </a:rPr>
              <a:t>, step in 2016 (F = 176.8)</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That's </a:t>
            </a:r>
            <a:r>
              <a:rPr sz="1800" b="1" i="0">
                <a:solidFill>
                  <a:srgbClr val="F6B44B"/>
                </a:solidFill>
                <a:latin typeface="Aptos"/>
              </a:rPr>
              <a:t>Celebration Pointe</a:t>
            </a:r>
            <a:r>
              <a:rPr sz="1800" b="0" i="0">
                <a:solidFill>
                  <a:srgbClr val="D9D2BD"/>
                </a:solidFill>
                <a:latin typeface="Aptos"/>
              </a:rPr>
              <a:t>: Bass Pro Shops opened there in November 2016</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#2: dark land west of Ocala lit up in 2021 (0.5 → 53.5 nW)</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Nobody told the model where to look; it knows light changed, not what was built</a:t>
            </a:r>
          </a:p>
        </p:txBody>
      </p:sp>
      <p:pic>
        <p:nvPicPr>
          <p:cNvPr id="7" name="18_ai_event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8" name="TextBox 7"/>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AI tab: clicking the top event flies the map to it and shows the cell's 13 years with the fitted step.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6</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8" name="Chart 7"/>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7</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6" name="TextBox 5"/>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7" name="Table 6"/>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9" name="Chart 8"/>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8</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6" name="TextBox 5"/>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7" name="Picture 6"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8" name="TextBox 7"/>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22</a:t>
            </a:r>
          </a:p>
        </p:txBody>
      </p:sp>
      <p:sp>
        <p:nvSpPr>
          <p:cNvPr id="6" name="TextBox 5"/>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7" name="Picture 6" descr="obs_map_markers.png"/>
          <p:cNvPicPr>
            <a:picLocks noChangeAspect="1"/>
          </p:cNvPicPr>
          <p:nvPr/>
        </p:nvPicPr>
        <p:blipFill>
          <a:blip r:embed="rId3"/>
          <a:srcRect r="6000" b="6000"/>
          <a:stretch>
            <a:fillRect/>
          </a:stretch>
        </p:blipFill>
        <p:spPr>
          <a:xfrm>
            <a:off x="5897880" y="1417320"/>
            <a:ext cx="5742432" cy="4610835"/>
          </a:xfrm>
          <a:prstGeom prst="roundRect">
            <a:avLst>
              <a:gd name="adj" fmla="val 1200"/>
            </a:avLst>
          </a:prstGeom>
          <a:ln w="9525">
            <a:solidFill>
              <a:srgbClr val="2A3A60"/>
            </a:solidFill>
          </a:ln>
        </p:spPr>
      </p:pic>
      <p:sp>
        <p:nvSpPr>
          <p:cNvPr id="8" name="TextBox 7"/>
          <p:cNvSpPr txBox="1"/>
          <p:nvPr/>
        </p:nvSpPr>
        <p:spPr>
          <a:xfrm>
            <a:off x="5897880" y="6073875"/>
            <a:ext cx="574243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7" name="23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6" name="TextBox 5"/>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7" name="24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8" name="TextBox 7"/>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6" name="TextBox 5"/>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upgrading UF's 4,100 pole lights costs about </a:t>
            </a:r>
            <a:r>
              <a:rPr sz="1800" b="1" i="0">
                <a:solidFill>
                  <a:srgbClr val="F6B44B"/>
                </a:solidFill>
                <a:latin typeface="Aptos"/>
              </a:rPr>
              <a:t>$984K</a:t>
            </a:r>
            <a:r>
              <a:rPr sz="1800" b="0" i="0">
                <a:solidFill>
                  <a:srgbClr val="D9D2BD"/>
                </a:solidFill>
                <a:latin typeface="Aptos"/>
              </a:rPr>
              <a:t> and saves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7" name="Picture 6"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8" name="TextBox 7"/>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6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27</a:t>
            </a:r>
          </a:p>
        </p:txBody>
      </p:sp>
      <p:sp>
        <p:nvSpPr>
          <p:cNvPr id="6" name="TextBox 5"/>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7" name="TextBox 6"/>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6" name="TextBox 5"/>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Our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7" name="Picture 6"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8" name="TextBox 7"/>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9" name="Picture 8"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10" name="TextBox 9"/>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1" name="Picture 10"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2" name="Picture 11" descr="fcrit_light.png"/>
          <p:cNvPicPr>
            <a:picLocks noChangeAspect="1"/>
          </p:cNvPicPr>
          <p:nvPr/>
        </p:nvPicPr>
        <p:blipFill>
          <a:blip r:embed="rId6"/>
          <a:stretch>
            <a:fillRect/>
          </a:stretch>
        </p:blipFill>
        <p:spPr>
          <a:xfrm>
            <a:off x="5669280" y="4572000"/>
            <a:ext cx="5897880" cy="59490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7" name="Picture 6" descr="boost_light.png"/>
          <p:cNvPicPr>
            <a:picLocks noChangeAspect="1"/>
          </p:cNvPicPr>
          <p:nvPr/>
        </p:nvPicPr>
        <p:blipFill>
          <a:blip r:embed="rId3"/>
          <a:stretch>
            <a:fillRect/>
          </a:stretch>
        </p:blipFill>
        <p:spPr>
          <a:xfrm>
            <a:off x="548640" y="4892040"/>
            <a:ext cx="4892040" cy="377087"/>
          </a:xfrm>
          <a:prstGeom prst="rect">
            <a:avLst/>
          </a:prstGeom>
        </p:spPr>
      </p:pic>
      <p:sp>
        <p:nvSpPr>
          <p:cNvPr id="8" name="TextBox 7"/>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9" name="TextBox 8"/>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10" name="Chart 9"/>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pic>
        <p:nvPicPr>
          <p:cNvPr id="6" name="Picture 5"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7" name="Picture 6"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8" name="Picture 7" descr="fcrit_light.png"/>
          <p:cNvPicPr>
            <a:picLocks noChangeAspect="1"/>
          </p:cNvPicPr>
          <p:nvPr/>
        </p:nvPicPr>
        <p:blipFill>
          <a:blip r:embed="rId5"/>
          <a:stretch>
            <a:fillRect/>
          </a:stretch>
        </p:blipFill>
        <p:spPr>
          <a:xfrm>
            <a:off x="731520" y="3840480"/>
            <a:ext cx="6799006" cy="685800"/>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pic>
        <p:nvPicPr>
          <p:cNvPr id="6" name="Picture 5"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7" name="Picture 6"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8" name="Picture 7"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9" name="Picture 8"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10" name="TextBox 9"/>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6" name="Picture 5"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7" name="Picture 6"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8" name="Picture 7"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9" name="Picture 8"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10" name="TextBox 9"/>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sp>
        <p:nvSpPr>
          <p:cNvPr id="6" name="TextBox 5"/>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7635</Words>
  <Application>Microsoft Office PowerPoint</Application>
  <PresentationFormat>Widescreen</PresentationFormat>
  <Paragraphs>578</Paragraphs>
  <Slides>33</Slides>
  <Notes>33</Notes>
  <HiddenSlides>7</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2026-10-26T01:25:09Z</dcterms:modified>
  <cp:category/>
</cp:coreProperties>
</file>