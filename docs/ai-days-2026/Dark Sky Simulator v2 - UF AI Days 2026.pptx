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2.xml" ContentType="application/vnd.openxmlformats-officedocument.drawingml.chart+xml"/>
  <Override PartName="/ppt/notesSlides/notesSlide21.xml" ContentType="application/vnd.openxmlformats-officedocument.presentationml.notesSlide+xml"/>
  <Override PartName="/ppt/charts/chart3.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4.xml" ContentType="application/vnd.openxmlformats-officedocument.drawingml.chart+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AA3F-4224-8BBF-653E66DF4D28}"/>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9CAC-456A-99DD-29FBF20A1BDB}"/>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8EBE-4BCE-8719-EB3B1BD969E6}"/>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8EBE-4BCE-8719-EB3B1BD969E6}"/>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8CD9-4370-9CA9-AD023D5DEE8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5397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[0:00–0:26]</a:t>
            </a:r>
          </a:p>
          <a:p>
            <a:r>
              <a:t>Good afternoon. I'm Jay Rosen.</a:t>
            </a:r>
          </a:p>
          <a:p>
            <a:r>
              <a:t>This is the Milky Way over Paynes Prairie, fifteen minutes from campus, and the yellow glow on the horizon is light pollution from our cities.</a:t>
            </a:r>
          </a:p>
          <a:p>
            <a:r>
              <a:t>My talk is about restoring that view: how AI-assisted satellite analysis and interactive simulation can help counties plan their lighting, and how we're scaling that across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[0:26–1:31]</a:t>
            </a:r>
          </a:p>
          <a:p>
            <a:r>
              <a:t>A little about me: this talk is where my two careers meet.</a:t>
            </a:r>
          </a:p>
          <a:p>
            <a:r>
              <a:t>I'm a UF College of the Arts alumnus. My Undergraduate Scholar research was a phenomenological study of Light and Space art, including lighting technology for immersive light installations, which I studied abroad in Europe. I've worked with light art for fifteen years.</a:t>
            </a:r>
          </a:p>
          <a:p>
            <a:r>
              <a:t>Before UF, I was founder and CEO of Space Age Mining Corporation, a high-performance computing startup. Now I'm a research software engineer in the College of Education.</a:t>
            </a:r>
          </a:p>
          <a:p>
            <a:r>
              <a:t>Since 2020, astrophotography has been my newest light art: capturing light itself from the cosmos, much of it full-spectrum, like this self-portrait.</a:t>
            </a:r>
          </a:p>
          <a:p>
            <a:r>
              <a:t>I've twice won the NASA Space Apps Challenge at the Kennedy Space Center event, with a nomination for the global awards, and this year I'm one of the judges. Outside UF, I serve on the Alachua Astronomy Club board and on City of Gainesville and Alachua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[1:31–1:59]</a:t>
            </a:r>
          </a:p>
          <a:p>
            <a:r>
              <a:t>First, what is light pollution? Excessive, misdirected or obtrusive artificial light at night: skyglow, light trespass, glare, and more light than a task needs.</a:t>
            </a:r>
          </a:p>
          <a:p>
            <a:r>
              <a:t>It's not just astronomy. At places like Paynes Prairie, artificial light lures insects to their deaths, quiets frogs' breeding calls, throws night-migrating birds off course, and shrinks dark habitat for bats. It disrupts our sleep, and it wastes energy.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[1:59–2:24]</a:t>
            </a:r>
          </a:p>
          <a:p>
            <a:r>
              <a:t>Skyglow travels tens of kilometers.</a:t>
            </a:r>
          </a:p>
          <a:p>
            <a:r>
              <a:t>On the left, from Paynes Prairie, Gainesville's dome takes over half the sky; on the right, Stephen C. Foster State Park in Georgia, a Bortle 2 dark-sky park.</a:t>
            </a:r>
          </a:p>
          <a:p>
            <a:r>
              <a:t>It's preventable: shield, aim, warmer colors, less brightness, dimming late at night. What communities lack is a way to test those choices first.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[2:24–3:22]</a:t>
            </a:r>
          </a:p>
          <a:p>
            <a:r>
              <a:t>A quick backstory. In September 2025 I gave a public comment at Alachua County's Environmental Protection Advisory Committee, then built the first simulator in about a month, focused on what light pollution fixes would mean for budgets and the night sky. I debuted it at UF's Astraeus Space Research Day.</a:t>
            </a:r>
          </a:p>
          <a:p>
            <a:r>
              <a:t>In January I presented the research and the simulator to the committee, and it voted unanimously to work toward dark-sky policy.</a:t>
            </a:r>
          </a:p>
          <a:p>
            <a:r>
              <a:t>In April, during International Dark Sky Week, I took it beyond the board rooms: a guest talk in Dr. Elizabeth Lada's astrophotography course, where she asked whether it could help find a site for UF's next observatory, and a talk at the Alachua Astronomy Club, where members asked how to do this in Levy County. UF's College of the Arts covered the project that spring.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[3:22–4:45]</a:t>
            </a:r>
          </a:p>
          <a:p>
            <a:r>
              <a:t>In February 2026, our dark-sky recommendations entered Alachua County's Comprehensive Plan amendment process as revisions to Policy 5.3.7. On September 22, the County Commission unanimously adopted the broader amendment package, which included the proposed dark-sky policies. The amendments are now undergoing final state review, with implementation through county lighting regulations still ahead.</a:t>
            </a:r>
          </a:p>
          <a:p>
            <a:r>
              <a:t>Policy 5.3.7 now reads:</a:t>
            </a:r>
          </a:p>
          <a:p>
            <a:r>
              <a:t>The land development regulations shall provide for lighting standards which ensure that adverse impacts of outdoor lighting are minimized in order to conserve energy, avoid harmful effects on wildlife, and protect the night sky, while balancing the need for public safety.</a:t>
            </a:r>
          </a:p>
          <a:p>
            <a:r>
              <a:t>The land development regulations shall be based on the following general principles, as advocated by organizations such as Dark Sky International and the Illuminating Engineering Society of North America:</a:t>
            </a:r>
          </a:p>
          <a:p>
            <a:r>
              <a:t>One. Direct light so it falls only where it is needed, in order to minimize offsite lighting impacts and reduce glare, light trespass, and light pollution.</a:t>
            </a:r>
          </a:p>
          <a:p>
            <a:r>
              <a:t>Two. Use lighting only where and when it is needed and at the lowest level necessary to ensure light is not overused or impacting areas where it is not intended.</a:t>
            </a:r>
          </a:p>
          <a:p>
            <a:r>
              <a:t>Three. Use warmer-color lights where possible.</a:t>
            </a:r>
          </a:p>
          <a:p>
            <a:r>
              <a:t>Four. Maximize energy and cost efficiency.</a:t>
            </a:r>
          </a:p>
          <a:p>
            <a:r>
              <a:t>[If running long, say instead: On September 22, Alachua County commissioners unanimously adopted Comprehensive Plan amendments that included new dark-sky principles. Policy 5.3.7 now calls for protecting the night sky and wildlife while conserving energy and maintaining public safety, with four principles: direct light where it's needed, use only as much as necessary, choose warmer colors, and improve efficiency. Those are exactly the decisions this simulator evaluates. The next step is turning them into lighting regulations.]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[4:45–5:09]</a:t>
            </a:r>
          </a:p>
          <a:p>
            <a:r>
              <a:t>Version 1, on the left, was built to persuade, and it worked. Then people asked the right question: how do you know?</a:t>
            </a:r>
          </a:p>
          <a:p>
            <a:r>
              <a:t>Version 2 is my answer. The sky comes from atmospheric physics, the lights from public data, and AI is used where data can teach us something. Every number is labeled a planning projection.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[5:09–5:37]</a:t>
            </a:r>
          </a:p>
          <a:p>
            <a:r>
              <a:t>Here's version 2. It covers Alachua, Levy and six neighboring counties, with roughly 817,000 modeled light sources: streetlights, homes and businesses, and sports fields.</a:t>
            </a:r>
          </a:p>
          <a:p>
            <a:r>
              <a:t>The colors are the modeled sky brightness overhead: yellow is an urban sky, black is close to natural.</a:t>
            </a:r>
          </a:p>
          <a:p>
            <a:r>
              <a:t>You choose shielding, color limits, dimming or curfews, and compare the projected sky, Bortle class, energy, cost, savings and payback.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[5:37–5:57]</a:t>
            </a:r>
          </a:p>
          <a:p>
            <a:r>
              <a:t>Everything heavy runs once, offline: scattering, placing fixtures, the satellite record, training.</a:t>
            </a:r>
          </a:p>
          <a:p>
            <a:r>
              <a:t>Because skyglow adds up, the browser only needs a weighted sum of precomputed layers, about 55 milliseconds per scenario. The sky itself is a published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[5:57–6:30]</a:t>
            </a:r>
          </a:p>
          <a:p>
            <a:r>
              <a:t>One click applies a Groveland-style ordinance; Groveland is Florida's first dark-sky city. Full shielding, a 3000-kelvin cap, and dimming to half from 10 p.m.</a:t>
            </a:r>
          </a:p>
          <a:p>
            <a:r>
              <a:t>Blue is where the sky gets darker, and it crosses county lines: skyglow is regional.</a:t>
            </a:r>
          </a:p>
          <a:p>
            <a:r>
              <a:t>If every light, public and private, complies, Paynes Prairie goes from 20.98 to 21.62, the level DarkSky uses for parks, and downtown moves one Bortle class, 7 to 6. Public lights alone get about half of that.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[6:30–7:06]</a:t>
            </a:r>
          </a:p>
          <a:p>
            <a:r>
              <a:t>The best-value package is right-sizing public streetlights: fully shielded 3000-kelvin LEDs at 30 percent lower output, with no smart controllers, which is why it pays back faster than the full ordinance.</a:t>
            </a:r>
          </a:p>
          <a:p>
            <a:r>
              <a:t>Alachua County, all public streetlights: 15.3 million dollars, saving about 2.6 million a year in energy and maintenance, paid back in about 6 years.</a:t>
            </a:r>
          </a:p>
          <a:p>
            <a:r>
              <a:t>Within that total, Gainesville's GRU streetlights: 7.2 million, 1.45 million a year; state roads under a million. Levy County and Chiefland pay back in about 8 years.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[7:06–7:27]</a:t>
            </a:r>
          </a:p>
          <a:p>
            <a:r>
              <a:t>You don't have to change a whole county. Overlay zones apply stricter rules in rings around the observatories: an amber, motion-only core and a warm-white buffer.</a:t>
            </a:r>
          </a:p>
          <a:p>
            <a:r>
              <a:t>Protecting both sites costs under a million dollars in public retrofits. That's a trade-off a commission can actually vote 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[7:27–7:58]</a:t>
            </a:r>
          </a:p>
          <a:p>
            <a:r>
              <a:t>Numbers like 20.98 and 21.62 don't mean much, so the simulator draws the sky: Paynes Prairie looking southeast in late May as the Milky Way rises, like my title photo.</a:t>
            </a:r>
          </a:p>
          <a:p>
            <a:r>
              <a:t>Today, on the left: Bortle 4, stars to about magnitude 6.1. With the ordinance, on the right: still Bortle 4, but the horizon glow fades, stars reach 6.4, and the Milky Way is clearer.</a:t>
            </a:r>
          </a:p>
          <a:p>
            <a:r>
              <a:t>It's an illustration, not a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[7:58–8:16]</a:t>
            </a:r>
          </a:p>
          <a:p>
            <a:r>
              <a:t>Build mode turns policy into hardware: 17 DarkSky-compliant fixture types with real installed costs. Equip one and the sky, the budget and the install markers update.</a:t>
            </a:r>
          </a:p>
          <a:p>
            <a:r>
              <a:t>The 3D view puts every modeled light at street level, here downtown Gainesville.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[8:16–8:42]</a:t>
            </a:r>
          </a:p>
          <a:p>
            <a:r>
              <a:t>Now the AI, and precisely where it is.</a:t>
            </a:r>
          </a:p>
          <a:p>
            <a:r>
              <a:t>Two methods read 13 years of satellite images of Florida at night: a statistical step test, calibrated by simulation rather than trained, that finds where lighting changed suddenly, and LightGBM, a trained machine-learning forecast of where light will grow.</a:t>
            </a:r>
          </a:p>
          <a:p>
            <a:r>
              <a:t>Everything else is physics or explicit rules you can inspect.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[8:42–9:04]</a:t>
            </a:r>
          </a:p>
          <a:p>
            <a:r>
              <a:t>The data is NASA's Black Marble product from the VIIRS instrument: a nightly image of Earth's lights at about 500 meters.</a:t>
            </a:r>
          </a:p>
          <a:p>
            <a:r>
              <a:t>We keep only cloud-free nights and take one median per year for every cell, 2012 to 2024, through Google Earth Engine's free tier, in about twelve minutes.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[9:04–9:32]</a:t>
            </a:r>
          </a:p>
          <a:p>
            <a:r>
              <a:t>Lesson one: check the data first.</a:t>
            </a:r>
          </a:p>
          <a:p>
            <a:r>
              <a:t>Our first pull came back ten times too dark: a scale factor applied twice.</a:t>
            </a:r>
          </a:p>
          <a:p>
            <a:r>
              <a:t>Then forests and wetlands seemed to brighten 70 to 120 percent. They didn't. That's airglow, light from the upper atmosphere that rises with solar activity. A model trained on that would have learned the Sun, not development, so we subtract it every year first.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[9:32–10:00]</a:t>
            </a:r>
          </a:p>
          <a:p>
            <a:r>
              <a:t>Version 1's AI-assisted comparison of NOAA imagery estimated about 19 percent brightening.</a:t>
            </a:r>
          </a:p>
          <a:p>
            <a:r>
              <a:t>Re-measured in calibrated radiance from 2013 to 2024, the region around the county rose about 20 percent in NOAA's product and 13 in NASA's: broadly consistent, with the size depending on the product. Inside the county it's 3 to 6 percent, Gainesville about 5.</a:t>
            </a:r>
          </a:p>
          <a:p>
            <a:r>
              <a:t>Growth concentrates along I-75 and toward Ocala.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[10:00–10:32]</a:t>
            </a:r>
          </a:p>
          <a:p>
            <a:r>
              <a:t>We test every lit cell for a sudden step; false alarms, one in a thousand. Of 28,986 lit cells, 1,493 are flagged as candidates, where chance alone would give about 29.</a:t>
            </a:r>
          </a:p>
          <a:p>
            <a:r>
              <a:t>The top event is at I-75 and Archer Road, a jump in 2016. That's Celebration Pointe; Bass Pro Shops opened there in November 2016. Nobody told the model where to look.</a:t>
            </a:r>
          </a:p>
          <a:p>
            <a:r>
              <a:t>It knows that light changed, not what was built.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[10:32–10:54]</a:t>
            </a:r>
          </a:p>
          <a:p>
            <a:r>
              <a:t>And what it can't do. Year-to-year noise is about 10 percent, so it finds large new lighting but misses most LED retrofits, which are 20 to 40 percent drops. The satellite also barely sees the blue in white LEDs.</a:t>
            </a:r>
          </a:p>
          <a:p>
            <a:r>
              <a:t>Seeing retrofits needs monthly data or utility work orders.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[10:54–11:19]</a:t>
            </a:r>
          </a:p>
          <a:p>
            <a:r>
              <a:t>The second model, LightGBM, forecasts where light will grow from six open inputs. On years it never saw, it ties "no change" on the amount: lit areas fell 4 percent, then rose 21, a reversal nothing earlier predicted.</a:t>
            </a:r>
          </a:p>
          <a:p>
            <a:r>
              <a:t>It ranks cells modestly well, a correlation of 0.35: useful for ranking sites, not for predicting one site's brightness.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[11:19–11:44]</a:t>
            </a:r>
          </a:p>
          <a:p>
            <a:r>
              <a:t>How do we keep it honest? The forecast is scored only on years it never trained on. The detector's false-alarm rate is checked on simulated noise. And the sky model is compared with 53 citizen sky-meter readings it never saw: it reads about half a magnitude darker than they do, a bias we publish.</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[11:44–12:23]</a:t>
            </a:r>
          </a:p>
          <a:p>
            <a:r>
              <a:t>Here's the application Dr. Lada asked about, a preliminary screening, not a site study. Every square kilometer of a wider, 11-county area is scored: dark today and in 2034, clear air, land, access, and drive time from campus.</a:t>
            </a:r>
          </a:p>
          <a:p>
            <a:r>
              <a:t>We rule out water and wetland, the coast, storm-surge ground, places projected to flood by 2080, FEMA's floodplain, and anything over about ninety minutes away.</a:t>
            </a:r>
          </a:p>
          <a:p>
            <a:r>
              <a:t>The shortlist: three Levy County sites between Chiefland and Bronson, 45 minutes to an hour from campus, land about six to eight hundred thousand dollars for 80 acres.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[12:23–12:42]</a:t>
            </a:r>
          </a:p>
          <a:p>
            <a:r>
              <a:t>Finally, it has to reach decision-makers. The Brief tab generates a PDF for commissioners that opens with: "These outputs are planning projections, not observed outcomes." Every figure links back to its scenario, and a defensibility panel lists what's still missing.</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[12:42–13:04]</a:t>
            </a:r>
          </a:p>
          <a:p>
            <a:r>
              <a:t>Scaling up means turning projection into evidence: sky-quality meters and a low-cost sensor network, real utility inventories, a computer-vision fixture detector, and monthly satellite data.</a:t>
            </a:r>
          </a:p>
          <a:p>
            <a:r>
              <a:t>The county package is reusable, and Levy County is next.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[13:04–13:44]</a:t>
            </a:r>
          </a:p>
          <a:p>
            <a:r>
              <a:t>Here's my ask. Alachua County has now written dark-sky lighting into its Comprehensive Plan, and UF, which plans its own campus in coordination with the county, can lead alongside it.</a:t>
            </a:r>
          </a:p>
          <a:p>
            <a:r>
              <a:t>The model projects that upgrading UF's 4,100 pole lights would cost about a million dollars and save about two hundred thousand a year, depending on real inventories and rates.</a:t>
            </a:r>
          </a:p>
          <a:p>
            <a:r>
              <a:t>And about six thousand dollars in hardware buys fifty sky-brightness sensors to check the model against real readings.</a:t>
            </a:r>
          </a:p>
          <a:p>
            <a:r>
              <a:t>So far this has been independent and unfunded. I'd like it to become a UF project.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[13:44–13:59]</a:t>
            </a:r>
          </a:p>
          <a:p>
            <a:r>
              <a:t>The simulator is live: scan the code to try it on your phone; the other code is the GitHub repository with the models and tests.</a:t>
            </a:r>
          </a:p>
          <a:p>
            <a:r>
              <a:t>Thank you. I'm happy to take questions.</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for the talk and the poster (the poster numbers them in order of citation). Hidden so the closing slide stays up during questions.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To find where lighting changed, we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Our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un-hide to show it.]</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Hidden in the slide show; un-hide if needed.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physics. Hidden in the slide show.</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docs/demo_script.md, 'Questions you may get' and 'Do not claim'. Hidden in the slide show.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6.jpg"/><Relationship Id="rId4" Type="http://schemas.openxmlformats.org/officeDocument/2006/relationships/image" Target="../media/image5.jpg"/></Relationships>
</file>

<file path=ppt/slides/_rels/slide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8.jpg"/></Relationships>
</file>

<file path=ppt/slides/_rels/slide5.xml.rels><?xml version="1.0" encoding="UTF-8" standalone="yes"?>
<Relationships xmlns="http://schemas.openxmlformats.org/package/2006/relationships"><Relationship Id="rId3" Type="http://schemas.openxmlformats.org/officeDocument/2006/relationships/image" Target="../media/image9.jpg"/><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5.jp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16.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2.png"/><Relationship Id="rId5" Type="http://schemas.openxmlformats.org/officeDocument/2006/relationships/image" Target="../media/image18.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2.png"/><Relationship Id="rId5" Type="http://schemas.openxmlformats.org/officeDocument/2006/relationships/image" Target="../media/image19.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1.jpg"/><Relationship Id="rId3" Type="http://schemas.microsoft.com/office/2007/relationships/media" Target="../media/media5.mp4"/><Relationship Id="rId7" Type="http://schemas.openxmlformats.org/officeDocument/2006/relationships/image" Target="../media/image20.jp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video" Target="../media/media5.mp4"/><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8" Type="http://schemas.openxmlformats.org/officeDocument/2006/relationships/image" Target="../media/image23.jpg"/><Relationship Id="rId3" Type="http://schemas.microsoft.com/office/2007/relationships/media" Target="../media/media7.mp4"/><Relationship Id="rId7" Type="http://schemas.openxmlformats.org/officeDocument/2006/relationships/image" Target="../media/image22.jpg"/><Relationship Id="rId2" Type="http://schemas.openxmlformats.org/officeDocument/2006/relationships/video" Target="../media/media6.mp4"/><Relationship Id="rId1" Type="http://schemas.microsoft.com/office/2007/relationships/media" Target="../media/media6.mp4"/><Relationship Id="rId6" Type="http://schemas.openxmlformats.org/officeDocument/2006/relationships/notesSlide" Target="../notesSlides/notesSlide14.xml"/><Relationship Id="rId5" Type="http://schemas.openxmlformats.org/officeDocument/2006/relationships/slideLayout" Target="../slideLayouts/slideLayout7.xml"/><Relationship Id="rId4" Type="http://schemas.openxmlformats.org/officeDocument/2006/relationships/video" Target="../media/media7.mp4"/><Relationship Id="rId9"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6" Type="http://schemas.openxmlformats.org/officeDocument/2006/relationships/image" Target="../media/image2.png"/><Relationship Id="rId5" Type="http://schemas.openxmlformats.org/officeDocument/2006/relationships/image" Target="../media/image24.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9.mp4"/><Relationship Id="rId1" Type="http://schemas.microsoft.com/office/2007/relationships/media" Target="../media/media9.mp4"/><Relationship Id="rId6" Type="http://schemas.openxmlformats.org/officeDocument/2006/relationships/image" Target="../media/image2.png"/><Relationship Id="rId5" Type="http://schemas.openxmlformats.org/officeDocument/2006/relationships/image" Target="../media/image26.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0.mp4"/><Relationship Id="rId1" Type="http://schemas.microsoft.com/office/2007/relationships/media" Target="../media/media10.mp4"/><Relationship Id="rId6" Type="http://schemas.openxmlformats.org/officeDocument/2006/relationships/image" Target="../media/image2.png"/><Relationship Id="rId5" Type="http://schemas.openxmlformats.org/officeDocument/2006/relationships/image" Target="../media/image27.jp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1.mp4"/><Relationship Id="rId1" Type="http://schemas.microsoft.com/office/2007/relationships/media" Target="../media/media11.mp4"/><Relationship Id="rId6" Type="http://schemas.openxmlformats.org/officeDocument/2006/relationships/image" Target="../media/image2.png"/><Relationship Id="rId5" Type="http://schemas.openxmlformats.org/officeDocument/2006/relationships/image" Target="../media/image30.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2.mp4"/><Relationship Id="rId1" Type="http://schemas.microsoft.com/office/2007/relationships/media" Target="../media/media12.mp4"/><Relationship Id="rId6" Type="http://schemas.openxmlformats.org/officeDocument/2006/relationships/image" Target="../media/image2.png"/><Relationship Id="rId5" Type="http://schemas.openxmlformats.org/officeDocument/2006/relationships/image" Target="../media/image31.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7.xml"/><Relationship Id="rId7" Type="http://schemas.openxmlformats.org/officeDocument/2006/relationships/image" Target="../media/image35.png"/><Relationship Id="rId2" Type="http://schemas.openxmlformats.org/officeDocument/2006/relationships/video" Target="../media/media13.mp4"/><Relationship Id="rId1" Type="http://schemas.microsoft.com/office/2007/relationships/media" Target="../media/media13.mp4"/><Relationship Id="rId6" Type="http://schemas.openxmlformats.org/officeDocument/2006/relationships/image" Target="../media/image34.png"/><Relationship Id="rId5" Type="http://schemas.openxmlformats.org/officeDocument/2006/relationships/image" Target="../media/image33.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6.jpg"/><Relationship Id="rId7"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jpg"/></Relationships>
</file>

<file path=ppt/slides/_rels/slide3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chart" Target="../charts/chart4.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image" Target="../media/image39.png"/><Relationship Id="rId4" Type="http://schemas.openxmlformats.org/officeDocument/2006/relationships/image" Target="../media/image38.png"/></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47.png"/><Relationship Id="rId4" Type="http://schemas.openxmlformats.org/officeDocument/2006/relationships/image" Target="../media/image46.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6" name="TextBox 5"/>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7" name="Picture 6"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8" name="TextBox 7"/>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Full-spectrum self-portrait at the Chiefland Astronomy Village, April 2024. Photo: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is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sp>
        <p:nvSpPr>
          <p:cNvPr id="6" name="TextBox 5"/>
          <p:cNvSpPr txBox="1"/>
          <p:nvPr/>
        </p:nvSpPr>
        <p:spPr>
          <a:xfrm>
            <a:off x="548640" y="1325880"/>
            <a:ext cx="5486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000" b="1" i="0">
                <a:solidFill>
                  <a:srgbClr val="F6B44B"/>
                </a:solidFill>
                <a:latin typeface="Aptos"/>
              </a:rPr>
              <a:t>Light pollution</a:t>
            </a:r>
            <a:r>
              <a:rPr sz="2000" b="0" i="0">
                <a:solidFill>
                  <a:srgbClr val="F5F1E6"/>
                </a:solidFill>
                <a:latin typeface="Aptos"/>
              </a:rPr>
              <a:t>: excessive, misdirected or obtrusive </a:t>
            </a:r>
            <a:r>
              <a:rPr sz="2000" b="1" i="0">
                <a:solidFill>
                  <a:srgbClr val="F6B44B"/>
                </a:solidFill>
                <a:latin typeface="Aptos"/>
              </a:rPr>
              <a:t>artificial light at night</a:t>
            </a:r>
            <a:r>
              <a:rPr sz="2000" b="0" i="0">
                <a:solidFill>
                  <a:srgbClr val="F5F1E6"/>
                </a:solidFill>
                <a:latin typeface="Aptos"/>
              </a:rPr>
              <a:t> (ALAN)</a:t>
            </a:r>
          </a:p>
        </p:txBody>
      </p:sp>
      <p:pic>
        <p:nvPicPr>
          <p:cNvPr id="7" name="Picture 6" descr="lp_types_leeds.png"/>
          <p:cNvPicPr>
            <a:picLocks noChangeAspect="1"/>
          </p:cNvPicPr>
          <p:nvPr/>
        </p:nvPicPr>
        <p:blipFill>
          <a:blip r:embed="rId3"/>
          <a:stretch>
            <a:fillRect/>
          </a:stretch>
        </p:blipFill>
        <p:spPr>
          <a:xfrm>
            <a:off x="548640" y="2301395"/>
            <a:ext cx="2514600" cy="2483808"/>
          </a:xfrm>
          <a:prstGeom prst="roundRect">
            <a:avLst>
              <a:gd name="adj" fmla="val 2000"/>
            </a:avLst>
          </a:prstGeom>
          <a:ln w="9525">
            <a:solidFill>
              <a:srgbClr val="2A3A60"/>
            </a:solidFill>
          </a:ln>
        </p:spPr>
      </p:pic>
      <p:sp>
        <p:nvSpPr>
          <p:cNvPr id="8" name="TextBox 7"/>
          <p:cNvSpPr txBox="1"/>
          <p:nvPr/>
        </p:nvSpPr>
        <p:spPr>
          <a:xfrm>
            <a:off x="548640" y="4830924"/>
            <a:ext cx="2514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Image: Leeds Astronomical Society</a:t>
            </a:r>
          </a:p>
        </p:txBody>
      </p:sp>
      <p:sp>
        <p:nvSpPr>
          <p:cNvPr id="9" name="TextBox 8"/>
          <p:cNvSpPr txBox="1"/>
          <p:nvPr/>
        </p:nvSpPr>
        <p:spPr>
          <a:xfrm>
            <a:off x="3291840" y="2240280"/>
            <a:ext cx="2743200" cy="32918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Skyglow</a:t>
            </a:r>
            <a:r>
              <a:rPr sz="1500" b="0" i="0">
                <a:solidFill>
                  <a:srgbClr val="D9D2BD"/>
                </a:solidFill>
                <a:latin typeface="Aptos"/>
              </a:rPr>
              <a:t>: the dome over a city that washes out the stars</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Light trespass</a:t>
            </a:r>
            <a:r>
              <a:rPr sz="1500" b="0" i="0">
                <a:solidFill>
                  <a:srgbClr val="D9D2BD"/>
                </a:solidFill>
                <a:latin typeface="Aptos"/>
              </a:rPr>
              <a:t>: spill onto neighbors and habitat</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Glare</a:t>
            </a:r>
            <a:r>
              <a:rPr sz="1500" b="0" i="0">
                <a:solidFill>
                  <a:srgbClr val="D9D2BD"/>
                </a:solidFill>
                <a:latin typeface="Aptos"/>
              </a:rPr>
              <a:t>: brightness that hurts visibility</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Excessive brightness</a:t>
            </a:r>
            <a:r>
              <a:rPr sz="1500" b="0" i="0">
                <a:solidFill>
                  <a:srgbClr val="D9D2BD"/>
                </a:solidFill>
                <a:latin typeface="Aptos"/>
              </a:rPr>
              <a:t>: more light than the task needs</a:t>
            </a:r>
          </a:p>
        </p:txBody>
      </p:sp>
      <p:sp>
        <p:nvSpPr>
          <p:cNvPr id="10" name="TextBox 9"/>
          <p:cNvSpPr txBox="1"/>
          <p:nvPr/>
        </p:nvSpPr>
        <p:spPr>
          <a:xfrm>
            <a:off x="6400800" y="1325880"/>
            <a:ext cx="5239512"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800" b="1" i="0">
                <a:solidFill>
                  <a:srgbClr val="F6B44B"/>
                </a:solidFill>
                <a:latin typeface="Aptos"/>
              </a:rPr>
              <a:t>Why it matters</a:t>
            </a:r>
          </a:p>
        </p:txBody>
      </p:sp>
      <p:sp>
        <p:nvSpPr>
          <p:cNvPr id="11" name="TextBox 10"/>
          <p:cNvSpPr txBox="1"/>
          <p:nvPr/>
        </p:nvSpPr>
        <p:spPr>
          <a:xfrm>
            <a:off x="6400800" y="1737360"/>
            <a:ext cx="5239512" cy="2468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Wildlife</a:t>
            </a:r>
            <a:r>
              <a:rPr sz="1500" b="0" i="0">
                <a:solidFill>
                  <a:srgbClr val="D9D2BD"/>
                </a:solidFill>
                <a:latin typeface="Aptos"/>
              </a:rPr>
              <a:t>, as at Paynes Prairie: insects drawn to their deaths, frogs calling less, night-migrating birds thrown off course, bats losing dark habitat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People</a:t>
            </a:r>
            <a:r>
              <a:rPr sz="1500" b="0" i="0">
                <a:solidFill>
                  <a:srgbClr val="D9D2BD"/>
                </a:solidFill>
                <a:latin typeface="Aptos"/>
              </a:rPr>
              <a:t>: blue-rich light at night suppresses melatonin and disrupts sleep</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Energy</a:t>
            </a:r>
            <a:r>
              <a:rPr sz="1500" b="0" i="0">
                <a:solidFill>
                  <a:srgbClr val="D9D2BD"/>
                </a:solidFill>
                <a:latin typeface="Aptos"/>
              </a:rPr>
              <a:t>: light sent into the sky is paid for and wasted</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The night sky</a:t>
            </a:r>
            <a:r>
              <a:rPr sz="1500" b="0" i="0">
                <a:solidFill>
                  <a:srgbClr val="D9D2BD"/>
                </a:solidFill>
                <a:latin typeface="Aptos"/>
              </a:rPr>
              <a:t>: skyglow hides the Milky Way, even at UF's observatories</a:t>
            </a:r>
          </a:p>
        </p:txBody>
      </p:sp>
      <p:pic>
        <p:nvPicPr>
          <p:cNvPr id="12" name="Picture 11" descr="fireflies_ufifas.jpg"/>
          <p:cNvPicPr>
            <a:picLocks noChangeAspect="1"/>
          </p:cNvPicPr>
          <p:nvPr/>
        </p:nvPicPr>
        <p:blipFill>
          <a:blip r:embed="rId4"/>
          <a:srcRect l="27212" r="27212"/>
          <a:stretch>
            <a:fillRect/>
          </a:stretch>
        </p:blipFill>
        <p:spPr>
          <a:xfrm>
            <a:off x="6400800" y="4343400"/>
            <a:ext cx="2560320" cy="1600200"/>
          </a:xfrm>
          <a:prstGeom prst="roundRect">
            <a:avLst>
              <a:gd name="adj" fmla="val 2000"/>
            </a:avLst>
          </a:prstGeom>
          <a:ln w="9525">
            <a:solidFill>
              <a:srgbClr val="2A3A60"/>
            </a:solidFill>
          </a:ln>
        </p:spPr>
      </p:pic>
      <p:sp>
        <p:nvSpPr>
          <p:cNvPr id="13" name="TextBox 12"/>
          <p:cNvSpPr txBox="1"/>
          <p:nvPr/>
        </p:nvSpPr>
        <p:spPr>
          <a:xfrm>
            <a:off x="6400800"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Fireflies. Photo: UF IFAS</a:t>
            </a:r>
          </a:p>
        </p:txBody>
      </p:sp>
      <p:pic>
        <p:nvPicPr>
          <p:cNvPr id="14" name="Picture 13" descr="bats_ufifas.jpg"/>
          <p:cNvPicPr>
            <a:picLocks noChangeAspect="1"/>
          </p:cNvPicPr>
          <p:nvPr/>
        </p:nvPicPr>
        <p:blipFill>
          <a:blip r:embed="rId5"/>
          <a:srcRect t="2830" b="2830"/>
          <a:stretch>
            <a:fillRect/>
          </a:stretch>
        </p:blipFill>
        <p:spPr>
          <a:xfrm>
            <a:off x="9079992" y="4343400"/>
            <a:ext cx="2560320" cy="1600200"/>
          </a:xfrm>
          <a:prstGeom prst="roundRect">
            <a:avLst>
              <a:gd name="adj" fmla="val 2000"/>
            </a:avLst>
          </a:prstGeom>
          <a:ln w="9525">
            <a:solidFill>
              <a:srgbClr val="2A3A60"/>
            </a:solidFill>
          </a:ln>
        </p:spPr>
      </p:pic>
      <p:sp>
        <p:nvSpPr>
          <p:cNvPr id="15" name="TextBox 14"/>
          <p:cNvSpPr txBox="1"/>
          <p:nvPr/>
        </p:nvSpPr>
        <p:spPr>
          <a:xfrm>
            <a:off x="9079992"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Bats at dusk. Photo: UF IFAS</a:t>
            </a:r>
          </a:p>
        </p:txBody>
      </p:sp>
      <p:pic>
        <p:nvPicPr>
          <p:cNvPr id="16" name="Picture 15"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pic>
        <p:nvPicPr>
          <p:cNvPr id="6" name="Picture 5"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8" name="Picture 7"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10" name="TextBox 9"/>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1" name="TextBox 10"/>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6" name="TextBox 5"/>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2020–25</a:t>
            </a:r>
            <a:r>
              <a:rPr sz="1500" b="0" i="0">
                <a:solidFill>
                  <a:srgbClr val="D9D2BD"/>
                </a:solidFill>
                <a:latin typeface="Aptos"/>
              </a:rPr>
              <a:t>  Photographing the night sky under Gainesville's light dome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2025</a:t>
            </a:r>
            <a:r>
              <a:rPr sz="1500" b="0" i="0">
                <a:solidFill>
                  <a:srgbClr val="D9D2BD"/>
                </a:solidFill>
                <a:latin typeface="Aptos"/>
              </a:rPr>
              <a:t>  Public comment at Alachua County's advisory committee (EPAC)</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Oct 2025</a:t>
            </a:r>
            <a:r>
              <a:rPr sz="15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Jan 2026</a:t>
            </a:r>
            <a:r>
              <a:rPr sz="1500" b="0" i="0">
                <a:solidFill>
                  <a:srgbClr val="D9D2BD"/>
                </a:solidFill>
                <a:latin typeface="Aptos"/>
              </a:rPr>
              <a:t>  Presented the research and v1 simulator to EPAC; unanimous vote to pursue dark-sky policy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Feb–May 2026</a:t>
            </a:r>
            <a:r>
              <a:rPr sz="1500" b="0" i="0">
                <a:solidFill>
                  <a:srgbClr val="D9D2BD"/>
                </a:solidFill>
                <a:latin typeface="Aptos"/>
              </a:rPr>
              <a:t>  Policy 5.3.7 amendment heard and sent to the state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Apr 2026</a:t>
            </a:r>
            <a:r>
              <a:rPr sz="1500" b="0" i="0">
                <a:solidFill>
                  <a:srgbClr val="D9D2BD"/>
                </a:solidFill>
                <a:latin typeface="Aptos"/>
              </a:rPr>
              <a:t>  Dark Sky Week talks: Dr. Lada's UF class asks about a next observatory; the Alachua Astronomy Club asks about Levy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22, 2026</a:t>
            </a:r>
            <a:r>
              <a:rPr sz="1500" b="0" i="0">
                <a:solidFill>
                  <a:srgbClr val="D9D2BD"/>
                </a:solidFill>
                <a:latin typeface="Aptos"/>
              </a:rPr>
              <a:t>  County Commission </a:t>
            </a:r>
            <a:r>
              <a:rPr sz="1500" b="1" i="0">
                <a:solidFill>
                  <a:srgbClr val="F6B44B"/>
                </a:solidFill>
                <a:latin typeface="Aptos"/>
              </a:rPr>
              <a:t>adopts</a:t>
            </a:r>
            <a:r>
              <a:rPr sz="1500" b="0" i="0">
                <a:solidFill>
                  <a:srgbClr val="D9D2BD"/>
                </a:solidFill>
                <a:latin typeface="Aptos"/>
              </a:rPr>
              <a:t> it, unanimously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Now</a:t>
            </a:r>
            <a:r>
              <a:rPr sz="1500" b="0" i="0">
                <a:solidFill>
                  <a:srgbClr val="D9D2BD"/>
                </a:solidFill>
                <a:latin typeface="Aptos"/>
              </a:rPr>
              <a:t>  Expanding into </a:t>
            </a:r>
            <a:r>
              <a:rPr sz="1500" b="1" i="0">
                <a:solidFill>
                  <a:srgbClr val="F6B44B"/>
                </a:solidFill>
                <a:latin typeface="Aptos"/>
              </a:rPr>
              <a:t>Levy County</a:t>
            </a:r>
            <a:r>
              <a:rPr sz="1500" b="0" i="0">
                <a:solidFill>
                  <a:srgbClr val="D9D2BD"/>
                </a:solidFill>
                <a:latin typeface="Aptos"/>
              </a:rPr>
              <a:t>; screening sites for UF's next observatory</a:t>
            </a:r>
          </a:p>
        </p:txBody>
      </p:sp>
      <p:pic>
        <p:nvPicPr>
          <p:cNvPr id="7" name="Picture 6"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8" name="Picture 7"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9" name="Picture 8"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10" name="Picture 9"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1" name="TextBox 10"/>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2" name="TextBox 11"/>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3" name="TextBox 12"/>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4" name="TextBox 13"/>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pic>
        <p:nvPicPr>
          <p:cNvPr id="15" name="Picture 14"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sp>
        <p:nvSpPr>
          <p:cNvPr id="6" name="TextBox 5"/>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7" name="Picture 6"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8" name="TextBox 7"/>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pic>
        <p:nvPicPr>
          <p:cNvPr id="6" name="Picture 5"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8" name="Picture 7"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7" name="08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6" name="Rectangle 5"/>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7" name="Rectangle 6"/>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8" name="Connector 7"/>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10" name="Rectangle 9"/>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1" name="Connector 10"/>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3" name="Rectangle 12"/>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4" name="Connector 13"/>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6" name="Rectangle 15"/>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7" name="Picture 16"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8" name="TextBox 17"/>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pic>
        <p:nvPicPr>
          <p:cNvPr id="19" name="Picture 1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7" name="10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6" name="TextBox 5"/>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7" name="Rectangle 6"/>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9" name="TextBox 8"/>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10" name="TextBox 9"/>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1" name="TextBox 10"/>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2" name="TextBox 11"/>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3" name="TextBox 12"/>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4" name="TextBox 13"/>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5" name="TextBox 14"/>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6" name="TextBox 15"/>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7" name="TextBox 16"/>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8" name="Rectangle 17"/>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20" name="TextBox 19"/>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1" name="TextBox 20"/>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2" name="TextBox 21"/>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3" name="TextBox 22"/>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4" name="TextBox 23"/>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5" name="TextBox 24"/>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6" name="TextBox 25"/>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7" name="TextBox 26"/>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8" name="TextBox 27"/>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9" name="Rectangle 28"/>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1" name="TextBox 30"/>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2" name="TextBox 31"/>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3" name="TextBox 32"/>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4" name="TextBox 33"/>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5" name="TextBox 34"/>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6" name="TextBox 35"/>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7" name="TextBox 36"/>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8" name="TextBox 37"/>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9" name="TextBox 38"/>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40" name="Rectangle 39"/>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2" name="TextBox 41"/>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3" name="TextBox 42"/>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4" name="TextBox 43"/>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5" name="TextBox 44"/>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6" name="TextBox 45"/>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7" name="TextBox 46"/>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8" name="TextBox 47"/>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9" name="TextBox 48"/>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50" name="TextBox 49"/>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1" name="Rectangle 50"/>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3" name="TextBox 52"/>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4" name="TextBox 53"/>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5" name="TextBox 54"/>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6" name="TextBox 55"/>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7" name="TextBox 56"/>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8" name="TextBox 57"/>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9" name="TextBox 58"/>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60" name="TextBox 59"/>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1" name="TextBox 60"/>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2" name="Rectangle 61"/>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4" name="TextBox 63"/>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5" name="TextBox 64"/>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6" name="TextBox 65"/>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7" name="TextBox 66"/>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8" name="TextBox 67"/>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9" name="TextBox 68"/>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70" name="TextBox 69"/>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1" name="TextBox 70"/>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2" name="TextBox 71"/>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3" name="TextBox 72"/>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pic>
        <p:nvPicPr>
          <p:cNvPr id="74" name="Picture 73"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7" name="12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6" name="13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7" name="TextBox 6"/>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8" name="13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9" name="TextBox 8"/>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10" name="TextBox 9"/>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1" name="TextBox 10"/>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2" name="TextBox 11"/>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pic>
        <p:nvPicPr>
          <p:cNvPr id="13" name="Picture 12"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streets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pic>
        <p:nvPicPr>
          <p:cNvPr id="6" name="14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3028"/>
            <a:ext cx="5440680" cy="3060382"/>
          </a:xfrm>
          <a:prstGeom prst="rect">
            <a:avLst/>
          </a:prstGeom>
        </p:spPr>
      </p:pic>
      <p:sp>
        <p:nvSpPr>
          <p:cNvPr id="7" name="TextBox 6"/>
          <p:cNvSpPr txBox="1"/>
          <p:nvPr/>
        </p:nvSpPr>
        <p:spPr>
          <a:xfrm>
            <a:off x="548640"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8" name="14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3028"/>
            <a:ext cx="5440680" cy="3060382"/>
          </a:xfrm>
          <a:prstGeom prst="rect">
            <a:avLst/>
          </a:prstGeom>
        </p:spPr>
      </p:pic>
      <p:sp>
        <p:nvSpPr>
          <p:cNvPr id="9" name="TextBox 8"/>
          <p:cNvSpPr txBox="1"/>
          <p:nvPr/>
        </p:nvSpPr>
        <p:spPr>
          <a:xfrm>
            <a:off x="6199632"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Catalog of </a:t>
            </a:r>
            <a:r>
              <a:rPr sz="1800" b="1" i="0">
                <a:solidFill>
                  <a:srgbClr val="F6B44B"/>
                </a:solidFill>
                <a:latin typeface="Aptos"/>
              </a:rPr>
              <a:t>17 DarkSky-compliant fixture types</a:t>
            </a:r>
            <a:r>
              <a:rPr sz="1800" b="0" i="0">
                <a:solidFill>
                  <a:srgbClr val="D9D2BD"/>
                </a:solidFill>
                <a:latin typeface="Aptos"/>
              </a:rPr>
              <a:t>: spectrum, uplight rating, watts, installed cost</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Equip one: sky, budget, brief and install markers update</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Terrain, buildings and every modeled light at street level</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Mapped streetlights where they stand; modeled ones along the roads of their cell</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6" name="Rectangle 5"/>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7" name="Connector 6"/>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9" name="Connector 8"/>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1" name="Connector 10"/>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3" name="Rectangle 12"/>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4" name="Rectangle 13"/>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5" name="Rectangle 14"/>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7" name="TextBox 16"/>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8" name="TextBox 17"/>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pic>
        <p:nvPicPr>
          <p:cNvPr id="19" name="Picture 18"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7" name="16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6" name="TextBox 5"/>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7" name="TextBox 6"/>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8" name="Chart 7"/>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10" name="Picture 9" descr="airglow_light.png"/>
          <p:cNvPicPr>
            <a:picLocks noChangeAspect="1"/>
          </p:cNvPicPr>
          <p:nvPr/>
        </p:nvPicPr>
        <p:blipFill>
          <a:blip r:embed="rId4"/>
          <a:stretch>
            <a:fillRect/>
          </a:stretch>
        </p:blipFill>
        <p:spPr>
          <a:xfrm>
            <a:off x="5760720" y="5303520"/>
            <a:ext cx="5852160" cy="385151"/>
          </a:xfrm>
          <a:prstGeom prst="rect">
            <a:avLst/>
          </a:prstGeom>
        </p:spPr>
      </p:pic>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4</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6" name="TextBox 5"/>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7" name="Table 6"/>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8" name="18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9" name="TextBox 8"/>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5</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It found new development on its own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6" name="TextBox 5"/>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28,986</a:t>
            </a:r>
            <a:r>
              <a:rPr sz="1800" b="0" i="0">
                <a:solidFill>
                  <a:srgbClr val="D9D2BD"/>
                </a:solidFill>
                <a:latin typeface="Aptos"/>
              </a:rPr>
              <a:t> lit cells tested for a sudden step · </a:t>
            </a:r>
            <a:r>
              <a:rPr sz="1800" b="1" i="0">
                <a:solidFill>
                  <a:srgbClr val="F6B44B"/>
                </a:solidFill>
                <a:latin typeface="Aptos"/>
              </a:rPr>
              <a:t>1,493</a:t>
            </a:r>
            <a:r>
              <a:rPr sz="1800" b="0" i="0">
                <a:solidFill>
                  <a:srgbClr val="D9D2BD"/>
                </a:solidFill>
                <a:latin typeface="Aptos"/>
              </a:rPr>
              <a:t> flagged as candidates · ≈ 29 expected by chance</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#1 event, near I-75 and Archer Road: </a:t>
            </a:r>
            <a:r>
              <a:rPr sz="1800" b="1" i="0">
                <a:solidFill>
                  <a:srgbClr val="F6B44B"/>
                </a:solidFill>
                <a:latin typeface="Aptos"/>
              </a:rPr>
              <a:t>28 → 91 nW</a:t>
            </a:r>
            <a:r>
              <a:rPr sz="1800" b="0" i="0">
                <a:solidFill>
                  <a:srgbClr val="D9D2BD"/>
                </a:solidFill>
                <a:latin typeface="Aptos"/>
              </a:rPr>
              <a:t>, step in 2016 (F = 176.8)</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That's </a:t>
            </a:r>
            <a:r>
              <a:rPr sz="1800" b="1" i="0">
                <a:solidFill>
                  <a:srgbClr val="F6B44B"/>
                </a:solidFill>
                <a:latin typeface="Aptos"/>
              </a:rPr>
              <a:t>Celebration Pointe</a:t>
            </a:r>
            <a:r>
              <a:rPr sz="1800" b="0" i="0">
                <a:solidFill>
                  <a:srgbClr val="D9D2BD"/>
                </a:solidFill>
                <a:latin typeface="Aptos"/>
              </a:rPr>
              <a:t>: Bass Pro Shops opened there in November 2016</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#2: dark land west of Ocala lit up in 2021 (0.5 → 53.5 nW)</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Nobody told the model where to look; it knows light changed, not what was built</a:t>
            </a:r>
          </a:p>
        </p:txBody>
      </p:sp>
      <p:pic>
        <p:nvPicPr>
          <p:cNvPr id="7" name="19_ai_event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8" name="TextBox 7"/>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AI tab: clicking the top event flies the map to it and shows the cell's 13 years with the fitted step.</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6</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8" name="Chart 7"/>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7</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6" name="TextBox 5"/>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7" name="Table 6"/>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9" name="Chart 8"/>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8</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22</a:t>
            </a:r>
          </a:p>
        </p:txBody>
      </p:sp>
      <p:sp>
        <p:nvSpPr>
          <p:cNvPr id="6" name="TextBox 5"/>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7" name="Picture 6"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8" name="TextBox 7"/>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6" name="TextBox 5"/>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7" name="Picture 6" descr="obs_map_markers.png"/>
          <p:cNvPicPr>
            <a:picLocks noChangeAspect="1"/>
          </p:cNvPicPr>
          <p:nvPr/>
        </p:nvPicPr>
        <p:blipFill>
          <a:blip r:embed="rId3"/>
          <a:srcRect r="6000" b="6000"/>
          <a:stretch>
            <a:fillRect/>
          </a:stretch>
        </p:blipFill>
        <p:spPr>
          <a:xfrm>
            <a:off x="5897880" y="1417320"/>
            <a:ext cx="5742432" cy="4610835"/>
          </a:xfrm>
          <a:prstGeom prst="roundRect">
            <a:avLst>
              <a:gd name="adj" fmla="val 1200"/>
            </a:avLst>
          </a:prstGeom>
          <a:ln w="9525">
            <a:solidFill>
              <a:srgbClr val="2A3A60"/>
            </a:solidFill>
          </a:ln>
        </p:spPr>
      </p:pic>
      <p:sp>
        <p:nvSpPr>
          <p:cNvPr id="8" name="TextBox 7"/>
          <p:cNvSpPr txBox="1"/>
          <p:nvPr/>
        </p:nvSpPr>
        <p:spPr>
          <a:xfrm>
            <a:off x="5897880" y="6073875"/>
            <a:ext cx="574243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7" name="24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6" name="TextBox 5"/>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7" name="25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8" name="TextBox 7"/>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26</a:t>
            </a:r>
          </a:p>
        </p:txBody>
      </p:sp>
      <p:sp>
        <p:nvSpPr>
          <p:cNvPr id="6" name="TextBox 5"/>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the model projects about </a:t>
            </a:r>
            <a:r>
              <a:rPr sz="1800" b="1" i="0">
                <a:solidFill>
                  <a:srgbClr val="F6B44B"/>
                </a:solidFill>
                <a:latin typeface="Aptos"/>
              </a:rPr>
              <a:t>$984K</a:t>
            </a:r>
            <a:r>
              <a:rPr sz="1800" b="0" i="0">
                <a:solidFill>
                  <a:srgbClr val="D9D2BD"/>
                </a:solidFill>
                <a:latin typeface="Aptos"/>
              </a:rPr>
              <a:t> to upgrade UF's 4,100 pole lights, saving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7" name="Picture 6"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8" name="TextBox 7"/>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7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pic>
        <p:nvPicPr>
          <p:cNvPr id="12" name="Picture 11" descr="ai_days_logo_sticker.png"/>
          <p:cNvPicPr>
            <a:picLocks noChangeAspect="1"/>
          </p:cNvPicPr>
          <p:nvPr/>
        </p:nvPicPr>
        <p:blipFill>
          <a:blip r:embed="rId8"/>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6" name="TextBox 5"/>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7" name="TextBox 6"/>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pic>
        <p:nvPicPr>
          <p:cNvPr id="8" name="Picture 7"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6" name="TextBox 5"/>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Our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7" name="Picture 6"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8" name="TextBox 7"/>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9" name="Picture 8"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10" name="TextBox 9"/>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1" name="Picture 10"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2" name="Picture 11" descr="fcrit_light.png"/>
          <p:cNvPicPr>
            <a:picLocks noChangeAspect="1"/>
          </p:cNvPicPr>
          <p:nvPr/>
        </p:nvPicPr>
        <p:blipFill>
          <a:blip r:embed="rId6"/>
          <a:stretch>
            <a:fillRect/>
          </a:stretch>
        </p:blipFill>
        <p:spPr>
          <a:xfrm>
            <a:off x="5669280" y="4572000"/>
            <a:ext cx="5897880" cy="594905"/>
          </a:xfrm>
          <a:prstGeom prst="rect">
            <a:avLst/>
          </a:prstGeom>
        </p:spPr>
      </p:pic>
      <p:pic>
        <p:nvPicPr>
          <p:cNvPr id="13" name="Picture 12"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7" name="Picture 6" descr="boost_light.png"/>
          <p:cNvPicPr>
            <a:picLocks noChangeAspect="1"/>
          </p:cNvPicPr>
          <p:nvPr/>
        </p:nvPicPr>
        <p:blipFill>
          <a:blip r:embed="rId3"/>
          <a:stretch>
            <a:fillRect/>
          </a:stretch>
        </p:blipFill>
        <p:spPr>
          <a:xfrm>
            <a:off x="548640" y="4892040"/>
            <a:ext cx="4892040" cy="377087"/>
          </a:xfrm>
          <a:prstGeom prst="rect">
            <a:avLst/>
          </a:prstGeom>
        </p:spPr>
      </p:pic>
      <p:sp>
        <p:nvSpPr>
          <p:cNvPr id="8" name="TextBox 7"/>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9" name="TextBox 8"/>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10" name="Chart 9"/>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pic>
        <p:nvPicPr>
          <p:cNvPr id="6" name="Picture 5"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7" name="Picture 6"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8" name="Picture 7" descr="fcrit_light.png"/>
          <p:cNvPicPr>
            <a:picLocks noChangeAspect="1"/>
          </p:cNvPicPr>
          <p:nvPr/>
        </p:nvPicPr>
        <p:blipFill>
          <a:blip r:embed="rId5"/>
          <a:stretch>
            <a:fillRect/>
          </a:stretch>
        </p:blipFill>
        <p:spPr>
          <a:xfrm>
            <a:off x="731520" y="3840480"/>
            <a:ext cx="6799006" cy="685800"/>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6" name="Picture 5"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7" name="Picture 6"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8" name="Picture 7"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9" name="Picture 8"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10" name="TextBox 9"/>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pic>
        <p:nvPicPr>
          <p:cNvPr id="6" name="Picture 5"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7" name="Picture 6"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8" name="Picture 7"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9" name="Picture 8"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10" name="TextBox 9"/>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34</a:t>
            </a:r>
          </a:p>
        </p:txBody>
      </p:sp>
      <p:sp>
        <p:nvSpPr>
          <p:cNvPr id="6" name="TextBox 5"/>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pic>
        <p:nvPicPr>
          <p:cNvPr id="7" name="Picture 6"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7992</Words>
  <Application>Microsoft Office PowerPoint</Application>
  <PresentationFormat>Widescreen</PresentationFormat>
  <Paragraphs>599</Paragraphs>
  <Slides>34</Slides>
  <Notes>34</Notes>
  <HiddenSlides>7</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2026-10-26T01:59:37Z</dcterms:modified>
  <cp:category/>
</cp:coreProperties>
</file>