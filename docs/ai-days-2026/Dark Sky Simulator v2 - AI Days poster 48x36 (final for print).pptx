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Impact-first poster based on the submitted abstract, with numbered citations. Print at 48 x 36 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 Id="rId8" Type="http://schemas.openxmlformats.org/officeDocument/2006/relationships/image" Target="../media/image7.jp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jpg"/><Relationship Id="rId14" Type="http://schemas.openxmlformats.org/officeDocument/2006/relationships/image" Target="../media/image13.jpg"/><Relationship Id="rId15" Type="http://schemas.openxmlformats.org/officeDocument/2006/relationships/image" Target="../media/image14.png"/><Relationship Id="rId16" Type="http://schemas.openxmlformats.org/officeDocument/2006/relationships/image" Target="../media/image15.png"/><Relationship Id="rId17" Type="http://schemas.openxmlformats.org/officeDocument/2006/relationships/image" Target="../media/image16.png"/><Relationship Id="rId18" Type="http://schemas.openxmlformats.org/officeDocument/2006/relationships/image" Target="../media/image17.jpg"/><Relationship Id="rId19" Type="http://schemas.openxmlformats.org/officeDocument/2006/relationships/image" Target="../media/image18.png"/><Relationship Id="rId20"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f_square_blue_4x.png"/>
          <p:cNvPicPr>
            <a:picLocks noChangeAspect="1"/>
          </p:cNvPicPr>
          <p:nvPr/>
        </p:nvPicPr>
        <p:blipFill>
          <a:blip r:embed="rId2"/>
          <a:stretch>
            <a:fillRect/>
          </a:stretch>
        </p:blipFill>
        <p:spPr>
          <a:xfrm>
            <a:off x="38541960" y="411480"/>
            <a:ext cx="4572000" cy="4572000"/>
          </a:xfrm>
          <a:prstGeom prst="rect">
            <a:avLst/>
          </a:prstGeom>
        </p:spPr>
      </p:pic>
      <p:sp>
        <p:nvSpPr>
          <p:cNvPr id="3" name="TextBox 2"/>
          <p:cNvSpPr txBox="1"/>
          <p:nvPr/>
        </p:nvSpPr>
        <p:spPr>
          <a:xfrm>
            <a:off x="777240" y="868680"/>
            <a:ext cx="21305520" cy="2194560"/>
          </a:xfrm>
          <a:prstGeom prst="rect">
            <a:avLst/>
          </a:prstGeom>
          <a:noFill/>
        </p:spPr>
        <p:txBody>
          <a:bodyPr wrap="square" anchor="t" lIns="0" rIns="0" tIns="0" bIns="0">
            <a:noAutofit/>
          </a:bodyPr>
          <a:lstStyle/>
          <a:p>
            <a:pPr algn="l" marL="0" indent="0">
              <a:lnSpc>
                <a:spcPct val="90000"/>
              </a:lnSpc>
              <a:spcBef>
                <a:spcPts val="0"/>
              </a:spcBef>
              <a:spcAft>
                <a:spcPts val="0"/>
              </a:spcAft>
              <a:buNone/>
            </a:pPr>
            <a:r>
              <a:rPr sz="15600" b="1" i="0">
                <a:solidFill>
                  <a:srgbClr val="111111"/>
                </a:solidFill>
                <a:latin typeface="Aptos Display"/>
              </a:rPr>
              <a:t>Restoring the Milky Way</a:t>
            </a:r>
          </a:p>
        </p:txBody>
      </p:sp>
      <p:sp>
        <p:nvSpPr>
          <p:cNvPr id="4" name="TextBox 3"/>
          <p:cNvSpPr txBox="1"/>
          <p:nvPr/>
        </p:nvSpPr>
        <p:spPr>
          <a:xfrm>
            <a:off x="822960" y="2948940"/>
            <a:ext cx="21305520" cy="91440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5100" b="1" i="0">
                <a:solidFill>
                  <a:srgbClr val="111111"/>
                </a:solidFill>
                <a:latin typeface="Aptos Display"/>
              </a:rPr>
              <a:t>Scaling AI-Assisted Light Pollution Planning Across North Central Florida</a:t>
            </a:r>
          </a:p>
        </p:txBody>
      </p:sp>
      <p:sp>
        <p:nvSpPr>
          <p:cNvPr id="5" name="TextBox 4"/>
          <p:cNvSpPr txBox="1"/>
          <p:nvPr/>
        </p:nvSpPr>
        <p:spPr>
          <a:xfrm>
            <a:off x="822960" y="3985260"/>
            <a:ext cx="21305520" cy="1188720"/>
          </a:xfrm>
          <a:prstGeom prst="rect">
            <a:avLst/>
          </a:prstGeom>
          <a:noFill/>
        </p:spPr>
        <p:txBody>
          <a:bodyPr wrap="square" anchor="t" lIns="0" rIns="0" tIns="0" bIns="0">
            <a:noAutofit/>
          </a:bodyPr>
          <a:lstStyle/>
          <a:p>
            <a:r>
              <a:rPr sz="3600" b="1" i="0">
                <a:solidFill>
                  <a:srgbClr val="1A2235"/>
                </a:solidFill>
                <a:latin typeface="Aptos"/>
              </a:rPr>
              <a:t>Jay Rosen</a:t>
            </a:r>
          </a:p>
          <a:p>
            <a:pPr marL="0" indent="0">
              <a:lnSpc>
                <a:spcPct val="100000"/>
              </a:lnSpc>
              <a:spcBef>
                <a:spcPts val="200"/>
              </a:spcBef>
              <a:spcAft>
                <a:spcPts val="0"/>
              </a:spcAft>
              <a:buNone/>
            </a:pPr>
            <a:r>
              <a:rPr sz="2500" b="0" i="0">
                <a:solidFill>
                  <a:srgbClr val="1A2235"/>
                </a:solidFill>
                <a:latin typeface="Aptos"/>
              </a:rPr>
              <a:t>Research Software Engineer III  ·  University of Florida College of Education  ·  jayrosen@ufl.edu</a:t>
            </a:r>
          </a:p>
        </p:txBody>
      </p:sp>
      <p:pic>
        <p:nvPicPr>
          <p:cNvPr id="6" name="Picture 5" descr="ai_days_logo_4x.png"/>
          <p:cNvPicPr>
            <a:picLocks noChangeAspect="1"/>
          </p:cNvPicPr>
          <p:nvPr/>
        </p:nvPicPr>
        <p:blipFill>
          <a:blip r:embed="rId3"/>
          <a:stretch>
            <a:fillRect/>
          </a:stretch>
        </p:blipFill>
        <p:spPr>
          <a:xfrm>
            <a:off x="19457840" y="3985260"/>
            <a:ext cx="1939119" cy="1143000"/>
          </a:xfrm>
          <a:prstGeom prst="rect">
            <a:avLst/>
          </a:prstGeom>
        </p:spPr>
      </p:pic>
      <p:sp>
        <p:nvSpPr>
          <p:cNvPr id="7" name="TextBox 6"/>
          <p:cNvSpPr txBox="1"/>
          <p:nvPr/>
        </p:nvSpPr>
        <p:spPr>
          <a:xfrm>
            <a:off x="14154320" y="3939540"/>
            <a:ext cx="5120640" cy="1234440"/>
          </a:xfrm>
          <a:prstGeom prst="rect">
            <a:avLst/>
          </a:prstGeom>
          <a:noFill/>
        </p:spPr>
        <p:txBody>
          <a:bodyPr wrap="square" anchor="ctr" lIns="0" rIns="0" tIns="0" bIns="0">
            <a:noAutofit/>
          </a:bodyPr>
          <a:lstStyle/>
          <a:p>
            <a:pPr marL="0" indent="0" algn="r">
              <a:lnSpc>
                <a:spcPct val="100000"/>
              </a:lnSpc>
              <a:spcBef>
                <a:spcPts val="0"/>
              </a:spcBef>
              <a:spcAft>
                <a:spcPts val="0"/>
              </a:spcAft>
              <a:buNone/>
            </a:pPr>
            <a:r>
              <a:rPr sz="1900" b="1" i="0">
                <a:solidFill>
                  <a:srgbClr val="1A2235"/>
                </a:solidFill>
                <a:latin typeface="Aptos"/>
              </a:rPr>
              <a:t>Plenary Talk · Tue., Oct. 27, 2026</a:t>
            </a:r>
          </a:p>
          <a:p>
            <a:pPr marL="0" indent="0" algn="r">
              <a:lnSpc>
                <a:spcPct val="100000"/>
              </a:lnSpc>
              <a:spcBef>
                <a:spcPts val="200"/>
              </a:spcBef>
              <a:spcAft>
                <a:spcPts val="0"/>
              </a:spcAft>
              <a:buNone/>
            </a:pPr>
            <a:r>
              <a:rPr sz="1700" b="0" i="0">
                <a:solidFill>
                  <a:srgbClr val="1A2235"/>
                </a:solidFill>
                <a:latin typeface="Aptos"/>
              </a:rPr>
              <a:t>2:40–2:55 PM · Reitz Union Grand Ballroom</a:t>
            </a:r>
          </a:p>
          <a:p>
            <a:pPr marL="0" indent="0" algn="r">
              <a:lnSpc>
                <a:spcPct val="100000"/>
              </a:lnSpc>
              <a:spcBef>
                <a:spcPts val="200"/>
              </a:spcBef>
              <a:spcAft>
                <a:spcPts val="0"/>
              </a:spcAft>
              <a:buNone/>
            </a:pPr>
            <a:r>
              <a:rPr sz="1500" b="0" i="0">
                <a:solidFill>
                  <a:srgbClr val="4A5368"/>
                </a:solidFill>
                <a:latin typeface="Aptos"/>
              </a:rPr>
              <a:t>AI Research, Teaching, and Learning Day</a:t>
            </a:r>
          </a:p>
        </p:txBody>
      </p:sp>
      <p:sp>
        <p:nvSpPr>
          <p:cNvPr id="8" name="TextBox 7"/>
          <p:cNvSpPr txBox="1"/>
          <p:nvPr/>
        </p:nvSpPr>
        <p:spPr>
          <a:xfrm>
            <a:off x="22311360" y="411480"/>
            <a:ext cx="15773400" cy="64008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3200" b="1" i="1">
                <a:solidFill>
                  <a:srgbClr val="0021A5"/>
                </a:solidFill>
                <a:latin typeface="Aptos Display"/>
              </a:rPr>
              <a:t>Abstract</a:t>
            </a:r>
          </a:p>
        </p:txBody>
      </p:sp>
      <p:sp>
        <p:nvSpPr>
          <p:cNvPr id="9" name="TextBox 8"/>
          <p:cNvSpPr txBox="1"/>
          <p:nvPr/>
        </p:nvSpPr>
        <p:spPr>
          <a:xfrm>
            <a:off x="22311360" y="1078992"/>
            <a:ext cx="15773400" cy="4343400"/>
          </a:xfrm>
          <a:prstGeom prst="rect">
            <a:avLst/>
          </a:prstGeom>
          <a:noFill/>
        </p:spPr>
        <p:txBody>
          <a:bodyPr wrap="square" anchor="t" lIns="0" rIns="0" tIns="0" bIns="0">
            <a:noAutofit/>
          </a:bodyPr>
          <a:lstStyle/>
          <a:p>
            <a:pPr marL="0" indent="0">
              <a:lnSpc>
                <a:spcPct val="98000"/>
              </a:lnSpc>
              <a:spcBef>
                <a:spcPts val="0"/>
              </a:spcBef>
              <a:spcAft>
                <a:spcPts val="0"/>
              </a:spcAft>
              <a:buNone/>
            </a:pPr>
            <a:r>
              <a:rPr sz="1500" b="0" i="0">
                <a:solidFill>
                  <a:srgbClr val="1A2235"/>
                </a:solidFill>
                <a:latin typeface="Aptos"/>
              </a:rPr>
              <a:t>Artificial light at night is an expanding environmental and planning problem that affects astronomical observation, wildlife, energy consumption, and the visibility of the night sky. It is also highly preventable. Shielding fixtures, directing light where it is needed, using warmer color temperatures, reducing excessive brightness, and establishing dimming schedules can substantially reduce skyglow while preserving necessary nighttime illumination. Communities, however, often lack accessible tools for evaluating these changes before incorporating them into policy or development plans.</a:t>
            </a:r>
          </a:p>
          <a:p>
            <a:pPr marL="0" indent="0">
              <a:lnSpc>
                <a:spcPct val="98000"/>
              </a:lnSpc>
              <a:spcBef>
                <a:spcPts val="400"/>
              </a:spcBef>
              <a:spcAft>
                <a:spcPts val="0"/>
              </a:spcAft>
              <a:buNone/>
            </a:pPr>
            <a:r>
              <a:rPr sz="1500" b="0" i="0">
                <a:solidFill>
                  <a:srgbClr val="1A2235"/>
                </a:solidFill>
                <a:latin typeface="Aptos"/>
              </a:rPr>
              <a:t>The Dark Sky Simulator is an interactive decision-support platform that makes lighting-policy choices visible and testable. Its initial Alachua County implementation combines AI-assisted analysis of NOAA nighttime satellite imagery with geospatial mapping and scenario modeling. Analysis of imagery from 2012 through 2024 identified an estimated 19 percent increase in countywide nighttime brightness. Users can simulate combinations of shielding, color-temperature limits, intensity reductions, and lighting curfews, then compare projected changes in sky brightness, Bortle Scale classifications, energy use, implementation costs, annual savings, and payback periods. These outputs are planning projections rather than observed outcomes.</a:t>
            </a:r>
          </a:p>
          <a:p>
            <a:pPr marL="0" indent="0">
              <a:lnSpc>
                <a:spcPct val="98000"/>
              </a:lnSpc>
              <a:spcBef>
                <a:spcPts val="400"/>
              </a:spcBef>
              <a:spcAft>
                <a:spcPts val="0"/>
              </a:spcAft>
              <a:buNone/>
            </a:pPr>
            <a:r>
              <a:rPr sz="1500" b="0" i="0">
                <a:solidFill>
                  <a:srgbClr val="1A2235"/>
                </a:solidFill>
                <a:latin typeface="Aptos"/>
              </a:rPr>
              <a:t>This research helped inform amendments to the Alachua County Comprehensive Plan and is now expanding into Levy County. Levy County is home to both UF’s Rosemary Hill Observatory and the Chiefland Astronomy Village, a working dark-sky observing community increasingly vulnerable to surrounding development and skyglow. The expanded platform will establish a reusable process for incorporating county-specific satellite data, lighting conditions, development patterns, and policy scenarios, allowing communities to evaluate mitigation strategies without rebuilding the system for each jurisdiction.</a:t>
            </a:r>
          </a:p>
          <a:p>
            <a:pPr marL="0" indent="0">
              <a:lnSpc>
                <a:spcPct val="98000"/>
              </a:lnSpc>
              <a:spcBef>
                <a:spcPts val="400"/>
              </a:spcBef>
              <a:spcAft>
                <a:spcPts val="0"/>
              </a:spcAft>
              <a:buNone/>
            </a:pPr>
            <a:r>
              <a:rPr sz="1500" b="0" i="0">
                <a:solidFill>
                  <a:srgbClr val="1A2235"/>
                </a:solidFill>
                <a:latin typeface="Aptos"/>
              </a:rPr>
              <a:t>A future application is astronomical site selection. At the request of Dr. Elizabeth Lada, Chair of the UF Department of Astronomy, the research will explore how the platform could help identify locations for a future UF observatory that are both sufficiently dark and less vulnerable to long-term development.</a:t>
            </a:r>
          </a:p>
          <a:p>
            <a:pPr marL="0" indent="0">
              <a:lnSpc>
                <a:spcPct val="98000"/>
              </a:lnSpc>
              <a:spcBef>
                <a:spcPts val="400"/>
              </a:spcBef>
              <a:spcAft>
                <a:spcPts val="0"/>
              </a:spcAft>
              <a:buNone/>
            </a:pPr>
            <a:r>
              <a:rPr sz="1500" b="0" i="0">
                <a:solidFill>
                  <a:srgbClr val="1A2235"/>
                </a:solidFill>
                <a:latin typeface="Aptos"/>
              </a:rPr>
              <a:t>The presentation will demonstrate how AI-assisted environmental analysis and interactive simulation can support lighting policy, regional planning, observatory protection, and dark-sky conservation across North Central Florida.</a:t>
            </a:r>
          </a:p>
        </p:txBody>
      </p:sp>
      <p:sp>
        <p:nvSpPr>
          <p:cNvPr id="10" name="Rectangle 9"/>
          <p:cNvSpPr/>
          <p:nvPr/>
        </p:nvSpPr>
        <p:spPr>
          <a:xfrm>
            <a:off x="777240" y="5413248"/>
            <a:ext cx="42336720" cy="54864"/>
          </a:xfrm>
          <a:prstGeom prst="rect">
            <a:avLst/>
          </a:prstGeom>
          <a:solidFill>
            <a:srgbClr val="002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77240" y="6035040"/>
            <a:ext cx="10138409" cy="868680"/>
          </a:xfrm>
          <a:prstGeom prst="roundRect">
            <a:avLst>
              <a:gd name="adj" fmla="val 8000"/>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marL="0" indent="0">
              <a:lnSpc>
                <a:spcPct val="100000"/>
              </a:lnSpc>
              <a:spcBef>
                <a:spcPts val="0"/>
              </a:spcBef>
              <a:spcAft>
                <a:spcPts val="0"/>
              </a:spcAft>
              <a:buNone/>
            </a:pPr>
            <a:r>
              <a:rPr sz="3600" b="1" i="0">
                <a:solidFill>
                  <a:srgbClr val="F6B44B"/>
                </a:solidFill>
                <a:latin typeface="Aptos Display"/>
              </a:rPr>
              <a:t>1</a:t>
            </a:r>
            <a:r>
              <a:rPr sz="3600" b="1" i="0">
                <a:solidFill>
                  <a:srgbClr val="FFFFFF"/>
                </a:solidFill>
                <a:latin typeface="Aptos Display"/>
              </a:rPr>
              <a:t>   A Growing, Preventable Problem</a:t>
            </a:r>
          </a:p>
        </p:txBody>
      </p:sp>
      <p:pic>
        <p:nvPicPr>
          <p:cNvPr id="12" name="Picture 11" descr="photo_gnv_skyglow.jpg"/>
          <p:cNvPicPr>
            <a:picLocks noChangeAspect="1"/>
          </p:cNvPicPr>
          <p:nvPr/>
        </p:nvPicPr>
        <p:blipFill>
          <a:blip r:embed="rId4"/>
          <a:srcRect l="10000" t="9224" r="10000" b="21224"/>
          <a:stretch>
            <a:fillRect/>
          </a:stretch>
        </p:blipFill>
        <p:spPr>
          <a:xfrm>
            <a:off x="777240" y="7159752"/>
            <a:ext cx="4954904" cy="2423160"/>
          </a:xfrm>
          <a:prstGeom prst="roundRect">
            <a:avLst>
              <a:gd name="adj" fmla="val 1200"/>
            </a:avLst>
          </a:prstGeom>
        </p:spPr>
      </p:pic>
      <p:pic>
        <p:nvPicPr>
          <p:cNvPr id="13" name="Picture 12" descr="photo_prairie_milkyway.jpg"/>
          <p:cNvPicPr>
            <a:picLocks noChangeAspect="1"/>
          </p:cNvPicPr>
          <p:nvPr/>
        </p:nvPicPr>
        <p:blipFill>
          <a:blip r:embed="rId5"/>
          <a:srcRect t="6530" b="6530"/>
          <a:stretch>
            <a:fillRect/>
          </a:stretch>
        </p:blipFill>
        <p:spPr>
          <a:xfrm>
            <a:off x="5960744" y="7159752"/>
            <a:ext cx="4954904" cy="2423160"/>
          </a:xfrm>
          <a:prstGeom prst="roundRect">
            <a:avLst>
              <a:gd name="adj" fmla="val 1200"/>
            </a:avLst>
          </a:prstGeom>
        </p:spPr>
      </p:pic>
      <p:pic>
        <p:nvPicPr>
          <p:cNvPr id="14" name="Picture 13" descr="photo_scfoster.jpg"/>
          <p:cNvPicPr>
            <a:picLocks noChangeAspect="1"/>
          </p:cNvPicPr>
          <p:nvPr/>
        </p:nvPicPr>
        <p:blipFill>
          <a:blip r:embed="rId6"/>
          <a:srcRect t="6530" b="6530"/>
          <a:stretch>
            <a:fillRect/>
          </a:stretch>
        </p:blipFill>
        <p:spPr>
          <a:xfrm>
            <a:off x="777240" y="9765792"/>
            <a:ext cx="4954904" cy="2423160"/>
          </a:xfrm>
          <a:prstGeom prst="roundRect">
            <a:avLst>
              <a:gd name="adj" fmla="val 1200"/>
            </a:avLst>
          </a:prstGeom>
        </p:spPr>
      </p:pic>
      <p:pic>
        <p:nvPicPr>
          <p:cNvPr id="15" name="Picture 14" descr="photo_chiefland_pano.jpg"/>
          <p:cNvPicPr>
            <a:picLocks noChangeAspect="1"/>
          </p:cNvPicPr>
          <p:nvPr/>
        </p:nvPicPr>
        <p:blipFill>
          <a:blip r:embed="rId7"/>
          <a:srcRect l="21794" r="21794"/>
          <a:stretch>
            <a:fillRect/>
          </a:stretch>
        </p:blipFill>
        <p:spPr>
          <a:xfrm>
            <a:off x="5960744" y="9765792"/>
            <a:ext cx="4954904" cy="2423160"/>
          </a:xfrm>
          <a:prstGeom prst="roundRect">
            <a:avLst>
              <a:gd name="adj" fmla="val 1200"/>
            </a:avLst>
          </a:prstGeom>
        </p:spPr>
      </p:pic>
      <p:sp>
        <p:nvSpPr>
          <p:cNvPr id="16" name="TextBox 15"/>
          <p:cNvSpPr txBox="1"/>
          <p:nvPr/>
        </p:nvSpPr>
        <p:spPr>
          <a:xfrm>
            <a:off x="777240" y="12280392"/>
            <a:ext cx="10138409" cy="93726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1800" b="1" i="0">
                <a:solidFill>
                  <a:srgbClr val="4A5368"/>
                </a:solidFill>
                <a:latin typeface="Aptos"/>
              </a:rPr>
              <a:t>Figure 1.</a:t>
            </a:r>
            <a:r>
              <a:rPr sz="1800" b="0" i="0">
                <a:solidFill>
                  <a:srgbClr val="4A5368"/>
                </a:solidFill>
                <a:latin typeface="Aptos"/>
              </a:rPr>
              <a:t> Top: Gainesville's skyglow with Comet NEOWISE (2020) and the Milky Way (2022), both from Paynes Prairie, Bortle 4.</a:t>
            </a:r>
            <a:r>
              <a:rPr sz="1800" b="0" i="0" baseline="30000">
                <a:solidFill>
                  <a:srgbClr val="4A5368"/>
                </a:solidFill>
                <a:latin typeface="Aptos"/>
              </a:rPr>
              <a:t>1</a:t>
            </a:r>
            <a:r>
              <a:rPr sz="1800" b="0" i="0">
                <a:solidFill>
                  <a:srgbClr val="4A5368"/>
                </a:solidFill>
                <a:latin typeface="Aptos"/>
              </a:rPr>
              <a:t> Bottom: Stephen C. Foster State Park, GA, Bortle 2 (2020), and the Chiefland Astronomy Village, Bortle 3 (2025). Photos: Jay Rosen.</a:t>
            </a:r>
          </a:p>
        </p:txBody>
      </p:sp>
      <p:sp>
        <p:nvSpPr>
          <p:cNvPr id="17" name="TextBox 16"/>
          <p:cNvSpPr txBox="1"/>
          <p:nvPr/>
        </p:nvSpPr>
        <p:spPr>
          <a:xfrm>
            <a:off x="777240" y="13446252"/>
            <a:ext cx="10138409" cy="1673352"/>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2500" b="0" i="0">
                <a:solidFill>
                  <a:srgbClr val="1A2235"/>
                </a:solidFill>
                <a:latin typeface="Aptos"/>
              </a:rPr>
              <a:t>Artificial light at night affects astronomy, wildlife, energy use and the view of the night sky,</a:t>
            </a:r>
            <a:r>
              <a:rPr sz="2500" b="0" i="0" baseline="30000">
                <a:solidFill>
                  <a:srgbClr val="1A2235"/>
                </a:solidFill>
                <a:latin typeface="Aptos"/>
              </a:rPr>
              <a:t>2,3</a:t>
            </a:r>
            <a:r>
              <a:rPr sz="2500" b="0" i="0">
                <a:solidFill>
                  <a:srgbClr val="1A2235"/>
                </a:solidFill>
                <a:latin typeface="Aptos"/>
              </a:rPr>
              <a:t> and it reaches UF's </a:t>
            </a:r>
            <a:r>
              <a:rPr sz="2500" b="1" i="0">
                <a:solidFill>
                  <a:srgbClr val="B86E12"/>
                </a:solidFill>
                <a:latin typeface="Aptos"/>
              </a:rPr>
              <a:t>Rosemary Hill Observatory</a:t>
            </a:r>
            <a:r>
              <a:rPr sz="2500" b="0" i="0">
                <a:solidFill>
                  <a:srgbClr val="1A2235"/>
                </a:solidFill>
                <a:latin typeface="Aptos"/>
              </a:rPr>
              <a:t> and the </a:t>
            </a:r>
            <a:r>
              <a:rPr sz="2500" b="1" i="0">
                <a:solidFill>
                  <a:srgbClr val="B86E12"/>
                </a:solidFill>
                <a:latin typeface="Aptos"/>
              </a:rPr>
              <a:t>Chiefland Astronomy Village</a:t>
            </a:r>
            <a:r>
              <a:rPr sz="2500" b="0" i="0">
                <a:solidFill>
                  <a:srgbClr val="1A2235"/>
                </a:solidFill>
                <a:latin typeface="Aptos"/>
              </a:rPr>
              <a:t> in Levy County. It is also </a:t>
            </a:r>
            <a:r>
              <a:rPr sz="2500" b="1" i="0">
                <a:solidFill>
                  <a:srgbClr val="B86E12"/>
                </a:solidFill>
                <a:latin typeface="Aptos"/>
              </a:rPr>
              <a:t>preventable</a:t>
            </a:r>
            <a:r>
              <a:rPr sz="2500" b="0" i="0">
                <a:solidFill>
                  <a:srgbClr val="1A2235"/>
                </a:solidFill>
                <a:latin typeface="Aptos"/>
              </a:rPr>
              <a:t>:</a:t>
            </a:r>
            <a:r>
              <a:rPr sz="2500" b="0" i="0" baseline="30000">
                <a:solidFill>
                  <a:srgbClr val="1A2235"/>
                </a:solidFill>
                <a:latin typeface="Aptos"/>
              </a:rPr>
              <a:t>4</a:t>
            </a:r>
          </a:p>
        </p:txBody>
      </p:sp>
      <p:sp>
        <p:nvSpPr>
          <p:cNvPr id="18" name="Rectangle 17"/>
          <p:cNvSpPr/>
          <p:nvPr/>
        </p:nvSpPr>
        <p:spPr>
          <a:xfrm>
            <a:off x="777240" y="15256763"/>
            <a:ext cx="1896008" cy="1234440"/>
          </a:xfrm>
          <a:prstGeom prst="roundRect">
            <a:avLst>
              <a:gd name="adj" fmla="val 7000"/>
            </a:avLst>
          </a:prstGeom>
          <a:solidFill>
            <a:srgbClr val="F4F1E8"/>
          </a:solidFill>
          <a:ln w="12700">
            <a:solidFill>
              <a:srgbClr val="D9D2B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marL="0" indent="0">
              <a:lnSpc>
                <a:spcPct val="95000"/>
              </a:lnSpc>
              <a:spcBef>
                <a:spcPts val="0"/>
              </a:spcBef>
              <a:spcAft>
                <a:spcPts val="0"/>
              </a:spcAft>
              <a:buNone/>
            </a:pPr>
            <a:r>
              <a:rPr sz="1900" b="1" i="0">
                <a:solidFill>
                  <a:srgbClr val="B86E12"/>
                </a:solidFill>
                <a:latin typeface="Aptos"/>
              </a:rPr>
              <a:t>Shield</a:t>
            </a:r>
          </a:p>
          <a:p>
            <a:pPr algn="ctr" marL="0" indent="0">
              <a:lnSpc>
                <a:spcPct val="95000"/>
              </a:lnSpc>
              <a:spcBef>
                <a:spcPts val="0"/>
              </a:spcBef>
              <a:spcAft>
                <a:spcPts val="0"/>
              </a:spcAft>
              <a:buNone/>
            </a:pPr>
            <a:r>
              <a:rPr sz="1900" b="1" i="0">
                <a:solidFill>
                  <a:srgbClr val="B86E12"/>
                </a:solidFill>
                <a:latin typeface="Aptos"/>
              </a:rPr>
              <a:t>fixtures</a:t>
            </a:r>
          </a:p>
        </p:txBody>
      </p:sp>
      <p:sp>
        <p:nvSpPr>
          <p:cNvPr id="19" name="Rectangle 18"/>
          <p:cNvSpPr/>
          <p:nvPr/>
        </p:nvSpPr>
        <p:spPr>
          <a:xfrm>
            <a:off x="2837840" y="15256763"/>
            <a:ext cx="1896008" cy="1234440"/>
          </a:xfrm>
          <a:prstGeom prst="roundRect">
            <a:avLst>
              <a:gd name="adj" fmla="val 7000"/>
            </a:avLst>
          </a:prstGeom>
          <a:solidFill>
            <a:srgbClr val="F4F1E8"/>
          </a:solidFill>
          <a:ln w="12700">
            <a:solidFill>
              <a:srgbClr val="D9D2B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marL="0" indent="0">
              <a:lnSpc>
                <a:spcPct val="95000"/>
              </a:lnSpc>
              <a:spcBef>
                <a:spcPts val="0"/>
              </a:spcBef>
              <a:spcAft>
                <a:spcPts val="0"/>
              </a:spcAft>
              <a:buNone/>
            </a:pPr>
            <a:r>
              <a:rPr sz="1900" b="1" i="0">
                <a:solidFill>
                  <a:srgbClr val="B86E12"/>
                </a:solidFill>
                <a:latin typeface="Aptos"/>
              </a:rPr>
              <a:t>Aim light</a:t>
            </a:r>
          </a:p>
          <a:p>
            <a:pPr algn="ctr" marL="0" indent="0">
              <a:lnSpc>
                <a:spcPct val="95000"/>
              </a:lnSpc>
              <a:spcBef>
                <a:spcPts val="0"/>
              </a:spcBef>
              <a:spcAft>
                <a:spcPts val="0"/>
              </a:spcAft>
              <a:buNone/>
            </a:pPr>
            <a:r>
              <a:rPr sz="1900" b="1" i="0">
                <a:solidFill>
                  <a:srgbClr val="B86E12"/>
                </a:solidFill>
                <a:latin typeface="Aptos"/>
              </a:rPr>
              <a:t>where needed</a:t>
            </a:r>
          </a:p>
        </p:txBody>
      </p:sp>
      <p:sp>
        <p:nvSpPr>
          <p:cNvPr id="20" name="Rectangle 19"/>
          <p:cNvSpPr/>
          <p:nvPr/>
        </p:nvSpPr>
        <p:spPr>
          <a:xfrm>
            <a:off x="4898440" y="15256763"/>
            <a:ext cx="1896008" cy="1234440"/>
          </a:xfrm>
          <a:prstGeom prst="roundRect">
            <a:avLst>
              <a:gd name="adj" fmla="val 7000"/>
            </a:avLst>
          </a:prstGeom>
          <a:solidFill>
            <a:srgbClr val="F4F1E8"/>
          </a:solidFill>
          <a:ln w="12700">
            <a:solidFill>
              <a:srgbClr val="D9D2B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marL="0" indent="0">
              <a:lnSpc>
                <a:spcPct val="95000"/>
              </a:lnSpc>
              <a:spcBef>
                <a:spcPts val="0"/>
              </a:spcBef>
              <a:spcAft>
                <a:spcPts val="0"/>
              </a:spcAft>
              <a:buNone/>
            </a:pPr>
            <a:r>
              <a:rPr sz="1900" b="1" i="0">
                <a:solidFill>
                  <a:srgbClr val="B86E12"/>
                </a:solidFill>
                <a:latin typeface="Aptos"/>
              </a:rPr>
              <a:t>Warmer</a:t>
            </a:r>
          </a:p>
          <a:p>
            <a:pPr algn="ctr" marL="0" indent="0">
              <a:lnSpc>
                <a:spcPct val="95000"/>
              </a:lnSpc>
              <a:spcBef>
                <a:spcPts val="0"/>
              </a:spcBef>
              <a:spcAft>
                <a:spcPts val="0"/>
              </a:spcAft>
              <a:buNone/>
            </a:pPr>
            <a:r>
              <a:rPr sz="1900" b="1" i="0">
                <a:solidFill>
                  <a:srgbClr val="B86E12"/>
                </a:solidFill>
                <a:latin typeface="Aptos"/>
              </a:rPr>
              <a:t>color</a:t>
            </a:r>
          </a:p>
        </p:txBody>
      </p:sp>
      <p:sp>
        <p:nvSpPr>
          <p:cNvPr id="21" name="Rectangle 20"/>
          <p:cNvSpPr/>
          <p:nvPr/>
        </p:nvSpPr>
        <p:spPr>
          <a:xfrm>
            <a:off x="6959041" y="15256763"/>
            <a:ext cx="1896008" cy="1234440"/>
          </a:xfrm>
          <a:prstGeom prst="roundRect">
            <a:avLst>
              <a:gd name="adj" fmla="val 7000"/>
            </a:avLst>
          </a:prstGeom>
          <a:solidFill>
            <a:srgbClr val="F4F1E8"/>
          </a:solidFill>
          <a:ln w="12700">
            <a:solidFill>
              <a:srgbClr val="D9D2B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marL="0" indent="0">
              <a:lnSpc>
                <a:spcPct val="95000"/>
              </a:lnSpc>
              <a:spcBef>
                <a:spcPts val="0"/>
              </a:spcBef>
              <a:spcAft>
                <a:spcPts val="0"/>
              </a:spcAft>
              <a:buNone/>
            </a:pPr>
            <a:r>
              <a:rPr sz="1900" b="1" i="0">
                <a:solidFill>
                  <a:srgbClr val="B86E12"/>
                </a:solidFill>
                <a:latin typeface="Aptos"/>
              </a:rPr>
              <a:t>Less</a:t>
            </a:r>
          </a:p>
          <a:p>
            <a:pPr algn="ctr" marL="0" indent="0">
              <a:lnSpc>
                <a:spcPct val="95000"/>
              </a:lnSpc>
              <a:spcBef>
                <a:spcPts val="0"/>
              </a:spcBef>
              <a:spcAft>
                <a:spcPts val="0"/>
              </a:spcAft>
              <a:buNone/>
            </a:pPr>
            <a:r>
              <a:rPr sz="1900" b="1" i="0">
                <a:solidFill>
                  <a:srgbClr val="B86E12"/>
                </a:solidFill>
                <a:latin typeface="Aptos"/>
              </a:rPr>
              <a:t>brightness</a:t>
            </a:r>
          </a:p>
        </p:txBody>
      </p:sp>
      <p:sp>
        <p:nvSpPr>
          <p:cNvPr id="22" name="Rectangle 21"/>
          <p:cNvSpPr/>
          <p:nvPr/>
        </p:nvSpPr>
        <p:spPr>
          <a:xfrm>
            <a:off x="9019641" y="15256763"/>
            <a:ext cx="1896008" cy="1234440"/>
          </a:xfrm>
          <a:prstGeom prst="roundRect">
            <a:avLst>
              <a:gd name="adj" fmla="val 7000"/>
            </a:avLst>
          </a:prstGeom>
          <a:solidFill>
            <a:srgbClr val="F4F1E8"/>
          </a:solidFill>
          <a:ln w="12700">
            <a:solidFill>
              <a:srgbClr val="D9D2B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marL="0" indent="0">
              <a:lnSpc>
                <a:spcPct val="95000"/>
              </a:lnSpc>
              <a:spcBef>
                <a:spcPts val="0"/>
              </a:spcBef>
              <a:spcAft>
                <a:spcPts val="0"/>
              </a:spcAft>
              <a:buNone/>
            </a:pPr>
            <a:r>
              <a:rPr sz="1900" b="1" i="0">
                <a:solidFill>
                  <a:srgbClr val="B86E12"/>
                </a:solidFill>
                <a:latin typeface="Aptos"/>
              </a:rPr>
              <a:t>Dim late</a:t>
            </a:r>
          </a:p>
          <a:p>
            <a:pPr algn="ctr" marL="0" indent="0">
              <a:lnSpc>
                <a:spcPct val="95000"/>
              </a:lnSpc>
              <a:spcBef>
                <a:spcPts val="0"/>
              </a:spcBef>
              <a:spcAft>
                <a:spcPts val="0"/>
              </a:spcAft>
              <a:buNone/>
            </a:pPr>
            <a:r>
              <a:rPr sz="1900" b="1" i="0">
                <a:solidFill>
                  <a:srgbClr val="B86E12"/>
                </a:solidFill>
                <a:latin typeface="Aptos"/>
              </a:rPr>
              <a:t>at night</a:t>
            </a:r>
          </a:p>
        </p:txBody>
      </p:sp>
      <p:sp>
        <p:nvSpPr>
          <p:cNvPr id="23" name="TextBox 22"/>
          <p:cNvSpPr txBox="1"/>
          <p:nvPr/>
        </p:nvSpPr>
        <p:spPr>
          <a:xfrm>
            <a:off x="777240" y="16719804"/>
            <a:ext cx="10138409" cy="873252"/>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2500" b="0" i="0">
                <a:solidFill>
                  <a:srgbClr val="1A2235"/>
                </a:solidFill>
                <a:latin typeface="Aptos"/>
              </a:rPr>
              <a:t>Communities rarely have a way to test these changes </a:t>
            </a:r>
            <a:r>
              <a:rPr sz="2500" b="1" i="0">
                <a:solidFill>
                  <a:srgbClr val="B86E12"/>
                </a:solidFill>
                <a:latin typeface="Aptos"/>
              </a:rPr>
              <a:t>before</a:t>
            </a:r>
            <a:r>
              <a:rPr sz="2500" b="0" i="0">
                <a:solidFill>
                  <a:srgbClr val="1A2235"/>
                </a:solidFill>
                <a:latin typeface="Aptos"/>
              </a:rPr>
              <a:t> they write them into policy.</a:t>
            </a:r>
          </a:p>
        </p:txBody>
      </p:sp>
      <p:sp>
        <p:nvSpPr>
          <p:cNvPr id="24" name="Rectangle 23"/>
          <p:cNvSpPr/>
          <p:nvPr/>
        </p:nvSpPr>
        <p:spPr>
          <a:xfrm>
            <a:off x="777240" y="18004536"/>
            <a:ext cx="10138409" cy="868680"/>
          </a:xfrm>
          <a:prstGeom prst="roundRect">
            <a:avLst>
              <a:gd name="adj" fmla="val 8000"/>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marL="0" indent="0">
              <a:lnSpc>
                <a:spcPct val="100000"/>
              </a:lnSpc>
              <a:spcBef>
                <a:spcPts val="0"/>
              </a:spcBef>
              <a:spcAft>
                <a:spcPts val="0"/>
              </a:spcAft>
              <a:buNone/>
            </a:pPr>
            <a:r>
              <a:rPr sz="3600" b="1" i="0">
                <a:solidFill>
                  <a:srgbClr val="F6B44B"/>
                </a:solidFill>
                <a:latin typeface="Aptos Display"/>
              </a:rPr>
              <a:t>2</a:t>
            </a:r>
            <a:r>
              <a:rPr sz="3600" b="1" i="0">
                <a:solidFill>
                  <a:srgbClr val="FFFFFF"/>
                </a:solidFill>
                <a:latin typeface="Aptos Display"/>
              </a:rPr>
              <a:t>   The Dark Sky Simulator</a:t>
            </a:r>
          </a:p>
        </p:txBody>
      </p:sp>
      <p:pic>
        <p:nvPicPr>
          <p:cNvPr id="25" name="Picture 24" descr="overview_map.jpg"/>
          <p:cNvPicPr>
            <a:picLocks noChangeAspect="1"/>
          </p:cNvPicPr>
          <p:nvPr/>
        </p:nvPicPr>
        <p:blipFill>
          <a:blip r:embed="rId8"/>
          <a:srcRect t="28198" b="28198"/>
          <a:stretch>
            <a:fillRect/>
          </a:stretch>
        </p:blipFill>
        <p:spPr>
          <a:xfrm>
            <a:off x="777240" y="19129248"/>
            <a:ext cx="10138409" cy="3154680"/>
          </a:xfrm>
          <a:prstGeom prst="roundRect">
            <a:avLst>
              <a:gd name="adj" fmla="val 1200"/>
            </a:avLst>
          </a:prstGeom>
          <a:ln w="12700">
            <a:solidFill>
              <a:srgbClr val="2A3A60"/>
            </a:solidFill>
          </a:ln>
        </p:spPr>
      </p:pic>
      <p:sp>
        <p:nvSpPr>
          <p:cNvPr id="26" name="TextBox 25"/>
          <p:cNvSpPr txBox="1"/>
          <p:nvPr/>
        </p:nvSpPr>
        <p:spPr>
          <a:xfrm>
            <a:off x="777240" y="22375368"/>
            <a:ext cx="10138409" cy="649224"/>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1800" b="1" i="0">
                <a:solidFill>
                  <a:srgbClr val="4A5368"/>
                </a:solidFill>
                <a:latin typeface="Aptos"/>
              </a:rPr>
              <a:t>Figure 2.</a:t>
            </a:r>
            <a:r>
              <a:rPr sz="1800" b="0" i="0">
                <a:solidFill>
                  <a:srgbClr val="4A5368"/>
                </a:solidFill>
                <a:latin typeface="Aptos"/>
              </a:rPr>
              <a:t> Modeled sky brightness today across the eight counties (yellow = bright urban sky, dark = near natural).</a:t>
            </a:r>
          </a:p>
        </p:txBody>
      </p:sp>
      <p:sp>
        <p:nvSpPr>
          <p:cNvPr id="27" name="TextBox 26"/>
          <p:cNvSpPr txBox="1"/>
          <p:nvPr/>
        </p:nvSpPr>
        <p:spPr>
          <a:xfrm>
            <a:off x="777240" y="23161752"/>
            <a:ext cx="10138409" cy="3331057"/>
          </a:xfrm>
          <a:prstGeom prst="rect">
            <a:avLst/>
          </a:prstGeom>
          <a:noFill/>
        </p:spPr>
        <p:txBody>
          <a:bodyPr wrap="square" anchor="t" lIns="0" rIns="0" tIns="0" bIns="0">
            <a:noAutofit/>
          </a:bodyPr>
          <a:lstStyle/>
          <a:p>
            <a:pPr marL="256032" indent="-256032">
              <a:lnSpc>
                <a:spcPct val="103000"/>
              </a:lnSpc>
              <a:spcBef>
                <a:spcPts val="0"/>
              </a:spcBef>
              <a:spcAft>
                <a:spcPts val="0"/>
              </a:spcAft>
              <a:buClr>
                <a:srgbClr val="B86E12"/>
              </a:buClr>
              <a:buSzPct val="100000"/>
              <a:buFont typeface="Arial"/>
              <a:buChar char="•"/>
            </a:pPr>
            <a:r>
              <a:rPr sz="2400" b="0" i="0">
                <a:solidFill>
                  <a:srgbClr val="1A2235"/>
                </a:solidFill>
                <a:latin typeface="Aptos"/>
              </a:rPr>
              <a:t>An interactive </a:t>
            </a:r>
            <a:r>
              <a:rPr sz="2400" b="1" i="0">
                <a:solidFill>
                  <a:srgbClr val="B86E12"/>
                </a:solidFill>
                <a:latin typeface="Aptos"/>
              </a:rPr>
              <a:t>decision-support platform</a:t>
            </a:r>
            <a:r>
              <a:rPr sz="2400" b="0" i="0">
                <a:solidFill>
                  <a:srgbClr val="1A2235"/>
                </a:solidFill>
                <a:latin typeface="Aptos"/>
              </a:rPr>
              <a:t>: pick shielding, color limits, dimming or curfews; see the projected sky, energy, cost and payback</a:t>
            </a:r>
          </a:p>
          <a:p>
            <a:pPr marL="256032" indent="-256032">
              <a:lnSpc>
                <a:spcPct val="103000"/>
              </a:lnSpc>
              <a:spcBef>
                <a:spcPts val="700"/>
              </a:spcBef>
              <a:spcAft>
                <a:spcPts val="0"/>
              </a:spcAft>
              <a:buClr>
                <a:srgbClr val="B86E12"/>
              </a:buClr>
              <a:buSzPct val="100000"/>
              <a:buFont typeface="Arial"/>
              <a:buChar char="•"/>
            </a:pPr>
            <a:r>
              <a:rPr sz="2400" b="0" i="0">
                <a:solidFill>
                  <a:srgbClr val="1A2235"/>
                </a:solidFill>
                <a:latin typeface="Aptos"/>
              </a:rPr>
              <a:t>Began in </a:t>
            </a:r>
            <a:r>
              <a:rPr sz="2400" b="1" i="0">
                <a:solidFill>
                  <a:srgbClr val="B86E12"/>
                </a:solidFill>
                <a:latin typeface="Aptos"/>
              </a:rPr>
              <a:t>Alachua County</a:t>
            </a:r>
            <a:r>
              <a:rPr sz="2400" b="0" i="0">
                <a:solidFill>
                  <a:srgbClr val="1A2235"/>
                </a:solidFill>
                <a:latin typeface="Aptos"/>
              </a:rPr>
              <a:t> (2025 prototype</a:t>
            </a:r>
            <a:r>
              <a:rPr sz="2400" b="0" i="0" baseline="30000">
                <a:solidFill>
                  <a:srgbClr val="1A2235"/>
                </a:solidFill>
                <a:latin typeface="Aptos"/>
              </a:rPr>
              <a:t>5</a:t>
            </a:r>
            <a:r>
              <a:rPr sz="2400" b="0" i="0">
                <a:solidFill>
                  <a:srgbClr val="1A2235"/>
                </a:solidFill>
                <a:latin typeface="Aptos"/>
              </a:rPr>
              <a:t>); now </a:t>
            </a:r>
            <a:r>
              <a:rPr sz="2400" b="1" i="0">
                <a:solidFill>
                  <a:srgbClr val="B86E12"/>
                </a:solidFill>
                <a:latin typeface="Aptos"/>
              </a:rPr>
              <a:t>Alachua, Levy</a:t>
            </a:r>
            <a:r>
              <a:rPr sz="2400" b="0" i="0">
                <a:solidFill>
                  <a:srgbClr val="1A2235"/>
                </a:solidFill>
                <a:latin typeface="Aptos"/>
              </a:rPr>
              <a:t> and six neighbors, about </a:t>
            </a:r>
            <a:r>
              <a:rPr sz="2400" b="1" i="0">
                <a:solidFill>
                  <a:srgbClr val="B86E12"/>
                </a:solidFill>
                <a:latin typeface="Aptos"/>
              </a:rPr>
              <a:t>817,000</a:t>
            </a:r>
            <a:r>
              <a:rPr sz="2400" b="0" i="0">
                <a:solidFill>
                  <a:srgbClr val="1A2235"/>
                </a:solidFill>
                <a:latin typeface="Aptos"/>
              </a:rPr>
              <a:t> modeled light sources</a:t>
            </a:r>
            <a:r>
              <a:rPr sz="2400" b="0" i="0" baseline="30000">
                <a:solidFill>
                  <a:srgbClr val="1A2235"/>
                </a:solidFill>
                <a:latin typeface="Aptos"/>
              </a:rPr>
              <a:t>6–8</a:t>
            </a:r>
          </a:p>
          <a:p>
            <a:pPr marL="256032" indent="-256032">
              <a:lnSpc>
                <a:spcPct val="103000"/>
              </a:lnSpc>
              <a:spcBef>
                <a:spcPts val="700"/>
              </a:spcBef>
              <a:spcAft>
                <a:spcPts val="0"/>
              </a:spcAft>
              <a:buClr>
                <a:srgbClr val="B86E12"/>
              </a:buClr>
              <a:buSzPct val="100000"/>
              <a:buFont typeface="Arial"/>
              <a:buChar char="•"/>
            </a:pPr>
            <a:r>
              <a:rPr sz="2400" b="0" i="0">
                <a:solidFill>
                  <a:srgbClr val="1A2235"/>
                </a:solidFill>
                <a:latin typeface="Aptos"/>
              </a:rPr>
              <a:t>AI reads </a:t>
            </a:r>
            <a:r>
              <a:rPr sz="2400" b="1" i="0">
                <a:solidFill>
                  <a:srgbClr val="B86E12"/>
                </a:solidFill>
                <a:latin typeface="Aptos"/>
              </a:rPr>
              <a:t>13 years</a:t>
            </a:r>
            <a:r>
              <a:rPr sz="2400" b="0" i="0">
                <a:solidFill>
                  <a:srgbClr val="1A2235"/>
                </a:solidFill>
                <a:latin typeface="Aptos"/>
              </a:rPr>
              <a:t> of NOAA and NASA nighttime satellite imagery (2012–2024)</a:t>
            </a:r>
            <a:r>
              <a:rPr sz="2400" b="0" i="0" baseline="30000">
                <a:solidFill>
                  <a:srgbClr val="1A2235"/>
                </a:solidFill>
                <a:latin typeface="Aptos"/>
              </a:rPr>
              <a:t>9–11</a:t>
            </a:r>
          </a:p>
          <a:p>
            <a:pPr marL="256032" indent="-256032">
              <a:lnSpc>
                <a:spcPct val="103000"/>
              </a:lnSpc>
              <a:spcBef>
                <a:spcPts val="700"/>
              </a:spcBef>
              <a:spcAft>
                <a:spcPts val="0"/>
              </a:spcAft>
              <a:buClr>
                <a:srgbClr val="B86E12"/>
              </a:buClr>
              <a:buSzPct val="100000"/>
              <a:buFont typeface="Arial"/>
              <a:buChar char="•"/>
            </a:pPr>
            <a:r>
              <a:rPr sz="2400" b="0" i="0">
                <a:solidFill>
                  <a:srgbClr val="1A2235"/>
                </a:solidFill>
                <a:latin typeface="Aptos"/>
              </a:rPr>
              <a:t>Runs in a browser or on a phone; every output is a </a:t>
            </a:r>
            <a:r>
              <a:rPr sz="2400" b="1" i="0">
                <a:solidFill>
                  <a:srgbClr val="B86E12"/>
                </a:solidFill>
                <a:latin typeface="Aptos"/>
              </a:rPr>
              <a:t>planning projection</a:t>
            </a:r>
          </a:p>
        </p:txBody>
      </p:sp>
      <p:sp>
        <p:nvSpPr>
          <p:cNvPr id="28" name="Rectangle 27"/>
          <p:cNvSpPr/>
          <p:nvPr/>
        </p:nvSpPr>
        <p:spPr>
          <a:xfrm>
            <a:off x="777240" y="26675689"/>
            <a:ext cx="10138409" cy="3648456"/>
          </a:xfrm>
          <a:prstGeom prst="roundRect">
            <a:avLst>
              <a:gd name="adj" fmla="val 4000"/>
            </a:avLst>
          </a:prstGeom>
          <a:solidFill>
            <a:srgbClr val="F4F1E8"/>
          </a:solidFill>
          <a:ln w="12700">
            <a:solidFill>
              <a:srgbClr val="D9D2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alachua_county_emblem_4x.png"/>
          <p:cNvPicPr>
            <a:picLocks noChangeAspect="1"/>
          </p:cNvPicPr>
          <p:nvPr/>
        </p:nvPicPr>
        <p:blipFill>
          <a:blip r:embed="rId9"/>
          <a:stretch>
            <a:fillRect/>
          </a:stretch>
        </p:blipFill>
        <p:spPr>
          <a:xfrm>
            <a:off x="1051560" y="26858569"/>
            <a:ext cx="1163594" cy="1143000"/>
          </a:xfrm>
          <a:prstGeom prst="rect">
            <a:avLst/>
          </a:prstGeom>
        </p:spPr>
      </p:pic>
      <p:sp>
        <p:nvSpPr>
          <p:cNvPr id="30" name="TextBox 29"/>
          <p:cNvSpPr txBox="1"/>
          <p:nvPr/>
        </p:nvSpPr>
        <p:spPr>
          <a:xfrm>
            <a:off x="2535194" y="26895145"/>
            <a:ext cx="8151855" cy="50292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3000" b="1" i="0">
                <a:solidFill>
                  <a:srgbClr val="0A0F1C"/>
                </a:solidFill>
                <a:latin typeface="Aptos Display"/>
              </a:rPr>
              <a:t>Policy Impact</a:t>
            </a:r>
          </a:p>
        </p:txBody>
      </p:sp>
      <p:sp>
        <p:nvSpPr>
          <p:cNvPr id="31" name="TextBox 30"/>
          <p:cNvSpPr txBox="1"/>
          <p:nvPr/>
        </p:nvSpPr>
        <p:spPr>
          <a:xfrm>
            <a:off x="2535194" y="27425497"/>
            <a:ext cx="8151855" cy="41148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600" b="1" i="0">
                <a:solidFill>
                  <a:srgbClr val="1A2235"/>
                </a:solidFill>
                <a:latin typeface="Aptos"/>
              </a:rPr>
              <a:t>Alachua County Comprehensive Plan · Conservation and Open Space Element</a:t>
            </a:r>
          </a:p>
        </p:txBody>
      </p:sp>
      <p:sp>
        <p:nvSpPr>
          <p:cNvPr id="32" name="TextBox 31"/>
          <p:cNvSpPr txBox="1"/>
          <p:nvPr/>
        </p:nvSpPr>
        <p:spPr>
          <a:xfrm>
            <a:off x="1051560" y="28047289"/>
            <a:ext cx="9589769" cy="2231136"/>
          </a:xfrm>
          <a:prstGeom prst="rect">
            <a:avLst/>
          </a:prstGeom>
          <a:noFill/>
        </p:spPr>
        <p:txBody>
          <a:bodyPr wrap="square" anchor="t" lIns="0" rIns="0" tIns="0" bIns="0">
            <a:noAutofit/>
          </a:bodyPr>
          <a:lstStyle/>
          <a:p>
            <a:pPr algn="l" marL="0" indent="0">
              <a:lnSpc>
                <a:spcPct val="104000"/>
              </a:lnSpc>
              <a:spcBef>
                <a:spcPts val="0"/>
              </a:spcBef>
              <a:spcAft>
                <a:spcPts val="0"/>
              </a:spcAft>
              <a:buNone/>
            </a:pPr>
            <a:r>
              <a:rPr sz="2200" b="0" i="0">
                <a:solidFill>
                  <a:srgbClr val="1A2235"/>
                </a:solidFill>
                <a:latin typeface="Aptos"/>
              </a:rPr>
              <a:t>The prototype's findings shaped </a:t>
            </a:r>
            <a:r>
              <a:rPr sz="2200" b="1" i="0">
                <a:solidFill>
                  <a:srgbClr val="B86E12"/>
                </a:solidFill>
                <a:latin typeface="Aptos"/>
              </a:rPr>
              <a:t>Policy 5.3.7</a:t>
            </a:r>
            <a:r>
              <a:rPr sz="2200" b="0" i="0">
                <a:solidFill>
                  <a:srgbClr val="1A2235"/>
                </a:solidFill>
                <a:latin typeface="Aptos"/>
              </a:rPr>
              <a:t>: outdoor lighting must conserve energy, avoid harm to wildlife and protect the night sky while providing for public safety, following DarkSky and IES principles (light only where and when needed, at the lowest level necessary, in warmer colors). The </a:t>
            </a:r>
            <a:r>
              <a:rPr sz="2200" b="1" i="0">
                <a:solidFill>
                  <a:srgbClr val="B86E12"/>
                </a:solidFill>
                <a:latin typeface="Aptos"/>
              </a:rPr>
              <a:t>Environmental Protection Advisory Committee</a:t>
            </a:r>
            <a:r>
              <a:rPr sz="2200" b="0" i="0">
                <a:solidFill>
                  <a:srgbClr val="1A2235"/>
                </a:solidFill>
                <a:latin typeface="Aptos"/>
              </a:rPr>
              <a:t> voted </a:t>
            </a:r>
            <a:r>
              <a:rPr sz="2200" b="1" i="0">
                <a:solidFill>
                  <a:srgbClr val="B86E12"/>
                </a:solidFill>
                <a:latin typeface="Aptos"/>
              </a:rPr>
              <a:t>unanimously</a:t>
            </a:r>
            <a:r>
              <a:rPr sz="2200" b="0" i="0">
                <a:solidFill>
                  <a:srgbClr val="1A2235"/>
                </a:solidFill>
                <a:latin typeface="Aptos"/>
              </a:rPr>
              <a:t> (Jan. 2026) and brought it to the </a:t>
            </a:r>
            <a:r>
              <a:rPr sz="2200" b="1" i="0">
                <a:solidFill>
                  <a:srgbClr val="B86E12"/>
                </a:solidFill>
                <a:latin typeface="Aptos"/>
              </a:rPr>
              <a:t>Board of County Commissioners</a:t>
            </a:r>
            <a:r>
              <a:rPr sz="2200" b="0" i="0">
                <a:solidFill>
                  <a:srgbClr val="1A2235"/>
                </a:solidFill>
                <a:latin typeface="Aptos"/>
              </a:rPr>
              <a:t> (Feb. 2026).</a:t>
            </a:r>
            <a:r>
              <a:rPr sz="2200" b="0" i="0" baseline="30000">
                <a:solidFill>
                  <a:srgbClr val="1A2235"/>
                </a:solidFill>
                <a:latin typeface="Aptos"/>
              </a:rPr>
              <a:t>12,13</a:t>
            </a:r>
          </a:p>
        </p:txBody>
      </p:sp>
      <p:sp>
        <p:nvSpPr>
          <p:cNvPr id="33" name="Rectangle 32"/>
          <p:cNvSpPr/>
          <p:nvPr/>
        </p:nvSpPr>
        <p:spPr>
          <a:xfrm>
            <a:off x="777240" y="30586679"/>
            <a:ext cx="1920240" cy="1920240"/>
          </a:xfrm>
          <a:prstGeom prst="roundRect">
            <a:avLst>
              <a:gd name="adj" fmla="val 4000"/>
            </a:avLst>
          </a:prstGeom>
          <a:solidFill>
            <a:srgbClr val="FFFFFF"/>
          </a:solidFill>
          <a:ln w="12700">
            <a:solidFill>
              <a:srgbClr val="D9D2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qr_app.png"/>
          <p:cNvPicPr>
            <a:picLocks noChangeAspect="1"/>
          </p:cNvPicPr>
          <p:nvPr/>
        </p:nvPicPr>
        <p:blipFill>
          <a:blip r:embed="rId10"/>
          <a:stretch>
            <a:fillRect/>
          </a:stretch>
        </p:blipFill>
        <p:spPr>
          <a:xfrm>
            <a:off x="850392" y="30659831"/>
            <a:ext cx="1773936" cy="1773936"/>
          </a:xfrm>
          <a:prstGeom prst="rect">
            <a:avLst/>
          </a:prstGeom>
        </p:spPr>
      </p:pic>
      <p:sp>
        <p:nvSpPr>
          <p:cNvPr id="35" name="TextBox 34"/>
          <p:cNvSpPr txBox="1"/>
          <p:nvPr/>
        </p:nvSpPr>
        <p:spPr>
          <a:xfrm>
            <a:off x="2971800" y="30998160"/>
            <a:ext cx="7852409" cy="731520"/>
          </a:xfrm>
          <a:prstGeom prst="rect">
            <a:avLst/>
          </a:prstGeom>
          <a:noFill/>
        </p:spPr>
        <p:txBody>
          <a:bodyPr wrap="square" anchor="t" lIns="0" rIns="0" tIns="0" bIns="0">
            <a:noAutofit/>
          </a:bodyPr>
          <a:lstStyle/>
          <a:p>
            <a:pPr algn="l" marL="0" indent="0">
              <a:lnSpc>
                <a:spcPct val="95000"/>
              </a:lnSpc>
              <a:spcBef>
                <a:spcPts val="0"/>
              </a:spcBef>
              <a:spcAft>
                <a:spcPts val="0"/>
              </a:spcAft>
              <a:buNone/>
            </a:pPr>
            <a:r>
              <a:rPr sz="2600" b="1" i="0">
                <a:solidFill>
                  <a:srgbClr val="0A0F1C"/>
                </a:solidFill>
                <a:latin typeface="Aptos"/>
              </a:rPr>
              <a:t>Try the simulator</a:t>
            </a:r>
            <a:r>
              <a:rPr sz="2600" b="0" i="0" baseline="30000">
                <a:solidFill>
                  <a:srgbClr val="0A0F1C"/>
                </a:solidFill>
                <a:latin typeface="Aptos"/>
              </a:rPr>
              <a:t>14</a:t>
            </a:r>
          </a:p>
        </p:txBody>
      </p:sp>
      <p:sp>
        <p:nvSpPr>
          <p:cNvPr id="36" name="TextBox 35"/>
          <p:cNvSpPr txBox="1"/>
          <p:nvPr/>
        </p:nvSpPr>
        <p:spPr>
          <a:xfrm>
            <a:off x="2971800" y="31729679"/>
            <a:ext cx="7852409" cy="73152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1800" b="0" i="0">
                <a:solidFill>
                  <a:srgbClr val="4A5368"/>
                </a:solidFill>
                <a:latin typeface="Aptos"/>
              </a:rPr>
              <a:t>dark-sky-simulator-v2.vercel.app/dark-sky</a:t>
            </a:r>
          </a:p>
        </p:txBody>
      </p:sp>
      <p:sp>
        <p:nvSpPr>
          <p:cNvPr id="37" name="Rectangle 36"/>
          <p:cNvSpPr/>
          <p:nvPr/>
        </p:nvSpPr>
        <p:spPr>
          <a:xfrm>
            <a:off x="11510009" y="6035040"/>
            <a:ext cx="10138409" cy="868680"/>
          </a:xfrm>
          <a:prstGeom prst="roundRect">
            <a:avLst>
              <a:gd name="adj" fmla="val 8000"/>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marL="0" indent="0">
              <a:lnSpc>
                <a:spcPct val="100000"/>
              </a:lnSpc>
              <a:spcBef>
                <a:spcPts val="0"/>
              </a:spcBef>
              <a:spcAft>
                <a:spcPts val="0"/>
              </a:spcAft>
              <a:buNone/>
            </a:pPr>
            <a:r>
              <a:rPr sz="3600" b="1" i="0">
                <a:solidFill>
                  <a:srgbClr val="F6B44B"/>
                </a:solidFill>
                <a:latin typeface="Aptos Display"/>
              </a:rPr>
              <a:t>3</a:t>
            </a:r>
            <a:r>
              <a:rPr sz="3600" b="1" i="0">
                <a:solidFill>
                  <a:srgbClr val="FFFFFF"/>
                </a:solidFill>
                <a:latin typeface="Aptos Display"/>
              </a:rPr>
              <a:t>   Projected Impact: A Darker Sky</a:t>
            </a:r>
          </a:p>
        </p:txBody>
      </p:sp>
      <p:sp>
        <p:nvSpPr>
          <p:cNvPr id="38" name="TextBox 37"/>
          <p:cNvSpPr txBox="1"/>
          <p:nvPr/>
        </p:nvSpPr>
        <p:spPr>
          <a:xfrm>
            <a:off x="11510009" y="7159752"/>
            <a:ext cx="10138409" cy="1673352"/>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2500" b="0" i="0">
                <a:solidFill>
                  <a:srgbClr val="1A2235"/>
                </a:solidFill>
                <a:latin typeface="Aptos"/>
              </a:rPr>
              <a:t>Simulator runs for Alachua and Levy: </a:t>
            </a:r>
            <a:r>
              <a:rPr sz="2500" b="1" i="0">
                <a:solidFill>
                  <a:srgbClr val="B86E12"/>
                </a:solidFill>
                <a:latin typeface="Aptos"/>
              </a:rPr>
              <a:t>public lights</a:t>
            </a:r>
            <a:r>
              <a:rPr sz="2500" b="0" i="0">
                <a:solidFill>
                  <a:srgbClr val="1A2235"/>
                </a:solidFill>
                <a:latin typeface="Aptos"/>
              </a:rPr>
              <a:t> right-sized (full shielding, a 3000 K cap as in Groveland's ordinance</a:t>
            </a:r>
            <a:r>
              <a:rPr sz="2500" b="0" i="0" baseline="30000">
                <a:solidFill>
                  <a:srgbClr val="1A2235"/>
                </a:solidFill>
                <a:latin typeface="Aptos"/>
              </a:rPr>
              <a:t>15</a:t>
            </a:r>
            <a:r>
              <a:rPr sz="2500" b="0" i="0">
                <a:solidFill>
                  <a:srgbClr val="1A2235"/>
                </a:solidFill>
                <a:latin typeface="Aptos"/>
              </a:rPr>
              <a:t>, 30% lower output), the package priced in section 6, then </a:t>
            </a:r>
            <a:r>
              <a:rPr sz="2500" b="1" i="0">
                <a:solidFill>
                  <a:srgbClr val="B86E12"/>
                </a:solidFill>
                <a:latin typeface="Aptos"/>
              </a:rPr>
              <a:t>private lights</a:t>
            </a:r>
            <a:r>
              <a:rPr sz="2500" b="0" i="0">
                <a:solidFill>
                  <a:srgbClr val="1A2235"/>
                </a:solidFill>
                <a:latin typeface="Aptos"/>
              </a:rPr>
              <a:t> meeting the same standard. Sky brightness comes from a published scattering model.</a:t>
            </a:r>
            <a:r>
              <a:rPr sz="2500" b="0" i="0" baseline="30000">
                <a:solidFill>
                  <a:srgbClr val="1A2235"/>
                </a:solidFill>
                <a:latin typeface="Aptos"/>
              </a:rPr>
              <a:t>16</a:t>
            </a:r>
          </a:p>
        </p:txBody>
      </p:sp>
      <p:sp>
        <p:nvSpPr>
          <p:cNvPr id="39" name="TextBox 38"/>
          <p:cNvSpPr txBox="1"/>
          <p:nvPr/>
        </p:nvSpPr>
        <p:spPr>
          <a:xfrm>
            <a:off x="11510009" y="8970264"/>
            <a:ext cx="10138409" cy="41148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800" b="1" i="0">
                <a:solidFill>
                  <a:srgbClr val="4A5368"/>
                </a:solidFill>
                <a:latin typeface="Aptos"/>
              </a:rPr>
              <a:t>Bortle class</a:t>
            </a:r>
            <a:r>
              <a:rPr sz="1800" b="0" i="0" baseline="30000">
                <a:solidFill>
                  <a:srgbClr val="4A5368"/>
                </a:solidFill>
                <a:latin typeface="Aptos"/>
              </a:rPr>
              <a:t>1</a:t>
            </a:r>
            <a:r>
              <a:rPr sz="1800" b="1" i="0">
                <a:solidFill>
                  <a:srgbClr val="4A5368"/>
                </a:solidFill>
                <a:latin typeface="Aptos"/>
              </a:rPr>
              <a:t> (brighter city sky ← → natural dark sky)</a:t>
            </a:r>
          </a:p>
        </p:txBody>
      </p:sp>
      <p:sp>
        <p:nvSpPr>
          <p:cNvPr id="40" name="Rectangle 39"/>
          <p:cNvSpPr/>
          <p:nvPr/>
        </p:nvSpPr>
        <p:spPr>
          <a:xfrm>
            <a:off x="14024609" y="9473184"/>
            <a:ext cx="941546" cy="566928"/>
          </a:xfrm>
          <a:prstGeom prst="rect">
            <a:avLst/>
          </a:prstGeom>
          <a:solidFill>
            <a:srgbClr val="F2F2F2"/>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marL="0" indent="0">
              <a:lnSpc>
                <a:spcPct val="100000"/>
              </a:lnSpc>
              <a:spcBef>
                <a:spcPts val="0"/>
              </a:spcBef>
              <a:spcAft>
                <a:spcPts val="0"/>
              </a:spcAft>
              <a:buNone/>
            </a:pPr>
            <a:r>
              <a:rPr sz="1800" b="1" i="0">
                <a:solidFill>
                  <a:srgbClr val="0A0F1C"/>
                </a:solidFill>
                <a:latin typeface="Aptos"/>
              </a:rPr>
              <a:t>8–9</a:t>
            </a:r>
          </a:p>
        </p:txBody>
      </p:sp>
      <p:sp>
        <p:nvSpPr>
          <p:cNvPr id="41" name="Rectangle 40"/>
          <p:cNvSpPr/>
          <p:nvPr/>
        </p:nvSpPr>
        <p:spPr>
          <a:xfrm>
            <a:off x="14966156" y="9473184"/>
            <a:ext cx="941546" cy="566928"/>
          </a:xfrm>
          <a:prstGeom prst="rect">
            <a:avLst/>
          </a:prstGeom>
          <a:solidFill>
            <a:srgbClr val="D730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marL="0" indent="0">
              <a:lnSpc>
                <a:spcPct val="100000"/>
              </a:lnSpc>
              <a:spcBef>
                <a:spcPts val="0"/>
              </a:spcBef>
              <a:spcAft>
                <a:spcPts val="0"/>
              </a:spcAft>
              <a:buNone/>
            </a:pPr>
            <a:r>
              <a:rPr sz="1800" b="1" i="0">
                <a:solidFill>
                  <a:srgbClr val="FFFFFF"/>
                </a:solidFill>
                <a:latin typeface="Aptos"/>
              </a:rPr>
              <a:t>7</a:t>
            </a:r>
          </a:p>
        </p:txBody>
      </p:sp>
      <p:sp>
        <p:nvSpPr>
          <p:cNvPr id="42" name="Rectangle 41"/>
          <p:cNvSpPr/>
          <p:nvPr/>
        </p:nvSpPr>
        <p:spPr>
          <a:xfrm>
            <a:off x="15907702" y="9473184"/>
            <a:ext cx="941546" cy="566928"/>
          </a:xfrm>
          <a:prstGeom prst="rect">
            <a:avLst/>
          </a:prstGeom>
          <a:solidFill>
            <a:srgbClr val="EF8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marL="0" indent="0">
              <a:lnSpc>
                <a:spcPct val="100000"/>
              </a:lnSpc>
              <a:spcBef>
                <a:spcPts val="0"/>
              </a:spcBef>
              <a:spcAft>
                <a:spcPts val="0"/>
              </a:spcAft>
              <a:buNone/>
            </a:pPr>
            <a:r>
              <a:rPr sz="1800" b="1" i="0">
                <a:solidFill>
                  <a:srgbClr val="FFFFFF"/>
                </a:solidFill>
                <a:latin typeface="Aptos"/>
              </a:rPr>
              <a:t>6</a:t>
            </a:r>
          </a:p>
        </p:txBody>
      </p:sp>
      <p:sp>
        <p:nvSpPr>
          <p:cNvPr id="43" name="Rectangle 42"/>
          <p:cNvSpPr/>
          <p:nvPr/>
        </p:nvSpPr>
        <p:spPr>
          <a:xfrm>
            <a:off x="16849248" y="9473184"/>
            <a:ext cx="941546" cy="566928"/>
          </a:xfrm>
          <a:prstGeom prst="rect">
            <a:avLst/>
          </a:prstGeom>
          <a:solidFill>
            <a:srgbClr val="E6C22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marL="0" indent="0">
              <a:lnSpc>
                <a:spcPct val="100000"/>
              </a:lnSpc>
              <a:spcBef>
                <a:spcPts val="0"/>
              </a:spcBef>
              <a:spcAft>
                <a:spcPts val="0"/>
              </a:spcAft>
              <a:buNone/>
            </a:pPr>
            <a:r>
              <a:rPr sz="1800" b="1" i="0">
                <a:solidFill>
                  <a:srgbClr val="0A0F1C"/>
                </a:solidFill>
                <a:latin typeface="Aptos"/>
              </a:rPr>
              <a:t>5</a:t>
            </a:r>
          </a:p>
        </p:txBody>
      </p:sp>
      <p:sp>
        <p:nvSpPr>
          <p:cNvPr id="44" name="Rectangle 43"/>
          <p:cNvSpPr/>
          <p:nvPr/>
        </p:nvSpPr>
        <p:spPr>
          <a:xfrm>
            <a:off x="17790794" y="9473184"/>
            <a:ext cx="941546" cy="566928"/>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marL="0" indent="0">
              <a:lnSpc>
                <a:spcPct val="100000"/>
              </a:lnSpc>
              <a:spcBef>
                <a:spcPts val="0"/>
              </a:spcBef>
              <a:spcAft>
                <a:spcPts val="0"/>
              </a:spcAft>
              <a:buNone/>
            </a:pPr>
            <a:r>
              <a:rPr sz="1800" b="1" i="0">
                <a:solidFill>
                  <a:srgbClr val="FFFFFF"/>
                </a:solidFill>
                <a:latin typeface="Aptos"/>
              </a:rPr>
              <a:t>4</a:t>
            </a:r>
          </a:p>
        </p:txBody>
      </p:sp>
      <p:sp>
        <p:nvSpPr>
          <p:cNvPr id="45" name="Rectangle 44"/>
          <p:cNvSpPr/>
          <p:nvPr/>
        </p:nvSpPr>
        <p:spPr>
          <a:xfrm>
            <a:off x="18732341" y="9473184"/>
            <a:ext cx="941546" cy="566928"/>
          </a:xfrm>
          <a:prstGeom prst="rect">
            <a:avLst/>
          </a:prstGeom>
          <a:solidFill>
            <a:srgbClr val="1F4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marL="0" indent="0">
              <a:lnSpc>
                <a:spcPct val="100000"/>
              </a:lnSpc>
              <a:spcBef>
                <a:spcPts val="0"/>
              </a:spcBef>
              <a:spcAft>
                <a:spcPts val="0"/>
              </a:spcAft>
              <a:buNone/>
            </a:pPr>
            <a:r>
              <a:rPr sz="1800" b="1" i="0">
                <a:solidFill>
                  <a:srgbClr val="FFFFFF"/>
                </a:solidFill>
                <a:latin typeface="Aptos"/>
              </a:rPr>
              <a:t>3</a:t>
            </a:r>
          </a:p>
        </p:txBody>
      </p:sp>
      <p:sp>
        <p:nvSpPr>
          <p:cNvPr id="46" name="Rectangle 45"/>
          <p:cNvSpPr/>
          <p:nvPr/>
        </p:nvSpPr>
        <p:spPr>
          <a:xfrm>
            <a:off x="19673887" y="9473184"/>
            <a:ext cx="941546" cy="566928"/>
          </a:xfrm>
          <a:prstGeom prst="rect">
            <a:avLst/>
          </a:prstGeom>
          <a:solidFill>
            <a:srgbClr val="3B3B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marL="0" indent="0">
              <a:lnSpc>
                <a:spcPct val="100000"/>
              </a:lnSpc>
              <a:spcBef>
                <a:spcPts val="0"/>
              </a:spcBef>
              <a:spcAft>
                <a:spcPts val="0"/>
              </a:spcAft>
              <a:buNone/>
            </a:pPr>
            <a:r>
              <a:rPr sz="1800" b="1" i="0">
                <a:solidFill>
                  <a:srgbClr val="FFFFFF"/>
                </a:solidFill>
                <a:latin typeface="Aptos"/>
              </a:rPr>
              <a:t>2</a:t>
            </a:r>
          </a:p>
        </p:txBody>
      </p:sp>
      <p:sp>
        <p:nvSpPr>
          <p:cNvPr id="47" name="Rectangle 46"/>
          <p:cNvSpPr/>
          <p:nvPr/>
        </p:nvSpPr>
        <p:spPr>
          <a:xfrm>
            <a:off x="20615433" y="9473184"/>
            <a:ext cx="941546" cy="566928"/>
          </a:xfrm>
          <a:prstGeom prst="rect">
            <a:avLst/>
          </a:prstGeom>
          <a:solidFill>
            <a:srgbClr val="05070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marL="0" indent="0">
              <a:lnSpc>
                <a:spcPct val="100000"/>
              </a:lnSpc>
              <a:spcBef>
                <a:spcPts val="0"/>
              </a:spcBef>
              <a:spcAft>
                <a:spcPts val="0"/>
              </a:spcAft>
              <a:buNone/>
            </a:pPr>
            <a:r>
              <a:rPr sz="1800" b="1" i="0">
                <a:solidFill>
                  <a:srgbClr val="FFFFFF"/>
                </a:solidFill>
                <a:latin typeface="Aptos"/>
              </a:rPr>
              <a:t>1</a:t>
            </a:r>
          </a:p>
        </p:txBody>
      </p:sp>
      <p:sp>
        <p:nvSpPr>
          <p:cNvPr id="48" name="TextBox 47"/>
          <p:cNvSpPr txBox="1"/>
          <p:nvPr/>
        </p:nvSpPr>
        <p:spPr>
          <a:xfrm>
            <a:off x="11510009" y="10268712"/>
            <a:ext cx="2468880" cy="41148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700" b="1" i="0">
                <a:solidFill>
                  <a:srgbClr val="1A2235"/>
                </a:solidFill>
                <a:latin typeface="Aptos"/>
              </a:rPr>
              <a:t>Downtown Gainesville</a:t>
            </a:r>
          </a:p>
        </p:txBody>
      </p:sp>
      <p:cxnSp>
        <p:nvCxnSpPr>
          <p:cNvPr id="49" name="Connector 48"/>
          <p:cNvCxnSpPr/>
          <p:nvPr/>
        </p:nvCxnSpPr>
        <p:spPr>
          <a:xfrm>
            <a:off x="15907702" y="10460736"/>
            <a:ext cx="622093" cy="0"/>
          </a:xfrm>
          <a:prstGeom prst="line">
            <a:avLst/>
          </a:prstGeom>
          <a:ln w="50800">
            <a:solidFill>
              <a:srgbClr val="E9B9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5050222" y="10460736"/>
            <a:ext cx="857480" cy="0"/>
          </a:xfrm>
          <a:prstGeom prst="line">
            <a:avLst/>
          </a:prstGeom>
          <a:ln w="50800">
            <a:solidFill>
              <a:srgbClr val="B86E12"/>
            </a:solidFill>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15871126" y="10351008"/>
            <a:ext cx="73152" cy="219456"/>
          </a:xfrm>
          <a:prstGeom prst="rect">
            <a:avLst/>
          </a:prstGeom>
          <a:solidFill>
            <a:srgbClr val="B86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Oval 51"/>
          <p:cNvSpPr/>
          <p:nvPr/>
        </p:nvSpPr>
        <p:spPr>
          <a:xfrm>
            <a:off x="14940494" y="10351008"/>
            <a:ext cx="219456" cy="219456"/>
          </a:xfrm>
          <a:prstGeom prst="ellipse">
            <a:avLst/>
          </a:prstGeom>
          <a:solidFill>
            <a:srgbClr val="1A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11510009" y="10835640"/>
            <a:ext cx="2468880" cy="41148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700" b="1" i="0">
                <a:solidFill>
                  <a:srgbClr val="1A2235"/>
                </a:solidFill>
                <a:latin typeface="Aptos"/>
              </a:rPr>
              <a:t>Chiefland city center</a:t>
            </a:r>
          </a:p>
        </p:txBody>
      </p:sp>
      <p:cxnSp>
        <p:nvCxnSpPr>
          <p:cNvPr id="54" name="Connector 53"/>
          <p:cNvCxnSpPr/>
          <p:nvPr/>
        </p:nvCxnSpPr>
        <p:spPr>
          <a:xfrm>
            <a:off x="17845718" y="11027664"/>
            <a:ext cx="384465" cy="0"/>
          </a:xfrm>
          <a:prstGeom prst="line">
            <a:avLst/>
          </a:prstGeom>
          <a:ln w="50800">
            <a:solidFill>
              <a:srgbClr val="E9B9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7676668" y="11027664"/>
            <a:ext cx="169050" cy="0"/>
          </a:xfrm>
          <a:prstGeom prst="line">
            <a:avLst/>
          </a:prstGeom>
          <a:ln w="50800">
            <a:solidFill>
              <a:srgbClr val="B86E12"/>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17809142" y="10917936"/>
            <a:ext cx="73152" cy="219456"/>
          </a:xfrm>
          <a:prstGeom prst="rect">
            <a:avLst/>
          </a:prstGeom>
          <a:solidFill>
            <a:srgbClr val="B86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Oval 56"/>
          <p:cNvSpPr/>
          <p:nvPr/>
        </p:nvSpPr>
        <p:spPr>
          <a:xfrm>
            <a:off x="17566940" y="10917936"/>
            <a:ext cx="219456" cy="219456"/>
          </a:xfrm>
          <a:prstGeom prst="ellipse">
            <a:avLst/>
          </a:prstGeom>
          <a:solidFill>
            <a:srgbClr val="1A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11510009" y="11402567"/>
            <a:ext cx="2468880" cy="41148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700" b="1" i="0">
                <a:solidFill>
                  <a:srgbClr val="1A2235"/>
                </a:solidFill>
                <a:latin typeface="Aptos"/>
              </a:rPr>
              <a:t>Paynes Prairie</a:t>
            </a:r>
          </a:p>
        </p:txBody>
      </p:sp>
      <p:cxnSp>
        <p:nvCxnSpPr>
          <p:cNvPr id="59" name="Connector 58"/>
          <p:cNvCxnSpPr/>
          <p:nvPr/>
        </p:nvCxnSpPr>
        <p:spPr>
          <a:xfrm>
            <a:off x="18394953" y="11594592"/>
            <a:ext cx="204002" cy="0"/>
          </a:xfrm>
          <a:prstGeom prst="line">
            <a:avLst/>
          </a:prstGeom>
          <a:ln w="50800">
            <a:solidFill>
              <a:srgbClr val="E9B9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8175259" y="11594592"/>
            <a:ext cx="219694" cy="0"/>
          </a:xfrm>
          <a:prstGeom prst="line">
            <a:avLst/>
          </a:prstGeom>
          <a:ln w="50800">
            <a:solidFill>
              <a:srgbClr val="B86E12"/>
            </a:solidFill>
          </a:ln>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18358377" y="11484863"/>
            <a:ext cx="73152" cy="219456"/>
          </a:xfrm>
          <a:prstGeom prst="rect">
            <a:avLst/>
          </a:prstGeom>
          <a:solidFill>
            <a:srgbClr val="B86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Oval 61"/>
          <p:cNvSpPr/>
          <p:nvPr/>
        </p:nvSpPr>
        <p:spPr>
          <a:xfrm>
            <a:off x="18065531" y="11484863"/>
            <a:ext cx="219456" cy="219456"/>
          </a:xfrm>
          <a:prstGeom prst="ellipse">
            <a:avLst/>
          </a:prstGeom>
          <a:solidFill>
            <a:srgbClr val="1A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11510009" y="11969495"/>
            <a:ext cx="2468880" cy="41148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700" b="1" i="0">
                <a:solidFill>
                  <a:srgbClr val="1A2235"/>
                </a:solidFill>
                <a:latin typeface="Aptos"/>
              </a:rPr>
              <a:t>Rosemary Hill Obs.</a:t>
            </a:r>
          </a:p>
        </p:txBody>
      </p:sp>
      <p:cxnSp>
        <p:nvCxnSpPr>
          <p:cNvPr id="64" name="Connector 63"/>
          <p:cNvCxnSpPr/>
          <p:nvPr/>
        </p:nvCxnSpPr>
        <p:spPr>
          <a:xfrm>
            <a:off x="19203114" y="12161519"/>
            <a:ext cx="329541" cy="0"/>
          </a:xfrm>
          <a:prstGeom prst="line">
            <a:avLst/>
          </a:prstGeom>
          <a:ln w="50800">
            <a:solidFill>
              <a:srgbClr val="E9B9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18732341" y="12161519"/>
            <a:ext cx="470773" cy="0"/>
          </a:xfrm>
          <a:prstGeom prst="line">
            <a:avLst/>
          </a:prstGeom>
          <a:ln w="50800">
            <a:solidFill>
              <a:srgbClr val="B86E12"/>
            </a:solidFill>
          </a:ln>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19166538" y="12051791"/>
            <a:ext cx="73152" cy="219456"/>
          </a:xfrm>
          <a:prstGeom prst="rect">
            <a:avLst/>
          </a:prstGeom>
          <a:solidFill>
            <a:srgbClr val="B86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Oval 66"/>
          <p:cNvSpPr/>
          <p:nvPr/>
        </p:nvSpPr>
        <p:spPr>
          <a:xfrm>
            <a:off x="18622613" y="12051791"/>
            <a:ext cx="219456" cy="219456"/>
          </a:xfrm>
          <a:prstGeom prst="ellipse">
            <a:avLst/>
          </a:prstGeom>
          <a:solidFill>
            <a:srgbClr val="1A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11510009" y="12536423"/>
            <a:ext cx="2468880" cy="41148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700" b="1" i="0">
                <a:solidFill>
                  <a:srgbClr val="1A2235"/>
                </a:solidFill>
                <a:latin typeface="Aptos"/>
              </a:rPr>
              <a:t>Chiefland Astr. Village</a:t>
            </a:r>
          </a:p>
        </p:txBody>
      </p:sp>
      <p:cxnSp>
        <p:nvCxnSpPr>
          <p:cNvPr id="69" name="Connector 68"/>
          <p:cNvCxnSpPr/>
          <p:nvPr/>
        </p:nvCxnSpPr>
        <p:spPr>
          <a:xfrm>
            <a:off x="19673887" y="12728447"/>
            <a:ext cx="376619" cy="0"/>
          </a:xfrm>
          <a:prstGeom prst="line">
            <a:avLst/>
          </a:prstGeom>
          <a:ln w="50800">
            <a:solidFill>
              <a:srgbClr val="E9B9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19532655" y="12728447"/>
            <a:ext cx="141232" cy="0"/>
          </a:xfrm>
          <a:prstGeom prst="line">
            <a:avLst/>
          </a:prstGeom>
          <a:ln w="50800">
            <a:solidFill>
              <a:srgbClr val="B86E12"/>
            </a:solidFill>
          </a:ln>
        </p:spPr>
        <p:style>
          <a:lnRef idx="2">
            <a:schemeClr val="accent1"/>
          </a:lnRef>
          <a:fillRef idx="0">
            <a:schemeClr val="accent1"/>
          </a:fillRef>
          <a:effectRef idx="1">
            <a:schemeClr val="accent1"/>
          </a:effectRef>
          <a:fontRef idx="minor">
            <a:schemeClr val="tx1"/>
          </a:fontRef>
        </p:style>
      </p:cxnSp>
      <p:sp>
        <p:nvSpPr>
          <p:cNvPr id="71" name="Rectangle 70"/>
          <p:cNvSpPr/>
          <p:nvPr/>
        </p:nvSpPr>
        <p:spPr>
          <a:xfrm>
            <a:off x="19637311" y="12618719"/>
            <a:ext cx="73152" cy="219456"/>
          </a:xfrm>
          <a:prstGeom prst="rect">
            <a:avLst/>
          </a:prstGeom>
          <a:solidFill>
            <a:srgbClr val="B86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Oval 71"/>
          <p:cNvSpPr/>
          <p:nvPr/>
        </p:nvSpPr>
        <p:spPr>
          <a:xfrm>
            <a:off x="19422927" y="12618719"/>
            <a:ext cx="219456" cy="219456"/>
          </a:xfrm>
          <a:prstGeom prst="ellipse">
            <a:avLst/>
          </a:prstGeom>
          <a:solidFill>
            <a:srgbClr val="1A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3" name="Connector 72"/>
          <p:cNvCxnSpPr/>
          <p:nvPr/>
        </p:nvCxnSpPr>
        <p:spPr>
          <a:xfrm>
            <a:off x="18347876" y="9381744"/>
            <a:ext cx="0" cy="3657599"/>
          </a:xfrm>
          <a:prstGeom prst="line">
            <a:avLst/>
          </a:prstGeom>
          <a:ln w="19050">
            <a:solidFill>
              <a:srgbClr val="B86E12"/>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16621235" y="10040112"/>
            <a:ext cx="1532128" cy="301752"/>
          </a:xfrm>
          <a:prstGeom prst="rect">
            <a:avLst/>
          </a:prstGeom>
          <a:solidFill>
            <a:srgbClr val="FFFFFF"/>
          </a:solidFill>
        </p:spPr>
        <p:txBody>
          <a:bodyPr wrap="square" anchor="t" lIns="0" rIns="0" tIns="0" bIns="0">
            <a:noAutofit/>
          </a:bodyPr>
          <a:lstStyle/>
          <a:p>
            <a:pPr algn="l" marL="0" indent="0">
              <a:lnSpc>
                <a:spcPct val="100000"/>
              </a:lnSpc>
              <a:spcBef>
                <a:spcPts val="0"/>
              </a:spcBef>
              <a:spcAft>
                <a:spcPts val="0"/>
              </a:spcAft>
              <a:buNone/>
            </a:pPr>
            <a:r>
              <a:rPr sz="1400" b="1" i="0">
                <a:solidFill>
                  <a:srgbClr val="B86E12"/>
                </a:solidFill>
                <a:latin typeface="Aptos"/>
              </a:rPr>
              <a:t>37% / 56% darker</a:t>
            </a:r>
          </a:p>
        </p:txBody>
      </p:sp>
      <p:sp>
        <p:nvSpPr>
          <p:cNvPr id="75" name="TextBox 74"/>
          <p:cNvSpPr txBox="1"/>
          <p:nvPr/>
        </p:nvSpPr>
        <p:spPr>
          <a:xfrm>
            <a:off x="18321623" y="10607040"/>
            <a:ext cx="1532128" cy="301752"/>
          </a:xfrm>
          <a:prstGeom prst="rect">
            <a:avLst/>
          </a:prstGeom>
          <a:solidFill>
            <a:srgbClr val="FFFFFF"/>
          </a:solidFill>
        </p:spPr>
        <p:txBody>
          <a:bodyPr wrap="square" anchor="t" lIns="0" rIns="0" tIns="0" bIns="0">
            <a:noAutofit/>
          </a:bodyPr>
          <a:lstStyle/>
          <a:p>
            <a:pPr algn="l" marL="0" indent="0">
              <a:lnSpc>
                <a:spcPct val="100000"/>
              </a:lnSpc>
              <a:spcBef>
                <a:spcPts val="0"/>
              </a:spcBef>
              <a:spcAft>
                <a:spcPts val="0"/>
              </a:spcAft>
              <a:buNone/>
            </a:pPr>
            <a:r>
              <a:rPr sz="1400" b="1" i="0">
                <a:solidFill>
                  <a:srgbClr val="B86E12"/>
                </a:solidFill>
                <a:latin typeface="Aptos"/>
              </a:rPr>
              <a:t>16% / 47% darker</a:t>
            </a:r>
          </a:p>
        </p:txBody>
      </p:sp>
      <p:sp>
        <p:nvSpPr>
          <p:cNvPr id="76" name="TextBox 75"/>
          <p:cNvSpPr txBox="1"/>
          <p:nvPr/>
        </p:nvSpPr>
        <p:spPr>
          <a:xfrm>
            <a:off x="18690395" y="11173967"/>
            <a:ext cx="1532128" cy="301752"/>
          </a:xfrm>
          <a:prstGeom prst="rect">
            <a:avLst/>
          </a:prstGeom>
          <a:solidFill>
            <a:srgbClr val="FFFFFF"/>
          </a:solidFill>
        </p:spPr>
        <p:txBody>
          <a:bodyPr wrap="square" anchor="t" lIns="0" rIns="0" tIns="0" bIns="0">
            <a:noAutofit/>
          </a:bodyPr>
          <a:lstStyle/>
          <a:p>
            <a:pPr algn="l" marL="0" indent="0">
              <a:lnSpc>
                <a:spcPct val="100000"/>
              </a:lnSpc>
              <a:spcBef>
                <a:spcPts val="0"/>
              </a:spcBef>
              <a:spcAft>
                <a:spcPts val="0"/>
              </a:spcAft>
              <a:buNone/>
            </a:pPr>
            <a:r>
              <a:rPr sz="1400" b="1" i="0">
                <a:solidFill>
                  <a:srgbClr val="B86E12"/>
                </a:solidFill>
                <a:latin typeface="Aptos"/>
              </a:rPr>
              <a:t>23% / 39% darker</a:t>
            </a:r>
          </a:p>
        </p:txBody>
      </p:sp>
      <p:sp>
        <p:nvSpPr>
          <p:cNvPr id="77" name="TextBox 76"/>
          <p:cNvSpPr txBox="1"/>
          <p:nvPr/>
        </p:nvSpPr>
        <p:spPr>
          <a:xfrm>
            <a:off x="19179539" y="11740895"/>
            <a:ext cx="1443227" cy="301752"/>
          </a:xfrm>
          <a:prstGeom prst="rect">
            <a:avLst/>
          </a:prstGeom>
          <a:solidFill>
            <a:srgbClr val="FFFFFF"/>
          </a:solidFill>
        </p:spPr>
        <p:txBody>
          <a:bodyPr wrap="square" anchor="t" lIns="0" rIns="0" tIns="0" bIns="0">
            <a:noAutofit/>
          </a:bodyPr>
          <a:lstStyle/>
          <a:p>
            <a:pPr algn="l" marL="0" indent="0">
              <a:lnSpc>
                <a:spcPct val="100000"/>
              </a:lnSpc>
              <a:spcBef>
                <a:spcPts val="0"/>
              </a:spcBef>
              <a:spcAft>
                <a:spcPts val="0"/>
              </a:spcAft>
              <a:buNone/>
            </a:pPr>
            <a:r>
              <a:rPr sz="1400" b="1" i="0">
                <a:solidFill>
                  <a:srgbClr val="B86E12"/>
                </a:solidFill>
                <a:latin typeface="Aptos"/>
              </a:rPr>
              <a:t>9% / 14% darker</a:t>
            </a:r>
          </a:p>
        </p:txBody>
      </p:sp>
      <p:sp>
        <p:nvSpPr>
          <p:cNvPr id="78" name="TextBox 77"/>
          <p:cNvSpPr txBox="1"/>
          <p:nvPr/>
        </p:nvSpPr>
        <p:spPr>
          <a:xfrm>
            <a:off x="19179539" y="12307823"/>
            <a:ext cx="1354328" cy="301752"/>
          </a:xfrm>
          <a:prstGeom prst="rect">
            <a:avLst/>
          </a:prstGeom>
          <a:solidFill>
            <a:srgbClr val="FFFFFF"/>
          </a:solidFill>
        </p:spPr>
        <p:txBody>
          <a:bodyPr wrap="square" anchor="t" lIns="0" rIns="0" tIns="0" bIns="0">
            <a:noAutofit/>
          </a:bodyPr>
          <a:lstStyle/>
          <a:p>
            <a:pPr algn="l" marL="0" indent="0">
              <a:lnSpc>
                <a:spcPct val="100000"/>
              </a:lnSpc>
              <a:spcBef>
                <a:spcPts val="0"/>
              </a:spcBef>
              <a:spcAft>
                <a:spcPts val="0"/>
              </a:spcAft>
              <a:buNone/>
            </a:pPr>
            <a:r>
              <a:rPr sz="1400" b="1" i="0">
                <a:solidFill>
                  <a:srgbClr val="B86E12"/>
                </a:solidFill>
                <a:latin typeface="Aptos"/>
              </a:rPr>
              <a:t>3% / 6% darker</a:t>
            </a:r>
          </a:p>
        </p:txBody>
      </p:sp>
      <p:sp>
        <p:nvSpPr>
          <p:cNvPr id="79" name="TextBox 78"/>
          <p:cNvSpPr txBox="1"/>
          <p:nvPr/>
        </p:nvSpPr>
        <p:spPr>
          <a:xfrm>
            <a:off x="17433476" y="13066775"/>
            <a:ext cx="2377440" cy="32004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300" b="0" i="0">
                <a:solidFill>
                  <a:srgbClr val="B86E12"/>
                </a:solidFill>
                <a:latin typeface="Aptos"/>
              </a:rPr>
              <a:t>DarkSky Park level (21.2)</a:t>
            </a:r>
            <a:r>
              <a:rPr sz="1300" b="0" i="0" baseline="30000">
                <a:solidFill>
                  <a:srgbClr val="B86E12"/>
                </a:solidFill>
                <a:latin typeface="Aptos"/>
              </a:rPr>
              <a:t>17</a:t>
            </a:r>
          </a:p>
        </p:txBody>
      </p:sp>
      <p:sp>
        <p:nvSpPr>
          <p:cNvPr id="80" name="Oval 79"/>
          <p:cNvSpPr/>
          <p:nvPr/>
        </p:nvSpPr>
        <p:spPr>
          <a:xfrm>
            <a:off x="11555730" y="13459967"/>
            <a:ext cx="182880" cy="182880"/>
          </a:xfrm>
          <a:prstGeom prst="ellipse">
            <a:avLst/>
          </a:prstGeom>
          <a:solidFill>
            <a:srgbClr val="1A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11830049" y="13405103"/>
            <a:ext cx="1188720" cy="32004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400" b="0" i="0">
                <a:solidFill>
                  <a:srgbClr val="4A5368"/>
                </a:solidFill>
                <a:latin typeface="Aptos"/>
              </a:rPr>
              <a:t>today</a:t>
            </a:r>
          </a:p>
        </p:txBody>
      </p:sp>
      <p:cxnSp>
        <p:nvCxnSpPr>
          <p:cNvPr id="82" name="Connector 81"/>
          <p:cNvCxnSpPr/>
          <p:nvPr/>
        </p:nvCxnSpPr>
        <p:spPr>
          <a:xfrm>
            <a:off x="12790169" y="13551407"/>
            <a:ext cx="640080" cy="0"/>
          </a:xfrm>
          <a:prstGeom prst="line">
            <a:avLst/>
          </a:prstGeom>
          <a:ln w="50800">
            <a:solidFill>
              <a:srgbClr val="B86E12"/>
            </a:solidFill>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13521689" y="13405103"/>
            <a:ext cx="2926080" cy="32004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400" b="0" i="0">
                <a:solidFill>
                  <a:srgbClr val="4A5368"/>
                </a:solidFill>
                <a:latin typeface="Aptos"/>
              </a:rPr>
              <a:t>public lights</a:t>
            </a:r>
          </a:p>
        </p:txBody>
      </p:sp>
      <p:cxnSp>
        <p:nvCxnSpPr>
          <p:cNvPr id="84" name="Connector 83"/>
          <p:cNvCxnSpPr/>
          <p:nvPr/>
        </p:nvCxnSpPr>
        <p:spPr>
          <a:xfrm>
            <a:off x="15167609" y="13551407"/>
            <a:ext cx="640080" cy="0"/>
          </a:xfrm>
          <a:prstGeom prst="line">
            <a:avLst/>
          </a:prstGeom>
          <a:ln w="50800">
            <a:solidFill>
              <a:srgbClr val="E9B9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15899130" y="13405103"/>
            <a:ext cx="4937760" cy="32004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400" b="0" i="0">
                <a:solidFill>
                  <a:srgbClr val="4A5368"/>
                </a:solidFill>
                <a:latin typeface="Aptos"/>
              </a:rPr>
              <a:t>+ private lights</a:t>
            </a:r>
          </a:p>
        </p:txBody>
      </p:sp>
      <p:sp>
        <p:nvSpPr>
          <p:cNvPr id="86" name="TextBox 85"/>
          <p:cNvSpPr txBox="1"/>
          <p:nvPr/>
        </p:nvSpPr>
        <p:spPr>
          <a:xfrm>
            <a:off x="11510009" y="13862303"/>
            <a:ext cx="10138409" cy="1481328"/>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2200" b="0" i="0">
                <a:solidFill>
                  <a:srgbClr val="1A2235"/>
                </a:solidFill>
                <a:latin typeface="Aptos"/>
              </a:rPr>
              <a:t>Bortle classes move </a:t>
            </a:r>
            <a:r>
              <a:rPr sz="2200" b="1" i="0">
                <a:solidFill>
                  <a:srgbClr val="B86E12"/>
                </a:solidFill>
                <a:latin typeface="Aptos"/>
              </a:rPr>
              <a:t>one step at most, and only in towns</a:t>
            </a:r>
            <a:r>
              <a:rPr sz="2200" b="0" i="0">
                <a:solidFill>
                  <a:srgbClr val="1A2235"/>
                </a:solidFill>
                <a:latin typeface="Aptos"/>
              </a:rPr>
              <a:t>: downtown Gainesville 7 → 6 and Chiefland city center 5 → 4 once private lights follow. Rosemary Hill and the Chiefland Astronomy Village are already near a natural sky and </a:t>
            </a:r>
            <a:r>
              <a:rPr sz="2200" b="1" i="0">
                <a:solidFill>
                  <a:srgbClr val="B86E12"/>
                </a:solidFill>
                <a:latin typeface="Aptos"/>
              </a:rPr>
              <a:t>stay Bortle 3</a:t>
            </a:r>
            <a:r>
              <a:rPr sz="2200" b="0" i="0">
                <a:solidFill>
                  <a:srgbClr val="1A2235"/>
                </a:solidFill>
                <a:latin typeface="Aptos"/>
              </a:rPr>
              <a:t>: for them the gain is protection from growth.</a:t>
            </a:r>
          </a:p>
        </p:txBody>
      </p:sp>
      <p:sp>
        <p:nvSpPr>
          <p:cNvPr id="87" name="Rectangle 86"/>
          <p:cNvSpPr/>
          <p:nvPr/>
        </p:nvSpPr>
        <p:spPr>
          <a:xfrm>
            <a:off x="11510009" y="15480791"/>
            <a:ext cx="3227069" cy="1691640"/>
          </a:xfrm>
          <a:prstGeom prst="roundRect">
            <a:avLst>
              <a:gd name="adj" fmla="val 7000"/>
            </a:avLst>
          </a:prstGeom>
          <a:solidFill>
            <a:srgbClr val="F4F1E8"/>
          </a:solidFill>
          <a:ln w="12700">
            <a:solidFill>
              <a:srgbClr val="D9D2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11692889" y="15590519"/>
            <a:ext cx="2861310" cy="1508760"/>
          </a:xfrm>
          <a:prstGeom prst="rect">
            <a:avLst/>
          </a:prstGeom>
          <a:noFill/>
        </p:spPr>
        <p:txBody>
          <a:bodyPr wrap="square" anchor="ctr" lIns="0" rIns="0" tIns="0" bIns="0">
            <a:noAutofit/>
          </a:bodyPr>
          <a:lstStyle/>
          <a:p>
            <a:pPr marL="0" indent="0">
              <a:lnSpc>
                <a:spcPct val="95000"/>
              </a:lnSpc>
              <a:spcBef>
                <a:spcPts val="0"/>
              </a:spcBef>
              <a:spcAft>
                <a:spcPts val="0"/>
              </a:spcAft>
              <a:buNone/>
            </a:pPr>
            <a:r>
              <a:rPr sz="3800" b="1" i="0">
                <a:solidFill>
                  <a:srgbClr val="B86E12"/>
                </a:solidFill>
                <a:latin typeface="Aptos Display"/>
              </a:rPr>
              <a:t>37% darker</a:t>
            </a:r>
          </a:p>
          <a:p>
            <a:pPr marL="0" indent="0">
              <a:lnSpc>
                <a:spcPct val="100000"/>
              </a:lnSpc>
              <a:spcBef>
                <a:spcPts val="200"/>
              </a:spcBef>
              <a:spcAft>
                <a:spcPts val="0"/>
              </a:spcAft>
              <a:buNone/>
            </a:pPr>
            <a:r>
              <a:rPr sz="1600" b="0" i="0">
                <a:solidFill>
                  <a:srgbClr val="1A2235"/>
                </a:solidFill>
                <a:latin typeface="Aptos"/>
              </a:rPr>
              <a:t>downtown Gainesville sky,</a:t>
            </a:r>
          </a:p>
          <a:p>
            <a:pPr marL="0" indent="0">
              <a:lnSpc>
                <a:spcPct val="100000"/>
              </a:lnSpc>
              <a:spcBef>
                <a:spcPts val="200"/>
              </a:spcBef>
              <a:spcAft>
                <a:spcPts val="0"/>
              </a:spcAft>
              <a:buNone/>
            </a:pPr>
            <a:r>
              <a:rPr sz="1600" b="0" i="0">
                <a:solidFill>
                  <a:srgbClr val="1A2235"/>
                </a:solidFill>
                <a:latin typeface="Aptos"/>
              </a:rPr>
              <a:t>public lights alone</a:t>
            </a:r>
          </a:p>
        </p:txBody>
      </p:sp>
      <p:sp>
        <p:nvSpPr>
          <p:cNvPr id="89" name="Rectangle 88"/>
          <p:cNvSpPr/>
          <p:nvPr/>
        </p:nvSpPr>
        <p:spPr>
          <a:xfrm>
            <a:off x="14965679" y="15480791"/>
            <a:ext cx="3227069" cy="1691640"/>
          </a:xfrm>
          <a:prstGeom prst="roundRect">
            <a:avLst>
              <a:gd name="adj" fmla="val 7000"/>
            </a:avLst>
          </a:prstGeom>
          <a:solidFill>
            <a:srgbClr val="F4F1E8"/>
          </a:solidFill>
          <a:ln w="12700">
            <a:solidFill>
              <a:srgbClr val="D9D2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Box 89"/>
          <p:cNvSpPr txBox="1"/>
          <p:nvPr/>
        </p:nvSpPr>
        <p:spPr>
          <a:xfrm>
            <a:off x="15148559" y="15590519"/>
            <a:ext cx="2861310" cy="1508760"/>
          </a:xfrm>
          <a:prstGeom prst="rect">
            <a:avLst/>
          </a:prstGeom>
          <a:noFill/>
        </p:spPr>
        <p:txBody>
          <a:bodyPr wrap="square" anchor="ctr" lIns="0" rIns="0" tIns="0" bIns="0">
            <a:noAutofit/>
          </a:bodyPr>
          <a:lstStyle/>
          <a:p>
            <a:pPr marL="0" indent="0">
              <a:lnSpc>
                <a:spcPct val="95000"/>
              </a:lnSpc>
              <a:spcBef>
                <a:spcPts val="0"/>
              </a:spcBef>
              <a:spcAft>
                <a:spcPts val="0"/>
              </a:spcAft>
              <a:buNone/>
            </a:pPr>
            <a:r>
              <a:rPr sz="3800" b="1" i="0">
                <a:solidFill>
                  <a:srgbClr val="B86E12"/>
                </a:solidFill>
                <a:latin typeface="Aptos Display"/>
              </a:rPr>
              <a:t>9 of 10</a:t>
            </a:r>
          </a:p>
          <a:p>
            <a:pPr marL="0" indent="0">
              <a:lnSpc>
                <a:spcPct val="100000"/>
              </a:lnSpc>
              <a:spcBef>
                <a:spcPts val="200"/>
              </a:spcBef>
              <a:spcAft>
                <a:spcPts val="0"/>
              </a:spcAft>
              <a:buNone/>
            </a:pPr>
            <a:r>
              <a:rPr sz="1600" b="0" i="0">
                <a:solidFill>
                  <a:srgbClr val="1A2235"/>
                </a:solidFill>
                <a:latin typeface="Aptos"/>
              </a:rPr>
              <a:t>sites where public lights offset</a:t>
            </a:r>
          </a:p>
          <a:p>
            <a:pPr marL="0" indent="0">
              <a:lnSpc>
                <a:spcPct val="100000"/>
              </a:lnSpc>
              <a:spcBef>
                <a:spcPts val="200"/>
              </a:spcBef>
              <a:spcAft>
                <a:spcPts val="0"/>
              </a:spcAft>
              <a:buNone/>
            </a:pPr>
            <a:r>
              <a:rPr sz="1600" b="0" i="0">
                <a:solidFill>
                  <a:srgbClr val="1A2235"/>
                </a:solidFill>
                <a:latin typeface="Aptos"/>
              </a:rPr>
              <a:t>the growth forecast to 2034</a:t>
            </a:r>
          </a:p>
        </p:txBody>
      </p:sp>
      <p:sp>
        <p:nvSpPr>
          <p:cNvPr id="91" name="Rectangle 90"/>
          <p:cNvSpPr/>
          <p:nvPr/>
        </p:nvSpPr>
        <p:spPr>
          <a:xfrm>
            <a:off x="18421350" y="15480791"/>
            <a:ext cx="3227069" cy="1691640"/>
          </a:xfrm>
          <a:prstGeom prst="roundRect">
            <a:avLst>
              <a:gd name="adj" fmla="val 7000"/>
            </a:avLst>
          </a:prstGeom>
          <a:solidFill>
            <a:srgbClr val="F4F1E8"/>
          </a:solidFill>
          <a:ln w="12700">
            <a:solidFill>
              <a:srgbClr val="D9D2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Box 91"/>
          <p:cNvSpPr txBox="1"/>
          <p:nvPr/>
        </p:nvSpPr>
        <p:spPr>
          <a:xfrm>
            <a:off x="18604230" y="15590519"/>
            <a:ext cx="2861310" cy="1508760"/>
          </a:xfrm>
          <a:prstGeom prst="rect">
            <a:avLst/>
          </a:prstGeom>
          <a:noFill/>
        </p:spPr>
        <p:txBody>
          <a:bodyPr wrap="square" anchor="ctr" lIns="0" rIns="0" tIns="0" bIns="0">
            <a:noAutofit/>
          </a:bodyPr>
          <a:lstStyle/>
          <a:p>
            <a:pPr marL="0" indent="0">
              <a:lnSpc>
                <a:spcPct val="95000"/>
              </a:lnSpc>
              <a:spcBef>
                <a:spcPts val="0"/>
              </a:spcBef>
              <a:spcAft>
                <a:spcPts val="0"/>
              </a:spcAft>
              <a:buNone/>
            </a:pPr>
            <a:r>
              <a:rPr sz="3800" b="1" i="0">
                <a:solidFill>
                  <a:srgbClr val="B86E12"/>
                </a:solidFill>
                <a:latin typeface="Aptos Display"/>
              </a:rPr>
              <a:t>Bortle 5 → 4</a:t>
            </a:r>
          </a:p>
          <a:p>
            <a:pPr marL="0" indent="0">
              <a:lnSpc>
                <a:spcPct val="100000"/>
              </a:lnSpc>
              <a:spcBef>
                <a:spcPts val="200"/>
              </a:spcBef>
              <a:spcAft>
                <a:spcPts val="0"/>
              </a:spcAft>
              <a:buNone/>
            </a:pPr>
            <a:r>
              <a:rPr sz="1600" b="0" i="0">
                <a:solidFill>
                  <a:srgbClr val="1A2235"/>
                </a:solidFill>
                <a:latin typeface="Aptos"/>
              </a:rPr>
              <a:t>Chiefland city center,</a:t>
            </a:r>
          </a:p>
          <a:p>
            <a:pPr marL="0" indent="0">
              <a:lnSpc>
                <a:spcPct val="100000"/>
              </a:lnSpc>
              <a:spcBef>
                <a:spcPts val="200"/>
              </a:spcBef>
              <a:spcAft>
                <a:spcPts val="0"/>
              </a:spcAft>
              <a:buNone/>
            </a:pPr>
            <a:r>
              <a:rPr sz="1600" b="0" i="0">
                <a:solidFill>
                  <a:srgbClr val="1A2235"/>
                </a:solidFill>
                <a:latin typeface="Aptos"/>
              </a:rPr>
              <a:t>if private lights follow</a:t>
            </a:r>
          </a:p>
        </p:txBody>
      </p:sp>
      <p:pic>
        <p:nvPicPr>
          <p:cNvPr id="93" name="Picture 92" descr="allsky_aug_downtown.png"/>
          <p:cNvPicPr>
            <a:picLocks noChangeAspect="1"/>
          </p:cNvPicPr>
          <p:nvPr/>
        </p:nvPicPr>
        <p:blipFill>
          <a:blip r:embed="rId11"/>
          <a:srcRect t="11153" b="28153"/>
          <a:stretch>
            <a:fillRect/>
          </a:stretch>
        </p:blipFill>
        <p:spPr>
          <a:xfrm>
            <a:off x="11510009" y="17401031"/>
            <a:ext cx="4954904" cy="1691640"/>
          </a:xfrm>
          <a:prstGeom prst="roundRect">
            <a:avLst>
              <a:gd name="adj" fmla="val 1200"/>
            </a:avLst>
          </a:prstGeom>
          <a:ln w="9525">
            <a:solidFill>
              <a:srgbClr val="2A3A60"/>
            </a:solidFill>
          </a:ln>
        </p:spPr>
      </p:pic>
      <p:pic>
        <p:nvPicPr>
          <p:cNvPr id="94" name="Picture 93" descr="allsky_aug_rho.png"/>
          <p:cNvPicPr>
            <a:picLocks noChangeAspect="1"/>
          </p:cNvPicPr>
          <p:nvPr/>
        </p:nvPicPr>
        <p:blipFill>
          <a:blip r:embed="rId12"/>
          <a:srcRect t="11153" b="28153"/>
          <a:stretch>
            <a:fillRect/>
          </a:stretch>
        </p:blipFill>
        <p:spPr>
          <a:xfrm>
            <a:off x="16693514" y="17401031"/>
            <a:ext cx="4954904" cy="1691640"/>
          </a:xfrm>
          <a:prstGeom prst="roundRect">
            <a:avLst>
              <a:gd name="adj" fmla="val 1200"/>
            </a:avLst>
          </a:prstGeom>
          <a:ln w="9525">
            <a:solidFill>
              <a:srgbClr val="2A3A60"/>
            </a:solidFill>
          </a:ln>
        </p:spPr>
      </p:pic>
      <p:sp>
        <p:nvSpPr>
          <p:cNvPr id="95" name="TextBox 94"/>
          <p:cNvSpPr txBox="1"/>
          <p:nvPr/>
        </p:nvSpPr>
        <p:spPr>
          <a:xfrm>
            <a:off x="11510009" y="19184111"/>
            <a:ext cx="10138409" cy="649224"/>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1800" b="1" i="0">
                <a:solidFill>
                  <a:srgbClr val="4A5368"/>
                </a:solidFill>
                <a:latin typeface="Aptos"/>
              </a:rPr>
              <a:t>Figure 3.</a:t>
            </a:r>
            <a:r>
              <a:rPr sz="1800" b="0" i="0">
                <a:solidFill>
                  <a:srgbClr val="4A5368"/>
                </a:solidFill>
                <a:latin typeface="Aptos"/>
              </a:rPr>
              <a:t> The same moonless night in the simulator's all-sky view: downtown Gainesville, Bortle 7 (left), and Rosemary Hill, Bortle 3, with the Milky Way (right). Illustrative.</a:t>
            </a:r>
            <a:r>
              <a:rPr sz="1800" b="0" i="0" baseline="30000">
                <a:solidFill>
                  <a:srgbClr val="4A5368"/>
                </a:solidFill>
                <a:latin typeface="Aptos"/>
              </a:rPr>
              <a:t>18</a:t>
            </a:r>
          </a:p>
        </p:txBody>
      </p:sp>
      <p:sp>
        <p:nvSpPr>
          <p:cNvPr id="96" name="Rectangle 95"/>
          <p:cNvSpPr/>
          <p:nvPr/>
        </p:nvSpPr>
        <p:spPr>
          <a:xfrm>
            <a:off x="11510009" y="20153375"/>
            <a:ext cx="10138409" cy="868680"/>
          </a:xfrm>
          <a:prstGeom prst="roundRect">
            <a:avLst>
              <a:gd name="adj" fmla="val 8000"/>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marL="0" indent="0">
              <a:lnSpc>
                <a:spcPct val="100000"/>
              </a:lnSpc>
              <a:spcBef>
                <a:spcPts val="0"/>
              </a:spcBef>
              <a:spcAft>
                <a:spcPts val="0"/>
              </a:spcAft>
              <a:buNone/>
            </a:pPr>
            <a:r>
              <a:rPr sz="3600" b="1" i="0">
                <a:solidFill>
                  <a:srgbClr val="F6B44B"/>
                </a:solidFill>
                <a:latin typeface="Aptos Display"/>
              </a:rPr>
              <a:t>4</a:t>
            </a:r>
            <a:r>
              <a:rPr sz="3600" b="1" i="0">
                <a:solidFill>
                  <a:srgbClr val="FFFFFF"/>
                </a:solidFill>
                <a:latin typeface="Aptos Display"/>
              </a:rPr>
              <a:t>   AI-Assisted Satellite Analysis</a:t>
            </a:r>
          </a:p>
        </p:txBody>
      </p:sp>
      <p:sp>
        <p:nvSpPr>
          <p:cNvPr id="97" name="Rectangle 96"/>
          <p:cNvSpPr/>
          <p:nvPr/>
        </p:nvSpPr>
        <p:spPr>
          <a:xfrm>
            <a:off x="11510009" y="21278087"/>
            <a:ext cx="4954904" cy="1783080"/>
          </a:xfrm>
          <a:prstGeom prst="roundRect">
            <a:avLst>
              <a:gd name="adj" fmla="val 7000"/>
            </a:avLst>
          </a:prstGeom>
          <a:solidFill>
            <a:srgbClr val="F4F1E8"/>
          </a:solidFill>
          <a:ln w="12700">
            <a:solidFill>
              <a:srgbClr val="D9D2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Box 97"/>
          <p:cNvSpPr txBox="1"/>
          <p:nvPr/>
        </p:nvSpPr>
        <p:spPr>
          <a:xfrm>
            <a:off x="11692889" y="21387815"/>
            <a:ext cx="4589144" cy="1600200"/>
          </a:xfrm>
          <a:prstGeom prst="rect">
            <a:avLst/>
          </a:prstGeom>
          <a:noFill/>
        </p:spPr>
        <p:txBody>
          <a:bodyPr wrap="square" anchor="ctr" lIns="0" rIns="0" tIns="0" bIns="0">
            <a:noAutofit/>
          </a:bodyPr>
          <a:lstStyle/>
          <a:p>
            <a:pPr marL="0" indent="0">
              <a:lnSpc>
                <a:spcPct val="95000"/>
              </a:lnSpc>
              <a:spcBef>
                <a:spcPts val="0"/>
              </a:spcBef>
              <a:spcAft>
                <a:spcPts val="0"/>
              </a:spcAft>
              <a:buNone/>
            </a:pPr>
            <a:r>
              <a:rPr sz="5000" b="1" i="0">
                <a:solidFill>
                  <a:srgbClr val="B86E12"/>
                </a:solidFill>
                <a:latin typeface="Aptos Display"/>
              </a:rPr>
              <a:t>≈ 19%</a:t>
            </a:r>
          </a:p>
          <a:p>
            <a:pPr marL="0" indent="0">
              <a:lnSpc>
                <a:spcPct val="100000"/>
              </a:lnSpc>
              <a:spcBef>
                <a:spcPts val="200"/>
              </a:spcBef>
              <a:spcAft>
                <a:spcPts val="0"/>
              </a:spcAft>
              <a:buNone/>
            </a:pPr>
            <a:r>
              <a:rPr sz="1800" b="0" i="0">
                <a:solidFill>
                  <a:srgbClr val="1A2235"/>
                </a:solidFill>
                <a:latin typeface="Aptos"/>
              </a:rPr>
              <a:t>brighter, 2012–2024: AI analysis</a:t>
            </a:r>
          </a:p>
          <a:p>
            <a:pPr marL="0" indent="0">
              <a:lnSpc>
                <a:spcPct val="100000"/>
              </a:lnSpc>
              <a:spcBef>
                <a:spcPts val="200"/>
              </a:spcBef>
              <a:spcAft>
                <a:spcPts val="0"/>
              </a:spcAft>
              <a:buNone/>
            </a:pPr>
            <a:r>
              <a:rPr sz="1800" b="0" i="0">
                <a:solidFill>
                  <a:srgbClr val="1A2235"/>
                </a:solidFill>
                <a:latin typeface="Aptos"/>
              </a:rPr>
              <a:t>of NOAA night imagery</a:t>
            </a:r>
            <a:r>
              <a:rPr sz="1800" b="0" i="0" baseline="30000">
                <a:solidFill>
                  <a:srgbClr val="1A2235"/>
                </a:solidFill>
                <a:latin typeface="Aptos"/>
              </a:rPr>
              <a:t>12</a:t>
            </a:r>
          </a:p>
        </p:txBody>
      </p:sp>
      <p:sp>
        <p:nvSpPr>
          <p:cNvPr id="99" name="Rectangle 98"/>
          <p:cNvSpPr/>
          <p:nvPr/>
        </p:nvSpPr>
        <p:spPr>
          <a:xfrm>
            <a:off x="16693514" y="21278087"/>
            <a:ext cx="4954904" cy="1783080"/>
          </a:xfrm>
          <a:prstGeom prst="roundRect">
            <a:avLst>
              <a:gd name="adj" fmla="val 7000"/>
            </a:avLst>
          </a:prstGeom>
          <a:solidFill>
            <a:srgbClr val="F4F1E8"/>
          </a:solidFill>
          <a:ln w="12700">
            <a:solidFill>
              <a:srgbClr val="D9D2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Box 99"/>
          <p:cNvSpPr txBox="1"/>
          <p:nvPr/>
        </p:nvSpPr>
        <p:spPr>
          <a:xfrm>
            <a:off x="16876394" y="21387815"/>
            <a:ext cx="4589144" cy="1600200"/>
          </a:xfrm>
          <a:prstGeom prst="rect">
            <a:avLst/>
          </a:prstGeom>
          <a:noFill/>
        </p:spPr>
        <p:txBody>
          <a:bodyPr wrap="square" anchor="ctr" lIns="0" rIns="0" tIns="0" bIns="0">
            <a:noAutofit/>
          </a:bodyPr>
          <a:lstStyle/>
          <a:p>
            <a:pPr marL="0" indent="0">
              <a:lnSpc>
                <a:spcPct val="95000"/>
              </a:lnSpc>
              <a:spcBef>
                <a:spcPts val="0"/>
              </a:spcBef>
              <a:spcAft>
                <a:spcPts val="0"/>
              </a:spcAft>
              <a:buNone/>
            </a:pPr>
            <a:r>
              <a:rPr sz="5000" b="1" i="0">
                <a:solidFill>
                  <a:srgbClr val="B86E12"/>
                </a:solidFill>
                <a:latin typeface="Aptos Display"/>
              </a:rPr>
              <a:t>1,493</a:t>
            </a:r>
          </a:p>
          <a:p>
            <a:pPr marL="0" indent="0">
              <a:lnSpc>
                <a:spcPct val="100000"/>
              </a:lnSpc>
              <a:spcBef>
                <a:spcPts val="200"/>
              </a:spcBef>
              <a:spcAft>
                <a:spcPts val="0"/>
              </a:spcAft>
              <a:buNone/>
            </a:pPr>
            <a:r>
              <a:rPr sz="1800" b="0" i="0">
                <a:solidFill>
                  <a:srgbClr val="1A2235"/>
                </a:solidFill>
                <a:latin typeface="Aptos"/>
              </a:rPr>
              <a:t>sudden lighting changes</a:t>
            </a:r>
          </a:p>
          <a:p>
            <a:pPr marL="0" indent="0">
              <a:lnSpc>
                <a:spcPct val="100000"/>
              </a:lnSpc>
              <a:spcBef>
                <a:spcPts val="200"/>
              </a:spcBef>
              <a:spcAft>
                <a:spcPts val="0"/>
              </a:spcAft>
              <a:buNone/>
            </a:pPr>
            <a:r>
              <a:rPr sz="1800" b="0" i="0">
                <a:solidFill>
                  <a:srgbClr val="1A2235"/>
                </a:solidFill>
                <a:latin typeface="Aptos"/>
              </a:rPr>
              <a:t>found (≈29 by chance)</a:t>
            </a:r>
            <a:r>
              <a:rPr sz="1800" b="0" i="0" baseline="30000">
                <a:solidFill>
                  <a:srgbClr val="1A2235"/>
                </a:solidFill>
                <a:latin typeface="Aptos"/>
              </a:rPr>
              <a:t>19</a:t>
            </a:r>
          </a:p>
        </p:txBody>
      </p:sp>
      <p:pic>
        <p:nvPicPr>
          <p:cNvPr id="101" name="Picture 100" descr="trend_map.jpg"/>
          <p:cNvPicPr>
            <a:picLocks noChangeAspect="1"/>
          </p:cNvPicPr>
          <p:nvPr/>
        </p:nvPicPr>
        <p:blipFill>
          <a:blip r:embed="rId13"/>
          <a:srcRect l="5000" t="24397" r="5000" b="24397"/>
          <a:stretch>
            <a:fillRect/>
          </a:stretch>
        </p:blipFill>
        <p:spPr>
          <a:xfrm>
            <a:off x="11510009" y="23289767"/>
            <a:ext cx="4954904" cy="2011680"/>
          </a:xfrm>
          <a:prstGeom prst="roundRect">
            <a:avLst>
              <a:gd name="adj" fmla="val 1200"/>
            </a:avLst>
          </a:prstGeom>
          <a:ln w="9525">
            <a:solidFill>
              <a:srgbClr val="2A3A60"/>
            </a:solidFill>
          </a:ln>
        </p:spPr>
      </p:pic>
      <p:pic>
        <p:nvPicPr>
          <p:cNvPr id="102" name="Picture 101" descr="ai_event_full.jpg"/>
          <p:cNvPicPr>
            <a:picLocks noChangeAspect="1"/>
          </p:cNvPicPr>
          <p:nvPr/>
        </p:nvPicPr>
        <p:blipFill>
          <a:blip r:embed="rId14"/>
          <a:srcRect t="21527" r="25000" b="21527"/>
          <a:stretch>
            <a:fillRect/>
          </a:stretch>
        </p:blipFill>
        <p:spPr>
          <a:xfrm>
            <a:off x="16693514" y="23289767"/>
            <a:ext cx="4954904" cy="2011680"/>
          </a:xfrm>
          <a:prstGeom prst="roundRect">
            <a:avLst>
              <a:gd name="adj" fmla="val 1200"/>
            </a:avLst>
          </a:prstGeom>
          <a:ln w="9525">
            <a:solidFill>
              <a:srgbClr val="2A3A60"/>
            </a:solidFill>
          </a:ln>
        </p:spPr>
      </p:pic>
      <p:sp>
        <p:nvSpPr>
          <p:cNvPr id="103" name="TextBox 102"/>
          <p:cNvSpPr txBox="1"/>
          <p:nvPr/>
        </p:nvSpPr>
        <p:spPr>
          <a:xfrm>
            <a:off x="11510009" y="25392887"/>
            <a:ext cx="10138409" cy="1225296"/>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1800" b="1" i="0">
                <a:solidFill>
                  <a:srgbClr val="4A5368"/>
                </a:solidFill>
                <a:latin typeface="Aptos"/>
              </a:rPr>
              <a:t>Figure 4.</a:t>
            </a:r>
            <a:r>
              <a:rPr sz="1800" b="0" i="0">
                <a:solidFill>
                  <a:srgbClr val="4A5368"/>
                </a:solidFill>
                <a:latin typeface="Aptos"/>
              </a:rPr>
              <a:t> Left: where nighttime radiance rose (orange) or fell (blue), 2012–2024. Right: the largest change event the AI found, Celebration Pointe near I-75, which stepped up in 2016 when Bass Pro Shops opened.</a:t>
            </a:r>
            <a:r>
              <a:rPr sz="1800" b="0" i="0" baseline="30000">
                <a:solidFill>
                  <a:srgbClr val="4A5368"/>
                </a:solidFill>
                <a:latin typeface="Aptos"/>
              </a:rPr>
              <a:t>20</a:t>
            </a:r>
            <a:r>
              <a:rPr sz="1800" b="0" i="0">
                <a:solidFill>
                  <a:srgbClr val="4A5368"/>
                </a:solidFill>
                <a:latin typeface="Aptos"/>
              </a:rPr>
              <a:t> The ≈19% covers the region around Alachua County;</a:t>
            </a:r>
            <a:r>
              <a:rPr sz="1800" b="0" i="0" baseline="30000">
                <a:solidFill>
                  <a:srgbClr val="4A5368"/>
                </a:solidFill>
                <a:latin typeface="Aptos"/>
              </a:rPr>
              <a:t>14</a:t>
            </a:r>
            <a:r>
              <a:rPr sz="1800" b="0" i="0">
                <a:solidFill>
                  <a:srgbClr val="4A5368"/>
                </a:solidFill>
                <a:latin typeface="Aptos"/>
              </a:rPr>
              <a:t> calibrated radiance</a:t>
            </a:r>
            <a:r>
              <a:rPr sz="1800" b="0" i="0" baseline="30000">
                <a:solidFill>
                  <a:srgbClr val="4A5368"/>
                </a:solidFill>
                <a:latin typeface="Aptos"/>
              </a:rPr>
              <a:t>9,10</a:t>
            </a:r>
            <a:r>
              <a:rPr sz="1800" b="0" i="0">
                <a:solidFill>
                  <a:srgbClr val="4A5368"/>
                </a:solidFill>
                <a:latin typeface="Aptos"/>
              </a:rPr>
              <a:t> shows the region up ~20%, the county 3–6%.</a:t>
            </a:r>
          </a:p>
        </p:txBody>
      </p:sp>
      <p:sp>
        <p:nvSpPr>
          <p:cNvPr id="104" name="Rectangle 103"/>
          <p:cNvSpPr/>
          <p:nvPr/>
        </p:nvSpPr>
        <p:spPr>
          <a:xfrm>
            <a:off x="11510009" y="26938223"/>
            <a:ext cx="10138409" cy="868680"/>
          </a:xfrm>
          <a:prstGeom prst="roundRect">
            <a:avLst>
              <a:gd name="adj" fmla="val 8000"/>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marL="0" indent="0">
              <a:lnSpc>
                <a:spcPct val="100000"/>
              </a:lnSpc>
              <a:spcBef>
                <a:spcPts val="0"/>
              </a:spcBef>
              <a:spcAft>
                <a:spcPts val="0"/>
              </a:spcAft>
              <a:buNone/>
            </a:pPr>
            <a:r>
              <a:rPr sz="3600" b="1" i="0">
                <a:solidFill>
                  <a:srgbClr val="F6B44B"/>
                </a:solidFill>
                <a:latin typeface="Aptos Display"/>
              </a:rPr>
              <a:t>5</a:t>
            </a:r>
            <a:r>
              <a:rPr sz="3600" b="1" i="0">
                <a:solidFill>
                  <a:srgbClr val="FFFFFF"/>
                </a:solidFill>
                <a:latin typeface="Aptos Display"/>
              </a:rPr>
              <a:t>   Tech Stack</a:t>
            </a:r>
          </a:p>
        </p:txBody>
      </p:sp>
      <p:sp>
        <p:nvSpPr>
          <p:cNvPr id="105" name="TextBox 104"/>
          <p:cNvSpPr txBox="1"/>
          <p:nvPr/>
        </p:nvSpPr>
        <p:spPr>
          <a:xfrm>
            <a:off x="11510009" y="28062935"/>
            <a:ext cx="2606040" cy="361188"/>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800" b="1" i="0">
                <a:solidFill>
                  <a:srgbClr val="0A0F1C"/>
                </a:solidFill>
                <a:latin typeface="Aptos"/>
              </a:rPr>
              <a:t>AI and machine learning</a:t>
            </a:r>
          </a:p>
        </p:txBody>
      </p:sp>
      <p:sp>
        <p:nvSpPr>
          <p:cNvPr id="106" name="TextBox 105"/>
          <p:cNvSpPr txBox="1"/>
          <p:nvPr/>
        </p:nvSpPr>
        <p:spPr>
          <a:xfrm>
            <a:off x="14253209" y="28062935"/>
            <a:ext cx="7395209" cy="361188"/>
          </a:xfrm>
          <a:prstGeom prst="rect">
            <a:avLst/>
          </a:prstGeom>
          <a:noFill/>
        </p:spPr>
        <p:txBody>
          <a:bodyPr wrap="square" anchor="t" lIns="0" rIns="0" tIns="0" bIns="0">
            <a:noAutofit/>
          </a:bodyPr>
          <a:lstStyle/>
          <a:p>
            <a:pPr algn="l" marL="0" indent="0">
              <a:lnSpc>
                <a:spcPct val="103000"/>
              </a:lnSpc>
              <a:spcBef>
                <a:spcPts val="0"/>
              </a:spcBef>
              <a:spcAft>
                <a:spcPts val="0"/>
              </a:spcAft>
              <a:buNone/>
            </a:pPr>
            <a:r>
              <a:rPr sz="1800" b="1" i="0">
                <a:solidFill>
                  <a:srgbClr val="B86E12"/>
                </a:solidFill>
                <a:latin typeface="Aptos"/>
              </a:rPr>
              <a:t>LightGBM</a:t>
            </a:r>
            <a:r>
              <a:rPr sz="1800" b="0" i="0" baseline="30000">
                <a:solidFill>
                  <a:srgbClr val="1A2235"/>
                </a:solidFill>
                <a:latin typeface="Aptos"/>
              </a:rPr>
              <a:t>21</a:t>
            </a:r>
            <a:r>
              <a:rPr sz="1800" b="0" i="0">
                <a:solidFill>
                  <a:srgbClr val="1A2235"/>
                </a:solidFill>
                <a:latin typeface="Aptos"/>
              </a:rPr>
              <a:t> · scikit-learn · </a:t>
            </a:r>
            <a:r>
              <a:rPr sz="1800" b="1" i="0">
                <a:solidFill>
                  <a:srgbClr val="B86E12"/>
                </a:solidFill>
                <a:latin typeface="Aptos"/>
              </a:rPr>
              <a:t>Claude Code</a:t>
            </a:r>
            <a:r>
              <a:rPr sz="1800" b="0" i="0">
                <a:solidFill>
                  <a:srgbClr val="1A2235"/>
                </a:solidFill>
                <a:latin typeface="Aptos"/>
              </a:rPr>
              <a:t> · </a:t>
            </a:r>
            <a:r>
              <a:rPr sz="1800" b="1" i="0">
                <a:solidFill>
                  <a:srgbClr val="B86E12"/>
                </a:solidFill>
                <a:latin typeface="Aptos"/>
              </a:rPr>
              <a:t>Lovable</a:t>
            </a:r>
          </a:p>
        </p:txBody>
      </p:sp>
      <p:cxnSp>
        <p:nvCxnSpPr>
          <p:cNvPr id="107" name="Connector 106"/>
          <p:cNvCxnSpPr/>
          <p:nvPr/>
        </p:nvCxnSpPr>
        <p:spPr>
          <a:xfrm>
            <a:off x="11510009" y="28478987"/>
            <a:ext cx="10138410" cy="0"/>
          </a:xfrm>
          <a:prstGeom prst="line">
            <a:avLst/>
          </a:prstGeom>
          <a:ln w="12700">
            <a:solidFill>
              <a:srgbClr val="D9D2BD"/>
            </a:solidFill>
          </a:ln>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11510009" y="28542995"/>
            <a:ext cx="2606040" cy="361188"/>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800" b="1" i="0">
                <a:solidFill>
                  <a:srgbClr val="0A0F1C"/>
                </a:solidFill>
                <a:latin typeface="Aptos"/>
              </a:rPr>
              <a:t>Satellite data</a:t>
            </a:r>
          </a:p>
        </p:txBody>
      </p:sp>
      <p:sp>
        <p:nvSpPr>
          <p:cNvPr id="109" name="TextBox 108"/>
          <p:cNvSpPr txBox="1"/>
          <p:nvPr/>
        </p:nvSpPr>
        <p:spPr>
          <a:xfrm>
            <a:off x="14253209" y="28542995"/>
            <a:ext cx="7395209" cy="361188"/>
          </a:xfrm>
          <a:prstGeom prst="rect">
            <a:avLst/>
          </a:prstGeom>
          <a:noFill/>
        </p:spPr>
        <p:txBody>
          <a:bodyPr wrap="square" anchor="t" lIns="0" rIns="0" tIns="0" bIns="0">
            <a:noAutofit/>
          </a:bodyPr>
          <a:lstStyle/>
          <a:p>
            <a:pPr algn="l" marL="0" indent="0">
              <a:lnSpc>
                <a:spcPct val="103000"/>
              </a:lnSpc>
              <a:spcBef>
                <a:spcPts val="0"/>
              </a:spcBef>
              <a:spcAft>
                <a:spcPts val="0"/>
              </a:spcAft>
              <a:buNone/>
            </a:pPr>
            <a:r>
              <a:rPr sz="1800" b="1" i="0">
                <a:solidFill>
                  <a:srgbClr val="B86E12"/>
                </a:solidFill>
                <a:latin typeface="Aptos"/>
              </a:rPr>
              <a:t>Google Earth Engine</a:t>
            </a:r>
            <a:r>
              <a:rPr sz="1800" b="0" i="0">
                <a:solidFill>
                  <a:srgbClr val="1A2235"/>
                </a:solidFill>
                <a:latin typeface="Aptos"/>
              </a:rPr>
              <a:t> · NASA Black Marble · NLCD 2021 · WRI Aqueduct</a:t>
            </a:r>
          </a:p>
        </p:txBody>
      </p:sp>
      <p:cxnSp>
        <p:nvCxnSpPr>
          <p:cNvPr id="110" name="Connector 109"/>
          <p:cNvCxnSpPr/>
          <p:nvPr/>
        </p:nvCxnSpPr>
        <p:spPr>
          <a:xfrm>
            <a:off x="11510009" y="28959047"/>
            <a:ext cx="10138410" cy="0"/>
          </a:xfrm>
          <a:prstGeom prst="line">
            <a:avLst/>
          </a:prstGeom>
          <a:ln w="12700">
            <a:solidFill>
              <a:srgbClr val="D9D2BD"/>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11510009" y="29023055"/>
            <a:ext cx="2606040" cy="649224"/>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800" b="1" i="0">
                <a:solidFill>
                  <a:srgbClr val="0A0F1C"/>
                </a:solidFill>
                <a:latin typeface="Aptos"/>
              </a:rPr>
              <a:t>GIS and open data</a:t>
            </a:r>
          </a:p>
        </p:txBody>
      </p:sp>
      <p:sp>
        <p:nvSpPr>
          <p:cNvPr id="112" name="TextBox 111"/>
          <p:cNvSpPr txBox="1"/>
          <p:nvPr/>
        </p:nvSpPr>
        <p:spPr>
          <a:xfrm>
            <a:off x="14253209" y="29023055"/>
            <a:ext cx="7395209" cy="649224"/>
          </a:xfrm>
          <a:prstGeom prst="rect">
            <a:avLst/>
          </a:prstGeom>
          <a:noFill/>
        </p:spPr>
        <p:txBody>
          <a:bodyPr wrap="square" anchor="t" lIns="0" rIns="0" tIns="0" bIns="0">
            <a:noAutofit/>
          </a:bodyPr>
          <a:lstStyle/>
          <a:p>
            <a:pPr algn="l" marL="0" indent="0">
              <a:lnSpc>
                <a:spcPct val="103000"/>
              </a:lnSpc>
              <a:spcBef>
                <a:spcPts val="0"/>
              </a:spcBef>
              <a:spcAft>
                <a:spcPts val="0"/>
              </a:spcAft>
              <a:buNone/>
            </a:pPr>
            <a:r>
              <a:rPr sz="1800" b="0" i="0">
                <a:solidFill>
                  <a:srgbClr val="1A2235"/>
                </a:solidFill>
                <a:latin typeface="Aptos"/>
              </a:rPr>
              <a:t>USGS 3DEP · Census TIGER · OpenStreetMap · Florida DOR parcels · FNAI · FEMA NFHL · Globe at Night</a:t>
            </a:r>
          </a:p>
        </p:txBody>
      </p:sp>
      <p:cxnSp>
        <p:nvCxnSpPr>
          <p:cNvPr id="113" name="Connector 112"/>
          <p:cNvCxnSpPr/>
          <p:nvPr/>
        </p:nvCxnSpPr>
        <p:spPr>
          <a:xfrm>
            <a:off x="11510009" y="29727144"/>
            <a:ext cx="10138410" cy="0"/>
          </a:xfrm>
          <a:prstGeom prst="line">
            <a:avLst/>
          </a:prstGeom>
          <a:ln w="12700">
            <a:solidFill>
              <a:srgbClr val="D9D2BD"/>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11510009" y="29791152"/>
            <a:ext cx="2606040" cy="361188"/>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800" b="1" i="0">
                <a:solidFill>
                  <a:srgbClr val="0A0F1C"/>
                </a:solidFill>
                <a:latin typeface="Aptos"/>
              </a:rPr>
              <a:t>Data pipeline</a:t>
            </a:r>
          </a:p>
        </p:txBody>
      </p:sp>
      <p:sp>
        <p:nvSpPr>
          <p:cNvPr id="115" name="TextBox 114"/>
          <p:cNvSpPr txBox="1"/>
          <p:nvPr/>
        </p:nvSpPr>
        <p:spPr>
          <a:xfrm>
            <a:off x="14253209" y="29791152"/>
            <a:ext cx="7395209" cy="361188"/>
          </a:xfrm>
          <a:prstGeom prst="rect">
            <a:avLst/>
          </a:prstGeom>
          <a:noFill/>
        </p:spPr>
        <p:txBody>
          <a:bodyPr wrap="square" anchor="t" lIns="0" rIns="0" tIns="0" bIns="0">
            <a:noAutofit/>
          </a:bodyPr>
          <a:lstStyle/>
          <a:p>
            <a:pPr algn="l" marL="0" indent="0">
              <a:lnSpc>
                <a:spcPct val="103000"/>
              </a:lnSpc>
              <a:spcBef>
                <a:spcPts val="0"/>
              </a:spcBef>
              <a:spcAft>
                <a:spcPts val="0"/>
              </a:spcAft>
              <a:buNone/>
            </a:pPr>
            <a:r>
              <a:rPr sz="1800" b="1" i="0">
                <a:solidFill>
                  <a:srgbClr val="B86E12"/>
                </a:solidFill>
                <a:latin typeface="Aptos"/>
              </a:rPr>
              <a:t>Python</a:t>
            </a:r>
            <a:r>
              <a:rPr sz="1800" b="0" i="0">
                <a:solidFill>
                  <a:srgbClr val="1A2235"/>
                </a:solidFill>
                <a:latin typeface="Aptos"/>
              </a:rPr>
              <a:t> · NumPy · SciPy · Shapely</a:t>
            </a:r>
          </a:p>
        </p:txBody>
      </p:sp>
      <p:cxnSp>
        <p:nvCxnSpPr>
          <p:cNvPr id="116" name="Connector 115"/>
          <p:cNvCxnSpPr/>
          <p:nvPr/>
        </p:nvCxnSpPr>
        <p:spPr>
          <a:xfrm>
            <a:off x="11510009" y="30207203"/>
            <a:ext cx="10138410" cy="0"/>
          </a:xfrm>
          <a:prstGeom prst="line">
            <a:avLst/>
          </a:prstGeom>
          <a:ln w="12700">
            <a:solidFill>
              <a:srgbClr val="D9D2BD"/>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11510009" y="30271211"/>
            <a:ext cx="2606040" cy="649224"/>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800" b="1" i="0">
                <a:solidFill>
                  <a:srgbClr val="0A0F1C"/>
                </a:solidFill>
                <a:latin typeface="Aptos"/>
              </a:rPr>
              <a:t>Web app</a:t>
            </a:r>
          </a:p>
        </p:txBody>
      </p:sp>
      <p:sp>
        <p:nvSpPr>
          <p:cNvPr id="118" name="TextBox 117"/>
          <p:cNvSpPr txBox="1"/>
          <p:nvPr/>
        </p:nvSpPr>
        <p:spPr>
          <a:xfrm>
            <a:off x="14253209" y="30271211"/>
            <a:ext cx="7395209" cy="649224"/>
          </a:xfrm>
          <a:prstGeom prst="rect">
            <a:avLst/>
          </a:prstGeom>
          <a:noFill/>
        </p:spPr>
        <p:txBody>
          <a:bodyPr wrap="square" anchor="t" lIns="0" rIns="0" tIns="0" bIns="0">
            <a:noAutofit/>
          </a:bodyPr>
          <a:lstStyle/>
          <a:p>
            <a:pPr algn="l" marL="0" indent="0">
              <a:lnSpc>
                <a:spcPct val="103000"/>
              </a:lnSpc>
              <a:spcBef>
                <a:spcPts val="0"/>
              </a:spcBef>
              <a:spcAft>
                <a:spcPts val="0"/>
              </a:spcAft>
              <a:buNone/>
            </a:pPr>
            <a:r>
              <a:rPr sz="1800" b="1" i="0">
                <a:solidFill>
                  <a:srgbClr val="B86E12"/>
                </a:solidFill>
                <a:latin typeface="Aptos"/>
              </a:rPr>
              <a:t>React</a:t>
            </a:r>
            <a:r>
              <a:rPr sz="1800" b="0" i="0">
                <a:solidFill>
                  <a:srgbClr val="1A2235"/>
                </a:solidFill>
                <a:latin typeface="Aptos"/>
              </a:rPr>
              <a:t> · TypeScript · Vite · Tailwind CSS · </a:t>
            </a:r>
            <a:r>
              <a:rPr sz="1800" b="1" i="0">
                <a:solidFill>
                  <a:srgbClr val="B86E12"/>
                </a:solidFill>
                <a:latin typeface="Aptos"/>
              </a:rPr>
              <a:t>MapLibre GL</a:t>
            </a:r>
            <a:r>
              <a:rPr sz="1800" b="0" i="0">
                <a:solidFill>
                  <a:srgbClr val="1A2235"/>
                </a:solidFill>
                <a:latin typeface="Aptos"/>
              </a:rPr>
              <a:t> · Three.js · Recharts · Zustand · jsPDF · Open-Meteo</a:t>
            </a:r>
          </a:p>
        </p:txBody>
      </p:sp>
      <p:cxnSp>
        <p:nvCxnSpPr>
          <p:cNvPr id="119" name="Connector 118"/>
          <p:cNvCxnSpPr/>
          <p:nvPr/>
        </p:nvCxnSpPr>
        <p:spPr>
          <a:xfrm>
            <a:off x="11510009" y="30975300"/>
            <a:ext cx="10138410" cy="0"/>
          </a:xfrm>
          <a:prstGeom prst="line">
            <a:avLst/>
          </a:prstGeom>
          <a:ln w="12700">
            <a:solidFill>
              <a:srgbClr val="D9D2BD"/>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11510009" y="31039308"/>
            <a:ext cx="2606040" cy="361188"/>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800" b="1" i="0">
                <a:solidFill>
                  <a:srgbClr val="0A0F1C"/>
                </a:solidFill>
                <a:latin typeface="Aptos"/>
              </a:rPr>
              <a:t>Tests and hosting</a:t>
            </a:r>
          </a:p>
        </p:txBody>
      </p:sp>
      <p:sp>
        <p:nvSpPr>
          <p:cNvPr id="121" name="TextBox 120"/>
          <p:cNvSpPr txBox="1"/>
          <p:nvPr/>
        </p:nvSpPr>
        <p:spPr>
          <a:xfrm>
            <a:off x="14253209" y="31039308"/>
            <a:ext cx="7395209" cy="361188"/>
          </a:xfrm>
          <a:prstGeom prst="rect">
            <a:avLst/>
          </a:prstGeom>
          <a:noFill/>
        </p:spPr>
        <p:txBody>
          <a:bodyPr wrap="square" anchor="t" lIns="0" rIns="0" tIns="0" bIns="0">
            <a:noAutofit/>
          </a:bodyPr>
          <a:lstStyle/>
          <a:p>
            <a:pPr algn="l" marL="0" indent="0">
              <a:lnSpc>
                <a:spcPct val="103000"/>
              </a:lnSpc>
              <a:spcBef>
                <a:spcPts val="0"/>
              </a:spcBef>
              <a:spcAft>
                <a:spcPts val="0"/>
              </a:spcAft>
              <a:buNone/>
            </a:pPr>
            <a:r>
              <a:rPr sz="1800" b="0" i="0">
                <a:solidFill>
                  <a:srgbClr val="1A2235"/>
                </a:solidFill>
                <a:latin typeface="Aptos"/>
              </a:rPr>
              <a:t>pytest · Vitest · GitHub · Vercel</a:t>
            </a:r>
          </a:p>
        </p:txBody>
      </p:sp>
      <p:sp>
        <p:nvSpPr>
          <p:cNvPr id="122" name="Rectangle 121"/>
          <p:cNvSpPr/>
          <p:nvPr/>
        </p:nvSpPr>
        <p:spPr>
          <a:xfrm>
            <a:off x="22242780" y="6035040"/>
            <a:ext cx="10138409" cy="868680"/>
          </a:xfrm>
          <a:prstGeom prst="roundRect">
            <a:avLst>
              <a:gd name="adj" fmla="val 8000"/>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marL="0" indent="0">
              <a:lnSpc>
                <a:spcPct val="100000"/>
              </a:lnSpc>
              <a:spcBef>
                <a:spcPts val="0"/>
              </a:spcBef>
              <a:spcAft>
                <a:spcPts val="0"/>
              </a:spcAft>
              <a:buNone/>
            </a:pPr>
            <a:r>
              <a:rPr sz="3600" b="1" i="0">
                <a:solidFill>
                  <a:srgbClr val="F6B44B"/>
                </a:solidFill>
                <a:latin typeface="Aptos Display"/>
              </a:rPr>
              <a:t>6</a:t>
            </a:r>
            <a:r>
              <a:rPr sz="3600" b="1" i="0">
                <a:solidFill>
                  <a:srgbClr val="FFFFFF"/>
                </a:solidFill>
                <a:latin typeface="Aptos Display"/>
              </a:rPr>
              <a:t>   Costs and Savings by Government</a:t>
            </a:r>
          </a:p>
        </p:txBody>
      </p:sp>
      <p:pic>
        <p:nvPicPr>
          <p:cNvPr id="123" name="Picture 122" descr="econ_right_sized.png"/>
          <p:cNvPicPr>
            <a:picLocks noChangeAspect="1"/>
          </p:cNvPicPr>
          <p:nvPr/>
        </p:nvPicPr>
        <p:blipFill>
          <a:blip r:embed="rId15"/>
          <a:srcRect t="10148" b="41148"/>
          <a:stretch>
            <a:fillRect/>
          </a:stretch>
        </p:blipFill>
        <p:spPr>
          <a:xfrm>
            <a:off x="22242780" y="7159752"/>
            <a:ext cx="10138409" cy="3291840"/>
          </a:xfrm>
          <a:prstGeom prst="roundRect">
            <a:avLst>
              <a:gd name="adj" fmla="val 1200"/>
            </a:avLst>
          </a:prstGeom>
          <a:ln w="12700">
            <a:solidFill>
              <a:srgbClr val="2A3A60"/>
            </a:solidFill>
          </a:ln>
        </p:spPr>
      </p:pic>
      <p:sp>
        <p:nvSpPr>
          <p:cNvPr id="124" name="TextBox 123"/>
          <p:cNvSpPr txBox="1"/>
          <p:nvPr/>
        </p:nvSpPr>
        <p:spPr>
          <a:xfrm>
            <a:off x="22242780" y="10543032"/>
            <a:ext cx="10138409" cy="93726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1800" b="1" i="0">
                <a:solidFill>
                  <a:srgbClr val="4A5368"/>
                </a:solidFill>
                <a:latin typeface="Aptos"/>
              </a:rPr>
              <a:t>Figure 5.</a:t>
            </a:r>
            <a:r>
              <a:rPr sz="1800" b="0" i="0">
                <a:solidFill>
                  <a:srgbClr val="4A5368"/>
                </a:solidFill>
                <a:latin typeface="Aptos"/>
              </a:rPr>
              <a:t> Right-sized lights set in the simulator's controls (left): full shielding, 3000 K cap, 30% lower output, no curfew hardware. The map shows where the sky gets darker (blue); the budget card shows $17.19M, $2.77M saved a year, 6.2-year payback.</a:t>
            </a:r>
          </a:p>
        </p:txBody>
      </p:sp>
      <p:sp>
        <p:nvSpPr>
          <p:cNvPr id="125" name="Rectangle 124"/>
          <p:cNvSpPr/>
          <p:nvPr/>
        </p:nvSpPr>
        <p:spPr>
          <a:xfrm>
            <a:off x="22242780" y="11708892"/>
            <a:ext cx="3227069" cy="1737360"/>
          </a:xfrm>
          <a:prstGeom prst="roundRect">
            <a:avLst>
              <a:gd name="adj" fmla="val 7000"/>
            </a:avLst>
          </a:prstGeom>
          <a:solidFill>
            <a:srgbClr val="F4F1E8"/>
          </a:solidFill>
          <a:ln w="12700">
            <a:solidFill>
              <a:srgbClr val="D9D2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TextBox 125"/>
          <p:cNvSpPr txBox="1"/>
          <p:nvPr/>
        </p:nvSpPr>
        <p:spPr>
          <a:xfrm>
            <a:off x="22425660" y="11818620"/>
            <a:ext cx="2861310" cy="1554480"/>
          </a:xfrm>
          <a:prstGeom prst="rect">
            <a:avLst/>
          </a:prstGeom>
          <a:noFill/>
        </p:spPr>
        <p:txBody>
          <a:bodyPr wrap="square" anchor="ctr" lIns="0" rIns="0" tIns="0" bIns="0">
            <a:noAutofit/>
          </a:bodyPr>
          <a:lstStyle/>
          <a:p>
            <a:pPr marL="0" indent="0">
              <a:lnSpc>
                <a:spcPct val="95000"/>
              </a:lnSpc>
              <a:spcBef>
                <a:spcPts val="0"/>
              </a:spcBef>
              <a:spcAft>
                <a:spcPts val="0"/>
              </a:spcAft>
              <a:buNone/>
            </a:pPr>
            <a:r>
              <a:rPr sz="4400" b="1" i="0">
                <a:solidFill>
                  <a:srgbClr val="B86E12"/>
                </a:solidFill>
                <a:latin typeface="Aptos Display"/>
              </a:rPr>
              <a:t>$2.8M</a:t>
            </a:r>
          </a:p>
          <a:p>
            <a:pPr marL="0" indent="0">
              <a:lnSpc>
                <a:spcPct val="100000"/>
              </a:lnSpc>
              <a:spcBef>
                <a:spcPts val="200"/>
              </a:spcBef>
              <a:spcAft>
                <a:spcPts val="0"/>
              </a:spcAft>
              <a:buNone/>
            </a:pPr>
            <a:r>
              <a:rPr sz="1700" b="0" i="0">
                <a:solidFill>
                  <a:srgbClr val="1A2235"/>
                </a:solidFill>
                <a:latin typeface="Aptos"/>
              </a:rPr>
              <a:t>saved every year,</a:t>
            </a:r>
          </a:p>
          <a:p>
            <a:pPr marL="0" indent="0">
              <a:lnSpc>
                <a:spcPct val="100000"/>
              </a:lnSpc>
              <a:spcBef>
                <a:spcPts val="200"/>
              </a:spcBef>
              <a:spcAft>
                <a:spcPts val="0"/>
              </a:spcAft>
              <a:buNone/>
            </a:pPr>
            <a:r>
              <a:rPr sz="1700" b="0" i="0">
                <a:solidFill>
                  <a:srgbClr val="1A2235"/>
                </a:solidFill>
                <a:latin typeface="Aptos"/>
              </a:rPr>
              <a:t>Alachua + Levy</a:t>
            </a:r>
          </a:p>
        </p:txBody>
      </p:sp>
      <p:sp>
        <p:nvSpPr>
          <p:cNvPr id="127" name="Rectangle 126"/>
          <p:cNvSpPr/>
          <p:nvPr/>
        </p:nvSpPr>
        <p:spPr>
          <a:xfrm>
            <a:off x="25698449" y="11708892"/>
            <a:ext cx="3227069" cy="1737360"/>
          </a:xfrm>
          <a:prstGeom prst="roundRect">
            <a:avLst>
              <a:gd name="adj" fmla="val 7000"/>
            </a:avLst>
          </a:prstGeom>
          <a:solidFill>
            <a:srgbClr val="F4F1E8"/>
          </a:solidFill>
          <a:ln w="12700">
            <a:solidFill>
              <a:srgbClr val="D9D2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TextBox 127"/>
          <p:cNvSpPr txBox="1"/>
          <p:nvPr/>
        </p:nvSpPr>
        <p:spPr>
          <a:xfrm>
            <a:off x="25881329" y="11818620"/>
            <a:ext cx="2861310" cy="1554480"/>
          </a:xfrm>
          <a:prstGeom prst="rect">
            <a:avLst/>
          </a:prstGeom>
          <a:noFill/>
        </p:spPr>
        <p:txBody>
          <a:bodyPr wrap="square" anchor="ctr" lIns="0" rIns="0" tIns="0" bIns="0">
            <a:noAutofit/>
          </a:bodyPr>
          <a:lstStyle/>
          <a:p>
            <a:pPr marL="0" indent="0">
              <a:lnSpc>
                <a:spcPct val="95000"/>
              </a:lnSpc>
              <a:spcBef>
                <a:spcPts val="0"/>
              </a:spcBef>
              <a:spcAft>
                <a:spcPts val="0"/>
              </a:spcAft>
              <a:buNone/>
            </a:pPr>
            <a:r>
              <a:rPr sz="4400" b="1" i="0">
                <a:solidFill>
                  <a:srgbClr val="B86E12"/>
                </a:solidFill>
                <a:latin typeface="Aptos Display"/>
              </a:rPr>
              <a:t>6.2 years</a:t>
            </a:r>
          </a:p>
          <a:p>
            <a:pPr marL="0" indent="0">
              <a:lnSpc>
                <a:spcPct val="100000"/>
              </a:lnSpc>
              <a:spcBef>
                <a:spcPts val="200"/>
              </a:spcBef>
              <a:spcAft>
                <a:spcPts val="0"/>
              </a:spcAft>
              <a:buNone/>
            </a:pPr>
            <a:r>
              <a:rPr sz="1700" b="0" i="0">
                <a:solidFill>
                  <a:srgbClr val="1A2235"/>
                </a:solidFill>
                <a:latin typeface="Aptos"/>
              </a:rPr>
              <a:t>to pay back the</a:t>
            </a:r>
          </a:p>
          <a:p>
            <a:pPr marL="0" indent="0">
              <a:lnSpc>
                <a:spcPct val="100000"/>
              </a:lnSpc>
              <a:spcBef>
                <a:spcPts val="200"/>
              </a:spcBef>
              <a:spcAft>
                <a:spcPts val="0"/>
              </a:spcAft>
              <a:buNone/>
            </a:pPr>
            <a:r>
              <a:rPr sz="1700" b="0" i="0">
                <a:solidFill>
                  <a:srgbClr val="1A2235"/>
                </a:solidFill>
                <a:latin typeface="Aptos"/>
              </a:rPr>
              <a:t>$17.2M one-time cost</a:t>
            </a:r>
          </a:p>
        </p:txBody>
      </p:sp>
      <p:sp>
        <p:nvSpPr>
          <p:cNvPr id="129" name="Rectangle 128"/>
          <p:cNvSpPr/>
          <p:nvPr/>
        </p:nvSpPr>
        <p:spPr>
          <a:xfrm>
            <a:off x="29154120" y="11708892"/>
            <a:ext cx="3227069" cy="1737360"/>
          </a:xfrm>
          <a:prstGeom prst="roundRect">
            <a:avLst>
              <a:gd name="adj" fmla="val 7000"/>
            </a:avLst>
          </a:prstGeom>
          <a:solidFill>
            <a:srgbClr val="F4F1E8"/>
          </a:solidFill>
          <a:ln w="12700">
            <a:solidFill>
              <a:srgbClr val="D9D2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TextBox 129"/>
          <p:cNvSpPr txBox="1"/>
          <p:nvPr/>
        </p:nvSpPr>
        <p:spPr>
          <a:xfrm>
            <a:off x="29337000" y="11818620"/>
            <a:ext cx="2861310" cy="1554480"/>
          </a:xfrm>
          <a:prstGeom prst="rect">
            <a:avLst/>
          </a:prstGeom>
          <a:noFill/>
        </p:spPr>
        <p:txBody>
          <a:bodyPr wrap="square" anchor="ctr" lIns="0" rIns="0" tIns="0" bIns="0">
            <a:noAutofit/>
          </a:bodyPr>
          <a:lstStyle/>
          <a:p>
            <a:pPr marL="0" indent="0">
              <a:lnSpc>
                <a:spcPct val="95000"/>
              </a:lnSpc>
              <a:spcBef>
                <a:spcPts val="0"/>
              </a:spcBef>
              <a:spcAft>
                <a:spcPts val="0"/>
              </a:spcAft>
              <a:buNone/>
            </a:pPr>
            <a:r>
              <a:rPr sz="4400" b="1" i="0">
                <a:solidFill>
                  <a:srgbClr val="B86E12"/>
                </a:solidFill>
                <a:latin typeface="Aptos Display"/>
              </a:rPr>
              <a:t>$9.6M</a:t>
            </a:r>
          </a:p>
          <a:p>
            <a:pPr marL="0" indent="0">
              <a:lnSpc>
                <a:spcPct val="100000"/>
              </a:lnSpc>
              <a:spcBef>
                <a:spcPts val="200"/>
              </a:spcBef>
              <a:spcAft>
                <a:spcPts val="0"/>
              </a:spcAft>
              <a:buNone/>
            </a:pPr>
            <a:r>
              <a:rPr sz="1700" b="0" i="0">
                <a:solidFill>
                  <a:srgbClr val="1A2235"/>
                </a:solidFill>
                <a:latin typeface="Aptos"/>
              </a:rPr>
              <a:t>saved every year if all</a:t>
            </a:r>
          </a:p>
          <a:p>
            <a:pPr marL="0" indent="0">
              <a:lnSpc>
                <a:spcPct val="100000"/>
              </a:lnSpc>
              <a:spcBef>
                <a:spcPts val="200"/>
              </a:spcBef>
              <a:spcAft>
                <a:spcPts val="0"/>
              </a:spcAft>
              <a:buNone/>
            </a:pPr>
            <a:r>
              <a:rPr sz="1700" b="0" i="0">
                <a:solidFill>
                  <a:srgbClr val="1A2235"/>
                </a:solidFill>
                <a:latin typeface="Aptos"/>
              </a:rPr>
              <a:t>8 counties adopt</a:t>
            </a:r>
          </a:p>
        </p:txBody>
      </p:sp>
      <p:sp>
        <p:nvSpPr>
          <p:cNvPr id="131" name="TextBox 130"/>
          <p:cNvSpPr txBox="1"/>
          <p:nvPr/>
        </p:nvSpPr>
        <p:spPr>
          <a:xfrm>
            <a:off x="22242780" y="13674852"/>
            <a:ext cx="10138409" cy="77724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2200" b="0" i="0">
                <a:solidFill>
                  <a:srgbClr val="1A2235"/>
                </a:solidFill>
                <a:latin typeface="Aptos"/>
              </a:rPr>
              <a:t>Right-sized public lights save </a:t>
            </a:r>
            <a:r>
              <a:rPr sz="2200" b="1" i="0">
                <a:solidFill>
                  <a:srgbClr val="B86E12"/>
                </a:solidFill>
                <a:latin typeface="Aptos"/>
              </a:rPr>
              <a:t>14.6 million kWh</a:t>
            </a:r>
            <a:r>
              <a:rPr sz="2200" b="0" i="0">
                <a:solidFill>
                  <a:srgbClr val="1A2235"/>
                </a:solidFill>
                <a:latin typeface="Aptos"/>
              </a:rPr>
              <a:t> a year in Alachua and Levy (about 1,360 homes)</a:t>
            </a:r>
            <a:r>
              <a:rPr sz="2200" b="0" i="0" baseline="30000">
                <a:solidFill>
                  <a:srgbClr val="1A2235"/>
                </a:solidFill>
                <a:latin typeface="Aptos"/>
              </a:rPr>
              <a:t>22</a:t>
            </a:r>
            <a:r>
              <a:rPr sz="2200" b="0" i="0">
                <a:solidFill>
                  <a:srgbClr val="1A2235"/>
                </a:solidFill>
                <a:latin typeface="Aptos"/>
              </a:rPr>
              <a:t>; savings are energy plus maintenance at each utility's rates:</a:t>
            </a:r>
            <a:r>
              <a:rPr sz="2200" b="0" i="0" baseline="30000">
                <a:solidFill>
                  <a:srgbClr val="1A2235"/>
                </a:solidFill>
                <a:latin typeface="Aptos"/>
              </a:rPr>
              <a:t>6</a:t>
            </a:r>
          </a:p>
        </p:txBody>
      </p:sp>
      <p:graphicFrame>
        <p:nvGraphicFramePr>
          <p:cNvPr id="132" name="Table 131"/>
          <p:cNvGraphicFramePr>
            <a:graphicFrameLocks noGrp="1"/>
          </p:cNvGraphicFramePr>
          <p:nvPr/>
        </p:nvGraphicFramePr>
        <p:xfrm>
          <a:off x="22242780" y="14589252"/>
          <a:ext cx="10138409" cy="3246117"/>
        </p:xfrm>
        <a:graphic>
          <a:graphicData uri="http://schemas.openxmlformats.org/drawingml/2006/table">
            <a:tbl>
              <a:tblPr firstRow="0" bandRow="0">
                <a:tableStyleId>{5940675A-B579-460E-94D1-54222C63F5DA}</a:tableStyleId>
              </a:tblPr>
              <a:tblGrid>
                <a:gridCol w="4103369"/>
                <a:gridCol w="1325880"/>
                <a:gridCol w="1691640"/>
                <a:gridCol w="1463040"/>
                <a:gridCol w="1554480"/>
              </a:tblGrid>
              <a:tr h="463731">
                <a:tc>
                  <a:txBody>
                    <a:bodyPr wrap="square"/>
                    <a:lstStyle/>
                    <a:p>
                      <a:pPr algn="l"/>
                      <a:r>
                        <a:rPr sz="1700" b="1" i="0">
                          <a:solidFill>
                            <a:srgbClr val="FFFFFF"/>
                          </a:solidFill>
                          <a:latin typeface="Aptos"/>
                        </a:rPr>
                        <a:t>Government (public lights)</a:t>
                      </a:r>
                    </a:p>
                  </a:txBody>
                  <a:tcPr marL="73152" marR="73152" marT="27432" marB="27432" anchor="ctr">
                    <a:solidFill>
                      <a:srgbClr val="0A0F1C"/>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700" b="1" i="0">
                          <a:solidFill>
                            <a:srgbClr val="FFFFFF"/>
                          </a:solidFill>
                          <a:latin typeface="Aptos"/>
                        </a:rPr>
                        <a:t>Cost</a:t>
                      </a:r>
                    </a:p>
                  </a:txBody>
                  <a:tcPr marL="73152" marR="73152" marT="27432" marB="27432" anchor="ctr">
                    <a:solidFill>
                      <a:srgbClr val="0A0F1C"/>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700" b="1" i="0">
                          <a:solidFill>
                            <a:srgbClr val="FFFFFF"/>
                          </a:solidFill>
                          <a:latin typeface="Aptos"/>
                        </a:rPr>
                        <a:t>kWh/yr saved</a:t>
                      </a:r>
                    </a:p>
                  </a:txBody>
                  <a:tcPr marL="73152" marR="73152" marT="27432" marB="27432" anchor="ctr">
                    <a:solidFill>
                      <a:srgbClr val="0A0F1C"/>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700" b="1" i="0">
                          <a:solidFill>
                            <a:srgbClr val="FFFFFF"/>
                          </a:solidFill>
                          <a:latin typeface="Aptos"/>
                        </a:rPr>
                        <a:t>Saved/yr</a:t>
                      </a:r>
                    </a:p>
                  </a:txBody>
                  <a:tcPr marL="73152" marR="73152" marT="27432" marB="27432" anchor="ctr">
                    <a:solidFill>
                      <a:srgbClr val="0A0F1C"/>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700" b="1" i="0">
                          <a:solidFill>
                            <a:srgbClr val="FFFFFF"/>
                          </a:solidFill>
                          <a:latin typeface="Aptos"/>
                        </a:rPr>
                        <a:t>Payback</a:t>
                      </a:r>
                    </a:p>
                  </a:txBody>
                  <a:tcPr marL="73152" marR="73152" marT="27432" marB="27432" anchor="ctr">
                    <a:solidFill>
                      <a:srgbClr val="0A0F1C"/>
                    </a:solidFill>
                    <a:lnL w="9525">
                      <a:solidFill>
                        <a:srgbClr val="D9D2BD"/>
                      </a:solidFill>
                    </a:lnL>
                    <a:lnR w="9525">
                      <a:solidFill>
                        <a:srgbClr val="D9D2BD"/>
                      </a:solidFill>
                    </a:lnR>
                    <a:lnT w="9525">
                      <a:solidFill>
                        <a:srgbClr val="D9D2BD"/>
                      </a:solidFill>
                    </a:lnT>
                    <a:lnB w="9525">
                      <a:solidFill>
                        <a:srgbClr val="D9D2BD"/>
                      </a:solidFill>
                    </a:lnB>
                  </a:tcPr>
                </a:tc>
              </a:tr>
              <a:tr h="463731">
                <a:tc>
                  <a:txBody>
                    <a:bodyPr wrap="square"/>
                    <a:lstStyle/>
                    <a:p>
                      <a:pPr algn="l"/>
                      <a:r>
                        <a:rPr sz="1700" b="0" i="0">
                          <a:solidFill>
                            <a:srgbClr val="1A2235"/>
                          </a:solidFill>
                          <a:latin typeface="Aptos"/>
                        </a:rPr>
                        <a:t>Alachua County (43,517)</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700" b="0" i="0">
                          <a:solidFill>
                            <a:srgbClr val="1A2235"/>
                          </a:solidFill>
                          <a:latin typeface="Aptos"/>
                        </a:rPr>
                        <a:t>$15.3M</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700" b="0" i="0">
                          <a:solidFill>
                            <a:srgbClr val="1A2235"/>
                          </a:solidFill>
                          <a:latin typeface="Aptos"/>
                        </a:rPr>
                        <a:t>13.5M</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700" b="1" i="0">
                          <a:solidFill>
                            <a:srgbClr val="B86E12"/>
                          </a:solidFill>
                          <a:latin typeface="Aptos"/>
                        </a:rPr>
                        <a:t>$2.55M</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700" b="0" i="0">
                          <a:solidFill>
                            <a:srgbClr val="1A2235"/>
                          </a:solidFill>
                          <a:latin typeface="Aptos"/>
                        </a:rPr>
                        <a:t>6.0 yr</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r>
              <a:tr h="463731">
                <a:tc>
                  <a:txBody>
                    <a:bodyPr wrap="square"/>
                    <a:lstStyle/>
                    <a:p>
                      <a:pPr algn="l"/>
                      <a:r>
                        <a:rPr sz="1700" b="0" i="0">
                          <a:solidFill>
                            <a:srgbClr val="1A2235"/>
                          </a:solidFill>
                          <a:latin typeface="Aptos"/>
                        </a:rPr>
                        <a:t>City of Gainesville, GRU (30,000)</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700" b="0" i="0">
                          <a:solidFill>
                            <a:srgbClr val="1A2235"/>
                          </a:solidFill>
                          <a:latin typeface="Aptos"/>
                        </a:rPr>
                        <a:t>$7.20M</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700" b="0" i="0">
                          <a:solidFill>
                            <a:srgbClr val="1A2235"/>
                          </a:solidFill>
                          <a:latin typeface="Aptos"/>
                        </a:rPr>
                        <a:t>8.08M</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700" b="1" i="0">
                          <a:solidFill>
                            <a:srgbClr val="B86E12"/>
                          </a:solidFill>
                          <a:latin typeface="Aptos"/>
                        </a:rPr>
                        <a:t>$1.45M</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700" b="0" i="0">
                          <a:solidFill>
                            <a:srgbClr val="1A2235"/>
                          </a:solidFill>
                          <a:latin typeface="Aptos"/>
                        </a:rPr>
                        <a:t>5.0 yr</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r>
              <a:tr h="463731">
                <a:tc>
                  <a:txBody>
                    <a:bodyPr wrap="square"/>
                    <a:lstStyle/>
                    <a:p>
                      <a:pPr algn="l"/>
                      <a:r>
                        <a:rPr sz="1700" b="0" i="0">
                          <a:solidFill>
                            <a:srgbClr val="1A2235"/>
                          </a:solidFill>
                          <a:latin typeface="Aptos"/>
                        </a:rPr>
                        <a:t>Levy County (3,135)</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700" b="0" i="0">
                          <a:solidFill>
                            <a:srgbClr val="1A2235"/>
                          </a:solidFill>
                          <a:latin typeface="Aptos"/>
                        </a:rPr>
                        <a:t>$1.88M</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700" b="0" i="0">
                          <a:solidFill>
                            <a:srgbClr val="1A2235"/>
                          </a:solidFill>
                          <a:latin typeface="Aptos"/>
                        </a:rPr>
                        <a:t>1.14M</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700" b="1" i="0">
                          <a:solidFill>
                            <a:srgbClr val="B86E12"/>
                          </a:solidFill>
                          <a:latin typeface="Aptos"/>
                        </a:rPr>
                        <a:t>$228K</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700" b="0" i="0">
                          <a:solidFill>
                            <a:srgbClr val="1A2235"/>
                          </a:solidFill>
                          <a:latin typeface="Aptos"/>
                        </a:rPr>
                        <a:t>8.3 yr</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r>
              <a:tr h="463731">
                <a:tc>
                  <a:txBody>
                    <a:bodyPr wrap="square"/>
                    <a:lstStyle/>
                    <a:p>
                      <a:pPr algn="l"/>
                      <a:r>
                        <a:rPr sz="1700" b="0" i="0">
                          <a:solidFill>
                            <a:srgbClr val="1A2235"/>
                          </a:solidFill>
                          <a:latin typeface="Aptos"/>
                        </a:rPr>
                        <a:t>University of Florida (4,100)</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700" b="0" i="0">
                          <a:solidFill>
                            <a:srgbClr val="1A2235"/>
                          </a:solidFill>
                          <a:latin typeface="Aptos"/>
                        </a:rPr>
                        <a:t>$984K</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700" b="0" i="0">
                          <a:solidFill>
                            <a:srgbClr val="1A2235"/>
                          </a:solidFill>
                          <a:latin typeface="Aptos"/>
                        </a:rPr>
                        <a:t>1.10M</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700" b="1" i="0">
                          <a:solidFill>
                            <a:srgbClr val="B86E12"/>
                          </a:solidFill>
                          <a:latin typeface="Aptos"/>
                        </a:rPr>
                        <a:t>$198K</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700" b="0" i="0">
                          <a:solidFill>
                            <a:srgbClr val="1A2235"/>
                          </a:solidFill>
                          <a:latin typeface="Aptos"/>
                        </a:rPr>
                        <a:t>5.0 yr</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r>
              <a:tr h="463731">
                <a:tc>
                  <a:txBody>
                    <a:bodyPr wrap="square"/>
                    <a:lstStyle/>
                    <a:p>
                      <a:pPr algn="l"/>
                      <a:r>
                        <a:rPr sz="1700" b="0" i="0">
                          <a:solidFill>
                            <a:srgbClr val="1A2235"/>
                          </a:solidFill>
                          <a:latin typeface="Aptos"/>
                        </a:rPr>
                        <a:t>State roads, FDOT (1,500)</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700" b="0" i="0">
                          <a:solidFill>
                            <a:srgbClr val="1A2235"/>
                          </a:solidFill>
                          <a:latin typeface="Aptos"/>
                        </a:rPr>
                        <a:t>$900K</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700" b="0" i="0">
                          <a:solidFill>
                            <a:srgbClr val="1A2235"/>
                          </a:solidFill>
                          <a:latin typeface="Aptos"/>
                        </a:rPr>
                        <a:t>544K</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700" b="1" i="0">
                          <a:solidFill>
                            <a:srgbClr val="B86E12"/>
                          </a:solidFill>
                          <a:latin typeface="Aptos"/>
                        </a:rPr>
                        <a:t>$113K</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700" b="0" i="0">
                          <a:solidFill>
                            <a:srgbClr val="1A2235"/>
                          </a:solidFill>
                          <a:latin typeface="Aptos"/>
                        </a:rPr>
                        <a:t>8.0 yr</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r>
              <a:tr h="463731">
                <a:tc>
                  <a:txBody>
                    <a:bodyPr wrap="square"/>
                    <a:lstStyle/>
                    <a:p>
                      <a:pPr algn="l"/>
                      <a:r>
                        <a:rPr sz="1700" b="0" i="0">
                          <a:solidFill>
                            <a:srgbClr val="1A2235"/>
                          </a:solidFill>
                          <a:latin typeface="Aptos"/>
                        </a:rPr>
                        <a:t>City of Chiefland (285)</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700" b="0" i="0">
                          <a:solidFill>
                            <a:srgbClr val="1A2235"/>
                          </a:solidFill>
                          <a:latin typeface="Aptos"/>
                        </a:rPr>
                        <a:t>$171K</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700" b="0" i="0">
                          <a:solidFill>
                            <a:srgbClr val="1A2235"/>
                          </a:solidFill>
                          <a:latin typeface="Aptos"/>
                        </a:rPr>
                        <a:t>103K</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700" b="1" i="0">
                          <a:solidFill>
                            <a:srgbClr val="B86E12"/>
                          </a:solidFill>
                          <a:latin typeface="Aptos"/>
                        </a:rPr>
                        <a:t>$21.5K</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700" b="0" i="0">
                          <a:solidFill>
                            <a:srgbClr val="1A2235"/>
                          </a:solidFill>
                          <a:latin typeface="Aptos"/>
                        </a:rPr>
                        <a:t>8.0 yr</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r>
            </a:tbl>
          </a:graphicData>
        </a:graphic>
      </p:graphicFrame>
      <p:sp>
        <p:nvSpPr>
          <p:cNvPr id="133" name="TextBox 132"/>
          <p:cNvSpPr txBox="1"/>
          <p:nvPr/>
        </p:nvSpPr>
        <p:spPr>
          <a:xfrm>
            <a:off x="22242780" y="17926812"/>
            <a:ext cx="10138409" cy="841247"/>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1600" b="0" i="0">
                <a:solidFill>
                  <a:srgbClr val="4A5368"/>
                </a:solidFill>
                <a:latin typeface="Aptos"/>
              </a:rPr>
              <a:t>Right-sized = fully shielded 3000 K LEDs at 30% fewer lumens, no smart controllers (motion-only lighting saves more but pays back in about 13 years). UF: 4,100 campus pole lights, about 60% already LED,</a:t>
            </a:r>
            <a:r>
              <a:rPr sz="1600" b="0" i="0" baseline="30000">
                <a:solidFill>
                  <a:srgbClr val="4A5368"/>
                </a:solidFill>
                <a:latin typeface="Aptos"/>
              </a:rPr>
              <a:t>23</a:t>
            </a:r>
            <a:r>
              <a:rPr sz="1600" b="0" i="0">
                <a:solidFill>
                  <a:srgbClr val="4A5368"/>
                </a:solidFill>
                <a:latin typeface="Aptos"/>
              </a:rPr>
              <a:t> at GRU rates. Gainesville and FDOT are within Alachua's total, Chiefland within Levy's.</a:t>
            </a:r>
          </a:p>
        </p:txBody>
      </p:sp>
      <p:sp>
        <p:nvSpPr>
          <p:cNvPr id="134" name="Rectangle 133"/>
          <p:cNvSpPr/>
          <p:nvPr/>
        </p:nvSpPr>
        <p:spPr>
          <a:xfrm>
            <a:off x="22242780" y="18996660"/>
            <a:ext cx="10138409" cy="3169767"/>
          </a:xfrm>
          <a:prstGeom prst="roundRect">
            <a:avLst>
              <a:gd name="adj" fmla="val 4000"/>
            </a:avLst>
          </a:prstGeom>
          <a:solidFill>
            <a:srgbClr val="F4F1E8"/>
          </a:solidFill>
          <a:ln w="12700">
            <a:solidFill>
              <a:srgbClr val="D9D2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TextBox 134"/>
          <p:cNvSpPr txBox="1"/>
          <p:nvPr/>
        </p:nvSpPr>
        <p:spPr>
          <a:xfrm>
            <a:off x="22517100" y="19197827"/>
            <a:ext cx="9589769" cy="54864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3000" b="1" i="0">
                <a:solidFill>
                  <a:srgbClr val="0A0F1C"/>
                </a:solidFill>
                <a:latin typeface="Aptos Display"/>
              </a:rPr>
              <a:t>What UF Can Do</a:t>
            </a:r>
          </a:p>
        </p:txBody>
      </p:sp>
      <p:sp>
        <p:nvSpPr>
          <p:cNvPr id="136" name="TextBox 135"/>
          <p:cNvSpPr txBox="1"/>
          <p:nvPr/>
        </p:nvSpPr>
        <p:spPr>
          <a:xfrm>
            <a:off x="22517100" y="19773900"/>
            <a:ext cx="9589769" cy="745236"/>
          </a:xfrm>
          <a:prstGeom prst="rect">
            <a:avLst/>
          </a:prstGeom>
          <a:noFill/>
        </p:spPr>
        <p:txBody>
          <a:bodyPr wrap="square" anchor="t" lIns="0" rIns="0" tIns="0" bIns="0">
            <a:noAutofit/>
          </a:bodyPr>
          <a:lstStyle/>
          <a:p>
            <a:pPr algn="l" marL="0" indent="0">
              <a:lnSpc>
                <a:spcPct val="103000"/>
              </a:lnSpc>
              <a:spcBef>
                <a:spcPts val="0"/>
              </a:spcBef>
              <a:spcAft>
                <a:spcPts val="0"/>
              </a:spcAft>
              <a:buNone/>
            </a:pPr>
            <a:r>
              <a:rPr sz="2100" b="0" i="0">
                <a:solidFill>
                  <a:srgbClr val="1A2235"/>
                </a:solidFill>
                <a:latin typeface="Aptos"/>
              </a:rPr>
              <a:t>Alachua County is writing dark-sky lighting into its plan; UF answers to the State of Florida, not the county, so campus lighting is UF's own decision.</a:t>
            </a:r>
          </a:p>
        </p:txBody>
      </p:sp>
      <p:sp>
        <p:nvSpPr>
          <p:cNvPr id="137" name="TextBox 136"/>
          <p:cNvSpPr txBox="1"/>
          <p:nvPr/>
        </p:nvSpPr>
        <p:spPr>
          <a:xfrm>
            <a:off x="22517100" y="20592288"/>
            <a:ext cx="9589769" cy="1436979"/>
          </a:xfrm>
          <a:prstGeom prst="rect">
            <a:avLst/>
          </a:prstGeom>
          <a:noFill/>
        </p:spPr>
        <p:txBody>
          <a:bodyPr wrap="square" anchor="t" lIns="0" rIns="0" tIns="0" bIns="0">
            <a:noAutofit/>
          </a:bodyPr>
          <a:lstStyle/>
          <a:p>
            <a:pPr marL="256032" indent="-256032">
              <a:lnSpc>
                <a:spcPct val="103000"/>
              </a:lnSpc>
              <a:spcBef>
                <a:spcPts val="0"/>
              </a:spcBef>
              <a:spcAft>
                <a:spcPts val="0"/>
              </a:spcAft>
              <a:buClr>
                <a:srgbClr val="B86E12"/>
              </a:buClr>
              <a:buSzPct val="100000"/>
              <a:buFont typeface="Arial"/>
              <a:buChar char="•"/>
            </a:pPr>
            <a:r>
              <a:rPr sz="2100" b="1" i="0">
                <a:solidFill>
                  <a:srgbClr val="B86E12"/>
                </a:solidFill>
                <a:latin typeface="Aptos"/>
              </a:rPr>
              <a:t>Lead on campus</a:t>
            </a:r>
            <a:r>
              <a:rPr sz="2100" b="0" i="0">
                <a:solidFill>
                  <a:srgbClr val="1A2235"/>
                </a:solidFill>
                <a:latin typeface="Aptos"/>
              </a:rPr>
              <a:t>: upgrade UF's 4,100 pole lights for </a:t>
            </a:r>
            <a:r>
              <a:rPr sz="2100" b="1" i="0">
                <a:solidFill>
                  <a:srgbClr val="B86E12"/>
                </a:solidFill>
                <a:latin typeface="Aptos"/>
              </a:rPr>
              <a:t>$984K</a:t>
            </a:r>
            <a:r>
              <a:rPr sz="2100" b="0" i="0">
                <a:solidFill>
                  <a:srgbClr val="1A2235"/>
                </a:solidFill>
                <a:latin typeface="Aptos"/>
              </a:rPr>
              <a:t> and save </a:t>
            </a:r>
            <a:r>
              <a:rPr sz="2100" b="1" i="0">
                <a:solidFill>
                  <a:srgbClr val="B86E12"/>
                </a:solidFill>
                <a:latin typeface="Aptos"/>
              </a:rPr>
              <a:t>$198K</a:t>
            </a:r>
            <a:r>
              <a:rPr sz="2100" b="0" i="0">
                <a:solidFill>
                  <a:srgbClr val="1A2235"/>
                </a:solidFill>
                <a:latin typeface="Aptos"/>
              </a:rPr>
              <a:t> a year</a:t>
            </a:r>
          </a:p>
          <a:p>
            <a:pPr marL="256032" indent="-256032">
              <a:lnSpc>
                <a:spcPct val="103000"/>
              </a:lnSpc>
              <a:spcBef>
                <a:spcPts val="600"/>
              </a:spcBef>
              <a:spcAft>
                <a:spcPts val="0"/>
              </a:spcAft>
              <a:buClr>
                <a:srgbClr val="B86E12"/>
              </a:buClr>
              <a:buSzPct val="100000"/>
              <a:buFont typeface="Arial"/>
              <a:buChar char="•"/>
            </a:pPr>
            <a:r>
              <a:rPr sz="2100" b="1" i="0">
                <a:solidFill>
                  <a:srgbClr val="B86E12"/>
                </a:solidFill>
                <a:latin typeface="Aptos"/>
              </a:rPr>
              <a:t>Protect UF's skies</a:t>
            </a:r>
            <a:r>
              <a:rPr sz="2100" b="0" i="0">
                <a:solidFill>
                  <a:srgbClr val="1A2235"/>
                </a:solidFill>
                <a:latin typeface="Aptos"/>
              </a:rPr>
              <a:t>: keep Rosemary Hill and the next observatory site dark</a:t>
            </a:r>
          </a:p>
          <a:p>
            <a:pPr marL="256032" indent="-256032">
              <a:lnSpc>
                <a:spcPct val="103000"/>
              </a:lnSpc>
              <a:spcBef>
                <a:spcPts val="600"/>
              </a:spcBef>
              <a:spcAft>
                <a:spcPts val="0"/>
              </a:spcAft>
              <a:buClr>
                <a:srgbClr val="B86E12"/>
              </a:buClr>
              <a:buSzPct val="100000"/>
              <a:buFont typeface="Arial"/>
              <a:buChar char="•"/>
            </a:pPr>
            <a:r>
              <a:rPr sz="2100" b="1" i="0">
                <a:solidFill>
                  <a:srgbClr val="B86E12"/>
                </a:solidFill>
                <a:latin typeface="Aptos"/>
              </a:rPr>
              <a:t>Measure the real sky</a:t>
            </a:r>
            <a:r>
              <a:rPr sz="2100" b="0" i="0">
                <a:solidFill>
                  <a:srgbClr val="1A2235"/>
                </a:solidFill>
                <a:latin typeface="Aptos"/>
              </a:rPr>
              <a:t>: fund a </a:t>
            </a:r>
            <a:r>
              <a:rPr sz="2100" b="1" i="0">
                <a:solidFill>
                  <a:srgbClr val="B86E12"/>
                </a:solidFill>
                <a:latin typeface="Aptos"/>
              </a:rPr>
              <a:t>$6,000</a:t>
            </a:r>
            <a:r>
              <a:rPr sz="2100" b="0" i="0">
                <a:solidFill>
                  <a:srgbClr val="1A2235"/>
                </a:solidFill>
                <a:latin typeface="Aptos"/>
              </a:rPr>
              <a:t> network of sky sensors to check the model</a:t>
            </a:r>
          </a:p>
        </p:txBody>
      </p:sp>
      <p:sp>
        <p:nvSpPr>
          <p:cNvPr id="138" name="Rectangle 137"/>
          <p:cNvSpPr/>
          <p:nvPr/>
        </p:nvSpPr>
        <p:spPr>
          <a:xfrm>
            <a:off x="22242780" y="22486467"/>
            <a:ext cx="10138409" cy="868680"/>
          </a:xfrm>
          <a:prstGeom prst="roundRect">
            <a:avLst>
              <a:gd name="adj" fmla="val 8000"/>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marL="0" indent="0">
              <a:lnSpc>
                <a:spcPct val="100000"/>
              </a:lnSpc>
              <a:spcBef>
                <a:spcPts val="0"/>
              </a:spcBef>
              <a:spcAft>
                <a:spcPts val="0"/>
              </a:spcAft>
              <a:buNone/>
            </a:pPr>
            <a:r>
              <a:rPr sz="3600" b="1" i="0">
                <a:solidFill>
                  <a:srgbClr val="F6B44B"/>
                </a:solidFill>
                <a:latin typeface="Aptos Display"/>
              </a:rPr>
              <a:t>7</a:t>
            </a:r>
            <a:r>
              <a:rPr sz="3600" b="1" i="0">
                <a:solidFill>
                  <a:srgbClr val="FFFFFF"/>
                </a:solidFill>
                <a:latin typeface="Aptos Display"/>
              </a:rPr>
              <a:t>   Build Mode: DarkSky-Compliant Fixtures</a:t>
            </a:r>
          </a:p>
        </p:txBody>
      </p:sp>
      <p:pic>
        <p:nvPicPr>
          <p:cNvPr id="139" name="Picture 138" descr="build_full_county.png"/>
          <p:cNvPicPr>
            <a:picLocks noChangeAspect="1"/>
          </p:cNvPicPr>
          <p:nvPr/>
        </p:nvPicPr>
        <p:blipFill>
          <a:blip r:embed="rId16"/>
          <a:stretch>
            <a:fillRect/>
          </a:stretch>
        </p:blipFill>
        <p:spPr>
          <a:xfrm>
            <a:off x="24431625" y="23611179"/>
            <a:ext cx="5760720" cy="3840480"/>
          </a:xfrm>
          <a:prstGeom prst="roundRect">
            <a:avLst>
              <a:gd name="adj" fmla="val 1200"/>
            </a:avLst>
          </a:prstGeom>
          <a:ln w="12700">
            <a:solidFill>
              <a:srgbClr val="2A3A60"/>
            </a:solidFill>
          </a:ln>
        </p:spPr>
      </p:pic>
      <p:sp>
        <p:nvSpPr>
          <p:cNvPr id="140" name="TextBox 139"/>
          <p:cNvSpPr txBox="1"/>
          <p:nvPr/>
        </p:nvSpPr>
        <p:spPr>
          <a:xfrm>
            <a:off x="22242780" y="27543099"/>
            <a:ext cx="10138409" cy="93726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1800" b="1" i="0">
                <a:solidFill>
                  <a:srgbClr val="4A5368"/>
                </a:solidFill>
                <a:latin typeface="Aptos"/>
              </a:rPr>
              <a:t>Figure 6.</a:t>
            </a:r>
            <a:r>
              <a:rPr sz="1800" b="0" i="0">
                <a:solidFill>
                  <a:srgbClr val="4A5368"/>
                </a:solidFill>
                <a:latin typeface="Aptos"/>
              </a:rPr>
              <a:t> Build mode with four fixture types (street, parking-lot, porch, sports). Markers cluster where fixtures would be replaced; cards show color temperature, uplight rating, lumens, watts and cost.</a:t>
            </a:r>
          </a:p>
        </p:txBody>
      </p:sp>
      <p:pic>
        <p:nvPicPr>
          <p:cNvPr id="141" name="Picture 140" descr="darksky_approved.png"/>
          <p:cNvPicPr>
            <a:picLocks noChangeAspect="1"/>
          </p:cNvPicPr>
          <p:nvPr/>
        </p:nvPicPr>
        <p:blipFill>
          <a:blip r:embed="rId17"/>
          <a:stretch>
            <a:fillRect/>
          </a:stretch>
        </p:blipFill>
        <p:spPr>
          <a:xfrm>
            <a:off x="22334220" y="28708959"/>
            <a:ext cx="1828800" cy="1828800"/>
          </a:xfrm>
          <a:prstGeom prst="rect">
            <a:avLst/>
          </a:prstGeom>
        </p:spPr>
      </p:pic>
      <p:sp>
        <p:nvSpPr>
          <p:cNvPr id="142" name="TextBox 141"/>
          <p:cNvSpPr txBox="1"/>
          <p:nvPr/>
        </p:nvSpPr>
        <p:spPr>
          <a:xfrm>
            <a:off x="24528780" y="28800399"/>
            <a:ext cx="7852409" cy="1828800"/>
          </a:xfrm>
          <a:prstGeom prst="rect">
            <a:avLst/>
          </a:prstGeom>
          <a:noFill/>
        </p:spPr>
        <p:txBody>
          <a:bodyPr wrap="square" anchor="t" lIns="0" rIns="0" tIns="0" bIns="0">
            <a:noAutofit/>
          </a:bodyPr>
          <a:lstStyle/>
          <a:p>
            <a:pPr algn="l" marL="0" indent="0">
              <a:lnSpc>
                <a:spcPct val="103000"/>
              </a:lnSpc>
              <a:spcBef>
                <a:spcPts val="0"/>
              </a:spcBef>
              <a:spcAft>
                <a:spcPts val="0"/>
              </a:spcAft>
              <a:buNone/>
            </a:pPr>
            <a:r>
              <a:rPr sz="2100" b="1" i="0">
                <a:solidFill>
                  <a:srgbClr val="B86E12"/>
                </a:solidFill>
                <a:latin typeface="Aptos"/>
              </a:rPr>
              <a:t>17 fixture types</a:t>
            </a:r>
            <a:r>
              <a:rPr sz="2100" b="0" i="0">
                <a:solidFill>
                  <a:srgbClr val="1A2235"/>
                </a:solidFill>
                <a:latin typeface="Aptos"/>
              </a:rPr>
              <a:t> in six categories follow DarkSky lighting principles: fully shielded, warm color, no more light than needed.</a:t>
            </a:r>
            <a:r>
              <a:rPr sz="2100" b="0" i="0" baseline="30000">
                <a:solidFill>
                  <a:srgbClr val="1A2235"/>
                </a:solidFill>
                <a:latin typeface="Aptos"/>
              </a:rPr>
              <a:t>4</a:t>
            </a:r>
            <a:r>
              <a:rPr sz="2100" b="0" i="0">
                <a:solidFill>
                  <a:srgbClr val="1A2235"/>
                </a:solidFill>
                <a:latin typeface="Aptos"/>
              </a:rPr>
              <a:t> Each card links to DarkSky International's </a:t>
            </a:r>
            <a:r>
              <a:rPr sz="2100" b="1" i="0">
                <a:solidFill>
                  <a:srgbClr val="B86E12"/>
                </a:solidFill>
                <a:latin typeface="Aptos"/>
              </a:rPr>
              <a:t>DarkSky Approved</a:t>
            </a:r>
            <a:r>
              <a:rPr sz="2100" b="0" i="0">
                <a:solidFill>
                  <a:srgbClr val="1A2235"/>
                </a:solidFill>
                <a:latin typeface="Aptos"/>
              </a:rPr>
              <a:t> program to choose certified products; installed costs run from </a:t>
            </a:r>
            <a:r>
              <a:rPr sz="2100" b="1" i="0">
                <a:solidFill>
                  <a:srgbClr val="B86E12"/>
                </a:solidFill>
                <a:latin typeface="Aptos"/>
              </a:rPr>
              <a:t>$162</a:t>
            </a:r>
            <a:r>
              <a:rPr sz="2100" b="0" i="0">
                <a:solidFill>
                  <a:srgbClr val="1A2235"/>
                </a:solidFill>
                <a:latin typeface="Aptos"/>
              </a:rPr>
              <a:t> (porch light) to </a:t>
            </a:r>
            <a:r>
              <a:rPr sz="2100" b="1" i="0">
                <a:solidFill>
                  <a:srgbClr val="B86E12"/>
                </a:solidFill>
                <a:latin typeface="Aptos"/>
              </a:rPr>
              <a:t>$8,250</a:t>
            </a:r>
            <a:r>
              <a:rPr sz="2100" b="0" i="0">
                <a:solidFill>
                  <a:srgbClr val="1A2235"/>
                </a:solidFill>
                <a:latin typeface="Aptos"/>
              </a:rPr>
              <a:t> (sports floodlight).</a:t>
            </a:r>
            <a:r>
              <a:rPr sz="2100" b="0" i="0" baseline="30000">
                <a:solidFill>
                  <a:srgbClr val="1A2235"/>
                </a:solidFill>
                <a:latin typeface="Aptos"/>
              </a:rPr>
              <a:t>6,24</a:t>
            </a:r>
          </a:p>
        </p:txBody>
      </p:sp>
      <p:sp>
        <p:nvSpPr>
          <p:cNvPr id="143" name="TextBox 142"/>
          <p:cNvSpPr txBox="1"/>
          <p:nvPr/>
        </p:nvSpPr>
        <p:spPr>
          <a:xfrm>
            <a:off x="22242780" y="30674919"/>
            <a:ext cx="10138409" cy="361188"/>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1800" b="1" i="0">
                <a:solidFill>
                  <a:srgbClr val="4A5368"/>
                </a:solidFill>
                <a:latin typeface="Aptos"/>
              </a:rPr>
              <a:t>Figure 7.</a:t>
            </a:r>
            <a:r>
              <a:rPr sz="1800" b="0" i="0">
                <a:solidFill>
                  <a:srgbClr val="4A5368"/>
                </a:solidFill>
                <a:latin typeface="Aptos"/>
              </a:rPr>
              <a:t> DarkSky Approved seal, DarkSky International.</a:t>
            </a:r>
            <a:r>
              <a:rPr sz="1800" b="0" i="0" baseline="30000">
                <a:solidFill>
                  <a:srgbClr val="4A5368"/>
                </a:solidFill>
                <a:latin typeface="Aptos"/>
              </a:rPr>
              <a:t>25</a:t>
            </a:r>
          </a:p>
        </p:txBody>
      </p:sp>
      <p:sp>
        <p:nvSpPr>
          <p:cNvPr id="144" name="Rectangle 143"/>
          <p:cNvSpPr/>
          <p:nvPr/>
        </p:nvSpPr>
        <p:spPr>
          <a:xfrm>
            <a:off x="32975550" y="6035040"/>
            <a:ext cx="10138409" cy="868680"/>
          </a:xfrm>
          <a:prstGeom prst="roundRect">
            <a:avLst>
              <a:gd name="adj" fmla="val 8000"/>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marL="0" indent="0">
              <a:lnSpc>
                <a:spcPct val="100000"/>
              </a:lnSpc>
              <a:spcBef>
                <a:spcPts val="0"/>
              </a:spcBef>
              <a:spcAft>
                <a:spcPts val="0"/>
              </a:spcAft>
              <a:buNone/>
            </a:pPr>
            <a:r>
              <a:rPr sz="3600" b="1" i="0">
                <a:solidFill>
                  <a:srgbClr val="F6B44B"/>
                </a:solidFill>
                <a:latin typeface="Aptos Display"/>
              </a:rPr>
              <a:t>8</a:t>
            </a:r>
            <a:r>
              <a:rPr sz="3600" b="1" i="0">
                <a:solidFill>
                  <a:srgbClr val="FFFFFF"/>
                </a:solidFill>
                <a:latin typeface="Aptos Display"/>
              </a:rPr>
              <a:t>   Levy County and Rosemary Hill</a:t>
            </a:r>
          </a:p>
        </p:txBody>
      </p:sp>
      <p:sp>
        <p:nvSpPr>
          <p:cNvPr id="145" name="TextBox 144"/>
          <p:cNvSpPr txBox="1"/>
          <p:nvPr/>
        </p:nvSpPr>
        <p:spPr>
          <a:xfrm>
            <a:off x="32975550" y="7159752"/>
            <a:ext cx="10138409" cy="1673352"/>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2500" b="0" i="0">
                <a:solidFill>
                  <a:srgbClr val="1A2235"/>
                </a:solidFill>
                <a:latin typeface="Aptos"/>
              </a:rPr>
              <a:t>The platform is now expanding into </a:t>
            </a:r>
            <a:r>
              <a:rPr sz="2500" b="1" i="0">
                <a:solidFill>
                  <a:srgbClr val="B86E12"/>
                </a:solidFill>
                <a:latin typeface="Aptos"/>
              </a:rPr>
              <a:t>Levy County</a:t>
            </a:r>
            <a:r>
              <a:rPr sz="2500" b="0" i="0">
                <a:solidFill>
                  <a:srgbClr val="1A2235"/>
                </a:solidFill>
                <a:latin typeface="Aptos"/>
              </a:rPr>
              <a:t>, home to UF's </a:t>
            </a:r>
            <a:r>
              <a:rPr sz="2500" b="1" i="0">
                <a:solidFill>
                  <a:srgbClr val="B86E12"/>
                </a:solidFill>
                <a:latin typeface="Aptos"/>
              </a:rPr>
              <a:t>Rosemary Hill Observatory</a:t>
            </a:r>
            <a:r>
              <a:rPr sz="2500" b="0" i="0">
                <a:solidFill>
                  <a:srgbClr val="1A2235"/>
                </a:solidFill>
                <a:latin typeface="Aptos"/>
              </a:rPr>
              <a:t> and the </a:t>
            </a:r>
            <a:r>
              <a:rPr sz="2500" b="1" i="0">
                <a:solidFill>
                  <a:srgbClr val="B86E12"/>
                </a:solidFill>
                <a:latin typeface="Aptos"/>
              </a:rPr>
              <a:t>Chiefland Astronomy Village</a:t>
            </a:r>
            <a:r>
              <a:rPr sz="2500" b="0" i="0">
                <a:solidFill>
                  <a:srgbClr val="1A2235"/>
                </a:solidFill>
                <a:latin typeface="Aptos"/>
              </a:rPr>
              <a:t>, a working dark-sky observing community increasingly vulnerable to development and skyglow.</a:t>
            </a:r>
          </a:p>
        </p:txBody>
      </p:sp>
      <p:pic>
        <p:nvPicPr>
          <p:cNvPr id="146" name="Picture 145" descr="photo_rho_dome.jpg"/>
          <p:cNvPicPr>
            <a:picLocks noChangeAspect="1"/>
          </p:cNvPicPr>
          <p:nvPr/>
        </p:nvPicPr>
        <p:blipFill>
          <a:blip r:embed="rId18"/>
          <a:stretch>
            <a:fillRect/>
          </a:stretch>
        </p:blipFill>
        <p:spPr>
          <a:xfrm>
            <a:off x="32975550" y="9061704"/>
            <a:ext cx="4765052" cy="3198361"/>
          </a:xfrm>
          <a:prstGeom prst="roundRect">
            <a:avLst>
              <a:gd name="adj" fmla="val 1200"/>
            </a:avLst>
          </a:prstGeom>
        </p:spPr>
      </p:pic>
      <p:sp>
        <p:nvSpPr>
          <p:cNvPr id="147" name="TextBox 146"/>
          <p:cNvSpPr txBox="1"/>
          <p:nvPr/>
        </p:nvSpPr>
        <p:spPr>
          <a:xfrm>
            <a:off x="38014922" y="9061704"/>
            <a:ext cx="5099037" cy="3747001"/>
          </a:xfrm>
          <a:prstGeom prst="rect">
            <a:avLst/>
          </a:prstGeom>
          <a:noFill/>
        </p:spPr>
        <p:txBody>
          <a:bodyPr wrap="square" anchor="t" lIns="0" rIns="0" tIns="0" bIns="0">
            <a:noAutofit/>
          </a:bodyPr>
          <a:lstStyle/>
          <a:p>
            <a:pPr algn="l" marL="0" indent="0">
              <a:lnSpc>
                <a:spcPct val="103000"/>
              </a:lnSpc>
              <a:spcBef>
                <a:spcPts val="0"/>
              </a:spcBef>
              <a:spcAft>
                <a:spcPts val="0"/>
              </a:spcAft>
              <a:buNone/>
            </a:pPr>
            <a:r>
              <a:rPr sz="1800" b="1" i="0">
                <a:solidFill>
                  <a:srgbClr val="1A2235"/>
                </a:solidFill>
                <a:latin typeface="Aptos"/>
              </a:rPr>
              <a:t>Figure 8.</a:t>
            </a:r>
            <a:r>
              <a:rPr sz="1800" b="0" i="0">
                <a:solidFill>
                  <a:srgbClr val="1A2235"/>
                </a:solidFill>
                <a:latin typeface="Aptos"/>
              </a:rPr>
              <a:t> UF's Rosemary Hill Observatory, where skyglow from surrounding towns brightens the sky.</a:t>
            </a:r>
            <a:r>
              <a:rPr sz="1800" b="0" i="0" baseline="30000">
                <a:solidFill>
                  <a:srgbClr val="1A2235"/>
                </a:solidFill>
                <a:latin typeface="Aptos"/>
              </a:rPr>
              <a:t>12</a:t>
            </a:r>
            <a:r>
              <a:rPr sz="1800" b="0" i="0">
                <a:solidFill>
                  <a:srgbClr val="1A2235"/>
                </a:solidFill>
                <a:latin typeface="Aptos"/>
              </a:rPr>
              <a:t> With no action, the 2034 forecast brightens it from </a:t>
            </a:r>
            <a:r>
              <a:rPr sz="1800" b="1" i="0">
                <a:solidFill>
                  <a:srgbClr val="B86E12"/>
                </a:solidFill>
                <a:latin typeface="Aptos"/>
              </a:rPr>
              <a:t>21.69 to 21.65</a:t>
            </a:r>
            <a:r>
              <a:rPr sz="1800" b="0" i="0">
                <a:solidFill>
                  <a:srgbClr val="1A2235"/>
                </a:solidFill>
                <a:latin typeface="Aptos"/>
              </a:rPr>
              <a:t> mag/arcsec²; right-sized public lights in Alachua and Levy hold it at </a:t>
            </a:r>
            <a:r>
              <a:rPr sz="1800" b="1" i="0">
                <a:solidFill>
                  <a:srgbClr val="B86E12"/>
                </a:solidFill>
                <a:latin typeface="Aptos"/>
              </a:rPr>
              <a:t>21.75</a:t>
            </a:r>
            <a:r>
              <a:rPr sz="1800" b="0" i="0">
                <a:solidFill>
                  <a:srgbClr val="1A2235"/>
                </a:solidFill>
                <a:latin typeface="Aptos"/>
              </a:rPr>
              <a:t>, and </a:t>
            </a:r>
            <a:r>
              <a:rPr sz="1800" b="1" i="0">
                <a:solidFill>
                  <a:srgbClr val="B86E12"/>
                </a:solidFill>
                <a:latin typeface="Aptos"/>
              </a:rPr>
              <a:t>21.84</a:t>
            </a:r>
            <a:r>
              <a:rPr sz="1800" b="0" i="0">
                <a:solidFill>
                  <a:srgbClr val="1A2235"/>
                </a:solidFill>
                <a:latin typeface="Aptos"/>
              </a:rPr>
              <a:t> if private lights follow: Bortle 3. Dark-sky zones around Rosemary Hill and the Chiefland Astronomy Village alone: about </a:t>
            </a:r>
            <a:r>
              <a:rPr sz="1800" b="1" i="0">
                <a:solidFill>
                  <a:srgbClr val="B86E12"/>
                </a:solidFill>
                <a:latin typeface="Aptos"/>
              </a:rPr>
              <a:t>$750K</a:t>
            </a:r>
            <a:r>
              <a:rPr sz="1800" b="0" i="0">
                <a:solidFill>
                  <a:srgbClr val="1A2235"/>
                </a:solidFill>
                <a:latin typeface="Aptos"/>
              </a:rPr>
              <a:t> in public retrofits.</a:t>
            </a:r>
            <a:r>
              <a:rPr sz="1800" b="0" i="0" baseline="30000">
                <a:solidFill>
                  <a:srgbClr val="1A2235"/>
                </a:solidFill>
                <a:latin typeface="Aptos"/>
              </a:rPr>
              <a:t>6</a:t>
            </a:r>
            <a:r>
              <a:rPr sz="1800" b="0" i="0">
                <a:solidFill>
                  <a:srgbClr val="1A2235"/>
                </a:solidFill>
                <a:latin typeface="Aptos"/>
              </a:rPr>
              <a:t> Photo: The Gainesville Sun, April 2012.</a:t>
            </a:r>
            <a:r>
              <a:rPr sz="1800" b="0" i="0" baseline="30000">
                <a:solidFill>
                  <a:srgbClr val="1A2235"/>
                </a:solidFill>
                <a:latin typeface="Aptos"/>
              </a:rPr>
              <a:t>26</a:t>
            </a:r>
          </a:p>
        </p:txBody>
      </p:sp>
      <p:sp>
        <p:nvSpPr>
          <p:cNvPr id="148" name="TextBox 147"/>
          <p:cNvSpPr txBox="1"/>
          <p:nvPr/>
        </p:nvSpPr>
        <p:spPr>
          <a:xfrm>
            <a:off x="32975550" y="12671545"/>
            <a:ext cx="10138409" cy="553212"/>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1" i="0">
                <a:solidFill>
                  <a:srgbClr val="0A0F1C"/>
                </a:solidFill>
                <a:latin typeface="Aptos"/>
              </a:rPr>
              <a:t>Where Could UF Build Its Next Observatory?</a:t>
            </a:r>
          </a:p>
        </p:txBody>
      </p:sp>
      <p:sp>
        <p:nvSpPr>
          <p:cNvPr id="149" name="TextBox 148"/>
          <p:cNvSpPr txBox="1"/>
          <p:nvPr/>
        </p:nvSpPr>
        <p:spPr>
          <a:xfrm>
            <a:off x="32975550" y="13270477"/>
            <a:ext cx="10138409" cy="2281428"/>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2300" b="0" i="0">
                <a:solidFill>
                  <a:srgbClr val="1A2235"/>
                </a:solidFill>
                <a:latin typeface="Aptos"/>
              </a:rPr>
              <a:t>Requested by </a:t>
            </a:r>
            <a:r>
              <a:rPr sz="2300" b="1" i="0">
                <a:solidFill>
                  <a:srgbClr val="B86E12"/>
                </a:solidFill>
                <a:latin typeface="Aptos"/>
              </a:rPr>
              <a:t>Dr. Elizabeth Lada</a:t>
            </a:r>
            <a:r>
              <a:rPr sz="2300" b="0" i="0">
                <a:solidFill>
                  <a:srgbClr val="1A2235"/>
                </a:solidFill>
                <a:latin typeface="Aptos"/>
              </a:rPr>
              <a:t>, Chair of UF Astronomy: every ~1 km cell of 11 counties is scored for a dark sky today, little development by 2034, clear air, land, access and </a:t>
            </a:r>
            <a:r>
              <a:rPr sz="2300" b="1" i="0">
                <a:solidFill>
                  <a:srgbClr val="B86E12"/>
                </a:solidFill>
                <a:latin typeface="Aptos"/>
              </a:rPr>
              <a:t>drive time from UF</a:t>
            </a:r>
            <a:r>
              <a:rPr sz="2300" b="0" i="0">
                <a:solidFill>
                  <a:srgbClr val="1A2235"/>
                </a:solidFill>
                <a:latin typeface="Aptos"/>
              </a:rPr>
              <a:t>. Ruled out: water and wetland,</a:t>
            </a:r>
            <a:r>
              <a:rPr sz="2300" b="0" i="0" baseline="30000">
                <a:solidFill>
                  <a:srgbClr val="1A2235"/>
                </a:solidFill>
                <a:latin typeface="Aptos"/>
              </a:rPr>
              <a:t>27</a:t>
            </a:r>
            <a:r>
              <a:rPr sz="2300" b="0" i="0">
                <a:solidFill>
                  <a:srgbClr val="1A2235"/>
                </a:solidFill>
                <a:latin typeface="Aptos"/>
              </a:rPr>
              <a:t> the coast, ground below 5 m (Idalia's 2023 surge reached 12 ft;</a:t>
            </a:r>
            <a:r>
              <a:rPr sz="2300" b="0" i="0" baseline="30000">
                <a:solidFill>
                  <a:srgbClr val="1A2235"/>
                </a:solidFill>
                <a:latin typeface="Aptos"/>
              </a:rPr>
              <a:t>28</a:t>
            </a:r>
            <a:r>
              <a:rPr sz="2300" b="0" i="0">
                <a:solidFill>
                  <a:srgbClr val="1A2235"/>
                </a:solidFill>
                <a:latin typeface="Aptos"/>
              </a:rPr>
              <a:t> the Gulf may rise 14–18 in by 2050</a:t>
            </a:r>
            <a:r>
              <a:rPr sz="2300" b="0" i="0" baseline="30000">
                <a:solidFill>
                  <a:srgbClr val="1A2235"/>
                </a:solidFill>
                <a:latin typeface="Aptos"/>
              </a:rPr>
              <a:t>29</a:t>
            </a:r>
            <a:r>
              <a:rPr sz="2300" b="0" i="0">
                <a:solidFill>
                  <a:srgbClr val="1A2235"/>
                </a:solidFill>
                <a:latin typeface="Aptos"/>
              </a:rPr>
              <a:t>), 2080 flood projections,</a:t>
            </a:r>
            <a:r>
              <a:rPr sz="2300" b="0" i="0" baseline="30000">
                <a:solidFill>
                  <a:srgbClr val="1A2235"/>
                </a:solidFill>
                <a:latin typeface="Aptos"/>
              </a:rPr>
              <a:t>30</a:t>
            </a:r>
            <a:r>
              <a:rPr sz="2300" b="0" i="0">
                <a:solidFill>
                  <a:srgbClr val="1A2235"/>
                </a:solidFill>
                <a:latin typeface="Aptos"/>
              </a:rPr>
              <a:t> FEMA's 100-year floodplain</a:t>
            </a:r>
            <a:r>
              <a:rPr sz="2300" b="0" i="0" baseline="30000">
                <a:solidFill>
                  <a:srgbClr val="1A2235"/>
                </a:solidFill>
                <a:latin typeface="Aptos"/>
              </a:rPr>
              <a:t>31</a:t>
            </a:r>
            <a:r>
              <a:rPr sz="2300" b="0" i="0">
                <a:solidFill>
                  <a:srgbClr val="1A2235"/>
                </a:solidFill>
                <a:latin typeface="Aptos"/>
              </a:rPr>
              <a:t> and drives over ~90 min:</a:t>
            </a:r>
          </a:p>
        </p:txBody>
      </p:sp>
      <p:pic>
        <p:nvPicPr>
          <p:cNvPr id="150" name="Picture 149" descr="obs_map_markers.png"/>
          <p:cNvPicPr>
            <a:picLocks noChangeAspect="1"/>
          </p:cNvPicPr>
          <p:nvPr/>
        </p:nvPicPr>
        <p:blipFill>
          <a:blip r:embed="rId19"/>
          <a:srcRect r="6000" b="6000"/>
          <a:stretch>
            <a:fillRect/>
          </a:stretch>
        </p:blipFill>
        <p:spPr>
          <a:xfrm>
            <a:off x="32975550" y="15734785"/>
            <a:ext cx="6035040" cy="4845782"/>
          </a:xfrm>
          <a:prstGeom prst="roundRect">
            <a:avLst>
              <a:gd name="adj" fmla="val 1200"/>
            </a:avLst>
          </a:prstGeom>
          <a:ln w="9525">
            <a:solidFill>
              <a:srgbClr val="2A3A60"/>
            </a:solidFill>
          </a:ln>
        </p:spPr>
      </p:pic>
      <p:graphicFrame>
        <p:nvGraphicFramePr>
          <p:cNvPr id="151" name="Table 150"/>
          <p:cNvGraphicFramePr>
            <a:graphicFrameLocks noGrp="1"/>
          </p:cNvGraphicFramePr>
          <p:nvPr/>
        </p:nvGraphicFramePr>
        <p:xfrm>
          <a:off x="39193470" y="15734785"/>
          <a:ext cx="3920489" cy="4845782"/>
        </p:xfrm>
        <a:graphic>
          <a:graphicData uri="http://schemas.openxmlformats.org/drawingml/2006/table">
            <a:tbl>
              <a:tblPr firstRow="0" bandRow="0">
                <a:tableStyleId>{5940675A-B579-460E-94D1-54222C63F5DA}</a:tableStyleId>
              </a:tblPr>
              <a:tblGrid>
                <a:gridCol w="384048"/>
                <a:gridCol w="1078992"/>
                <a:gridCol w="1078992"/>
                <a:gridCol w="1378457"/>
              </a:tblGrid>
              <a:tr h="285046">
                <a:tc>
                  <a:txBody>
                    <a:bodyPr wrap="square"/>
                    <a:lstStyle/>
                    <a:p>
                      <a:pPr algn="ctr"/>
                      <a:r>
                        <a:rPr sz="1300" b="1" i="0">
                          <a:solidFill>
                            <a:srgbClr val="FFFFFF"/>
                          </a:solidFill>
                          <a:latin typeface="Aptos"/>
                        </a:rPr>
                        <a:t>#</a:t>
                      </a:r>
                    </a:p>
                  </a:txBody>
                  <a:tcPr marL="18288" marR="18288" marT="27432" marB="27432" anchor="ctr">
                    <a:solidFill>
                      <a:srgbClr val="0A0F1C"/>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l"/>
                      <a:r>
                        <a:rPr sz="1300" b="1" i="0">
                          <a:solidFill>
                            <a:srgbClr val="FFFFFF"/>
                          </a:solidFill>
                          <a:latin typeface="Aptos"/>
                        </a:rPr>
                        <a:t>County</a:t>
                      </a:r>
                    </a:p>
                  </a:txBody>
                  <a:tcPr marL="73152" marR="73152" marT="27432" marB="27432" anchor="ctr">
                    <a:solidFill>
                      <a:srgbClr val="0A0F1C"/>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1" i="0">
                          <a:solidFill>
                            <a:srgbClr val="FFFFFF"/>
                          </a:solidFill>
                          <a:latin typeface="Aptos"/>
                        </a:rPr>
                        <a:t>Land</a:t>
                      </a:r>
                      <a:r>
                        <a:rPr sz="1300" b="0" i="0" baseline="30000">
                          <a:solidFill>
                            <a:srgbClr val="FFFFFF"/>
                          </a:solidFill>
                          <a:latin typeface="Aptos"/>
                        </a:rPr>
                        <a:t>32</a:t>
                      </a:r>
                    </a:p>
                  </a:txBody>
                  <a:tcPr marL="73152" marR="73152" marT="27432" marB="27432" anchor="ctr">
                    <a:solidFill>
                      <a:srgbClr val="0A0F1C"/>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1" i="0">
                          <a:solidFill>
                            <a:srgbClr val="FFFFFF"/>
                          </a:solidFill>
                          <a:latin typeface="Aptos"/>
                        </a:rPr>
                        <a:t>Drive</a:t>
                      </a:r>
                    </a:p>
                  </a:txBody>
                  <a:tcPr marL="73152" marR="73152" marT="27432" marB="27432" anchor="ctr">
                    <a:solidFill>
                      <a:srgbClr val="0A0F1C"/>
                    </a:solidFill>
                    <a:lnL w="9525">
                      <a:solidFill>
                        <a:srgbClr val="D9D2BD"/>
                      </a:solidFill>
                    </a:lnL>
                    <a:lnR w="9525">
                      <a:solidFill>
                        <a:srgbClr val="D9D2BD"/>
                      </a:solidFill>
                    </a:lnR>
                    <a:lnT w="9525">
                      <a:solidFill>
                        <a:srgbClr val="D9D2BD"/>
                      </a:solidFill>
                    </a:lnT>
                    <a:lnB w="9525">
                      <a:solidFill>
                        <a:srgbClr val="D9D2BD"/>
                      </a:solidFill>
                    </a:lnB>
                  </a:tcPr>
                </a:tc>
              </a:tr>
              <a:tr h="285046">
                <a:tc>
                  <a:txBody>
                    <a:bodyPr wrap="square"/>
                    <a:lstStyle/>
                    <a:p>
                      <a:pPr algn="ctr"/>
                      <a:r>
                        <a:rPr sz="1300" b="1" i="0">
                          <a:solidFill>
                            <a:srgbClr val="0A0F1C"/>
                          </a:solidFill>
                          <a:latin typeface="Aptos"/>
                        </a:rPr>
                        <a:t>1</a:t>
                      </a:r>
                    </a:p>
                  </a:txBody>
                  <a:tcPr marL="18288" marR="18288" marT="27432" marB="27432" anchor="ctr">
                    <a:solidFill>
                      <a:srgbClr val="FBE3BD"/>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l"/>
                      <a:r>
                        <a:rPr sz="1300" b="1" i="0">
                          <a:solidFill>
                            <a:srgbClr val="0A0F1C"/>
                          </a:solidFill>
                          <a:latin typeface="Aptos"/>
                        </a:rPr>
                        <a:t>Levy</a:t>
                      </a:r>
                    </a:p>
                  </a:txBody>
                  <a:tcPr marL="73152" marR="73152" marT="27432" marB="27432" anchor="ctr">
                    <a:solidFill>
                      <a:srgbClr val="FBE3BD"/>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1" i="0">
                          <a:solidFill>
                            <a:srgbClr val="0A0F1C"/>
                          </a:solidFill>
                          <a:latin typeface="Aptos"/>
                        </a:rPr>
                        <a:t>$605K</a:t>
                      </a:r>
                    </a:p>
                  </a:txBody>
                  <a:tcPr marL="73152" marR="73152" marT="27432" marB="27432" anchor="ctr">
                    <a:solidFill>
                      <a:srgbClr val="FBE3BD"/>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1" i="0">
                          <a:solidFill>
                            <a:srgbClr val="0A0F1C"/>
                          </a:solidFill>
                          <a:latin typeface="Aptos"/>
                        </a:rPr>
                        <a:t>58 min</a:t>
                      </a:r>
                    </a:p>
                  </a:txBody>
                  <a:tcPr marL="73152" marR="73152" marT="27432" marB="27432" anchor="ctr">
                    <a:solidFill>
                      <a:srgbClr val="FBE3BD"/>
                    </a:solidFill>
                    <a:lnL w="9525">
                      <a:solidFill>
                        <a:srgbClr val="D9D2BD"/>
                      </a:solidFill>
                    </a:lnL>
                    <a:lnR w="9525">
                      <a:solidFill>
                        <a:srgbClr val="D9D2BD"/>
                      </a:solidFill>
                    </a:lnR>
                    <a:lnT w="9525">
                      <a:solidFill>
                        <a:srgbClr val="D9D2BD"/>
                      </a:solidFill>
                    </a:lnT>
                    <a:lnB w="9525">
                      <a:solidFill>
                        <a:srgbClr val="D9D2BD"/>
                      </a:solidFill>
                    </a:lnB>
                  </a:tcPr>
                </a:tc>
              </a:tr>
              <a:tr h="285046">
                <a:tc>
                  <a:txBody>
                    <a:bodyPr wrap="square"/>
                    <a:lstStyle/>
                    <a:p>
                      <a:pPr algn="ctr"/>
                      <a:r>
                        <a:rPr sz="1300" b="1" i="0">
                          <a:solidFill>
                            <a:srgbClr val="0A0F1C"/>
                          </a:solidFill>
                          <a:latin typeface="Aptos"/>
                        </a:rPr>
                        <a:t>2</a:t>
                      </a:r>
                    </a:p>
                  </a:txBody>
                  <a:tcPr marL="18288" marR="18288" marT="27432" marB="27432" anchor="ctr">
                    <a:solidFill>
                      <a:srgbClr val="FBE3BD"/>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l"/>
                      <a:r>
                        <a:rPr sz="1300" b="1" i="0">
                          <a:solidFill>
                            <a:srgbClr val="0A0F1C"/>
                          </a:solidFill>
                          <a:latin typeface="Aptos"/>
                        </a:rPr>
                        <a:t>Levy</a:t>
                      </a:r>
                    </a:p>
                  </a:txBody>
                  <a:tcPr marL="73152" marR="73152" marT="27432" marB="27432" anchor="ctr">
                    <a:solidFill>
                      <a:srgbClr val="FBE3BD"/>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1" i="0">
                          <a:solidFill>
                            <a:srgbClr val="0A0F1C"/>
                          </a:solidFill>
                          <a:latin typeface="Aptos"/>
                        </a:rPr>
                        <a:t>$806K</a:t>
                      </a:r>
                    </a:p>
                  </a:txBody>
                  <a:tcPr marL="73152" marR="73152" marT="27432" marB="27432" anchor="ctr">
                    <a:solidFill>
                      <a:srgbClr val="FBE3BD"/>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1" i="0">
                          <a:solidFill>
                            <a:srgbClr val="0A0F1C"/>
                          </a:solidFill>
                          <a:latin typeface="Aptos"/>
                        </a:rPr>
                        <a:t>47 min</a:t>
                      </a:r>
                    </a:p>
                  </a:txBody>
                  <a:tcPr marL="73152" marR="73152" marT="27432" marB="27432" anchor="ctr">
                    <a:solidFill>
                      <a:srgbClr val="FBE3BD"/>
                    </a:solidFill>
                    <a:lnL w="9525">
                      <a:solidFill>
                        <a:srgbClr val="D9D2BD"/>
                      </a:solidFill>
                    </a:lnL>
                    <a:lnR w="9525">
                      <a:solidFill>
                        <a:srgbClr val="D9D2BD"/>
                      </a:solidFill>
                    </a:lnR>
                    <a:lnT w="9525">
                      <a:solidFill>
                        <a:srgbClr val="D9D2BD"/>
                      </a:solidFill>
                    </a:lnT>
                    <a:lnB w="9525">
                      <a:solidFill>
                        <a:srgbClr val="D9D2BD"/>
                      </a:solidFill>
                    </a:lnB>
                  </a:tcPr>
                </a:tc>
              </a:tr>
              <a:tr h="285046">
                <a:tc>
                  <a:txBody>
                    <a:bodyPr wrap="square"/>
                    <a:lstStyle/>
                    <a:p>
                      <a:pPr algn="ctr"/>
                      <a:r>
                        <a:rPr sz="1300" b="1" i="0">
                          <a:solidFill>
                            <a:srgbClr val="0A0F1C"/>
                          </a:solidFill>
                          <a:latin typeface="Aptos"/>
                        </a:rPr>
                        <a:t>3</a:t>
                      </a:r>
                    </a:p>
                  </a:txBody>
                  <a:tcPr marL="18288" marR="18288" marT="27432" marB="27432" anchor="ctr">
                    <a:solidFill>
                      <a:srgbClr val="FBE3BD"/>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l"/>
                      <a:r>
                        <a:rPr sz="1300" b="1" i="0">
                          <a:solidFill>
                            <a:srgbClr val="0A0F1C"/>
                          </a:solidFill>
                          <a:latin typeface="Aptos"/>
                        </a:rPr>
                        <a:t>Levy</a:t>
                      </a:r>
                    </a:p>
                  </a:txBody>
                  <a:tcPr marL="73152" marR="73152" marT="27432" marB="27432" anchor="ctr">
                    <a:solidFill>
                      <a:srgbClr val="FBE3BD"/>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1" i="0">
                          <a:solidFill>
                            <a:srgbClr val="0A0F1C"/>
                          </a:solidFill>
                          <a:latin typeface="Aptos"/>
                        </a:rPr>
                        <a:t>$677K</a:t>
                      </a:r>
                    </a:p>
                  </a:txBody>
                  <a:tcPr marL="73152" marR="73152" marT="27432" marB="27432" anchor="ctr">
                    <a:solidFill>
                      <a:srgbClr val="FBE3BD"/>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1" i="0">
                          <a:solidFill>
                            <a:srgbClr val="0A0F1C"/>
                          </a:solidFill>
                          <a:latin typeface="Aptos"/>
                        </a:rPr>
                        <a:t>44 min</a:t>
                      </a:r>
                    </a:p>
                  </a:txBody>
                  <a:tcPr marL="73152" marR="73152" marT="27432" marB="27432" anchor="ctr">
                    <a:solidFill>
                      <a:srgbClr val="FBE3BD"/>
                    </a:solidFill>
                    <a:lnL w="9525">
                      <a:solidFill>
                        <a:srgbClr val="D9D2BD"/>
                      </a:solidFill>
                    </a:lnL>
                    <a:lnR w="9525">
                      <a:solidFill>
                        <a:srgbClr val="D9D2BD"/>
                      </a:solidFill>
                    </a:lnR>
                    <a:lnT w="9525">
                      <a:solidFill>
                        <a:srgbClr val="D9D2BD"/>
                      </a:solidFill>
                    </a:lnT>
                    <a:lnB w="9525">
                      <a:solidFill>
                        <a:srgbClr val="D9D2BD"/>
                      </a:solidFill>
                    </a:lnB>
                  </a:tcPr>
                </a:tc>
              </a:tr>
              <a:tr h="285046">
                <a:tc>
                  <a:txBody>
                    <a:bodyPr wrap="square"/>
                    <a:lstStyle/>
                    <a:p>
                      <a:pPr algn="ctr"/>
                      <a:r>
                        <a:rPr sz="1300" b="0" i="0">
                          <a:solidFill>
                            <a:srgbClr val="1A2235"/>
                          </a:solidFill>
                          <a:latin typeface="Aptos"/>
                        </a:rPr>
                        <a:t>4</a:t>
                      </a:r>
                    </a:p>
                  </a:txBody>
                  <a:tcPr marL="18288" marR="18288"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l"/>
                      <a:r>
                        <a:rPr sz="1300" b="0" i="0">
                          <a:solidFill>
                            <a:srgbClr val="1A2235"/>
                          </a:solidFill>
                          <a:latin typeface="Aptos"/>
                        </a:rPr>
                        <a:t>Levy</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0" i="0">
                          <a:solidFill>
                            <a:srgbClr val="1A2235"/>
                          </a:solidFill>
                          <a:latin typeface="Aptos"/>
                        </a:rPr>
                        <a:t>public</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0" i="0">
                          <a:solidFill>
                            <a:srgbClr val="1A2235"/>
                          </a:solidFill>
                          <a:latin typeface="Aptos"/>
                        </a:rPr>
                        <a:t>62 min</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r>
              <a:tr h="285046">
                <a:tc>
                  <a:txBody>
                    <a:bodyPr wrap="square"/>
                    <a:lstStyle/>
                    <a:p>
                      <a:pPr algn="ctr"/>
                      <a:r>
                        <a:rPr sz="1300" b="0" i="0">
                          <a:solidFill>
                            <a:srgbClr val="1A2235"/>
                          </a:solidFill>
                          <a:latin typeface="Aptos"/>
                        </a:rPr>
                        <a:t>5</a:t>
                      </a:r>
                    </a:p>
                  </a:txBody>
                  <a:tcPr marL="18288" marR="18288"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l"/>
                      <a:r>
                        <a:rPr sz="1300" b="0" i="0">
                          <a:solidFill>
                            <a:srgbClr val="1A2235"/>
                          </a:solidFill>
                          <a:latin typeface="Aptos"/>
                        </a:rPr>
                        <a:t>Levy</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0" i="0">
                          <a:solidFill>
                            <a:srgbClr val="1A2235"/>
                          </a:solidFill>
                          <a:latin typeface="Aptos"/>
                        </a:rPr>
                        <a:t>$1.12M</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0" i="0">
                          <a:solidFill>
                            <a:srgbClr val="1A2235"/>
                          </a:solidFill>
                          <a:latin typeface="Aptos"/>
                        </a:rPr>
                        <a:t>44 min</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r>
              <a:tr h="285046">
                <a:tc>
                  <a:txBody>
                    <a:bodyPr wrap="square"/>
                    <a:lstStyle/>
                    <a:p>
                      <a:pPr algn="ctr"/>
                      <a:r>
                        <a:rPr sz="1300" b="0" i="0">
                          <a:solidFill>
                            <a:srgbClr val="1A2235"/>
                          </a:solidFill>
                          <a:latin typeface="Aptos"/>
                        </a:rPr>
                        <a:t>6</a:t>
                      </a:r>
                    </a:p>
                  </a:txBody>
                  <a:tcPr marL="18288" marR="18288"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l"/>
                      <a:r>
                        <a:rPr sz="1300" b="0" i="0">
                          <a:solidFill>
                            <a:srgbClr val="1A2235"/>
                          </a:solidFill>
                          <a:latin typeface="Aptos"/>
                        </a:rPr>
                        <a:t>Levy</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0" i="0">
                          <a:solidFill>
                            <a:srgbClr val="1A2235"/>
                          </a:solidFill>
                          <a:latin typeface="Aptos"/>
                        </a:rPr>
                        <a:t>public</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0" i="0">
                          <a:solidFill>
                            <a:srgbClr val="1A2235"/>
                          </a:solidFill>
                          <a:latin typeface="Aptos"/>
                        </a:rPr>
                        <a:t>59 min</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r>
              <a:tr h="285046">
                <a:tc>
                  <a:txBody>
                    <a:bodyPr wrap="square"/>
                    <a:lstStyle/>
                    <a:p>
                      <a:pPr algn="ctr"/>
                      <a:r>
                        <a:rPr sz="1300" b="0" i="0">
                          <a:solidFill>
                            <a:srgbClr val="1A2235"/>
                          </a:solidFill>
                          <a:latin typeface="Aptos"/>
                        </a:rPr>
                        <a:t>7</a:t>
                      </a:r>
                    </a:p>
                  </a:txBody>
                  <a:tcPr marL="18288" marR="18288"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l"/>
                      <a:r>
                        <a:rPr sz="1300" b="0" i="0">
                          <a:solidFill>
                            <a:srgbClr val="1A2235"/>
                          </a:solidFill>
                          <a:latin typeface="Aptos"/>
                        </a:rPr>
                        <a:t>Levy</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0" i="0">
                          <a:solidFill>
                            <a:srgbClr val="1A2235"/>
                          </a:solidFill>
                          <a:latin typeface="Aptos"/>
                        </a:rPr>
                        <a:t>$806K</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0" i="0">
                          <a:solidFill>
                            <a:srgbClr val="1A2235"/>
                          </a:solidFill>
                          <a:latin typeface="Aptos"/>
                        </a:rPr>
                        <a:t>46 min</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r>
              <a:tr h="285046">
                <a:tc>
                  <a:txBody>
                    <a:bodyPr wrap="square"/>
                    <a:lstStyle/>
                    <a:p>
                      <a:pPr algn="ctr"/>
                      <a:r>
                        <a:rPr sz="1300" b="0" i="0">
                          <a:solidFill>
                            <a:srgbClr val="1A2235"/>
                          </a:solidFill>
                          <a:latin typeface="Aptos"/>
                        </a:rPr>
                        <a:t>8</a:t>
                      </a:r>
                    </a:p>
                  </a:txBody>
                  <a:tcPr marL="18288" marR="18288"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l"/>
                      <a:r>
                        <a:rPr sz="1300" b="0" i="0">
                          <a:solidFill>
                            <a:srgbClr val="1A2235"/>
                          </a:solidFill>
                          <a:latin typeface="Aptos"/>
                        </a:rPr>
                        <a:t>Levy</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0" i="0">
                          <a:solidFill>
                            <a:srgbClr val="1A2235"/>
                          </a:solidFill>
                          <a:latin typeface="Aptos"/>
                        </a:rPr>
                        <a:t>$1.60M</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0" i="0">
                          <a:solidFill>
                            <a:srgbClr val="1A2235"/>
                          </a:solidFill>
                          <a:latin typeface="Aptos"/>
                        </a:rPr>
                        <a:t>43 min</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r>
              <a:tr h="285046">
                <a:tc>
                  <a:txBody>
                    <a:bodyPr wrap="square"/>
                    <a:lstStyle/>
                    <a:p>
                      <a:pPr algn="ctr"/>
                      <a:r>
                        <a:rPr sz="1300" b="0" i="0">
                          <a:solidFill>
                            <a:srgbClr val="1A2235"/>
                          </a:solidFill>
                          <a:latin typeface="Aptos"/>
                        </a:rPr>
                        <a:t>9</a:t>
                      </a:r>
                    </a:p>
                  </a:txBody>
                  <a:tcPr marL="18288" marR="18288"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l"/>
                      <a:r>
                        <a:rPr sz="1300" b="0" i="0">
                          <a:solidFill>
                            <a:srgbClr val="1A2235"/>
                          </a:solidFill>
                          <a:latin typeface="Aptos"/>
                        </a:rPr>
                        <a:t>Dixie</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0" i="0">
                          <a:solidFill>
                            <a:srgbClr val="1A2235"/>
                          </a:solidFill>
                          <a:latin typeface="Aptos"/>
                        </a:rPr>
                        <a:t>$883K</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0" i="0">
                          <a:solidFill>
                            <a:srgbClr val="1A2235"/>
                          </a:solidFill>
                          <a:latin typeface="Aptos"/>
                        </a:rPr>
                        <a:t>61 min</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r>
              <a:tr h="285046">
                <a:tc>
                  <a:txBody>
                    <a:bodyPr wrap="square"/>
                    <a:lstStyle/>
                    <a:p>
                      <a:pPr algn="ctr"/>
                      <a:r>
                        <a:rPr sz="1300" b="0" i="0">
                          <a:solidFill>
                            <a:srgbClr val="1A2235"/>
                          </a:solidFill>
                          <a:latin typeface="Aptos"/>
                        </a:rPr>
                        <a:t>10</a:t>
                      </a:r>
                    </a:p>
                  </a:txBody>
                  <a:tcPr marL="18288" marR="18288"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l"/>
                      <a:r>
                        <a:rPr sz="1300" b="0" i="0">
                          <a:solidFill>
                            <a:srgbClr val="1A2235"/>
                          </a:solidFill>
                          <a:latin typeface="Aptos"/>
                        </a:rPr>
                        <a:t>Levy</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0" i="0">
                          <a:solidFill>
                            <a:srgbClr val="1A2235"/>
                          </a:solidFill>
                          <a:latin typeface="Aptos"/>
                        </a:rPr>
                        <a:t>$837K</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0" i="0">
                          <a:solidFill>
                            <a:srgbClr val="1A2235"/>
                          </a:solidFill>
                          <a:latin typeface="Aptos"/>
                        </a:rPr>
                        <a:t>49 min</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r>
              <a:tr h="285046">
                <a:tc>
                  <a:txBody>
                    <a:bodyPr wrap="square"/>
                    <a:lstStyle/>
                    <a:p>
                      <a:pPr algn="ctr"/>
                      <a:r>
                        <a:rPr sz="1300" b="0" i="0">
                          <a:solidFill>
                            <a:srgbClr val="1A2235"/>
                          </a:solidFill>
                          <a:latin typeface="Aptos"/>
                        </a:rPr>
                        <a:t>11</a:t>
                      </a:r>
                    </a:p>
                  </a:txBody>
                  <a:tcPr marL="18288" marR="18288"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l"/>
                      <a:r>
                        <a:rPr sz="1300" b="0" i="0">
                          <a:solidFill>
                            <a:srgbClr val="1A2235"/>
                          </a:solidFill>
                          <a:latin typeface="Aptos"/>
                        </a:rPr>
                        <a:t>Alachua</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0" i="0">
                          <a:solidFill>
                            <a:srgbClr val="1A2235"/>
                          </a:solidFill>
                          <a:latin typeface="Aptos"/>
                        </a:rPr>
                        <a:t>$866K</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0" i="0">
                          <a:solidFill>
                            <a:srgbClr val="1A2235"/>
                          </a:solidFill>
                          <a:latin typeface="Aptos"/>
                        </a:rPr>
                        <a:t>26 min</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r>
              <a:tr h="285046">
                <a:tc>
                  <a:txBody>
                    <a:bodyPr wrap="square"/>
                    <a:lstStyle/>
                    <a:p>
                      <a:pPr algn="ctr"/>
                      <a:r>
                        <a:rPr sz="1300" b="0" i="0">
                          <a:solidFill>
                            <a:srgbClr val="1A2235"/>
                          </a:solidFill>
                          <a:latin typeface="Aptos"/>
                        </a:rPr>
                        <a:t>12</a:t>
                      </a:r>
                    </a:p>
                  </a:txBody>
                  <a:tcPr marL="18288" marR="18288"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l"/>
                      <a:r>
                        <a:rPr sz="1300" b="0" i="0">
                          <a:solidFill>
                            <a:srgbClr val="1A2235"/>
                          </a:solidFill>
                          <a:latin typeface="Aptos"/>
                        </a:rPr>
                        <a:t>Dixie</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0" i="0">
                          <a:solidFill>
                            <a:srgbClr val="1A2235"/>
                          </a:solidFill>
                          <a:latin typeface="Aptos"/>
                        </a:rPr>
                        <a:t>$872K</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0" i="0">
                          <a:solidFill>
                            <a:srgbClr val="1A2235"/>
                          </a:solidFill>
                          <a:latin typeface="Aptos"/>
                        </a:rPr>
                        <a:t>62 min</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r>
              <a:tr h="285046">
                <a:tc>
                  <a:txBody>
                    <a:bodyPr wrap="square"/>
                    <a:lstStyle/>
                    <a:p>
                      <a:pPr algn="ctr"/>
                      <a:r>
                        <a:rPr sz="1300" b="0" i="0">
                          <a:solidFill>
                            <a:srgbClr val="1A2235"/>
                          </a:solidFill>
                          <a:latin typeface="Aptos"/>
                        </a:rPr>
                        <a:t>13</a:t>
                      </a:r>
                    </a:p>
                  </a:txBody>
                  <a:tcPr marL="18288" marR="18288"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l"/>
                      <a:r>
                        <a:rPr sz="1300" b="0" i="0">
                          <a:solidFill>
                            <a:srgbClr val="1A2235"/>
                          </a:solidFill>
                          <a:latin typeface="Aptos"/>
                        </a:rPr>
                        <a:t>Gilchrist</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0" i="0">
                          <a:solidFill>
                            <a:srgbClr val="1A2235"/>
                          </a:solidFill>
                          <a:latin typeface="Aptos"/>
                        </a:rPr>
                        <a:t>$997K</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0" i="0">
                          <a:solidFill>
                            <a:srgbClr val="1A2235"/>
                          </a:solidFill>
                          <a:latin typeface="Aptos"/>
                        </a:rPr>
                        <a:t>45 min</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r>
              <a:tr h="285046">
                <a:tc>
                  <a:txBody>
                    <a:bodyPr wrap="square"/>
                    <a:lstStyle/>
                    <a:p>
                      <a:pPr algn="ctr"/>
                      <a:r>
                        <a:rPr sz="1300" b="0" i="0">
                          <a:solidFill>
                            <a:srgbClr val="1A2235"/>
                          </a:solidFill>
                          <a:latin typeface="Aptos"/>
                        </a:rPr>
                        <a:t>14</a:t>
                      </a:r>
                    </a:p>
                  </a:txBody>
                  <a:tcPr marL="18288" marR="18288"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l"/>
                      <a:r>
                        <a:rPr sz="1300" b="0" i="0">
                          <a:solidFill>
                            <a:srgbClr val="1A2235"/>
                          </a:solidFill>
                          <a:latin typeface="Aptos"/>
                        </a:rPr>
                        <a:t>Levy</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0" i="0">
                          <a:solidFill>
                            <a:srgbClr val="1A2235"/>
                          </a:solidFill>
                          <a:latin typeface="Aptos"/>
                        </a:rPr>
                        <a:t>public</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0" i="0">
                          <a:solidFill>
                            <a:srgbClr val="1A2235"/>
                          </a:solidFill>
                          <a:latin typeface="Aptos"/>
                        </a:rPr>
                        <a:t>35 min</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r>
              <a:tr h="285046">
                <a:tc>
                  <a:txBody>
                    <a:bodyPr wrap="square"/>
                    <a:lstStyle/>
                    <a:p>
                      <a:pPr algn="ctr"/>
                      <a:r>
                        <a:rPr sz="1300" b="0" i="0">
                          <a:solidFill>
                            <a:srgbClr val="1A2235"/>
                          </a:solidFill>
                          <a:latin typeface="Aptos"/>
                        </a:rPr>
                        <a:t>15</a:t>
                      </a:r>
                    </a:p>
                  </a:txBody>
                  <a:tcPr marL="18288" marR="18288"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l"/>
                      <a:r>
                        <a:rPr sz="1300" b="0" i="0">
                          <a:solidFill>
                            <a:srgbClr val="1A2235"/>
                          </a:solidFill>
                          <a:latin typeface="Aptos"/>
                        </a:rPr>
                        <a:t>Gilchrist</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0" i="0">
                          <a:solidFill>
                            <a:srgbClr val="1A2235"/>
                          </a:solidFill>
                          <a:latin typeface="Aptos"/>
                        </a:rPr>
                        <a:t>$1.23M</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0" i="0">
                          <a:solidFill>
                            <a:srgbClr val="1A2235"/>
                          </a:solidFill>
                          <a:latin typeface="Aptos"/>
                        </a:rPr>
                        <a:t>48 min</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r>
              <a:tr h="285046">
                <a:tc>
                  <a:txBody>
                    <a:bodyPr wrap="square"/>
                    <a:lstStyle/>
                    <a:p>
                      <a:pPr algn="ctr"/>
                      <a:r>
                        <a:rPr sz="1300" b="0" i="0">
                          <a:solidFill>
                            <a:srgbClr val="1A2235"/>
                          </a:solidFill>
                          <a:latin typeface="Aptos"/>
                        </a:rPr>
                        <a:t>16</a:t>
                      </a:r>
                    </a:p>
                  </a:txBody>
                  <a:tcPr marL="18288" marR="18288"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l"/>
                      <a:r>
                        <a:rPr sz="1300" b="0" i="0">
                          <a:solidFill>
                            <a:srgbClr val="1A2235"/>
                          </a:solidFill>
                          <a:latin typeface="Aptos"/>
                        </a:rPr>
                        <a:t>Gilchrist</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0" i="0">
                          <a:solidFill>
                            <a:srgbClr val="1A2235"/>
                          </a:solidFill>
                          <a:latin typeface="Aptos"/>
                        </a:rPr>
                        <a:t>$1.10M</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c>
                  <a:txBody>
                    <a:bodyPr wrap="square"/>
                    <a:lstStyle/>
                    <a:p>
                      <a:pPr algn="r"/>
                      <a:r>
                        <a:rPr sz="1300" b="0" i="0">
                          <a:solidFill>
                            <a:srgbClr val="1A2235"/>
                          </a:solidFill>
                          <a:latin typeface="Aptos"/>
                        </a:rPr>
                        <a:t>45 min</a:t>
                      </a:r>
                    </a:p>
                  </a:txBody>
                  <a:tcPr marL="73152" marR="73152" marT="27432" marB="27432" anchor="ctr">
                    <a:solidFill>
                      <a:srgbClr val="FFFFFF"/>
                    </a:solidFill>
                    <a:lnL w="9525">
                      <a:solidFill>
                        <a:srgbClr val="D9D2BD"/>
                      </a:solidFill>
                    </a:lnL>
                    <a:lnR w="9525">
                      <a:solidFill>
                        <a:srgbClr val="D9D2BD"/>
                      </a:solidFill>
                    </a:lnR>
                    <a:lnT w="9525">
                      <a:solidFill>
                        <a:srgbClr val="D9D2BD"/>
                      </a:solidFill>
                    </a:lnT>
                    <a:lnB w="9525">
                      <a:solidFill>
                        <a:srgbClr val="D9D2BD"/>
                      </a:solidFill>
                    </a:lnB>
                  </a:tcPr>
                </a:tc>
              </a:tr>
            </a:tbl>
          </a:graphicData>
        </a:graphic>
      </p:graphicFrame>
      <p:sp>
        <p:nvSpPr>
          <p:cNvPr id="152" name="TextBox 151"/>
          <p:cNvSpPr txBox="1"/>
          <p:nvPr/>
        </p:nvSpPr>
        <p:spPr>
          <a:xfrm>
            <a:off x="32975550" y="20672007"/>
            <a:ext cx="10138409" cy="1225296"/>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1800" b="1" i="0">
                <a:solidFill>
                  <a:srgbClr val="4A5368"/>
                </a:solidFill>
                <a:latin typeface="Aptos"/>
              </a:rPr>
              <a:t>Figure 9.</a:t>
            </a:r>
            <a:r>
              <a:rPr sz="1800" b="0" i="0">
                <a:solidFill>
                  <a:srgbClr val="4A5368"/>
                </a:solidFill>
                <a:latin typeface="Aptos"/>
              </a:rPr>
              <a:t> Observatory suitability map (yellow = most suitable) with the 20 best candidate sites numbered by rank (orange = shortlist; markers enlarged for print; blank areas are ruled out), and the ranked list: land price for 80 acres, approximate drive from campus, shortlist highlighted. Sites marked “public” are mostly state conservation land.</a:t>
            </a:r>
          </a:p>
        </p:txBody>
      </p:sp>
      <p:sp>
        <p:nvSpPr>
          <p:cNvPr id="153" name="TextBox 152"/>
          <p:cNvSpPr txBox="1"/>
          <p:nvPr/>
        </p:nvSpPr>
        <p:spPr>
          <a:xfrm>
            <a:off x="32975550" y="22080183"/>
            <a:ext cx="10138409" cy="117729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2300" b="1" i="0">
                <a:solidFill>
                  <a:srgbClr val="B86E12"/>
                </a:solidFill>
                <a:latin typeface="Aptos"/>
              </a:rPr>
              <a:t>Shortlist: Levy #1, #2, #3</a:t>
            </a:r>
            <a:r>
              <a:rPr sz="2300" b="0" i="0">
                <a:solidFill>
                  <a:srgbClr val="1A2235"/>
                </a:solidFill>
                <a:latin typeface="Aptos"/>
              </a:rPr>
              <a:t> near Chiefland and Bronson (#1 beside the Chiefland Astronomy Village): Bortle 3, 9–16 m above sea level, 0–12% floodplain.</a:t>
            </a:r>
          </a:p>
        </p:txBody>
      </p:sp>
      <p:sp>
        <p:nvSpPr>
          <p:cNvPr id="154" name="Rectangle 153"/>
          <p:cNvSpPr/>
          <p:nvPr/>
        </p:nvSpPr>
        <p:spPr>
          <a:xfrm>
            <a:off x="32975550" y="23394633"/>
            <a:ext cx="3227069" cy="1554480"/>
          </a:xfrm>
          <a:prstGeom prst="roundRect">
            <a:avLst>
              <a:gd name="adj" fmla="val 7000"/>
            </a:avLst>
          </a:prstGeom>
          <a:solidFill>
            <a:srgbClr val="F4F1E8"/>
          </a:solidFill>
          <a:ln w="12700">
            <a:solidFill>
              <a:srgbClr val="D9D2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TextBox 154"/>
          <p:cNvSpPr txBox="1"/>
          <p:nvPr/>
        </p:nvSpPr>
        <p:spPr>
          <a:xfrm>
            <a:off x="33158430" y="23504361"/>
            <a:ext cx="2861310" cy="1371600"/>
          </a:xfrm>
          <a:prstGeom prst="rect">
            <a:avLst/>
          </a:prstGeom>
          <a:noFill/>
        </p:spPr>
        <p:txBody>
          <a:bodyPr wrap="square" anchor="ctr" lIns="0" rIns="0" tIns="0" bIns="0">
            <a:noAutofit/>
          </a:bodyPr>
          <a:lstStyle/>
          <a:p>
            <a:pPr marL="0" indent="0">
              <a:lnSpc>
                <a:spcPct val="95000"/>
              </a:lnSpc>
              <a:spcBef>
                <a:spcPts val="0"/>
              </a:spcBef>
              <a:spcAft>
                <a:spcPts val="0"/>
              </a:spcAft>
              <a:buNone/>
            </a:pPr>
            <a:r>
              <a:rPr sz="3400" b="1" i="0">
                <a:solidFill>
                  <a:srgbClr val="B86E12"/>
                </a:solidFill>
                <a:latin typeface="Aptos Display"/>
              </a:rPr>
              <a:t>44–58 min</a:t>
            </a:r>
          </a:p>
          <a:p>
            <a:pPr marL="0" indent="0">
              <a:lnSpc>
                <a:spcPct val="100000"/>
              </a:lnSpc>
              <a:spcBef>
                <a:spcPts val="200"/>
              </a:spcBef>
              <a:spcAft>
                <a:spcPts val="0"/>
              </a:spcAft>
              <a:buNone/>
            </a:pPr>
            <a:r>
              <a:rPr sz="1600" b="0" i="0">
                <a:solidFill>
                  <a:srgbClr val="1A2235"/>
                </a:solidFill>
                <a:latin typeface="Aptos"/>
              </a:rPr>
              <a:t>drive from campus</a:t>
            </a:r>
          </a:p>
          <a:p>
            <a:pPr marL="0" indent="0">
              <a:lnSpc>
                <a:spcPct val="100000"/>
              </a:lnSpc>
              <a:spcBef>
                <a:spcPts val="200"/>
              </a:spcBef>
              <a:spcAft>
                <a:spcPts val="0"/>
              </a:spcAft>
              <a:buNone/>
            </a:pPr>
            <a:r>
              <a:rPr sz="1600" b="0" i="0">
                <a:solidFill>
                  <a:srgbClr val="1A2235"/>
                </a:solidFill>
                <a:latin typeface="Aptos"/>
              </a:rPr>
              <a:t>(25–34 miles)</a:t>
            </a:r>
          </a:p>
        </p:txBody>
      </p:sp>
      <p:sp>
        <p:nvSpPr>
          <p:cNvPr id="156" name="Rectangle 155"/>
          <p:cNvSpPr/>
          <p:nvPr/>
        </p:nvSpPr>
        <p:spPr>
          <a:xfrm>
            <a:off x="36431220" y="23394633"/>
            <a:ext cx="3227069" cy="1554480"/>
          </a:xfrm>
          <a:prstGeom prst="roundRect">
            <a:avLst>
              <a:gd name="adj" fmla="val 7000"/>
            </a:avLst>
          </a:prstGeom>
          <a:solidFill>
            <a:srgbClr val="F4F1E8"/>
          </a:solidFill>
          <a:ln w="12700">
            <a:solidFill>
              <a:srgbClr val="D9D2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TextBox 156"/>
          <p:cNvSpPr txBox="1"/>
          <p:nvPr/>
        </p:nvSpPr>
        <p:spPr>
          <a:xfrm>
            <a:off x="36614100" y="23504361"/>
            <a:ext cx="2861310" cy="1371600"/>
          </a:xfrm>
          <a:prstGeom prst="rect">
            <a:avLst/>
          </a:prstGeom>
          <a:noFill/>
        </p:spPr>
        <p:txBody>
          <a:bodyPr wrap="square" anchor="ctr" lIns="0" rIns="0" tIns="0" bIns="0">
            <a:noAutofit/>
          </a:bodyPr>
          <a:lstStyle/>
          <a:p>
            <a:pPr marL="0" indent="0">
              <a:lnSpc>
                <a:spcPct val="95000"/>
              </a:lnSpc>
              <a:spcBef>
                <a:spcPts val="0"/>
              </a:spcBef>
              <a:spcAft>
                <a:spcPts val="0"/>
              </a:spcAft>
              <a:buNone/>
            </a:pPr>
            <a:r>
              <a:rPr sz="3400" b="1" i="0">
                <a:solidFill>
                  <a:srgbClr val="B86E12"/>
                </a:solidFill>
                <a:latin typeface="Aptos Display"/>
              </a:rPr>
              <a:t>$605K–806K</a:t>
            </a:r>
          </a:p>
          <a:p>
            <a:pPr marL="0" indent="0">
              <a:lnSpc>
                <a:spcPct val="100000"/>
              </a:lnSpc>
              <a:spcBef>
                <a:spcPts val="200"/>
              </a:spcBef>
              <a:spcAft>
                <a:spcPts val="0"/>
              </a:spcAft>
              <a:buNone/>
            </a:pPr>
            <a:r>
              <a:rPr sz="1600" b="0" i="0">
                <a:solidFill>
                  <a:srgbClr val="1A2235"/>
                </a:solidFill>
                <a:latin typeface="Aptos"/>
              </a:rPr>
              <a:t>land for 80 acres</a:t>
            </a:r>
          </a:p>
          <a:p>
            <a:pPr marL="0" indent="0">
              <a:lnSpc>
                <a:spcPct val="100000"/>
              </a:lnSpc>
              <a:spcBef>
                <a:spcPts val="200"/>
              </a:spcBef>
              <a:spcAft>
                <a:spcPts val="0"/>
              </a:spcAft>
              <a:buNone/>
            </a:pPr>
            <a:r>
              <a:rPr sz="1600" b="0" i="0">
                <a:solidFill>
                  <a:srgbClr val="1A2235"/>
                </a:solidFill>
                <a:latin typeface="Aptos"/>
              </a:rPr>
              <a:t>(recorded sales)</a:t>
            </a:r>
            <a:r>
              <a:rPr sz="1600" b="0" i="0" baseline="30000">
                <a:solidFill>
                  <a:srgbClr val="1A2235"/>
                </a:solidFill>
                <a:latin typeface="Aptos"/>
              </a:rPr>
              <a:t>32</a:t>
            </a:r>
          </a:p>
        </p:txBody>
      </p:sp>
      <p:sp>
        <p:nvSpPr>
          <p:cNvPr id="158" name="Rectangle 157"/>
          <p:cNvSpPr/>
          <p:nvPr/>
        </p:nvSpPr>
        <p:spPr>
          <a:xfrm>
            <a:off x="39886890" y="23394633"/>
            <a:ext cx="3227069" cy="1554480"/>
          </a:xfrm>
          <a:prstGeom prst="roundRect">
            <a:avLst>
              <a:gd name="adj" fmla="val 7000"/>
            </a:avLst>
          </a:prstGeom>
          <a:solidFill>
            <a:srgbClr val="F4F1E8"/>
          </a:solidFill>
          <a:ln w="12700">
            <a:solidFill>
              <a:srgbClr val="D9D2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TextBox 158"/>
          <p:cNvSpPr txBox="1"/>
          <p:nvPr/>
        </p:nvSpPr>
        <p:spPr>
          <a:xfrm>
            <a:off x="40069770" y="23504361"/>
            <a:ext cx="2861310" cy="1371600"/>
          </a:xfrm>
          <a:prstGeom prst="rect">
            <a:avLst/>
          </a:prstGeom>
          <a:noFill/>
        </p:spPr>
        <p:txBody>
          <a:bodyPr wrap="square" anchor="ctr" lIns="0" rIns="0" tIns="0" bIns="0">
            <a:noAutofit/>
          </a:bodyPr>
          <a:lstStyle/>
          <a:p>
            <a:pPr marL="0" indent="0">
              <a:lnSpc>
                <a:spcPct val="95000"/>
              </a:lnSpc>
              <a:spcBef>
                <a:spcPts val="0"/>
              </a:spcBef>
              <a:spcAft>
                <a:spcPts val="0"/>
              </a:spcAft>
              <a:buNone/>
            </a:pPr>
            <a:r>
              <a:rPr sz="3400" b="1" i="0">
                <a:solidFill>
                  <a:srgbClr val="B86E12"/>
                </a:solidFill>
                <a:latin typeface="Aptos Display"/>
              </a:rPr>
              <a:t>≈ $1.6–3.8M</a:t>
            </a:r>
          </a:p>
          <a:p>
            <a:pPr marL="0" indent="0">
              <a:lnSpc>
                <a:spcPct val="100000"/>
              </a:lnSpc>
              <a:spcBef>
                <a:spcPts val="200"/>
              </a:spcBef>
              <a:spcAft>
                <a:spcPts val="0"/>
              </a:spcAft>
              <a:buNone/>
            </a:pPr>
            <a:r>
              <a:rPr sz="1600" b="0" i="0">
                <a:solidFill>
                  <a:srgbClr val="1A2235"/>
                </a:solidFill>
                <a:latin typeface="Aptos"/>
              </a:rPr>
              <a:t>total with telescope +</a:t>
            </a:r>
          </a:p>
          <a:p>
            <a:pPr marL="0" indent="0">
              <a:lnSpc>
                <a:spcPct val="100000"/>
              </a:lnSpc>
              <a:spcBef>
                <a:spcPts val="200"/>
              </a:spcBef>
              <a:spcAft>
                <a:spcPts val="0"/>
              </a:spcAft>
              <a:buNone/>
            </a:pPr>
            <a:r>
              <a:rPr sz="1600" b="0" i="0">
                <a:solidFill>
                  <a:srgbClr val="1A2235"/>
                </a:solidFill>
                <a:latin typeface="Aptos"/>
              </a:rPr>
              <a:t>building ($1–3M)</a:t>
            </a:r>
            <a:r>
              <a:rPr sz="1600" b="0" i="0" baseline="30000">
                <a:solidFill>
                  <a:srgbClr val="1A2235"/>
                </a:solidFill>
                <a:latin typeface="Aptos"/>
              </a:rPr>
              <a:t>33–35</a:t>
            </a:r>
          </a:p>
        </p:txBody>
      </p:sp>
      <p:sp>
        <p:nvSpPr>
          <p:cNvPr id="160" name="TextBox 159"/>
          <p:cNvSpPr txBox="1"/>
          <p:nvPr/>
        </p:nvSpPr>
        <p:spPr>
          <a:xfrm>
            <a:off x="32975550" y="25086273"/>
            <a:ext cx="10138409" cy="329184"/>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1600" b="0" i="0">
                <a:solidFill>
                  <a:srgbClr val="4A5368"/>
                </a:solidFill>
                <a:latin typeface="Aptos"/>
              </a:rPr>
              <a:t>All 20 sites: 26–70 min away, ≥ 5.8 m elevation, ≤ 16% wetland, ≤ 19% floodplain; a site visit decides.</a:t>
            </a:r>
          </a:p>
        </p:txBody>
      </p:sp>
      <p:sp>
        <p:nvSpPr>
          <p:cNvPr id="161" name="Rectangle 160"/>
          <p:cNvSpPr/>
          <p:nvPr/>
        </p:nvSpPr>
        <p:spPr>
          <a:xfrm>
            <a:off x="32975550" y="25689777"/>
            <a:ext cx="10138409" cy="868680"/>
          </a:xfrm>
          <a:prstGeom prst="roundRect">
            <a:avLst>
              <a:gd name="adj" fmla="val 8000"/>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marL="0" indent="0">
              <a:lnSpc>
                <a:spcPct val="100000"/>
              </a:lnSpc>
              <a:spcBef>
                <a:spcPts val="0"/>
              </a:spcBef>
              <a:spcAft>
                <a:spcPts val="0"/>
              </a:spcAft>
              <a:buNone/>
            </a:pPr>
            <a:r>
              <a:rPr sz="3600" b="1" i="0">
                <a:solidFill>
                  <a:srgbClr val="F6B44B"/>
                </a:solidFill>
                <a:latin typeface="Aptos Display"/>
              </a:rPr>
              <a:t>9</a:t>
            </a:r>
            <a:r>
              <a:rPr sz="3600" b="1" i="0">
                <a:solidFill>
                  <a:srgbClr val="FFFFFF"/>
                </a:solidFill>
                <a:latin typeface="Aptos Display"/>
              </a:rPr>
              <a:t>   References</a:t>
            </a:r>
          </a:p>
        </p:txBody>
      </p:sp>
      <p:sp>
        <p:nvSpPr>
          <p:cNvPr id="162" name="TextBox 161"/>
          <p:cNvSpPr txBox="1"/>
          <p:nvPr/>
        </p:nvSpPr>
        <p:spPr>
          <a:xfrm>
            <a:off x="32975550" y="26814489"/>
            <a:ext cx="4932044" cy="5235230"/>
          </a:xfrm>
          <a:prstGeom prst="rect">
            <a:avLst/>
          </a:prstGeom>
          <a:noFill/>
        </p:spPr>
        <p:txBody>
          <a:bodyPr wrap="square" anchor="t" lIns="0" rIns="0" tIns="0" bIns="0">
            <a:noAutofit/>
          </a:bodyPr>
          <a:lstStyle/>
          <a:p>
            <a:pPr marL="292608" indent="-292608">
              <a:lnSpc>
                <a:spcPct val="93000"/>
              </a:lnSpc>
              <a:spcBef>
                <a:spcPts val="0"/>
              </a:spcBef>
              <a:spcAft>
                <a:spcPts val="0"/>
              </a:spcAft>
              <a:buNone/>
            </a:pPr>
            <a:r>
              <a:rPr sz="950" b="1" i="0">
                <a:solidFill>
                  <a:srgbClr val="1A2235"/>
                </a:solidFill>
                <a:latin typeface="Aptos"/>
              </a:rPr>
              <a:t>1.</a:t>
            </a:r>
            <a:r>
              <a:rPr sz="950" b="0" i="0">
                <a:solidFill>
                  <a:srgbClr val="1A2235"/>
                </a:solidFill>
                <a:latin typeface="Aptos"/>
              </a:rPr>
              <a:t> Bortle, J. E. (2001). Introducing the Bortle dark-sky scale. Sky &amp; Telescope, 101(2), 126–129.</a:t>
            </a:r>
          </a:p>
          <a:p>
            <a:pPr marL="292608" indent="-292608">
              <a:lnSpc>
                <a:spcPct val="93000"/>
              </a:lnSpc>
              <a:spcBef>
                <a:spcPts val="150"/>
              </a:spcBef>
              <a:spcAft>
                <a:spcPts val="0"/>
              </a:spcAft>
              <a:buNone/>
            </a:pPr>
            <a:r>
              <a:rPr sz="950" b="1" i="0">
                <a:solidFill>
                  <a:srgbClr val="1A2235"/>
                </a:solidFill>
                <a:latin typeface="Aptos"/>
              </a:rPr>
              <a:t>2.</a:t>
            </a:r>
            <a:r>
              <a:rPr sz="950" b="0" i="0">
                <a:solidFill>
                  <a:srgbClr val="1A2235"/>
                </a:solidFill>
                <a:latin typeface="Aptos"/>
              </a:rPr>
              <a:t> Falchi, F., Cinzano, P., Duriscoe, D., et al. (2016). The new world atlas of artificial night sky brightness. Science Advances, 2(6), e1600377.</a:t>
            </a:r>
          </a:p>
          <a:p>
            <a:pPr marL="292608" indent="-292608">
              <a:lnSpc>
                <a:spcPct val="93000"/>
              </a:lnSpc>
              <a:spcBef>
                <a:spcPts val="150"/>
              </a:spcBef>
              <a:spcAft>
                <a:spcPts val="0"/>
              </a:spcAft>
              <a:buNone/>
            </a:pPr>
            <a:r>
              <a:rPr sz="950" b="1" i="0">
                <a:solidFill>
                  <a:srgbClr val="1A2235"/>
                </a:solidFill>
                <a:latin typeface="Aptos"/>
              </a:rPr>
              <a:t>3.</a:t>
            </a:r>
            <a:r>
              <a:rPr sz="950" b="0" i="0">
                <a:solidFill>
                  <a:srgbClr val="1A2235"/>
                </a:solidFill>
                <a:latin typeface="Aptos"/>
              </a:rPr>
              <a:t> Kyba, C. C. M., Altıntaş, Y. Ö., Walker, C. E., &amp; Newhouse, M. (2023). Citizen scientists report global rapid reductions in the visibility of stars from 2011 to 2022. Science, 379(6629), 265–268.</a:t>
            </a:r>
          </a:p>
          <a:p>
            <a:pPr marL="292608" indent="-292608">
              <a:lnSpc>
                <a:spcPct val="93000"/>
              </a:lnSpc>
              <a:spcBef>
                <a:spcPts val="150"/>
              </a:spcBef>
              <a:spcAft>
                <a:spcPts val="0"/>
              </a:spcAft>
              <a:buNone/>
            </a:pPr>
            <a:r>
              <a:rPr sz="950" b="1" i="0">
                <a:solidFill>
                  <a:srgbClr val="1A2235"/>
                </a:solidFill>
                <a:latin typeface="Aptos"/>
              </a:rPr>
              <a:t>4.</a:t>
            </a:r>
            <a:r>
              <a:rPr sz="950" b="0" i="0">
                <a:solidFill>
                  <a:srgbClr val="1A2235"/>
                </a:solidFill>
                <a:latin typeface="Aptos"/>
              </a:rPr>
              <a:t> DarkSky International &amp; Illuminating Engineering Society (2020). Five Principles for Responsible Outdoor Lighting. darksky.org.</a:t>
            </a:r>
          </a:p>
          <a:p>
            <a:pPr marL="292608" indent="-292608">
              <a:lnSpc>
                <a:spcPct val="93000"/>
              </a:lnSpc>
              <a:spcBef>
                <a:spcPts val="150"/>
              </a:spcBef>
              <a:spcAft>
                <a:spcPts val="0"/>
              </a:spcAft>
              <a:buNone/>
            </a:pPr>
            <a:r>
              <a:rPr sz="950" b="1" i="0">
                <a:solidFill>
                  <a:srgbClr val="1A2235"/>
                </a:solidFill>
                <a:latin typeface="Aptos"/>
              </a:rPr>
              <a:t>5.</a:t>
            </a:r>
            <a:r>
              <a:rPr sz="950" b="0" i="0">
                <a:solidFill>
                  <a:srgbClr val="1A2235"/>
                </a:solidFill>
                <a:latin typeface="Aptos"/>
              </a:rPr>
              <a:t> Rosen, J. (2025). Dark Sky Simulator (v1) [software]. Zenodo. doi:10.5281/zenodo.17252185.</a:t>
            </a:r>
          </a:p>
          <a:p>
            <a:pPr marL="292608" indent="-292608">
              <a:lnSpc>
                <a:spcPct val="93000"/>
              </a:lnSpc>
              <a:spcBef>
                <a:spcPts val="150"/>
              </a:spcBef>
              <a:spcAft>
                <a:spcPts val="0"/>
              </a:spcAft>
              <a:buNone/>
            </a:pPr>
            <a:r>
              <a:rPr sz="950" b="1" i="0">
                <a:solidFill>
                  <a:srgbClr val="1A2235"/>
                </a:solidFill>
                <a:latin typeface="Aptos"/>
              </a:rPr>
              <a:t>6.</a:t>
            </a:r>
            <a:r>
              <a:rPr sz="950" b="0" i="0">
                <a:solidFill>
                  <a:srgbClr val="1A2235"/>
                </a:solidFill>
                <a:latin typeface="Aptos"/>
              </a:rPr>
              <a:t> Dark Sky Simulator research reports (2025): Gainesville Dark Sky Lighting Assessment; Streetlight Retrofit Cost-Benefit Analysis (Levy); Smart Streetlight Cost-Benefit Analysis; Street Lighting Dimming Savings Calculation (Duke LS-1, Clay Schedule L, CFEC). Unpublished.</a:t>
            </a:r>
          </a:p>
          <a:p>
            <a:pPr marL="292608" indent="-292608">
              <a:lnSpc>
                <a:spcPct val="93000"/>
              </a:lnSpc>
              <a:spcBef>
                <a:spcPts val="150"/>
              </a:spcBef>
              <a:spcAft>
                <a:spcPts val="0"/>
              </a:spcAft>
              <a:buNone/>
            </a:pPr>
            <a:r>
              <a:rPr sz="950" b="1" i="0">
                <a:solidFill>
                  <a:srgbClr val="1A2235"/>
                </a:solidFill>
                <a:latin typeface="Aptos"/>
              </a:rPr>
              <a:t>7.</a:t>
            </a:r>
            <a:r>
              <a:rPr sz="950" b="0" i="0">
                <a:solidFill>
                  <a:srgbClr val="1A2235"/>
                </a:solidFill>
                <a:latin typeface="Aptos"/>
              </a:rPr>
              <a:t> OpenStreetMap contributors (2026). Road, street-lamp and sports-venue data. openstreetmap.org (ODbL).</a:t>
            </a:r>
          </a:p>
          <a:p>
            <a:pPr marL="292608" indent="-292608">
              <a:lnSpc>
                <a:spcPct val="93000"/>
              </a:lnSpc>
              <a:spcBef>
                <a:spcPts val="150"/>
              </a:spcBef>
              <a:spcAft>
                <a:spcPts val="0"/>
              </a:spcAft>
              <a:buNone/>
            </a:pPr>
            <a:r>
              <a:rPr sz="950" b="1" i="0">
                <a:solidFill>
                  <a:srgbClr val="1A2235"/>
                </a:solidFill>
                <a:latin typeface="Aptos"/>
              </a:rPr>
              <a:t>8.</a:t>
            </a:r>
            <a:r>
              <a:rPr sz="950" b="0" i="0">
                <a:solidFill>
                  <a:srgbClr val="1A2235"/>
                </a:solidFill>
                <a:latin typeface="Aptos"/>
              </a:rPr>
              <a:t> U.S. Census Bureau (2020). TIGER/Line boundaries and roads; 2020 Census housing-unit counts.</a:t>
            </a:r>
          </a:p>
          <a:p>
            <a:pPr marL="292608" indent="-292608">
              <a:lnSpc>
                <a:spcPct val="93000"/>
              </a:lnSpc>
              <a:spcBef>
                <a:spcPts val="150"/>
              </a:spcBef>
              <a:spcAft>
                <a:spcPts val="0"/>
              </a:spcAft>
              <a:buNone/>
            </a:pPr>
            <a:r>
              <a:rPr sz="950" b="1" i="0">
                <a:solidFill>
                  <a:srgbClr val="1A2235"/>
                </a:solidFill>
                <a:latin typeface="Aptos"/>
              </a:rPr>
              <a:t>9.</a:t>
            </a:r>
            <a:r>
              <a:rPr sz="950" b="0" i="0">
                <a:solidFill>
                  <a:srgbClr val="1A2235"/>
                </a:solidFill>
                <a:latin typeface="Aptos"/>
              </a:rPr>
              <a:t> Román, M. O., Wang, Z., Sun, Q., et al. (2018). NASA's Black Marble nighttime lights product suite. Remote Sensing of Environment, 210, 113–143.</a:t>
            </a:r>
          </a:p>
          <a:p>
            <a:pPr marL="292608" indent="-292608">
              <a:lnSpc>
                <a:spcPct val="93000"/>
              </a:lnSpc>
              <a:spcBef>
                <a:spcPts val="150"/>
              </a:spcBef>
              <a:spcAft>
                <a:spcPts val="0"/>
              </a:spcAft>
              <a:buNone/>
            </a:pPr>
            <a:r>
              <a:rPr sz="950" b="1" i="0">
                <a:solidFill>
                  <a:srgbClr val="1A2235"/>
                </a:solidFill>
                <a:latin typeface="Aptos"/>
              </a:rPr>
              <a:t>10.</a:t>
            </a:r>
            <a:r>
              <a:rPr sz="950" b="0" i="0">
                <a:solidFill>
                  <a:srgbClr val="1A2235"/>
                </a:solidFill>
                <a:latin typeface="Aptos"/>
              </a:rPr>
              <a:t> Elvidge, C. D., Zhizhin, M., Ghosh, T., Hsu, F.-C., &amp; Taneja, J. (2021). Annual time series of global VIIRS nighttime lights derived from monthly averages: 2012 to 2019. Remote Sensing, 13(5), 922.</a:t>
            </a:r>
          </a:p>
          <a:p>
            <a:pPr marL="292608" indent="-292608">
              <a:lnSpc>
                <a:spcPct val="93000"/>
              </a:lnSpc>
              <a:spcBef>
                <a:spcPts val="150"/>
              </a:spcBef>
              <a:spcAft>
                <a:spcPts val="0"/>
              </a:spcAft>
              <a:buNone/>
            </a:pPr>
            <a:r>
              <a:rPr sz="950" b="1" i="0">
                <a:solidFill>
                  <a:srgbClr val="1A2235"/>
                </a:solidFill>
                <a:latin typeface="Aptos"/>
              </a:rPr>
              <a:t>11.</a:t>
            </a:r>
            <a:r>
              <a:rPr sz="950" b="0" i="0">
                <a:solidFill>
                  <a:srgbClr val="1A2235"/>
                </a:solidFill>
                <a:latin typeface="Aptos"/>
              </a:rPr>
              <a:t> Gorelick, N., Hancher, M., Dixon, M., et al. (2017). Google Earth Engine: Planetary-scale geospatial analysis for everyone. Remote Sensing of Environment, 202, 18–27.</a:t>
            </a:r>
          </a:p>
          <a:p>
            <a:pPr marL="292608" indent="-292608">
              <a:lnSpc>
                <a:spcPct val="93000"/>
              </a:lnSpc>
              <a:spcBef>
                <a:spcPts val="150"/>
              </a:spcBef>
              <a:spcAft>
                <a:spcPts val="0"/>
              </a:spcAft>
              <a:buNone/>
            </a:pPr>
            <a:r>
              <a:rPr sz="950" b="1" i="0">
                <a:solidFill>
                  <a:srgbClr val="1A2235"/>
                </a:solidFill>
                <a:latin typeface="Aptos"/>
              </a:rPr>
              <a:t>12.</a:t>
            </a:r>
            <a:r>
              <a:rPr sz="950" b="0" i="0">
                <a:solidFill>
                  <a:srgbClr val="1A2235"/>
                </a:solidFill>
                <a:latin typeface="Aptos"/>
              </a:rPr>
              <a:t> Rosen, J. (2026, January 13). Preserving natural skies in Alachua County: Light pollution mitigation and economic impact. Alachua County Environmental Protection Advisory Committee.</a:t>
            </a:r>
          </a:p>
          <a:p>
            <a:pPr marL="292608" indent="-292608">
              <a:lnSpc>
                <a:spcPct val="93000"/>
              </a:lnSpc>
              <a:spcBef>
                <a:spcPts val="150"/>
              </a:spcBef>
              <a:spcAft>
                <a:spcPts val="0"/>
              </a:spcAft>
              <a:buNone/>
            </a:pPr>
            <a:r>
              <a:rPr sz="950" b="1" i="0">
                <a:solidFill>
                  <a:srgbClr val="1A2235"/>
                </a:solidFill>
                <a:latin typeface="Aptos"/>
              </a:rPr>
              <a:t>13.</a:t>
            </a:r>
            <a:r>
              <a:rPr sz="950" b="0" i="0">
                <a:solidFill>
                  <a:srgbClr val="1A2235"/>
                </a:solidFill>
                <a:latin typeface="Aptos"/>
              </a:rPr>
              <a:t> Alachua County (2026, February 13). Comprehensive Plan proposed evaluation and appraisal based amendments, Conservation and Open Space Element, Policy 5.3.7.</a:t>
            </a:r>
          </a:p>
          <a:p>
            <a:pPr marL="292608" indent="-292608">
              <a:lnSpc>
                <a:spcPct val="93000"/>
              </a:lnSpc>
              <a:spcBef>
                <a:spcPts val="150"/>
              </a:spcBef>
              <a:spcAft>
                <a:spcPts val="0"/>
              </a:spcAft>
              <a:buNone/>
            </a:pPr>
            <a:r>
              <a:rPr sz="950" b="1" i="0">
                <a:solidFill>
                  <a:srgbClr val="1A2235"/>
                </a:solidFill>
                <a:latin typeface="Aptos"/>
              </a:rPr>
              <a:t>14.</a:t>
            </a:r>
            <a:r>
              <a:rPr sz="950" b="0" i="0">
                <a:solidFill>
                  <a:srgbClr val="1A2235"/>
                </a:solidFill>
                <a:latin typeface="Aptos"/>
              </a:rPr>
              <a:t> Rosen, J. (2026). Dark Sky Simulator v2 [software], incl. ADR 0013 (the 19% reconstruction). github.com/jayrosen-design/dark-sky-simulator-v2.</a:t>
            </a:r>
          </a:p>
          <a:p>
            <a:pPr marL="292608" indent="-292608">
              <a:lnSpc>
                <a:spcPct val="93000"/>
              </a:lnSpc>
              <a:spcBef>
                <a:spcPts val="150"/>
              </a:spcBef>
              <a:spcAft>
                <a:spcPts val="0"/>
              </a:spcAft>
              <a:buNone/>
            </a:pPr>
            <a:r>
              <a:rPr sz="950" b="1" i="0">
                <a:solidFill>
                  <a:srgbClr val="1A2235"/>
                </a:solidFill>
                <a:latin typeface="Aptos"/>
              </a:rPr>
              <a:t>15.</a:t>
            </a:r>
            <a:r>
              <a:rPr sz="950" b="0" i="0">
                <a:solidFill>
                  <a:srgbClr val="1A2235"/>
                </a:solidFill>
                <a:latin typeface="Aptos"/>
              </a:rPr>
              <a:t> City of Groveland, Florida (2022). Ordinance 2022-26, outdoor lighting regulations.</a:t>
            </a:r>
          </a:p>
          <a:p>
            <a:pPr marL="292608" indent="-292608">
              <a:lnSpc>
                <a:spcPct val="93000"/>
              </a:lnSpc>
              <a:spcBef>
                <a:spcPts val="150"/>
              </a:spcBef>
              <a:spcAft>
                <a:spcPts val="0"/>
              </a:spcAft>
              <a:buNone/>
            </a:pPr>
            <a:r>
              <a:rPr sz="950" b="1" i="0">
                <a:solidFill>
                  <a:srgbClr val="1A2235"/>
                </a:solidFill>
                <a:latin typeface="Aptos"/>
              </a:rPr>
              <a:t>16.</a:t>
            </a:r>
            <a:r>
              <a:rPr sz="950" b="0" i="0">
                <a:solidFill>
                  <a:srgbClr val="1A2235"/>
                </a:solidFill>
                <a:latin typeface="Aptos"/>
              </a:rPr>
              <a:t> Garstang, R. H. (1986). Model for artificial night-sky illumination. Publications of the Astronomical Society of the Pacific, 98, 364–375.</a:t>
            </a:r>
          </a:p>
          <a:p>
            <a:pPr marL="292608" indent="-292608">
              <a:lnSpc>
                <a:spcPct val="93000"/>
              </a:lnSpc>
              <a:spcBef>
                <a:spcPts val="150"/>
              </a:spcBef>
              <a:spcAft>
                <a:spcPts val="0"/>
              </a:spcAft>
              <a:buNone/>
            </a:pPr>
            <a:r>
              <a:rPr sz="950" b="1" i="0">
                <a:solidFill>
                  <a:srgbClr val="1A2235"/>
                </a:solidFill>
                <a:latin typeface="Aptos"/>
              </a:rPr>
              <a:t>17.</a:t>
            </a:r>
            <a:r>
              <a:rPr sz="950" b="0" i="0">
                <a:solidFill>
                  <a:srgbClr val="1A2235"/>
                </a:solidFill>
                <a:latin typeface="Aptos"/>
              </a:rPr>
              <a:t> DarkSky International. International Dark Sky Places program guidelines (Dark Sky Park: sky ≥ 21.2 mag/arcsec²). darksky.org.</a:t>
            </a:r>
          </a:p>
          <a:p>
            <a:pPr marL="292608" indent="-292608">
              <a:lnSpc>
                <a:spcPct val="93000"/>
              </a:lnSpc>
              <a:spcBef>
                <a:spcPts val="150"/>
              </a:spcBef>
              <a:spcAft>
                <a:spcPts val="0"/>
              </a:spcAft>
              <a:buNone/>
            </a:pPr>
            <a:r>
              <a:rPr sz="950" b="1" i="0">
                <a:solidFill>
                  <a:srgbClr val="1A2235"/>
                </a:solidFill>
                <a:latin typeface="Aptos"/>
              </a:rPr>
              <a:t>18.</a:t>
            </a:r>
            <a:r>
              <a:rPr sz="950" b="0" i="0">
                <a:solidFill>
                  <a:srgbClr val="1A2235"/>
                </a:solidFill>
                <a:latin typeface="Aptos"/>
              </a:rPr>
              <a:t> Krisciunas, K., &amp; Schaefer, B. E. (1991). A model of the brightness of moonlight. Publications of the Astronomical Society of the Pacific, 103, 1033–1039.</a:t>
            </a:r>
          </a:p>
        </p:txBody>
      </p:sp>
      <p:sp>
        <p:nvSpPr>
          <p:cNvPr id="163" name="TextBox 162"/>
          <p:cNvSpPr txBox="1"/>
          <p:nvPr/>
        </p:nvSpPr>
        <p:spPr>
          <a:xfrm>
            <a:off x="38181915" y="26814489"/>
            <a:ext cx="4932044" cy="5235230"/>
          </a:xfrm>
          <a:prstGeom prst="rect">
            <a:avLst/>
          </a:prstGeom>
          <a:noFill/>
        </p:spPr>
        <p:txBody>
          <a:bodyPr wrap="square" anchor="t" lIns="0" rIns="0" tIns="0" bIns="0">
            <a:noAutofit/>
          </a:bodyPr>
          <a:lstStyle/>
          <a:p>
            <a:pPr marL="292608" indent="-292608">
              <a:lnSpc>
                <a:spcPct val="93000"/>
              </a:lnSpc>
              <a:spcBef>
                <a:spcPts val="0"/>
              </a:spcBef>
              <a:spcAft>
                <a:spcPts val="0"/>
              </a:spcAft>
              <a:buNone/>
            </a:pPr>
            <a:r>
              <a:rPr sz="950" b="1" i="0">
                <a:solidFill>
                  <a:srgbClr val="1A2235"/>
                </a:solidFill>
                <a:latin typeface="Aptos"/>
              </a:rPr>
              <a:t>19.</a:t>
            </a:r>
            <a:r>
              <a:rPr sz="950" b="0" i="0">
                <a:solidFill>
                  <a:srgbClr val="1A2235"/>
                </a:solidFill>
                <a:latin typeface="Aptos"/>
              </a:rPr>
              <a:t> Andrews, D. W. K. (1993). Tests for parameter instability and structural change with unknown change point. Econometrica, 61(4), 821–856.</a:t>
            </a:r>
          </a:p>
          <a:p>
            <a:pPr marL="292608" indent="-292608">
              <a:lnSpc>
                <a:spcPct val="93000"/>
              </a:lnSpc>
              <a:spcBef>
                <a:spcPts val="150"/>
              </a:spcBef>
              <a:spcAft>
                <a:spcPts val="0"/>
              </a:spcAft>
              <a:buNone/>
            </a:pPr>
            <a:r>
              <a:rPr sz="950" b="1" i="0">
                <a:solidFill>
                  <a:srgbClr val="1A2235"/>
                </a:solidFill>
                <a:latin typeface="Aptos"/>
              </a:rPr>
              <a:t>20.</a:t>
            </a:r>
            <a:r>
              <a:rPr sz="950" b="0" i="0">
                <a:solidFill>
                  <a:srgbClr val="1A2235"/>
                </a:solidFill>
                <a:latin typeface="Aptos"/>
              </a:rPr>
              <a:t> EMJ Construction (2016, September 1). Two new Florida Bass Pro locations underway. emjcorp.com.</a:t>
            </a:r>
          </a:p>
          <a:p>
            <a:pPr marL="292608" indent="-292608">
              <a:lnSpc>
                <a:spcPct val="93000"/>
              </a:lnSpc>
              <a:spcBef>
                <a:spcPts val="150"/>
              </a:spcBef>
              <a:spcAft>
                <a:spcPts val="0"/>
              </a:spcAft>
              <a:buNone/>
            </a:pPr>
            <a:r>
              <a:rPr sz="950" b="1" i="0">
                <a:solidFill>
                  <a:srgbClr val="1A2235"/>
                </a:solidFill>
                <a:latin typeface="Aptos"/>
              </a:rPr>
              <a:t>21.</a:t>
            </a:r>
            <a:r>
              <a:rPr sz="950" b="0" i="0">
                <a:solidFill>
                  <a:srgbClr val="1A2235"/>
                </a:solidFill>
                <a:latin typeface="Aptos"/>
              </a:rPr>
              <a:t> Ke, G., Meng, Q., Finley, T., et al. (2017). LightGBM: A highly efficient gradient boosting decision tree. Advances in Neural Information Processing Systems, 30, 3146–3154.</a:t>
            </a:r>
          </a:p>
          <a:p>
            <a:pPr marL="292608" indent="-292608">
              <a:lnSpc>
                <a:spcPct val="93000"/>
              </a:lnSpc>
              <a:spcBef>
                <a:spcPts val="150"/>
              </a:spcBef>
              <a:spcAft>
                <a:spcPts val="0"/>
              </a:spcAft>
              <a:buNone/>
            </a:pPr>
            <a:r>
              <a:rPr sz="950" b="1" i="0">
                <a:solidFill>
                  <a:srgbClr val="1A2235"/>
                </a:solidFill>
                <a:latin typeface="Aptos"/>
              </a:rPr>
              <a:t>22.</a:t>
            </a:r>
            <a:r>
              <a:rPr sz="950" b="0" i="0">
                <a:solidFill>
                  <a:srgbClr val="1A2235"/>
                </a:solidFill>
                <a:latin typeface="Aptos"/>
              </a:rPr>
              <a:t> U.S. Energy Information Administration (2023). How much electricity does an American home use? FAQ (2022 average: 10,791 kWh per residential customer). eia.gov.</a:t>
            </a:r>
          </a:p>
          <a:p>
            <a:pPr marL="292608" indent="-292608">
              <a:lnSpc>
                <a:spcPct val="93000"/>
              </a:lnSpc>
              <a:spcBef>
                <a:spcPts val="150"/>
              </a:spcBef>
              <a:spcAft>
                <a:spcPts val="0"/>
              </a:spcAft>
              <a:buNone/>
            </a:pPr>
            <a:r>
              <a:rPr sz="950" b="1" i="0">
                <a:solidFill>
                  <a:srgbClr val="1A2235"/>
                </a:solidFill>
                <a:latin typeface="Aptos"/>
              </a:rPr>
              <a:t>23.</a:t>
            </a:r>
            <a:r>
              <a:rPr sz="950" b="0" i="0">
                <a:solidFill>
                  <a:srgbClr val="1A2235"/>
                </a:solidFill>
                <a:latin typeface="Aptos"/>
              </a:rPr>
              <a:t> Roldán Hernández, C. (2023, January 17). Security enhancements make for a brighter, safer campus. UF News, University of Florida.</a:t>
            </a:r>
          </a:p>
          <a:p>
            <a:pPr marL="292608" indent="-292608">
              <a:lnSpc>
                <a:spcPct val="93000"/>
              </a:lnSpc>
              <a:spcBef>
                <a:spcPts val="150"/>
              </a:spcBef>
              <a:spcAft>
                <a:spcPts val="0"/>
              </a:spcAft>
              <a:buNone/>
            </a:pPr>
            <a:r>
              <a:rPr sz="950" b="1" i="0">
                <a:solidFill>
                  <a:srgbClr val="1A2235"/>
                </a:solidFill>
                <a:latin typeface="Aptos"/>
              </a:rPr>
              <a:t>24.</a:t>
            </a:r>
            <a:r>
              <a:rPr sz="950" b="0" i="0">
                <a:solidFill>
                  <a:srgbClr val="1A2235"/>
                </a:solidFill>
                <a:latin typeface="Aptos"/>
              </a:rPr>
              <a:t> Dark Sky Simulator fixture catalog (2026): installed unit costs from the research reports and a retail price survey of DarkSky-compliant fixture types (September 26, 2026); DarkSky Approved luminaire search, darksky.org.</a:t>
            </a:r>
          </a:p>
          <a:p>
            <a:pPr marL="292608" indent="-292608">
              <a:lnSpc>
                <a:spcPct val="93000"/>
              </a:lnSpc>
              <a:spcBef>
                <a:spcPts val="150"/>
              </a:spcBef>
              <a:spcAft>
                <a:spcPts val="0"/>
              </a:spcAft>
              <a:buNone/>
            </a:pPr>
            <a:r>
              <a:rPr sz="950" b="1" i="0">
                <a:solidFill>
                  <a:srgbClr val="1A2235"/>
                </a:solidFill>
                <a:latin typeface="Aptos"/>
              </a:rPr>
              <a:t>25.</a:t>
            </a:r>
            <a:r>
              <a:rPr sz="950" b="0" i="0">
                <a:solidFill>
                  <a:srgbClr val="1A2235"/>
                </a:solidFill>
                <a:latin typeface="Aptos"/>
              </a:rPr>
              <a:t> DarkSky International. DarkSky Approved program and seal. darksky.org/what-we-do/darksky-approved.</a:t>
            </a:r>
          </a:p>
          <a:p>
            <a:pPr marL="292608" indent="-292608">
              <a:lnSpc>
                <a:spcPct val="93000"/>
              </a:lnSpc>
              <a:spcBef>
                <a:spcPts val="150"/>
              </a:spcBef>
              <a:spcAft>
                <a:spcPts val="0"/>
              </a:spcAft>
              <a:buNone/>
            </a:pPr>
            <a:r>
              <a:rPr sz="950" b="1" i="0">
                <a:solidFill>
                  <a:srgbClr val="1A2235"/>
                </a:solidFill>
                <a:latin typeface="Aptos"/>
              </a:rPr>
              <a:t>26.</a:t>
            </a:r>
            <a:r>
              <a:rPr sz="950" b="0" i="0">
                <a:solidFill>
                  <a:srgbClr val="1A2235"/>
                </a:solidFill>
                <a:latin typeface="Aptos"/>
              </a:rPr>
              <a:t> The Gainesville Sun (2012, April). Photograph of the University of Florida Rosemary Hill Observatory.</a:t>
            </a:r>
          </a:p>
          <a:p>
            <a:pPr marL="292608" indent="-292608">
              <a:lnSpc>
                <a:spcPct val="93000"/>
              </a:lnSpc>
              <a:spcBef>
                <a:spcPts val="150"/>
              </a:spcBef>
              <a:spcAft>
                <a:spcPts val="0"/>
              </a:spcAft>
              <a:buNone/>
            </a:pPr>
            <a:r>
              <a:rPr sz="950" b="1" i="0">
                <a:solidFill>
                  <a:srgbClr val="1A2235"/>
                </a:solidFill>
                <a:latin typeface="Aptos"/>
              </a:rPr>
              <a:t>27.</a:t>
            </a:r>
            <a:r>
              <a:rPr sz="950" b="0" i="0">
                <a:solidFill>
                  <a:srgbClr val="1A2235"/>
                </a:solidFill>
                <a:latin typeface="Aptos"/>
              </a:rPr>
              <a:t> Dewitz, J. (2023). National Land Cover Database (NLCD) 2021 Products. U.S. Geological Survey data release. doi:10.5066/P9JZ7AO3.</a:t>
            </a:r>
          </a:p>
          <a:p>
            <a:pPr marL="292608" indent="-292608">
              <a:lnSpc>
                <a:spcPct val="93000"/>
              </a:lnSpc>
              <a:spcBef>
                <a:spcPts val="150"/>
              </a:spcBef>
              <a:spcAft>
                <a:spcPts val="0"/>
              </a:spcAft>
              <a:buNone/>
            </a:pPr>
            <a:r>
              <a:rPr sz="950" b="1" i="0">
                <a:solidFill>
                  <a:srgbClr val="1A2235"/>
                </a:solidFill>
                <a:latin typeface="Aptos"/>
              </a:rPr>
              <a:t>28.</a:t>
            </a:r>
            <a:r>
              <a:rPr sz="950" b="0" i="0">
                <a:solidFill>
                  <a:srgbClr val="1A2235"/>
                </a:solidFill>
                <a:latin typeface="Aptos"/>
              </a:rPr>
              <a:t> Cangialosi, J. P., &amp; Alaka, L. (2026). Tropical Cyclone Report: Hurricane Idalia (AL102023), 26–31 August 2023. National Hurricane Center (original report February 13, 2024).</a:t>
            </a:r>
          </a:p>
          <a:p>
            <a:pPr marL="292608" indent="-292608">
              <a:lnSpc>
                <a:spcPct val="93000"/>
              </a:lnSpc>
              <a:spcBef>
                <a:spcPts val="150"/>
              </a:spcBef>
              <a:spcAft>
                <a:spcPts val="0"/>
              </a:spcAft>
              <a:buNone/>
            </a:pPr>
            <a:r>
              <a:rPr sz="950" b="1" i="0">
                <a:solidFill>
                  <a:srgbClr val="1A2235"/>
                </a:solidFill>
                <a:latin typeface="Aptos"/>
              </a:rPr>
              <a:t>29.</a:t>
            </a:r>
            <a:r>
              <a:rPr sz="950" b="0" i="0">
                <a:solidFill>
                  <a:srgbClr val="1A2235"/>
                </a:solidFill>
                <a:latin typeface="Aptos"/>
              </a:rPr>
              <a:t> Sweet, W. V., et al. (2022). Global and Regional Sea Level Rise Scenarios for the United States. NOAA Technical Report NOS 01. National Oceanic and Atmospheric Administration.</a:t>
            </a:r>
          </a:p>
          <a:p>
            <a:pPr marL="292608" indent="-292608">
              <a:lnSpc>
                <a:spcPct val="93000"/>
              </a:lnSpc>
              <a:spcBef>
                <a:spcPts val="150"/>
              </a:spcBef>
              <a:spcAft>
                <a:spcPts val="0"/>
              </a:spcAft>
              <a:buNone/>
            </a:pPr>
            <a:r>
              <a:rPr sz="950" b="1" i="0">
                <a:solidFill>
                  <a:srgbClr val="1A2235"/>
                </a:solidFill>
                <a:latin typeface="Aptos"/>
              </a:rPr>
              <a:t>30.</a:t>
            </a:r>
            <a:r>
              <a:rPr sz="950" b="0" i="0">
                <a:solidFill>
                  <a:srgbClr val="1A2235"/>
                </a:solidFill>
                <a:latin typeface="Aptos"/>
              </a:rPr>
              <a:t> Ward, P. J., et al. (2020). Aqueduct Floods Methodology. Technical Note. World Resources Institute. Data: WRI Aqueduct Floods Hazard Maps V2 via Google Earth Engine.</a:t>
            </a:r>
          </a:p>
          <a:p>
            <a:pPr marL="292608" indent="-292608">
              <a:lnSpc>
                <a:spcPct val="93000"/>
              </a:lnSpc>
              <a:spcBef>
                <a:spcPts val="150"/>
              </a:spcBef>
              <a:spcAft>
                <a:spcPts val="0"/>
              </a:spcAft>
              <a:buNone/>
            </a:pPr>
            <a:r>
              <a:rPr sz="950" b="1" i="0">
                <a:solidFill>
                  <a:srgbClr val="1A2235"/>
                </a:solidFill>
                <a:latin typeface="Aptos"/>
              </a:rPr>
              <a:t>31.</a:t>
            </a:r>
            <a:r>
              <a:rPr sz="950" b="0" i="0">
                <a:solidFill>
                  <a:srgbClr val="1A2235"/>
                </a:solidFill>
                <a:latin typeface="Aptos"/>
              </a:rPr>
              <a:t> Federal Emergency Management Agency (2026). National Flood Hazard Layer (NFHL): Special Flood Hazard Areas. hazards.fema.gov, accessed October 20, 2026.</a:t>
            </a:r>
          </a:p>
          <a:p>
            <a:pPr marL="292608" indent="-292608">
              <a:lnSpc>
                <a:spcPct val="93000"/>
              </a:lnSpc>
              <a:spcBef>
                <a:spcPts val="150"/>
              </a:spcBef>
              <a:spcAft>
                <a:spcPts val="0"/>
              </a:spcAft>
              <a:buNone/>
            </a:pPr>
            <a:r>
              <a:rPr sz="950" b="1" i="0">
                <a:solidFill>
                  <a:srgbClr val="1A2235"/>
                </a:solidFill>
                <a:latin typeface="Aptos"/>
              </a:rPr>
              <a:t>32.</a:t>
            </a:r>
            <a:r>
              <a:rPr sz="950" b="0" i="0">
                <a:solidFill>
                  <a:srgbClr val="1A2235"/>
                </a:solidFill>
                <a:latin typeface="Aptos"/>
              </a:rPr>
              <a:t> Florida Department of Revenue (2025). Tax roll and qualified sales (parcels ≥ 5 acres), via the Florida Geographic Information Office statewide parcels.</a:t>
            </a:r>
          </a:p>
          <a:p>
            <a:pPr marL="292608" indent="-292608">
              <a:lnSpc>
                <a:spcPct val="93000"/>
              </a:lnSpc>
              <a:spcBef>
                <a:spcPts val="150"/>
              </a:spcBef>
              <a:spcAft>
                <a:spcPts val="0"/>
              </a:spcAft>
              <a:buNone/>
            </a:pPr>
            <a:r>
              <a:rPr sz="950" b="1" i="0">
                <a:solidFill>
                  <a:srgbClr val="1A2235"/>
                </a:solidFill>
                <a:latin typeface="Aptos"/>
              </a:rPr>
              <a:t>33.</a:t>
            </a:r>
            <a:r>
              <a:rPr sz="950" b="0" i="0">
                <a:solidFill>
                  <a:srgbClr val="1A2235"/>
                </a:solidFill>
                <a:latin typeface="Aptos"/>
              </a:rPr>
              <a:t> York University (2019, August 16). Installation of new telescope expected to be largest at a Canadian university. YFile.</a:t>
            </a:r>
          </a:p>
          <a:p>
            <a:pPr marL="292608" indent="-292608">
              <a:lnSpc>
                <a:spcPct val="93000"/>
              </a:lnSpc>
              <a:spcBef>
                <a:spcPts val="150"/>
              </a:spcBef>
              <a:spcAft>
                <a:spcPts val="0"/>
              </a:spcAft>
              <a:buNone/>
            </a:pPr>
            <a:r>
              <a:rPr sz="950" b="1" i="0">
                <a:solidFill>
                  <a:srgbClr val="1A2235"/>
                </a:solidFill>
                <a:latin typeface="Aptos"/>
              </a:rPr>
              <a:t>34.</a:t>
            </a:r>
            <a:r>
              <a:rPr sz="950" b="0" i="0">
                <a:solidFill>
                  <a:srgbClr val="1A2235"/>
                </a:solidFill>
                <a:latin typeface="Aptos"/>
              </a:rPr>
              <a:t> ABC7 Los Angeles (c. 2011). Domes put in place for CSUSB's observatory.</a:t>
            </a:r>
          </a:p>
          <a:p>
            <a:pPr marL="292608" indent="-292608">
              <a:lnSpc>
                <a:spcPct val="93000"/>
              </a:lnSpc>
              <a:spcBef>
                <a:spcPts val="150"/>
              </a:spcBef>
              <a:spcAft>
                <a:spcPts val="0"/>
              </a:spcAft>
              <a:buNone/>
            </a:pPr>
            <a:r>
              <a:rPr sz="950" b="1" i="0">
                <a:solidFill>
                  <a:srgbClr val="1A2235"/>
                </a:solidFill>
                <a:latin typeface="Aptos"/>
              </a:rPr>
              <a:t>35.</a:t>
            </a:r>
            <a:r>
              <a:rPr sz="950" b="0" i="0">
                <a:solidFill>
                  <a:srgbClr val="1A2235"/>
                </a:solidFill>
                <a:latin typeface="Aptos"/>
              </a:rPr>
              <a:t> Florida Institute of Technology (2004, August 19). Funding secured for Florida Tech telescope. Florida Tech News.</a:t>
            </a:r>
          </a:p>
        </p:txBody>
      </p:sp>
      <p:sp>
        <p:nvSpPr>
          <p:cNvPr id="164" name="TextBox 163"/>
          <p:cNvSpPr txBox="1"/>
          <p:nvPr/>
        </p:nvSpPr>
        <p:spPr>
          <a:xfrm>
            <a:off x="11510009" y="31565087"/>
            <a:ext cx="20871179" cy="914400"/>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1500" b="1" i="0">
                <a:solidFill>
                  <a:srgbClr val="1A2235"/>
                </a:solidFill>
                <a:latin typeface="Aptos"/>
              </a:rPr>
              <a:t>Independent, unfunded citizen-science research.</a:t>
            </a:r>
            <a:r>
              <a:rPr sz="1500" b="0" i="0">
                <a:solidFill>
                  <a:srgbClr val="1A2235"/>
                </a:solidFill>
                <a:latin typeface="Aptos"/>
              </a:rPr>
              <a:t> Begun at the request of Alachua County's Environmental Protection Advisory Committee and expanded at the request of the Chiefland Astronomy Village and UF's Department of Astronomy.</a:t>
            </a:r>
          </a:p>
          <a:p>
            <a:pPr marL="0" indent="0" algn="ctr">
              <a:lnSpc>
                <a:spcPct val="100000"/>
              </a:lnSpc>
              <a:spcBef>
                <a:spcPts val="0"/>
              </a:spcBef>
              <a:spcAft>
                <a:spcPts val="0"/>
              </a:spcAft>
              <a:buNone/>
            </a:pPr>
            <a:r>
              <a:rPr sz="1500" b="0" i="0">
                <a:solidFill>
                  <a:srgbClr val="1A2235"/>
                </a:solidFill>
                <a:latin typeface="Aptos"/>
              </a:rPr>
              <a:t>Not yet a University of Florida project: not funded or endorsed by UF, and the author's UF title is listed for identification only. The author serves on the Board of Directors of the Alachua Astronomy Club; views are the author's own.</a:t>
            </a:r>
          </a:p>
          <a:p>
            <a:pPr marL="0" indent="0" algn="ctr">
              <a:lnSpc>
                <a:spcPct val="100000"/>
              </a:lnSpc>
              <a:spcBef>
                <a:spcPts val="300"/>
              </a:spcBef>
              <a:spcAft>
                <a:spcPts val="0"/>
              </a:spcAft>
              <a:buNone/>
            </a:pPr>
            <a:r>
              <a:rPr sz="1300" b="0" i="0">
                <a:solidFill>
                  <a:srgbClr val="4A5368"/>
                </a:solidFill>
                <a:latin typeface="Aptos"/>
              </a:rPr>
              <a:t>Sky values are uncalibrated planning projections from public data (no sky-meter calibration yet); costs use the simulator's unit prices and each utility's tariff. Simulator build of October 20,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